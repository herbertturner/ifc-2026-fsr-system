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307" r:id="rId5"/>
    <p:sldId id="259" r:id="rId6"/>
    <p:sldId id="261" r:id="rId7"/>
    <p:sldId id="260" r:id="rId8"/>
    <p:sldId id="262" r:id="rId9"/>
    <p:sldId id="264" r:id="rId10"/>
    <p:sldId id="304" r:id="rId11"/>
    <p:sldId id="265" r:id="rId12"/>
    <p:sldId id="319" r:id="rId13"/>
    <p:sldId id="318" r:id="rId14"/>
    <p:sldId id="317" r:id="rId15"/>
    <p:sldId id="266" r:id="rId16"/>
    <p:sldId id="267" r:id="rId17"/>
    <p:sldId id="268" r:id="rId18"/>
    <p:sldId id="269" r:id="rId19"/>
    <p:sldId id="270" r:id="rId20"/>
    <p:sldId id="271" r:id="rId21"/>
    <p:sldId id="272" r:id="rId22"/>
    <p:sldId id="273" r:id="rId23"/>
    <p:sldId id="274" r:id="rId24"/>
    <p:sldId id="275" r:id="rId25"/>
    <p:sldId id="316" r:id="rId26"/>
    <p:sldId id="315" r:id="rId27"/>
    <p:sldId id="314" r:id="rId28"/>
    <p:sldId id="276" r:id="rId29"/>
    <p:sldId id="281" r:id="rId30"/>
    <p:sldId id="283" r:id="rId31"/>
    <p:sldId id="313" r:id="rId32"/>
    <p:sldId id="312" r:id="rId33"/>
    <p:sldId id="311" r:id="rId34"/>
    <p:sldId id="285" r:id="rId35"/>
    <p:sldId id="305" r:id="rId36"/>
    <p:sldId id="306" r:id="rId37"/>
    <p:sldId id="286" r:id="rId38"/>
    <p:sldId id="288" r:id="rId39"/>
    <p:sldId id="289" r:id="rId40"/>
    <p:sldId id="321" r:id="rId41"/>
    <p:sldId id="292" r:id="rId42"/>
    <p:sldId id="310" r:id="rId43"/>
    <p:sldId id="309" r:id="rId44"/>
    <p:sldId id="308" r:id="rId45"/>
    <p:sldId id="295" r:id="rId46"/>
    <p:sldId id="296" r:id="rId47"/>
    <p:sldId id="300" r:id="rId48"/>
    <p:sldId id="301" r:id="rId49"/>
    <p:sldId id="320" r:id="rId50"/>
    <p:sldId id="302" r:id="rId51"/>
    <p:sldId id="303" r:id="rId5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99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0" autoAdjust="0"/>
    <p:restoredTop sz="76905" autoAdjust="0"/>
  </p:normalViewPr>
  <p:slideViewPr>
    <p:cSldViewPr snapToGrid="0" snapToObjects="1">
      <p:cViewPr varScale="1">
        <p:scale>
          <a:sx n="100" d="100"/>
          <a:sy n="100" d="100"/>
        </p:scale>
        <p:origin x="76"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226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IFC 2026 Workshop session on Funding What Works: Building a Proactive Funding Surveillance and Response System for Responsible Fatherhood Programs. This session is designed for practitioners, funders, evaluators, and program staff who are ready to move beyond reactive grant-seeking toward a strategic, sustainable approach to funding.</a:t>
            </a:r>
          </a:p>
          <a:p>
            <a:r>
              <a:rPr lang="en-US" dirty="0"/>
              <a:t>Over the next 75 minutes, we'll explore how Responsible Fatherhood (RF) programs can build internal systems—what we call a Funding Surveillance &amp; Response (FSR) system—to anticipate, prepare for, and strategically pursue funding opportunities. The goal isn't simply to win more grants, but to align funding with mission, strengthen organizational capacity, and improve outcomes for the fathers and families we serve.</a:t>
            </a:r>
          </a:p>
          <a:p>
            <a:r>
              <a:rPr lang="en-US" dirty="0"/>
              <a:t>This notebook is yours to keep. Each slide includes context, key definitions, and space for your own reflections. We encourage you to write in the margins, circle what resonates, and flag ideas you want to revisit after the session.</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75-minute working session, not a lecture. </a:t>
            </a:r>
            <a:r>
              <a:rPr lang="en-US"/>
              <a:t>You'll </a:t>
            </a:r>
            <a:r>
              <a:rPr lang="en-US" dirty="0"/>
              <a:t>be asked to reflect, discuss, and build throughout. To make the most of our time together, we ask that you stay engaged, share generously from your own experience, and respect the diversity of organizational contexts in the room.</a:t>
            </a:r>
          </a:p>
          <a:p>
            <a:r>
              <a:rPr lang="en-US" dirty="0"/>
              <a:t>Ground rules for the session: (1) Participate actively—your insights make this session richer. (2) Be candid about challenges—this is a learning space. (3) Focus on what you can control—</a:t>
            </a:r>
            <a:r>
              <a:rPr lang="en-US"/>
              <a:t>we'll </a:t>
            </a:r>
            <a:r>
              <a:rPr lang="en-US" dirty="0"/>
              <a:t>work on practical, implementable strategies. (4) Respect confidentiality—</a:t>
            </a:r>
            <a:r>
              <a:rPr lang="en-US"/>
              <a:t>what's </a:t>
            </a:r>
            <a:r>
              <a:rPr lang="en-US" dirty="0"/>
              <a:t>shared in the room stays in the room unless permission is given.</a:t>
            </a:r>
          </a:p>
          <a:p>
            <a:r>
              <a:rPr lang="en-US"/>
              <a:t>You'll </a:t>
            </a:r>
            <a:r>
              <a:rPr lang="en-US" dirty="0"/>
              <a:t>notice throughout this notebook that each section builds on the previous one. By the end, </a:t>
            </a:r>
            <a:r>
              <a:rPr lang="en-US"/>
              <a:t>you'll </a:t>
            </a:r>
            <a:r>
              <a:rPr lang="en-US" dirty="0"/>
              <a:t>have a personalized action plan for the next 90 days. Pace yourself—</a:t>
            </a:r>
            <a:r>
              <a:rPr lang="en-US"/>
              <a:t>there's</a:t>
            </a:r>
            <a:r>
              <a:rPr lang="en-US" dirty="0"/>
              <a:t> no need to capture everything; focus on what matters most to your organization right now.</a:t>
            </a:r>
          </a:p>
          <a:p>
            <a:r>
              <a:rPr lang="en-US" b="1"/>
              <a:t>Handout Overview:</a:t>
            </a:r>
          </a:p>
          <a:p>
            <a:r>
              <a:rPr lang="en-US"/>
              <a:t>This session includes six handouts. Direct participants to the corresponding handout at each reference point during the presentation:</a:t>
            </a:r>
          </a:p>
          <a:p>
            <a:r>
              <a:rPr lang="en-US"/>
              <a:t>  • Section 1: FNSRS Capacity Self-Assessment (Slide 24 — Self-Assessment Activity)</a:t>
            </a:r>
          </a:p>
          <a:p>
            <a:r>
              <a:rPr lang="en-US"/>
              <a:t>  • Section 2: Opportunity Scoring Matrix (Slide 21 — Pillar 2: Opportunity Intelligence)</a:t>
            </a:r>
          </a:p>
          <a:p>
            <a:r>
              <a:rPr lang="en-US"/>
              <a:t>  • Section 3: 90-Day Funding Opportunity Calendar (Slide 45 — 90-Day Roadmap)</a:t>
            </a:r>
          </a:p>
          <a:p>
            <a:r>
              <a:rPr lang="en-US"/>
              <a:t>  • Section 4: My Funding System Commitment (Slide 47 — Your Commitment)</a:t>
            </a:r>
          </a:p>
          <a:p>
            <a:r>
              <a:rPr lang="en-US"/>
              <a:t>  • Logic Model Handout (Slide 38 — FMP Better Together Logic Model at a Glance)</a:t>
            </a:r>
          </a:p>
          <a:p>
            <a:r>
              <a:rPr lang="en-US"/>
              <a:t>  • Outcomes Handout (Slide 40 — Long-Term Outcomes Mapped to Funder Priorities)</a:t>
            </a:r>
          </a:p>
          <a:p>
            <a:r>
              <a:rPr lang="en-US"/>
              <a:t>A printable Handout Reference Guide summarizing all six handouts with slide numbers is on Slide 48. Use it as a checkpoint before Q&amp;A (Slide 49) to confirm participants have the complete set.</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session is organized into five interconnected sections. Section 1, Funding Landscape Reality, establishes the current state of RF funding and why a reactive approach is no longer sufficient. Section 2, The FSR System, introduces the core framework and its five pillars. Section 3, Navigating the Funding Landscape, provides strategic building blocks for sustainability. Section 4, </a:t>
            </a:r>
            <a:r>
              <a:rPr lang="en-US"/>
              <a:t>Applied Examples</a:t>
            </a:r>
            <a:r>
              <a:rPr lang="en-US" dirty="0"/>
              <a:t>, shows </a:t>
            </a:r>
            <a:r>
              <a:rPr lang="en-US"/>
              <a:t>how </a:t>
            </a:r>
            <a:r>
              <a:rPr lang="en-US" dirty="0"/>
              <a:t>FSR </a:t>
            </a:r>
            <a:r>
              <a:rPr lang="en-US"/>
              <a:t>concepts are applied</a:t>
            </a:r>
            <a:r>
              <a:rPr lang="en-US" dirty="0"/>
              <a:t> through a real program model. Section 5, Build Your Own FSR, gives you a 90-day implementation roadmap and commitment card.</a:t>
            </a:r>
          </a:p>
          <a:p>
            <a:r>
              <a:rPr lang="en-US" dirty="0"/>
              <a:t>Each section includes a mix of presentation content, group discussion, and individual reflection. The activities are designed to help you translate concepts into action specific to your organization’s context. If </a:t>
            </a:r>
            <a:r>
              <a:rPr lang="en-US"/>
              <a:t>you're</a:t>
            </a:r>
            <a:r>
              <a:rPr lang="en-US" dirty="0"/>
              <a:t> attending with colleagues, use the discussion moments to align on priorities.</a:t>
            </a:r>
          </a:p>
          <a:p>
            <a:r>
              <a:rPr lang="en-US" dirty="0"/>
              <a:t>Think of this roadmap as your table of contents for the notebook. You may want to bookmark sections you’d like to return to after the workshop.</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Twenty-two years ago, Dr. Herbert M. Turner III launched a company built on expertise, innovative ideas, and the energy of that first contract. Like many founders—whether in the for-profit or non-profit world—the early focus was on doing great work and landing that initial grant or partnership. What wasn’t immediately obvious was that starting an organization isn’t just about the first win. It’s about the second, the tenth, and the hundredth—the entire business development life cycle that sustains a mission over decades.</a:t>
            </a:r>
          </a:p>
          <a:p>
            <a:r>
              <a:rPr lang="en-US"/>
              <a:t>That realization is what drives this workshop. For non-profit organizations especially, passion for the mission can sometimes overshadow the operational reality: doing good isn’t enough if you can’t sustain the funding to keep doing it. Funding isn’t a side task or an afterthought—it’s the lifeblood of every organization that serves families.</a:t>
            </a:r>
          </a:p>
          <a:p>
            <a:r>
              <a:rPr lang="en-US"/>
              <a:t>This session exists because too many Responsible Fatherhood programs have the talent, the evidence, and the community trust to make a lasting difference—but lack the funding infrastructure to sustain it. The goal today is to change that by giving you a system, not just a strategy, for proactive funding.</a:t>
            </a:r>
          </a:p>
          <a:p>
            <a:r>
              <a:rPr lang="en-US"/>
              <a:t>As you read this slide, consider your own organization’s story. When did you first realize that the work alone wasn’t enough—that you also needed a plan for the funding that makes the work possible?</a:t>
            </a:r>
          </a:p>
          <a:p>
            <a:r>
              <a:rPr lang="en-US"/>
              <a:t>Your Notes: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The Funding Landscape Reality. In this section, we examine the current state of Responsible Fatherhood funding in the United States, including who funds RF programs, how much is available, and why the traditional approach to grant-seeking is leaving organizations vulnerable.</a:t>
            </a:r>
          </a:p>
          <a:p>
            <a:r>
              <a:rPr lang="en-US" dirty="0"/>
              <a:t>Understanding the landscape is the first step toward building a proactive strategy. Too many RF programs operate in a cycle of reactive grant-chasing—responding to RFPs as they appear, stretching capacity to meet funder requirements, and losing sight of mission in the process. This section will help you see the bigger picture and understand why a fundamental shift is necessary.</a:t>
            </a:r>
          </a:p>
          <a:p>
            <a:r>
              <a:rPr lang="en-US" dirty="0"/>
              <a:t>As you move through this section, consider your own organization’s relationship with funding. How much of your time is spent reacting to opportunities versus strategically pursuing them? That self-awareness will be valuable as we build toward solutions.</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a side-by-side comparison of reactive and proactive approaches to funding. In a reactive model, organizations wait for RFPs, scramble to assemble proposals, and adapt their programs to fit funder priorities—often at the expense of mission alignment. In a proactive model, organizations continuously scan the funding environment, maintain readiness materials, and pursue opportunities that align with their strategic plan.</a:t>
            </a:r>
          </a:p>
          <a:p>
            <a:r>
              <a:rPr lang="en-US" dirty="0"/>
              <a:t>The reactive approach </a:t>
            </a:r>
            <a:r>
              <a:rPr lang="en-US"/>
              <a:t>isn't </a:t>
            </a:r>
            <a:r>
              <a:rPr lang="en-US" dirty="0"/>
              <a:t>inherently wrong—every organization must respond to opportunities as they arise. The problem is when reactive becomes the default mode of operation. When an organization is always in response mode, it </a:t>
            </a:r>
            <a:r>
              <a:rPr lang="en-US"/>
              <a:t>can't </a:t>
            </a:r>
            <a:r>
              <a:rPr lang="en-US" dirty="0"/>
              <a:t>invest in the capacity-building, relationship development, and strategic positioning that lead to long-term sustainability.</a:t>
            </a:r>
          </a:p>
          <a:p>
            <a:r>
              <a:rPr lang="en-US" dirty="0"/>
              <a:t>A proactive approach </a:t>
            </a:r>
            <a:r>
              <a:rPr lang="en-US"/>
              <a:t>doesn't </a:t>
            </a:r>
            <a:r>
              <a:rPr lang="en-US" dirty="0"/>
              <a:t>mean ignoring unexpected opportunities. It means having the systems in place to evaluate and respond to those opportunities quickly and strategically. Think of it as the difference between a fire department that only responds to alarms and one that also conducts inspections, maintains equipment, and trains continuously.</a:t>
            </a:r>
          </a:p>
          <a:p>
            <a:r>
              <a:rPr lang="en-US" dirty="0"/>
              <a:t>Key takeaway: The goal </a:t>
            </a:r>
            <a:r>
              <a:rPr lang="en-US"/>
              <a:t>isn't</a:t>
            </a:r>
            <a:r>
              <a:rPr lang="en-US" dirty="0"/>
              <a:t> to eliminate reactive behavior but to ensure that your organization’s dominant posture is proactive and strategic.</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Responsible Fatherhood funding landscape is substantial but concentrated. With over $150 million in active funding and 109 awards tracked, the RF field represents a significant investment by federal, state, and private funders. However, the distribution of these funds reveals important patterns that every RF organization should understand.</a:t>
            </a:r>
          </a:p>
          <a:p>
            <a:r>
              <a:rPr lang="en-US" dirty="0"/>
              <a:t>Federal sources—particularly the Office of Family Assistance (OFA) Healthy Marriage and Responsible Fatherhood (HMRF) grants—remain the largest single funding stream. State-level funding varies dramatically by geography, and private philanthropy, while growing, tends to favor organizations with strong evaluation infrastructure and proven outcomes.</a:t>
            </a:r>
          </a:p>
          <a:p>
            <a:r>
              <a:rPr lang="en-US" dirty="0"/>
              <a:t>These numbers tell us two things: first, </a:t>
            </a:r>
            <a:r>
              <a:rPr lang="en-US"/>
              <a:t>there's</a:t>
            </a:r>
            <a:r>
              <a:rPr lang="en-US" dirty="0"/>
              <a:t> real money available for RF programs that can demonstrate impact. Second, competition is intensifying as more organizations recognize the opportunity. The organizations that will thrive are those that understand the landscape deeply and position themselves strategically—not those that simply apply to everything.</a:t>
            </a:r>
          </a:p>
          <a:p>
            <a:r>
              <a:rPr lang="en-US" dirty="0"/>
              <a:t>As you review these figures, consider where your current funding comes from and how diversified your portfolio is. A heavy reliance on a single funder or funding stream is one of the most common vulnerabilities in the RF sector.</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Reactive funding carries real costs that are often invisible until they accumulate. Mission drift occurs when programs reshape their services to match funder priorities rather than community needs. Capacity drain happens when staff spend disproportionate time on proposal writing and compliance rather than program delivery. Leadership burnout results from the constant cycle of uncertainty, deadlines, and pivots.</a:t>
            </a:r>
          </a:p>
          <a:p>
            <a:r>
              <a:rPr lang="en-US" dirty="0"/>
              <a:t>There are also opportunity costs. When an organization is consumed by responding to the next RFP, it </a:t>
            </a:r>
            <a:r>
              <a:rPr lang="en-US"/>
              <a:t>can't </a:t>
            </a:r>
            <a:r>
              <a:rPr lang="en-US" dirty="0"/>
              <a:t>invest in the long-term relationship building, data infrastructure, and strategic planning that lead to larger and more sustained funding. The irony is that reactive behavior—intended to secure resources—often undermines the very capacity needed to compete effectively.</a:t>
            </a:r>
          </a:p>
          <a:p>
            <a:r>
              <a:rPr lang="en-US" dirty="0"/>
              <a:t>Consider this: if your senior staff spend 30-40% of their time on reactive grant-seeking, </a:t>
            </a:r>
            <a:r>
              <a:rPr lang="en-US"/>
              <a:t>what's </a:t>
            </a:r>
            <a:r>
              <a:rPr lang="en-US" dirty="0"/>
              <a:t>that time worth in terms of program improvement, community engagement, or strategic partnerships? The cost of reactive funding </a:t>
            </a:r>
            <a:r>
              <a:rPr lang="en-US"/>
              <a:t>isn't </a:t>
            </a:r>
            <a:r>
              <a:rPr lang="en-US" dirty="0"/>
              <a:t>just financial—it is organizational.</a:t>
            </a:r>
          </a:p>
          <a:p>
            <a:r>
              <a:rPr lang="en-US" dirty="0"/>
              <a:t>This </a:t>
            </a:r>
            <a:r>
              <a:rPr lang="en-US"/>
              <a:t>isn't </a:t>
            </a:r>
            <a:r>
              <a:rPr lang="en-US" dirty="0"/>
              <a:t>about blame. Most RF organizations adopted reactive patterns because the funding environment rewarded them. The question now is whether </a:t>
            </a:r>
            <a:r>
              <a:rPr lang="en-US"/>
              <a:t>you're</a:t>
            </a:r>
            <a:r>
              <a:rPr lang="en-US" dirty="0"/>
              <a:t> willing to invest in building something better.</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Three Funding Traps — Reflection</a:t>
            </a:r>
          </a:p>
          <a:p>
            <a:r>
              <a:rPr lang="en-US"/>
              <a:t>This slide presents three common patterns that keep Responsible Fatherhood programs stuck in reactive mode. Take a moment to read through each one and honestly consider whether </a:t>
            </a:r>
            <a:r>
              <a:rPr lang="en-US" dirty="0"/>
              <a:t>your organization </a:t>
            </a:r>
            <a:r>
              <a:rPr lang="en-US"/>
              <a:t>has experienced any of them.</a:t>
            </a:r>
            <a:endParaRPr lang="en-US" dirty="0"/>
          </a:p>
          <a:p>
            <a:r>
              <a:rPr lang="en-US"/>
              <a:t>Trap 1</a:t>
            </a:r>
            <a:r>
              <a:rPr lang="en-US" dirty="0"/>
              <a:t>: The </a:t>
            </a:r>
            <a:r>
              <a:rPr lang="en-US"/>
              <a:t>Last-Minute </a:t>
            </a:r>
            <a:r>
              <a:rPr lang="en-US" dirty="0"/>
              <a:t>Trap</a:t>
            </a:r>
            <a:r>
              <a:rPr lang="en-US"/>
              <a:t> </a:t>
            </a:r>
            <a:r>
              <a:rPr lang="en-US" dirty="0"/>
              <a:t>—</a:t>
            </a:r>
            <a:r>
              <a:rPr lang="en-US"/>
              <a:t> scrambling to apply </a:t>
            </a:r>
            <a:r>
              <a:rPr lang="en-US" dirty="0"/>
              <a:t>for </a:t>
            </a:r>
            <a:r>
              <a:rPr lang="en-US"/>
              <a:t>grants your program isn’t ready to win or deliver. Preparation is replaced by panic, and staff burn out under repeated emergency timelines</a:t>
            </a:r>
            <a:r>
              <a:rPr lang="en-US" dirty="0"/>
              <a:t>. </a:t>
            </a:r>
            <a:r>
              <a:rPr lang="en-US"/>
              <a:t>Even when you win, the cost in morale and quality is real.</a:t>
            </a:r>
          </a:p>
          <a:p>
            <a:r>
              <a:rPr lang="en-US"/>
              <a:t>Trap </a:t>
            </a:r>
            <a:r>
              <a:rPr lang="en-US" dirty="0"/>
              <a:t>2</a:t>
            </a:r>
            <a:r>
              <a:rPr lang="en-US"/>
              <a:t>: </a:t>
            </a:r>
            <a:r>
              <a:rPr lang="en-US" dirty="0"/>
              <a:t>The </a:t>
            </a:r>
            <a:r>
              <a:rPr lang="en-US"/>
              <a:t>Single-Funder </a:t>
            </a:r>
            <a:r>
              <a:rPr lang="en-US" dirty="0"/>
              <a:t>Trap</a:t>
            </a:r>
            <a:r>
              <a:rPr lang="en-US"/>
              <a:t> </a:t>
            </a:r>
            <a:r>
              <a:rPr lang="en-US" dirty="0"/>
              <a:t>—</a:t>
            </a:r>
            <a:r>
              <a:rPr lang="en-US"/>
              <a:t> over-reliance on one federal award creating dangerous dependency. If that single source is disrupted—through policy changes, budget cuts</a:t>
            </a:r>
            <a:r>
              <a:rPr lang="en-US" dirty="0"/>
              <a:t>, </a:t>
            </a:r>
            <a:r>
              <a:rPr lang="en-US"/>
              <a:t>or </a:t>
            </a:r>
            <a:r>
              <a:rPr lang="en-US" dirty="0"/>
              <a:t>a </a:t>
            </a:r>
            <a:r>
              <a:rPr lang="en-US"/>
              <a:t>failed renewal—your entire operation is at risk. This is one </a:t>
            </a:r>
            <a:r>
              <a:rPr lang="en-US" dirty="0"/>
              <a:t>of </a:t>
            </a:r>
            <a:r>
              <a:rPr lang="en-US"/>
              <a:t>the most common vulnerabilities in the RF sector</a:t>
            </a:r>
            <a:r>
              <a:rPr lang="en-US" dirty="0"/>
              <a:t>.</a:t>
            </a:r>
            <a:endParaRPr lang="en-US"/>
          </a:p>
          <a:p>
            <a:r>
              <a:rPr lang="en-US"/>
              <a:t>Trap</a:t>
            </a:r>
            <a:r>
              <a:rPr lang="en-US" dirty="0"/>
              <a:t> 3</a:t>
            </a:r>
            <a:r>
              <a:rPr lang="en-US"/>
              <a:t>: </a:t>
            </a:r>
            <a:r>
              <a:rPr lang="en-US" dirty="0"/>
              <a:t>The </a:t>
            </a:r>
            <a:r>
              <a:rPr lang="en-US"/>
              <a:t>Misalignment </a:t>
            </a:r>
            <a:r>
              <a:rPr lang="en-US" dirty="0"/>
              <a:t>Trap</a:t>
            </a:r>
            <a:r>
              <a:rPr lang="en-US"/>
              <a:t> </a:t>
            </a:r>
            <a:r>
              <a:rPr lang="en-US" dirty="0"/>
              <a:t>—</a:t>
            </a:r>
            <a:r>
              <a:rPr lang="en-US"/>
              <a:t> accepting funds that don’t fit your model, population, or evidence base. This is how mission drift begins—gradually, one grant at a time, until your program looks very different from what you originally set out </a:t>
            </a:r>
            <a:r>
              <a:rPr lang="en-US" dirty="0"/>
              <a:t>to </a:t>
            </a:r>
            <a:r>
              <a:rPr lang="en-US"/>
              <a:t>build</a:t>
            </a:r>
            <a:r>
              <a:rPr lang="en-US" dirty="0"/>
              <a:t>.</a:t>
            </a:r>
          </a:p>
          <a:p>
            <a:r>
              <a:rPr lang="en-US" dirty="0"/>
              <a:t>Nearly every RF organization has experienced at least one of these</a:t>
            </a:r>
            <a:r>
              <a:rPr lang="en-US"/>
              <a:t> traps</a:t>
            </a:r>
            <a:r>
              <a:rPr lang="en-US" dirty="0"/>
              <a:t>. The </a:t>
            </a:r>
            <a:r>
              <a:rPr lang="en-US"/>
              <a:t>goal here isn’t </a:t>
            </a:r>
            <a:r>
              <a:rPr lang="en-US" dirty="0"/>
              <a:t>to judge</a:t>
            </a:r>
            <a:r>
              <a:rPr lang="en-US"/>
              <a:t>—it’s </a:t>
            </a:r>
            <a:r>
              <a:rPr lang="en-US" dirty="0"/>
              <a:t>to build awareness. Understanding your patterns is the first step toward changing them.</a:t>
            </a:r>
          </a:p>
          <a:p>
            <a:r>
              <a:rPr lang="en-US"/>
              <a:t>Jot </a:t>
            </a:r>
            <a:r>
              <a:rPr lang="en-US" dirty="0"/>
              <a:t>down </a:t>
            </a:r>
            <a:r>
              <a:rPr lang="en-US"/>
              <a:t>which </a:t>
            </a:r>
            <a:r>
              <a:rPr lang="en-US" dirty="0"/>
              <a:t>trap your organization is </a:t>
            </a:r>
            <a:r>
              <a:rPr lang="en-US"/>
              <a:t>most susceptible to right now, </a:t>
            </a:r>
            <a:r>
              <a:rPr lang="en-US" dirty="0"/>
              <a:t>and one concrete step you could take in the next 30 days to </a:t>
            </a:r>
            <a:r>
              <a:rPr lang="en-US"/>
              <a:t>start </a:t>
            </a:r>
            <a:r>
              <a:rPr lang="en-US" dirty="0"/>
              <a:t>addressing it. </a:t>
            </a:r>
            <a:r>
              <a:rPr lang="en-US"/>
              <a:t>You’ll</a:t>
            </a:r>
            <a:r>
              <a:rPr lang="en-US" dirty="0"/>
              <a:t> revisit these reflections at the end of the session.</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spc="10" dirty="0">
                <a:solidFill>
                  <a:srgbClr val="FFFFFF"/>
                </a:solidFill>
                <a:latin typeface="Calibri Light" pitchFamily="34" charset="0"/>
                <a:ea typeface="Calibri Light" pitchFamily="34" charset="-122"/>
                <a:cs typeface="Calibri Light" pitchFamily="34" charset="-120"/>
              </a:rPr>
              <a:t>The difference between programs that </a:t>
            </a:r>
            <a:r>
              <a:rPr lang="en-US" sz="1200" b="1" kern="0" spc="10" dirty="0">
                <a:solidFill>
                  <a:srgbClr val="FFFFFF"/>
                </a:solidFill>
                <a:latin typeface="Calibri Light" pitchFamily="34" charset="0"/>
                <a:ea typeface="Calibri Light" pitchFamily="34" charset="-122"/>
                <a:cs typeface="Calibri Light" pitchFamily="34" charset="-120"/>
              </a:rPr>
              <a:t>survive</a:t>
            </a:r>
            <a:r>
              <a:rPr lang="en-US" sz="1200" kern="0" spc="10" dirty="0">
                <a:solidFill>
                  <a:srgbClr val="FFFFFF"/>
                </a:solidFill>
                <a:latin typeface="Calibri Light" pitchFamily="34" charset="0"/>
                <a:ea typeface="Calibri Light" pitchFamily="34" charset="-122"/>
                <a:cs typeface="Calibri Light" pitchFamily="34" charset="-120"/>
              </a:rPr>
              <a:t> and programs that </a:t>
            </a:r>
            <a:r>
              <a:rPr lang="en-US" sz="1200" b="1" kern="0" spc="10" dirty="0">
                <a:solidFill>
                  <a:srgbClr val="FFFFFF"/>
                </a:solidFill>
                <a:latin typeface="Calibri Light" pitchFamily="34" charset="0"/>
                <a:ea typeface="Calibri Light" pitchFamily="34" charset="-122"/>
                <a:cs typeface="Calibri Light" pitchFamily="34" charset="-120"/>
              </a:rPr>
              <a:t>thrive</a:t>
            </a:r>
            <a:r>
              <a:rPr lang="en-US" sz="1200" kern="0" spc="10" dirty="0">
                <a:solidFill>
                  <a:srgbClr val="FFFFFF"/>
                </a:solidFill>
                <a:latin typeface="Calibri Light" pitchFamily="34" charset="0"/>
                <a:ea typeface="Calibri Light" pitchFamily="34" charset="-122"/>
                <a:cs typeface="Calibri Light" pitchFamily="34" charset="-120"/>
              </a:rPr>
              <a:t> </a:t>
            </a:r>
            <a:r>
              <a:rPr lang="en-US" sz="1200" kern="0" spc="10">
                <a:solidFill>
                  <a:srgbClr val="FFFFFF"/>
                </a:solidFill>
                <a:latin typeface="Calibri Light" pitchFamily="34" charset="0"/>
                <a:ea typeface="Calibri Light" pitchFamily="34" charset="-122"/>
                <a:cs typeface="Calibri Light" pitchFamily="34" charset="-120"/>
              </a:rPr>
              <a:t>isn't </a:t>
            </a:r>
            <a:r>
              <a:rPr lang="en-US" sz="1200" kern="0" spc="10" dirty="0">
                <a:solidFill>
                  <a:srgbClr val="FFFFFF"/>
                </a:solidFill>
                <a:latin typeface="Calibri Light" pitchFamily="34" charset="0"/>
                <a:ea typeface="Calibri Light" pitchFamily="34" charset="-122"/>
                <a:cs typeface="Calibri Light" pitchFamily="34" charset="-120"/>
              </a:rPr>
              <a:t>talent — it is </a:t>
            </a:r>
            <a:r>
              <a:rPr lang="en-US" sz="1200" b="1" kern="0" spc="10" dirty="0">
                <a:solidFill>
                  <a:srgbClr val="FFFFFF"/>
                </a:solidFill>
                <a:latin typeface="Calibri Light" pitchFamily="34" charset="0"/>
                <a:ea typeface="Calibri Light" pitchFamily="34" charset="-122"/>
                <a:cs typeface="Calibri Light" pitchFamily="34" charset="-120"/>
              </a:rPr>
              <a:t>surveillance</a:t>
            </a:r>
            <a:r>
              <a:rPr lang="en-US" sz="1800" b="1" kern="0" spc="10" dirty="0">
                <a:solidFill>
                  <a:srgbClr val="FFFFFF"/>
                </a:solidFill>
                <a:latin typeface="Calibri Light" pitchFamily="34" charset="0"/>
                <a:ea typeface="Calibri Light" pitchFamily="34" charset="-122"/>
                <a:cs typeface="Calibri Light" pitchFamily="34" charset="-120"/>
              </a:rPr>
              <a:t>.”</a:t>
            </a:r>
            <a:endParaRPr lang="en-US" sz="1800" dirty="0"/>
          </a:p>
          <a:p>
            <a:r>
              <a:rPr lang="en-US" dirty="0"/>
              <a:t>The fundamental shift </a:t>
            </a:r>
            <a:r>
              <a:rPr lang="en-US"/>
              <a:t>we're </a:t>
            </a:r>
            <a:r>
              <a:rPr lang="en-US" dirty="0"/>
              <a:t>proposing is a move from reactive grant-seeking to proactive funding strategy. This </a:t>
            </a:r>
            <a:r>
              <a:rPr lang="en-US"/>
              <a:t>isn't </a:t>
            </a:r>
            <a:r>
              <a:rPr lang="en-US" dirty="0"/>
              <a:t>just a change in tactics—it is a change in organizational mindset. Reactive organizations ask, “What funding is available?” Proactive organizations ask, “What do we need to accomplish our mission, and how do we align funding to support that?”</a:t>
            </a:r>
          </a:p>
          <a:p>
            <a:r>
              <a:rPr lang="en-US" dirty="0"/>
              <a:t>This shift requires three things: (1) Leadership commitment—someone in the organization must champion this change and protect the time and resources needed to build new systems. (2) Infrastructure investment—proactive funding requires tools, processes, and data that most RF organizations </a:t>
            </a:r>
            <a:r>
              <a:rPr lang="en-US"/>
              <a:t>don't </a:t>
            </a:r>
            <a:r>
              <a:rPr lang="en-US" dirty="0"/>
              <a:t>currently have. (3) Patience—the returns on a proactive approach are significant, but they take time to materialize.</a:t>
            </a:r>
          </a:p>
          <a:p>
            <a:r>
              <a:rPr lang="en-US" dirty="0"/>
              <a:t>The good news is that this shift </a:t>
            </a:r>
            <a:r>
              <a:rPr lang="en-US"/>
              <a:t>doesn't </a:t>
            </a:r>
            <a:r>
              <a:rPr lang="en-US" dirty="0"/>
              <a:t>require a massive budget or a large team. It requires intention, consistency, and a willingness to invest a small amount of time each week in strategic activities rather than reactive ones. The FSR system </a:t>
            </a:r>
            <a:r>
              <a:rPr lang="en-US"/>
              <a:t>we'll</a:t>
            </a:r>
            <a:r>
              <a:rPr lang="en-US" dirty="0"/>
              <a:t> introduce in the next section provides a structured way to make this shift.</a:t>
            </a:r>
          </a:p>
          <a:p>
            <a:r>
              <a:rPr lang="en-US" dirty="0"/>
              <a:t>Your Notes:</a:t>
            </a:r>
          </a:p>
        </p:txBody>
      </p:sp>
    </p:spTree>
    <p:extLst>
      <p:ext uri="{BB962C8B-B14F-4D97-AF65-F5344CB8AC3E}">
        <p14:creationId xmlns:p14="http://schemas.microsoft.com/office/powerpoint/2010/main" val="2754107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strategic principles form the philosophical foundation for proactive funding. They are: (1) Mission Alignment First—never pursue funding that pulls you away from your core purpose. (2) Capacity Before Opportunity—build readiness so you can act when the right opportunity appears. (3) Diversification as Defense—reduce vulnerability by cultivating multiple funding streams. (4) Data as Currency—invest in outcomes measurement because funders increasingly demand evidence. (5) Relationships Over Transactions—build genuine partnerships with funders rather than treating each grant as a one-time exchange.</a:t>
            </a:r>
          </a:p>
          <a:p>
            <a:r>
              <a:rPr lang="en-US" dirty="0"/>
              <a:t>These principles </a:t>
            </a:r>
            <a:r>
              <a:rPr lang="en-US"/>
              <a:t>aren't</a:t>
            </a:r>
            <a:r>
              <a:rPr lang="en-US" dirty="0"/>
              <a:t> abstract ideals. Each one has practical implications for how you allocate staff time, structure your development function, and make decisions about which opportunities to pursue. We encourage you to evaluate your current practices against each principle and identify where the biggest gaps exist.</a:t>
            </a:r>
          </a:p>
          <a:p>
            <a:r>
              <a:rPr lang="en-US" dirty="0"/>
              <a:t>Organizations that internalize these principles tend to make better funding decisions, experience less mission drift, and build stronger relationships with funders over time. They also tend to win more grants—not because they apply to more, but because they apply to the right ones with stronger proposals.</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1.1</a:t>
            </a:r>
          </a:p>
          <a:p>
            <a:r>
              <a:rPr lang="en-US"/>
              <a:t>Take a moment to consider your answer before reading on. This scenario involves several overlapping pressures—a tight deadline, staff being pulled from existing work, and a grant that doesn’t match the program’s current services. The question asks which funding trap this best illustrates.</a:t>
            </a:r>
          </a:p>
          <a:p>
            <a:r>
              <a:rPr lang="en-US"/>
              <a:t>The correct answer is C — The Misalignment Trap. While the tight deadline (B) and staff strain (D) are both present in this scenario, the core issue is that the program is pursuing funding misaligned with its theory of change. The director is chasing a grant for workforce development services the program doesn’t currently offer. This is how mission drift begins—gradually reshaping what a program does based on what funders will pay for, rather than what the community needs.</a:t>
            </a:r>
          </a:p>
          <a:p>
            <a:r>
              <a:rPr lang="en-US"/>
              <a:t>The Misalignment Trap is often the most structurally damaging of the three traps because it doesn’t just exhaust your team (like the Last-Minute Trap) or create financial vulnerability (like the Single-Funder Trap)—it actually reshapes your program’s identity and purpose over time.</a:t>
            </a:r>
          </a:p>
          <a:p>
            <a:r>
              <a:rPr lang="en-US"/>
              <a:t>Reflection: Think about a time your organization considered pursuing funding that didn’t quite fit your mission. What happened? What would you do differently with the FSR framework in mind?</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1.2</a:t>
            </a:r>
          </a:p>
          <a:p>
            <a:r>
              <a:rPr lang="en-US"/>
              <a:t>This question challenges a common assumption: that a high win rate means your funding approach is working. The practitioner in this scenario has won 3 out of 5 recent proposals—a 60% success rate that sounds impressive on the surface.</a:t>
            </a:r>
          </a:p>
          <a:p>
            <a:r>
              <a:rPr lang="en-US"/>
              <a:t>The correct answer is B — Repeated reactive cycles may be causing mission drift and staff burnout even when grants are won. The session emphasized that reactive funding costs are real “even when the grant is won.” Mission drift, capacity drain, and staff burnout accumulate regardless of win rate. A 60% success rate doesn’t address the organizational damage caused by chronic reactive posture.</a:t>
            </a:r>
          </a:p>
          <a:p>
            <a:r>
              <a:rPr lang="en-US"/>
              <a:t>This is one of the most counterintuitive lessons in funding strategy: winning grants through reactive methods can actually harm your organization. Each scramble consumes bandwidth that could go toward program delivery, data collection, or strategic relationship building. Over time, the cumulative toll erodes the very capacity that makes your program effective.</a:t>
            </a:r>
          </a:p>
          <a:p>
            <a:r>
              <a:rPr lang="en-US"/>
              <a:t>Reflection: What hidden costs of reactive funding has your program experienced—even during periods when you were winning grants?</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1.3</a:t>
            </a:r>
          </a:p>
          <a:p>
            <a:r>
              <a:rPr lang="en-US"/>
              <a:t>This scenario presents a program with 85% single-funder dependence—a common and dangerous position for many RF organizations. The question asks which action to prioritize first when shifting toward a proactive posture.</a:t>
            </a:r>
          </a:p>
          <a:p>
            <a:r>
              <a:rPr lang="en-US"/>
              <a:t>The correct answer is D — Clarify the program’s theory of change so that every funding decision is mission-driven. The first strategic principle is Mission-First Funding—every funding decision should flow from your theory of change. Without this foundation, hiring writers (A), mass-applying to grants (B), or upgrading data systems (C) all risk perpetuating reactive behavior with more resources. You need to know what you stand for before you can strategically pursue the funding to support it.</a:t>
            </a:r>
          </a:p>
          <a:p>
            <a:r>
              <a:rPr lang="en-US"/>
              <a:t>This principle matters because it’s tempting to jump straight to tactical actions like diversifying your funding portfolio. But if you don’t have a clear theory of change guiding those decisions, you may end up with a more diversified but equally misaligned set of funding sources.</a:t>
            </a:r>
          </a:p>
          <a:p>
            <a:r>
              <a:rPr lang="en-US"/>
              <a:t>Reflection: Does your program have a current, written theory of change? If so, when was it last updated? If not, what would it take to develop one?</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The Funding Surveillance &amp; Response (FSR) System. In this section, we introduce the core framework that operationalizes the shift from reactive to proactive funding. The FSR system provides a structured, repeatable process for identifying, evaluating, preparing for, and responding to funding opportunities.</a:t>
            </a:r>
          </a:p>
          <a:p>
            <a:r>
              <a:rPr lang="en-US" dirty="0"/>
              <a:t>Think of the FSR system as the organizational infrastructure that makes proactive funding possible. Just as a public health surveillance system continuously monitors for disease outbreaks and triggers coordinated responses, the FSR system continuously monitors the funding environment and triggers strategic organizational responses.</a:t>
            </a:r>
          </a:p>
          <a:p>
            <a:r>
              <a:rPr lang="en-US" dirty="0"/>
              <a:t>This section will walk you through the system’s definition, the role of NPCL in supporting implementation, and the five pillars that make up the FSR architecture. By the end of this section, you should have a clear picture of what the system looks like and how it functions.</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Funding Surveillance &amp; Response (FSR) system is defined as a continuous, structured process by which an organization monitors the external funding environment, assesses internal readiness, and mobilizes strategic responses to funding opportunities that align with its mission and capacity.</a:t>
            </a:r>
          </a:p>
          <a:p>
            <a:r>
              <a:rPr lang="en-US" dirty="0"/>
              <a:t>Three words in this definition are critical. “Continuous” means this </a:t>
            </a:r>
            <a:r>
              <a:rPr lang="en-US"/>
              <a:t>isn't </a:t>
            </a:r>
            <a:r>
              <a:rPr lang="en-US" dirty="0"/>
              <a:t>a quarterly or annual exercise—it is an ongoing organizational function. “Structured” means it follows defined processes with clear roles, tools, and timelines. “Strategic” means every response is filtered through mission alignment, capacity assessment, and long-term sustainability considerations.</a:t>
            </a:r>
          </a:p>
          <a:p>
            <a:r>
              <a:rPr lang="en-US" dirty="0"/>
              <a:t>The FSR system is designed to be scalable. A small organization with limited staff can implement a basic version focused on environmental scanning and readiness assessment. A larger organization can build out the full five-pillar architecture with dedicated staff and technology. The key is to start where </a:t>
            </a:r>
            <a:r>
              <a:rPr lang="en-US"/>
              <a:t>you're</a:t>
            </a:r>
            <a:r>
              <a:rPr lang="en-US" dirty="0"/>
              <a:t> and build incrementally.</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National Parent and Community Leadership (NPCL) Institute has expanded its role to serve as a capacity-building partner for RF organizations seeking to implement the FSR system. This expanded role includes providing technical assistance, training, shared tools, and a learning community where organizations can exchange strategies and lessons learned.</a:t>
            </a:r>
          </a:p>
          <a:p>
            <a:r>
              <a:rPr lang="en-US" dirty="0"/>
              <a:t>NPCL’s support is particularly valuable because it reduces the burden on individual organizations. Rather than each program building its own scanning infrastructure, readiness tools, and response templates from scratch, NPCL provides a shared platform that organizations can customize to their context.</a:t>
            </a:r>
          </a:p>
          <a:p>
            <a:r>
              <a:rPr lang="en-US" dirty="0"/>
              <a:t>This model—shared infrastructure with local customization—is a hallmark of effective capacity-building in the nonprofit sector. It lowers the barrier to entry, accelerates implementation, and creates a network effect where each organization’s learning benefits the whole community.</a:t>
            </a:r>
          </a:p>
          <a:p>
            <a:r>
              <a:rPr lang="en-US" dirty="0"/>
              <a:t>If your organization is interested in NPCL’s FSR support services, note the contact information on the slide and plan to connect after the workshop.</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FSR system is built on five interconnected pillars: (1) Environmental Scanning, (2) Opportunity Intelligence, (3) Readiness Assessment, (4) Strategic Response, and (5) Continuous Learning. Each pillar represents a distinct organizational function, but they work together as an integrated system.</a:t>
            </a:r>
          </a:p>
          <a:p>
            <a:r>
              <a:rPr lang="en-US" dirty="0"/>
              <a:t>Think of the pillars as a cycle rather than a linear sequence. Environmental Scanning feeds Opportunity Intelligence, which triggers Readiness Assessment, which informs Strategic Response, which generates data for Continuous Learning, which improves Environmental Scanning. The cycle repeats and improves with each iteration.</a:t>
            </a:r>
          </a:p>
          <a:p>
            <a:r>
              <a:rPr lang="en-US" dirty="0"/>
              <a:t>Most RF organizations already perform some version of one or two of these pillars—typically scanning and response. The FSR framework’s value is in formalizing all five, ensuring they are connected, and building organizational habits around each one. The slides that follow will detail each pillar.</a:t>
            </a:r>
          </a:p>
          <a:p>
            <a:r>
              <a:rPr lang="en-US" dirty="0"/>
              <a:t>As you review each pillar, assess your organization’s current capability. Where are you strong? Where are the gaps? This self-assessment will be formalized in the activity at the end of this section.</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1: Environmental Scanning is the foundation of the FSR system. It involves systematically monitoring the external funding environment for signals, trends, and opportunities relevant to your organization’s mission. This includes tracking federal, state, and local government funding announcements; monitoring private philanthropy priorities; following policy developments that may create new funding streams; and staying connected to peer organizations and intermediaries.</a:t>
            </a:r>
          </a:p>
          <a:p>
            <a:r>
              <a:rPr lang="en-US" dirty="0"/>
              <a:t>Effective scanning </a:t>
            </a:r>
            <a:r>
              <a:rPr lang="en-US"/>
              <a:t>isn't </a:t>
            </a:r>
            <a:r>
              <a:rPr lang="en-US" dirty="0"/>
              <a:t>about reading every RFP that crosses your desk. </a:t>
            </a:r>
            <a:r>
              <a:rPr lang="en-US"/>
              <a:t>It's </a:t>
            </a:r>
            <a:r>
              <a:rPr lang="en-US" dirty="0"/>
              <a:t>about building a structured process for filtering the noise and identifying the signals that matter. This means defining your scanning scope (which funders, sectors, and geographies are relevant), establishing regular scanning routines (daily, weekly, monthly), and assigning clear responsibility for scanning activities.</a:t>
            </a:r>
          </a:p>
          <a:p>
            <a:r>
              <a:rPr lang="en-US" dirty="0"/>
              <a:t>Tools for environmental scanning range from simple (Google Alerts, Grants.gov email notifications, SAM.gov) to sophisticated (dedicated grant databases, AI-powered scanning tools, funder relationship management systems). Start with what </a:t>
            </a:r>
            <a:r>
              <a:rPr lang="en-US"/>
              <a:t>you've</a:t>
            </a:r>
            <a:r>
              <a:rPr lang="en-US" dirty="0"/>
              <a:t> and build from there.</a:t>
            </a:r>
          </a:p>
          <a:p>
            <a:r>
              <a:rPr lang="en-US" dirty="0"/>
              <a:t>The most important scanning tool, however, is your network. Peer organizations, intermediaries like NPCL, and funder contacts often surface opportunities before they appear in public databases. Invest in these relationships as part of your scanning strategy.</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Funding Surveillance Framework is a 3×3 matrix that maps funding sources across two dimensions: sector (Corporate</a:t>
            </a:r>
            <a:r>
              <a:rPr lang="en-US" dirty="0"/>
              <a:t>, </a:t>
            </a:r>
            <a:r>
              <a:rPr lang="en-US"/>
              <a:t>Philanthropic</a:t>
            </a:r>
            <a:r>
              <a:rPr lang="en-US" dirty="0"/>
              <a:t>, </a:t>
            </a:r>
            <a:r>
              <a:rPr lang="en-US"/>
              <a:t>Non-Profit/Government) </a:t>
            </a:r>
            <a:r>
              <a:rPr lang="en-US" dirty="0"/>
              <a:t>and </a:t>
            </a:r>
            <a:r>
              <a:rPr lang="en-US"/>
              <a:t>level (Federal, State, Local). This panoramic view ensures your organization monitors the full landscape of funding possibilities—not just the one cell where your current grant lives</a:t>
            </a:r>
            <a:r>
              <a:rPr lang="en-US" dirty="0"/>
              <a:t>.</a:t>
            </a:r>
            <a:endParaRPr lang="en-US"/>
          </a:p>
          <a:p>
            <a:r>
              <a:rPr lang="en-US"/>
              <a:t>At the Federal level</a:t>
            </a:r>
            <a:r>
              <a:rPr lang="en-US" dirty="0"/>
              <a:t>, </a:t>
            </a:r>
            <a:r>
              <a:rPr lang="en-US"/>
              <a:t>key opportunities include DOL workforce development partnerships</a:t>
            </a:r>
            <a:r>
              <a:rPr lang="en-US" dirty="0"/>
              <a:t>, </a:t>
            </a:r>
            <a:r>
              <a:rPr lang="en-US"/>
              <a:t>major national foundations aligned with OFA priorities (such as Casey </a:t>
            </a:r>
            <a:r>
              <a:rPr lang="en-US" dirty="0"/>
              <a:t>and </a:t>
            </a:r>
            <a:r>
              <a:rPr lang="en-US"/>
              <a:t>Kellogg), </a:t>
            </a:r>
            <a:r>
              <a:rPr lang="en-US" dirty="0"/>
              <a:t>and </a:t>
            </a:r>
            <a:r>
              <a:rPr lang="en-US"/>
              <a:t>OFA discretionary Responsible Fatherhood grants under PRWORA Title IV-A. These represent the largest individual funding streams but also the most competitive</a:t>
            </a:r>
            <a:r>
              <a:rPr lang="en-US" dirty="0"/>
              <a:t>.</a:t>
            </a:r>
            <a:endParaRPr lang="en-US"/>
          </a:p>
          <a:p>
            <a:r>
              <a:rPr lang="en-US"/>
              <a:t>At the State level, look for economic development CSR partnerships</a:t>
            </a:r>
            <a:r>
              <a:rPr lang="en-US" dirty="0"/>
              <a:t>, </a:t>
            </a:r>
            <a:r>
              <a:rPr lang="en-US"/>
              <a:t>community foundations with regional focus</a:t>
            </a:r>
            <a:r>
              <a:rPr lang="en-US" dirty="0"/>
              <a:t>, and </a:t>
            </a:r>
            <a:r>
              <a:rPr lang="en-US"/>
              <a:t>TANF pass-through grants administered by state agencies</a:t>
            </a:r>
            <a:r>
              <a:rPr lang="en-US" dirty="0"/>
              <a:t>.</a:t>
            </a:r>
            <a:r>
              <a:rPr lang="en-US"/>
              <a:t> These are often overlooked but highly accessible for organizations with strong local track records.</a:t>
            </a:r>
            <a:endParaRPr lang="en-US" dirty="0"/>
          </a:p>
          <a:p>
            <a:r>
              <a:rPr lang="en-US"/>
              <a:t>At the Local level</a:t>
            </a:r>
            <a:r>
              <a:rPr lang="en-US" dirty="0"/>
              <a:t>, </a:t>
            </a:r>
            <a:r>
              <a:rPr lang="en-US"/>
              <a:t>consider direct business partnerships</a:t>
            </a:r>
            <a:r>
              <a:rPr lang="en-US" dirty="0"/>
              <a:t>, </a:t>
            </a:r>
            <a:r>
              <a:rPr lang="en-US"/>
              <a:t>faith-based giving networks</a:t>
            </a:r>
            <a:r>
              <a:rPr lang="en-US" dirty="0"/>
              <a:t>, and </a:t>
            </a:r>
            <a:r>
              <a:rPr lang="en-US"/>
              <a:t>city or county service contracts</a:t>
            </a:r>
            <a:r>
              <a:rPr lang="en-US" dirty="0"/>
              <a:t>.</a:t>
            </a:r>
            <a:r>
              <a:rPr lang="en-US"/>
              <a:t> These opportunities are relationship-driven and often represent the fastest path to funding diversification.</a:t>
            </a:r>
          </a:p>
          <a:p>
            <a:r>
              <a:rPr lang="en-US"/>
              <a:t>Key takeaway: A proactive FSR system monitors all nine cells of this matrix simultaneously. Use this framework as a self-assessment tool—how many </a:t>
            </a:r>
            <a:r>
              <a:rPr lang="en-US" dirty="0"/>
              <a:t>of </a:t>
            </a:r>
            <a:r>
              <a:rPr lang="en-US"/>
              <a:t>these nine cells is </a:t>
            </a:r>
            <a:r>
              <a:rPr lang="en-US" dirty="0"/>
              <a:t>your </a:t>
            </a:r>
            <a:r>
              <a:rPr lang="en-US"/>
              <a:t>organization actively monitoring right now? The answer will reveal both your current coverage and your diversification opportunities</a:t>
            </a:r>
            <a:r>
              <a:rPr lang="en-US" dirty="0"/>
              <a:t>.</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2: Opportunity Intelligence goes beyond scanning to develop deep knowledge about specific funding opportunities. While scanning identifies that an opportunity exists, intelligence answers critical questions: </a:t>
            </a:r>
            <a:r>
              <a:rPr lang="en-US"/>
              <a:t>What's </a:t>
            </a:r>
            <a:r>
              <a:rPr lang="en-US" dirty="0"/>
              <a:t>the funder’s strategic priority? What has this funder funded before? Who are the likely competitors? </a:t>
            </a:r>
            <a:r>
              <a:rPr lang="en-US"/>
              <a:t>What's </a:t>
            </a:r>
            <a:r>
              <a:rPr lang="en-US" dirty="0"/>
              <a:t>the realistic probability of success? What would it cost us to apply?</a:t>
            </a:r>
          </a:p>
          <a:p>
            <a:r>
              <a:rPr lang="en-US" dirty="0"/>
              <a:t>Building opportunity intelligence requires research, relationship, and institutional memory. Research means going beyond the RFP to understand the funder’s history, leadership, and strategic direction. Relationship means cultivating connections with program officers and peers who have received funding. Institutional memory means documenting what you learn so that intelligence accumulates over time rather than being lost when staff turn over.</a:t>
            </a:r>
          </a:p>
          <a:p>
            <a:r>
              <a:rPr lang="en-US" dirty="0"/>
              <a:t>One practical tool for opportunity intelligence is a Funder Profile Database—a simple spreadsheet or CRM system where you track key information about each funder </a:t>
            </a:r>
            <a:r>
              <a:rPr lang="en-US"/>
              <a:t>you're</a:t>
            </a:r>
            <a:r>
              <a:rPr lang="en-US" dirty="0"/>
              <a:t> monitoring. Over time, this becomes an invaluable strategic asset that makes every proposal stronger and every go/no-go decision more informed.</a:t>
            </a:r>
          </a:p>
          <a:p>
            <a:r>
              <a:rPr lang="en-US" b="1"/>
              <a:t>Handout Reference:</a:t>
            </a:r>
            <a:r>
              <a:rPr lang="en-US"/>
              <a:t> Direct participants to Handout Section 2 — Opportunity Scoring Matrix. Ask them to follow along as you walk through the 4-Question Test and scoring criteria. They will use this handout to evaluate real opportunities after the session.</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 Readiness Assessment is the inward-facing complement to the outward-facing scanning and intelligence pillars. It asks: Given what we know about the opportunity landscape, how ready is our organization to respond? Readiness encompasses several dimensions: programmatic readiness (do we have relevant programs and outcomes data?), administrative readiness (do we have the financial systems, policies, and compliance infrastructure funders require?), and narrative readiness (do we have compelling, up-to-date materials that tell our story?).</a:t>
            </a:r>
          </a:p>
          <a:p>
            <a:r>
              <a:rPr lang="en-US" dirty="0"/>
              <a:t>Most organizations overestimate their readiness. They believe they can respond to an RFP quickly because they have done it before, but when the deadline arrives, they discover that their data is outdated, their boilerplate language needs revision, their budget templates need updating, and key staff are unavailable. A formal readiness assessment eliminates these surprises.</a:t>
            </a:r>
          </a:p>
          <a:p>
            <a:r>
              <a:rPr lang="en-US" dirty="0"/>
              <a:t>We recommend conducting a readiness assessment at least quarterly, using a standardized checklist that covers all dimensions. The output should be a clear action plan for closing readiness gaps before they become barriers to pursuing opportunities.</a:t>
            </a:r>
          </a:p>
          <a:p>
            <a:r>
              <a:rPr lang="en-US" dirty="0"/>
              <a:t>Readiness </a:t>
            </a:r>
            <a:r>
              <a:rPr lang="en-US"/>
              <a:t>isn't</a:t>
            </a:r>
            <a:r>
              <a:rPr lang="en-US" dirty="0"/>
              <a:t> a one-time achievement—it is an ongoing practice. Organizations that maintain high readiness can respond to opportunities in days rather than weeks, giving them a significant competitive advantage.</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4, Strategic Response, is where scanning, intelligence, and readiness converge into action. A strategic response </a:t>
            </a:r>
            <a:r>
              <a:rPr lang="en-US"/>
              <a:t>isn't </a:t>
            </a:r>
            <a:r>
              <a:rPr lang="en-US" dirty="0"/>
              <a:t>just submitting a proposal—it is a deliberate decision to invest organizational resources in pursuing a specific opportunity, informed by everything </a:t>
            </a:r>
            <a:r>
              <a:rPr lang="en-US"/>
              <a:t>you've </a:t>
            </a:r>
            <a:r>
              <a:rPr lang="en-US" dirty="0"/>
              <a:t>learned through the first three pillars. This includes a formal go/no-go decision process, a proposal development plan with clear roles and timelines, and a quality assurance process to ensure that every submission reflects your organization’s best work.</a:t>
            </a:r>
          </a:p>
          <a:p>
            <a:r>
              <a:rPr lang="en-US" dirty="0"/>
              <a:t>Pillar 5, Continuous Learning, closes the loop. Every funding cycle—whether you win or lose—generates valuable data. What worked in the proposal? What feedback did the funder provide? What would we do differently? How accurate was our intelligence? Continuous learning means systematically capturing these insights and feeding them back into the system to improve scanning, intelligence, readiness, and response over time.</a:t>
            </a:r>
          </a:p>
          <a:p>
            <a:r>
              <a:rPr lang="en-US" dirty="0"/>
              <a:t>Together, these two pillars transform funding from a series of disconnected transactions into a learning organization’s practice. Over time, your success rate improves not because you apply to more opportunities but because each application is better informed, better prepared, and better aligned.</a:t>
            </a:r>
          </a:p>
          <a:p>
            <a:r>
              <a:rPr lang="en-US" dirty="0"/>
              <a:t>The organizations that excel at funding </a:t>
            </a:r>
            <a:r>
              <a:rPr lang="en-US"/>
              <a:t>aren't</a:t>
            </a:r>
            <a:r>
              <a:rPr lang="en-US" dirty="0"/>
              <a:t> necessarily the largest or the best-resourced. They are the ones that learn fastest and apply those lessons most consistently.</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FSR Self-Assessment — Where Does Your Program Stand?</a:t>
            </a:r>
          </a:p>
          <a:p>
            <a:r>
              <a:rPr lang="en-US" dirty="0"/>
              <a:t>Using the five pillars as </a:t>
            </a:r>
            <a:r>
              <a:rPr lang="en-US"/>
              <a:t>your </a:t>
            </a:r>
            <a:r>
              <a:rPr lang="en-US" dirty="0"/>
              <a:t>framework, rate your </a:t>
            </a:r>
            <a:r>
              <a:rPr lang="en-US"/>
              <a:t>organization’s </a:t>
            </a:r>
            <a:r>
              <a:rPr lang="en-US" dirty="0"/>
              <a:t>current capability on a scale of 1 (not started) to 5 (fully operational) for each: (1) Environmental Scanning, (2) Opportunity Intelligence, (3) Readiness Assessment, (4) Strategic Response, (5) Continuous Learning.</a:t>
            </a:r>
          </a:p>
          <a:p>
            <a:r>
              <a:rPr lang="en-US" dirty="0"/>
              <a:t>For each </a:t>
            </a:r>
            <a:r>
              <a:rPr lang="en-US"/>
              <a:t>rating</a:t>
            </a:r>
            <a:r>
              <a:rPr lang="en-US" dirty="0"/>
              <a:t>, write a brief note explaining </a:t>
            </a:r>
            <a:r>
              <a:rPr lang="en-US"/>
              <a:t>why you chose that score</a:t>
            </a:r>
            <a:r>
              <a:rPr lang="en-US" dirty="0"/>
              <a:t>. Be specific</a:t>
            </a:r>
            <a:r>
              <a:rPr lang="en-US"/>
              <a:t>—“</a:t>
            </a:r>
            <a:r>
              <a:rPr lang="en-US" dirty="0"/>
              <a:t>we need better data</a:t>
            </a:r>
            <a:r>
              <a:rPr lang="en-US"/>
              <a:t>” </a:t>
            </a:r>
            <a:r>
              <a:rPr lang="en-US" dirty="0"/>
              <a:t>is less useful than </a:t>
            </a:r>
            <a:r>
              <a:rPr lang="en-US"/>
              <a:t>“</a:t>
            </a:r>
            <a:r>
              <a:rPr lang="en-US" dirty="0"/>
              <a:t>we need to update our outcomes dashboard with Q1 and Q2 data before the next OFA cycle</a:t>
            </a:r>
            <a:r>
              <a:rPr lang="en-US"/>
              <a:t>.” The more honest you are now, the more realistic and actionable your 90-day plan will be in Section 5.</a:t>
            </a:r>
            <a:endParaRPr lang="en-US" dirty="0"/>
          </a:p>
          <a:p>
            <a:r>
              <a:rPr lang="en-US"/>
              <a:t>If you’re attending with colleagues, compare </a:t>
            </a:r>
            <a:r>
              <a:rPr lang="en-US" dirty="0"/>
              <a:t>your </a:t>
            </a:r>
            <a:r>
              <a:rPr lang="en-US"/>
              <a:t>ratings</a:t>
            </a:r>
            <a:r>
              <a:rPr lang="en-US" dirty="0"/>
              <a:t>. Look for patterns: </a:t>
            </a:r>
            <a:r>
              <a:rPr lang="en-US"/>
              <a:t>are you </a:t>
            </a:r>
            <a:r>
              <a:rPr lang="en-US" dirty="0"/>
              <a:t>strong in the same areas and weak in the same </a:t>
            </a:r>
            <a:r>
              <a:rPr lang="en-US"/>
              <a:t>ones</a:t>
            </a:r>
            <a:r>
              <a:rPr lang="en-US" dirty="0"/>
              <a:t>? </a:t>
            </a:r>
            <a:r>
              <a:rPr lang="en-US"/>
              <a:t>Those </a:t>
            </a:r>
            <a:r>
              <a:rPr lang="en-US" dirty="0"/>
              <a:t>patterns often </a:t>
            </a:r>
            <a:r>
              <a:rPr lang="en-US"/>
              <a:t>point to </a:t>
            </a:r>
            <a:r>
              <a:rPr lang="en-US" dirty="0"/>
              <a:t>opportunities for collaboration and shared investment.</a:t>
            </a:r>
          </a:p>
          <a:p>
            <a:r>
              <a:rPr lang="en-US"/>
              <a:t>Hold on to </a:t>
            </a:r>
            <a:r>
              <a:rPr lang="en-US" dirty="0"/>
              <a:t>this self-assessment</a:t>
            </a:r>
            <a:r>
              <a:rPr lang="en-US"/>
              <a:t>—you’ll use </a:t>
            </a:r>
            <a:r>
              <a:rPr lang="en-US" dirty="0"/>
              <a:t>it again when you build your 90-day implementation plan. </a:t>
            </a:r>
            <a:r>
              <a:rPr lang="en-US"/>
              <a:t>Your lowest-scoring pillar is where that plan should begin</a:t>
            </a:r>
            <a:r>
              <a:rPr lang="en-US" dirty="0"/>
              <a:t>.</a:t>
            </a:r>
            <a:endParaRPr lang="en-US"/>
          </a:p>
          <a:p>
            <a:r>
              <a:rPr lang="en-US"/>
              <a:t>My Ratings:  Scanning: ___  Intelligence: ___  Readiness: ___  Response: ___  Learning: ___</a:t>
            </a:r>
            <a:endParaRPr lang="en-US" dirty="0"/>
          </a:p>
          <a:p>
            <a:r>
              <a:rPr lang="en-US" b="1"/>
              <a:t>Handout Reference:</a:t>
            </a:r>
            <a:r>
              <a:rPr lang="en-US"/>
              <a:t> Direct participants to Handout Section 1 — FNSRS Capacity Self-Assessment. Have them rate their program on each of the five pillars using the 1–4 scale and record scores and next steps. They will return to these scores in Section 5.</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2.1</a:t>
            </a:r>
          </a:p>
          <a:p>
            <a:r>
              <a:rPr lang="en-US"/>
              <a:t>This scenario describes a practitioner who discovers a foundation’s priority shift six months before an RFP cycle opens—by reviewing 990 data on ProPublica. The question asks which FSR pillar this activity falls under.</a:t>
            </a:r>
          </a:p>
          <a:p>
            <a:r>
              <a:rPr lang="en-US"/>
              <a:t>The correct answer is A — Environmental Scanning. Pillar 1 involves continuously monitoring the funding landscape for signals and shifts before opportunities are publicly announced. Reviewing IRS 990 data to spot changes in a foundation’s giving priorities is a textbook scanning activity—it’s proactive intelligence gathering, not a response to a specific opportunity.</a:t>
            </a:r>
          </a:p>
          <a:p>
            <a:r>
              <a:rPr lang="en-US"/>
              <a:t>This is different from Opportunity Intelligence (Pillar 2), which involves scoring and evaluating a specific known opportunity against your organization’s readiness. The practitioner in this scenario hasn’t identified a specific grant to pursue—they’ve discovered a landscape shift that may create future opportunities. That distinction matters because it determines how you organize your FSR activities.</a:t>
            </a:r>
          </a:p>
          <a:p>
            <a:r>
              <a:rPr lang="en-US"/>
              <a:t>Reflection: What scanning tools does your organization currently use? Are you monitoring foundation 990 data, or relying primarily on RFP announcements?</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2.2</a:t>
            </a:r>
          </a:p>
          <a:p>
            <a:r>
              <a:rPr lang="en-US"/>
              <a:t>This scenario presents a real-world scoring challenge: Mission Fit is high, but Funder Relationship and Data Readiness are both low. The question asks what decision the FSR protocol would recommend.</a:t>
            </a:r>
          </a:p>
          <a:p>
            <a:r>
              <a:rPr lang="en-US"/>
              <a:t>The correct answer is C — Not Yet. The Go/Not Yet/Pass decision protocol emphasizes that high mission fit alone is not sufficient. With no funder relationship and low data readiness, this opportunity is premature—but worth investing in for the future. “Not Yet” preserves the opportunity while building real capacity for a stronger application next cycle.</a:t>
            </a:r>
          </a:p>
          <a:p>
            <a:r>
              <a:rPr lang="en-US"/>
              <a:t>This is one of the most valuable concepts in the FSR framework: “Not Yet” is not the same as “No.” It’s a strategic choice to invest in readiness so that when the opportunity comes around again, you’re positioned to compete from a place of strength rather than scrambling from a place of weakness.</a:t>
            </a:r>
          </a:p>
          <a:p>
            <a:r>
              <a:rPr lang="en-US"/>
              <a:t>Many organizations default to either “Go” (applying anyway, hoping for the best) or “Pass” (walking away entirely). The “Not Yet” option requires discipline but often produces the best long-term results.</a:t>
            </a:r>
          </a:p>
          <a:p>
            <a:r>
              <a:rPr lang="en-US"/>
              <a:t>Reflection: When has your program said “not yet” to a grant opportunity? What happened as a result?</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2.3</a:t>
            </a:r>
          </a:p>
          <a:p>
            <a:r>
              <a:rPr lang="en-US"/>
              <a:t>This scenario describes a program that discovers during a quarterly assessment that its data, budget, and narrative are all outdated—with a strong RFP arriving next month. The question asks which FSR principle this most clearly violates.</a:t>
            </a:r>
          </a:p>
          <a:p>
            <a:r>
              <a:rPr lang="en-US"/>
              <a:t>The correct answer is B — Readiness must be continuous, not event-driven. The core issue is that the organization treated readiness as something to address only when a deadline appeared. Pillar 3 emphasizes that readiness is an ongoing organizational practice. The 8-month data gap, stale budget template, and outdated program narrative are all symptoms of event-driven readiness rather than continuous readiness.</a:t>
            </a:r>
          </a:p>
          <a:p>
            <a:r>
              <a:rPr lang="en-US"/>
              <a:t>This is one of the most common patterns in RF organizations: everything is “fine” until an RFP arrives, and then the scramble reveals how much has deteriorated since the last application. Continuous readiness eliminates this cycle by treating your materials, data, and relationships as assets that require regular maintenance—not emergency repair.</a:t>
            </a:r>
          </a:p>
          <a:p>
            <a:r>
              <a:rPr lang="en-US"/>
              <a:t>Reflection: How often does your organization update its boilerplate materials, outcome data, and budget templates? Is that schedule driven by grant deadlines or by an internal maintenance routine?</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Navigating the Funding Landscape. Now that you understand the FSR system’s architecture, this section focuses on the strategic building blocks and sustainability frameworks that make long-term funding success possible. Knowing the system is necessary but not sufficient—you also need practical strategies for navigating a complex and evolving funding environment.</a:t>
            </a:r>
          </a:p>
          <a:p>
            <a:r>
              <a:rPr lang="en-US" dirty="0"/>
              <a:t>This section addresses four critical areas: strategic positioning, partnership development, data and evidence building, and systems thinking for sustainability. Each area represents a strategic building block that strengthens your organization’s competitive position and resilience.</a:t>
            </a:r>
          </a:p>
          <a:p>
            <a:r>
              <a:rPr lang="en-US" dirty="0"/>
              <a:t>As you work through this section, think about which building blocks are most urgent for your organization. You </a:t>
            </a:r>
            <a:r>
              <a:rPr lang="en-US"/>
              <a:t>don't</a:t>
            </a:r>
            <a:r>
              <a:rPr lang="en-US" dirty="0"/>
              <a:t> need to excel at all four simultaneously. Identify one or two where focused investment over the next year would have the greatest impact on your funding outcomes.</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combines two critical themes: the practical tools you need to run a proactive funding operation (Building Blocks) and the mindset shift required to sustain it long-term (Sustainability).</a:t>
            </a:r>
          </a:p>
          <a:p>
            <a:r>
              <a:rPr lang="en-US" dirty="0"/>
              <a:t>The four </a:t>
            </a:r>
            <a:r>
              <a:rPr lang="en-US"/>
              <a:t>items on screen represent the highest-impact actions. Items 1–2 </a:t>
            </a:r>
            <a:r>
              <a:rPr lang="en-US" dirty="0"/>
              <a:t>(</a:t>
            </a:r>
            <a:r>
              <a:rPr lang="en-US"/>
              <a:t>Funding Development Plan and Funder Cultivation Calendar</a:t>
            </a:r>
            <a:r>
              <a:rPr lang="en-US" dirty="0"/>
              <a:t>) </a:t>
            </a:r>
            <a:r>
              <a:rPr lang="en-US"/>
              <a:t>are </a:t>
            </a:r>
            <a:r>
              <a:rPr lang="en-US" dirty="0"/>
              <a:t>your </a:t>
            </a:r>
            <a:r>
              <a:rPr lang="en-US"/>
              <a:t>operational foundation—they turn abstract strategy into weekly habits. Items 3–4 (Embed FSR </a:t>
            </a:r>
            <a:r>
              <a:rPr lang="en-US" dirty="0"/>
              <a:t>in </a:t>
            </a:r>
            <a:r>
              <a:rPr lang="en-US"/>
              <a:t>Culture </a:t>
            </a:r>
            <a:r>
              <a:rPr lang="en-US" dirty="0"/>
              <a:t>and </a:t>
            </a:r>
            <a:r>
              <a:rPr lang="en-US"/>
              <a:t>Multi-Year Financial Planning) are your sustainability anchors—they ensure this work outlasts any single champion or grant cycle</a:t>
            </a:r>
            <a:r>
              <a:rPr lang="en-US" dirty="0"/>
              <a:t>.</a:t>
            </a:r>
            <a:endParaRPr lang="en-US"/>
          </a:p>
          <a:p>
            <a:r>
              <a:rPr lang="en-US"/>
              <a:t>What’s not on the slide but worth knowing: a Proposal Library</a:t>
            </a:r>
            <a:r>
              <a:rPr lang="en-US" dirty="0"/>
              <a:t> (</a:t>
            </a:r>
            <a:r>
              <a:rPr lang="en-US"/>
              <a:t>pre-written narratives</a:t>
            </a:r>
            <a:r>
              <a:rPr lang="en-US" dirty="0"/>
              <a:t>, </a:t>
            </a:r>
            <a:r>
              <a:rPr lang="en-US"/>
              <a:t>logic models</a:t>
            </a:r>
            <a:r>
              <a:rPr lang="en-US" dirty="0"/>
              <a:t>, and </a:t>
            </a:r>
            <a:r>
              <a:rPr lang="en-US"/>
              <a:t>budget templates ready to customize under deadline pressure) </a:t>
            </a:r>
            <a:r>
              <a:rPr lang="en-US" dirty="0"/>
              <a:t>and </a:t>
            </a:r>
            <a:r>
              <a:rPr lang="en-US"/>
              <a:t>a Win/Loss Tracker </a:t>
            </a:r>
            <a:r>
              <a:rPr lang="en-US" dirty="0"/>
              <a:t>(</a:t>
            </a:r>
            <a:r>
              <a:rPr lang="en-US"/>
              <a:t>application-by-application data on </a:t>
            </a:r>
            <a:r>
              <a:rPr lang="en-US" dirty="0"/>
              <a:t>outcomes and </a:t>
            </a:r>
            <a:r>
              <a:rPr lang="en-US"/>
              <a:t>reviewer feedback) are also essential building blocks</a:t>
            </a:r>
            <a:r>
              <a:rPr lang="en-US" dirty="0"/>
              <a:t>. </a:t>
            </a:r>
            <a:r>
              <a:rPr lang="en-US"/>
              <a:t>We moved them to these notes to keep </a:t>
            </a:r>
            <a:r>
              <a:rPr lang="en-US" dirty="0"/>
              <a:t>the </a:t>
            </a:r>
            <a:r>
              <a:rPr lang="en-US"/>
              <a:t>slide focused, but both deserve a place in </a:t>
            </a:r>
            <a:r>
              <a:rPr lang="en-US" dirty="0"/>
              <a:t>your </a:t>
            </a:r>
            <a:r>
              <a:rPr lang="en-US"/>
              <a:t>toolkit. Board engagement </a:t>
            </a:r>
            <a:r>
              <a:rPr lang="en-US" dirty="0"/>
              <a:t>in </a:t>
            </a:r>
            <a:r>
              <a:rPr lang="en-US"/>
              <a:t>funding strategy </a:t>
            </a:r>
            <a:r>
              <a:rPr lang="en-US" dirty="0"/>
              <a:t>and </a:t>
            </a:r>
            <a:r>
              <a:rPr lang="en-US"/>
              <a:t>exploring earned revenue or social enterprise models are additional sustainability levers covered in the full workshop materials</a:t>
            </a:r>
            <a:r>
              <a:rPr lang="en-US" dirty="0"/>
              <a:t>.</a:t>
            </a:r>
          </a:p>
          <a:p>
            <a:r>
              <a:rPr lang="en-US"/>
              <a:t>The key insight: </a:t>
            </a:r>
            <a:r>
              <a:rPr lang="en-US" dirty="0"/>
              <a:t>building blocks </a:t>
            </a:r>
            <a:r>
              <a:rPr lang="en-US"/>
              <a:t>without sustainability thinking creates short-term wins that fade</a:t>
            </a:r>
            <a:r>
              <a:rPr lang="en-US" dirty="0"/>
              <a:t>. </a:t>
            </a:r>
            <a:r>
              <a:rPr lang="en-US"/>
              <a:t>Sustainability thinking without practical tools creates good intentions that never launch</a:t>
            </a:r>
            <a:r>
              <a:rPr lang="en-US" dirty="0"/>
              <a:t>. </a:t>
            </a:r>
            <a:r>
              <a:rPr lang="en-US"/>
              <a:t>You need both</a:t>
            </a:r>
            <a:r>
              <a:rPr lang="en-US" dirty="0"/>
              <a:t>. </a:t>
            </a:r>
            <a:r>
              <a:rPr lang="en-US"/>
              <a:t>Start with one tool from </a:t>
            </a:r>
            <a:r>
              <a:rPr lang="en-US" dirty="0"/>
              <a:t>each </a:t>
            </a:r>
            <a:r>
              <a:rPr lang="en-US"/>
              <a:t>category </a:t>
            </a:r>
            <a:r>
              <a:rPr lang="en-US" dirty="0"/>
              <a:t>and </a:t>
            </a:r>
            <a:r>
              <a:rPr lang="en-US"/>
              <a:t>build from there</a:t>
            </a:r>
            <a:r>
              <a:rPr lang="en-US" dirty="0"/>
              <a:t>.</a:t>
            </a:r>
          </a:p>
          <a:p>
            <a:r>
              <a:rPr lang="en-US" dirty="0"/>
              <a:t>Your Notes: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Sustainability Benchmarks for RF Programs</a:t>
            </a:r>
            <a:endParaRPr lang="en-US" b="1" dirty="0"/>
          </a:p>
          <a:p>
            <a:r>
              <a:rPr lang="en-US" dirty="0"/>
              <a:t>This slide presents sustainability benchmarks that RF organizations can use to assess their financial health and resilience. </a:t>
            </a:r>
            <a:r>
              <a:rPr lang="en-US"/>
              <a:t>These four metrics—financial resilience, diversification, governance engagement, and FSR cadence—give you a simple but powerful dashboard for organizational health.</a:t>
            </a:r>
          </a:p>
          <a:p>
            <a:r>
              <a:rPr lang="en-US" dirty="0"/>
              <a:t>Key benchmarks include: (</a:t>
            </a:r>
            <a:r>
              <a:rPr lang="en-US"/>
              <a:t>1) Financial Resilience—6–12 months </a:t>
            </a:r>
            <a:r>
              <a:rPr lang="en-US" dirty="0"/>
              <a:t>of operating reserves</a:t>
            </a:r>
            <a:r>
              <a:rPr lang="en-US"/>
              <a:t>, though even 1–3</a:t>
            </a:r>
            <a:r>
              <a:rPr lang="en-US" dirty="0"/>
              <a:t> months </a:t>
            </a:r>
            <a:r>
              <a:rPr lang="en-US"/>
              <a:t>matters for a small CBO on a single grant. </a:t>
            </a:r>
            <a:r>
              <a:rPr lang="en-US" dirty="0"/>
              <a:t>(</a:t>
            </a:r>
            <a:r>
              <a:rPr lang="en-US"/>
              <a:t>2) Diversification—an aspirational 40/30/30 split across federal, foundation, </a:t>
            </a:r>
            <a:r>
              <a:rPr lang="en-US" dirty="0"/>
              <a:t>and </a:t>
            </a:r>
            <a:r>
              <a:rPr lang="en-US"/>
              <a:t>other sources, but if you have one funder today, adding a second is real progress. (3) Governance—3 or more board members engaged in funding strategy, though for a small volunteer board, even one champion who understands your funding picture is a strong starting point. </a:t>
            </a:r>
            <a:r>
              <a:rPr lang="en-US" dirty="0"/>
              <a:t>(</a:t>
            </a:r>
            <a:r>
              <a:rPr lang="en-US"/>
              <a:t>4) FSR Cadence—at least one annual system review, even if it’s a brief 2-page self-assessment.</a:t>
            </a:r>
            <a:endParaRPr lang="en-US" dirty="0"/>
          </a:p>
          <a:p>
            <a:r>
              <a:rPr lang="en-US" dirty="0"/>
              <a:t>These benchmarks are aspirational for many RF organizations, and </a:t>
            </a:r>
            <a:r>
              <a:rPr lang="en-US"/>
              <a:t>that’s </a:t>
            </a:r>
            <a:r>
              <a:rPr lang="en-US" dirty="0"/>
              <a:t>okay. The purpose </a:t>
            </a:r>
            <a:r>
              <a:rPr lang="en-US"/>
              <a:t>isn’t </a:t>
            </a:r>
            <a:r>
              <a:rPr lang="en-US" dirty="0"/>
              <a:t>to create anxiety but to provide clear targets for improvement. If your organization currently relies on a single funder for 70% of revenue, the benchmark tells you that diversification should be a top strategic priority—not someday, but now.</a:t>
            </a:r>
          </a:p>
          <a:p>
            <a:r>
              <a:rPr lang="en-US" dirty="0"/>
              <a:t>Track these benchmarks annually and share them with your board and leadership team. Funders are increasingly interested in organizational sustainability, so demonstrating progress on these benchmarks can actually strengthen your proposals.</a:t>
            </a:r>
          </a:p>
          <a:p>
            <a:r>
              <a:rPr lang="en-US" b="1"/>
              <a:t>The Bigger Picture: The Full Arc</a:t>
            </a:r>
          </a:p>
          <a:p>
            <a:r>
              <a:rPr lang="en-US"/>
              <a:t>Think of the entire FSR journey as a five-step progression: Understand → Strategize → Systemize → Surveil → Execute. These aren’t five separate ideas—this is one idea, built in five movements, each one building the foundation for the next. The benchmarks on this slide are how you measure whether those movements are producing results.</a:t>
            </a:r>
          </a:p>
          <a:p>
            <a:r>
              <a:rPr lang="en-US"/>
              <a:t>Your Notes: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a:t>
            </a:r>
            <a:r>
              <a:rPr lang="en-US" b="1" dirty="0"/>
              <a:t>— Learning Check 3.1</a:t>
            </a:r>
          </a:p>
          <a:p>
            <a:r>
              <a:rPr lang="en-US"/>
              <a:t>This scenario captures a reality many small CBOs face: the sustainability benchmarks feel overwhelming when you’re a 3-person shop running on a single grant that covers 95% of your budget. The question asks for the most realistic first step.</a:t>
            </a:r>
            <a:endParaRPr lang="en-US" dirty="0"/>
          </a:p>
          <a:p>
            <a:r>
              <a:rPr lang="en-US" dirty="0"/>
              <a:t>The correct answer is D</a:t>
            </a:r>
            <a:r>
              <a:rPr lang="en-US"/>
              <a:t> — Add even one additional funding source</a:t>
            </a:r>
            <a:r>
              <a:rPr lang="en-US" dirty="0"/>
              <a:t>. The </a:t>
            </a:r>
            <a:r>
              <a:rPr lang="en-US"/>
              <a:t>session’s sustainability framework </a:t>
            </a:r>
            <a:r>
              <a:rPr lang="en-US" dirty="0"/>
              <a:t>emphasized </a:t>
            </a:r>
            <a:r>
              <a:rPr lang="en-US"/>
              <a:t>“</a:t>
            </a:r>
            <a:r>
              <a:rPr lang="en-US" dirty="0"/>
              <a:t>start where you are</a:t>
            </a:r>
            <a:r>
              <a:rPr lang="en-US"/>
              <a:t>”—</a:t>
            </a:r>
            <a:r>
              <a:rPr lang="en-US" dirty="0"/>
              <a:t>benchmarks are aspirational targets, not prerequisites. For a 3-person </a:t>
            </a:r>
            <a:r>
              <a:rPr lang="en-US"/>
              <a:t>organization </a:t>
            </a:r>
            <a:r>
              <a:rPr lang="en-US" dirty="0"/>
              <a:t>on one grant, </a:t>
            </a:r>
            <a:r>
              <a:rPr lang="en-US"/>
              <a:t>immediately pursuing </a:t>
            </a:r>
            <a:r>
              <a:rPr lang="en-US" dirty="0"/>
              <a:t>a 40/30/30 </a:t>
            </a:r>
            <a:r>
              <a:rPr lang="en-US"/>
              <a:t>portfolio </a:t>
            </a:r>
            <a:r>
              <a:rPr lang="en-US" dirty="0"/>
              <a:t>split (A) </a:t>
            </a:r>
            <a:r>
              <a:rPr lang="en-US"/>
              <a:t>or building a </a:t>
            </a:r>
            <a:r>
              <a:rPr lang="en-US" dirty="0"/>
              <a:t>full </a:t>
            </a:r>
            <a:r>
              <a:rPr lang="en-US"/>
              <a:t>6–12 month </a:t>
            </a:r>
            <a:r>
              <a:rPr lang="en-US" dirty="0"/>
              <a:t>reserve (B) </a:t>
            </a:r>
            <a:r>
              <a:rPr lang="en-US"/>
              <a:t>isn’t realistic. Adding a second funding source is genuine</a:t>
            </a:r>
            <a:r>
              <a:rPr lang="en-US" dirty="0"/>
              <a:t>, </a:t>
            </a:r>
            <a:r>
              <a:rPr lang="en-US"/>
              <a:t>meaningful progress toward diversification.</a:t>
            </a:r>
          </a:p>
          <a:p>
            <a:r>
              <a:rPr lang="en-US"/>
              <a:t>This matters because the biggest risk </a:t>
            </a:r>
            <a:r>
              <a:rPr lang="en-US" dirty="0"/>
              <a:t>for </a:t>
            </a:r>
            <a:r>
              <a:rPr lang="en-US"/>
              <a:t>this program isn’t having an imperfect portfolio balance—it’s having zero backup if their single grant is disrupted. Moving from one funder to two reduces existential risk more than any other single action. Even </a:t>
            </a:r>
            <a:r>
              <a:rPr lang="en-US" dirty="0"/>
              <a:t>a small </a:t>
            </a:r>
            <a:r>
              <a:rPr lang="en-US"/>
              <a:t>local grant, a corporate partnership, or a foundation supplement changes the equation fundamentally</a:t>
            </a:r>
            <a:r>
              <a:rPr lang="en-US" dirty="0"/>
              <a:t>.</a:t>
            </a:r>
            <a:endParaRPr lang="en-US"/>
          </a:p>
          <a:p>
            <a:r>
              <a:rPr lang="en-US"/>
              <a:t>Reflection</a:t>
            </a:r>
            <a:r>
              <a:rPr lang="en-US" dirty="0"/>
              <a:t>: What’s one realistic diversification step your program could take this quarter?</a:t>
            </a:r>
            <a:r>
              <a:rPr lang="en-US"/>
              <a:t> Think small and achievable—not transformative, just forward.</a:t>
            </a:r>
          </a:p>
          <a:p>
            <a:r>
              <a:rPr lang="en-US"/>
              <a:t>Your Notes:</a:t>
            </a:r>
            <a:endParaRPr lang="en-US" dirty="0"/>
          </a:p>
        </p:txBody>
      </p:sp>
      <p:sp>
        <p:nvSpPr>
          <p:cNvPr id="4" name="Slide Number Placeholder 3"/>
          <p:cNvSpPr>
            <a:spLocks noGrp="1"/>
          </p:cNvSpPr>
          <p:nvPr>
            <p:ph type="sldNum" sz="quarter" idx="5"/>
          </p:nvPr>
        </p:nvSpPr>
        <p:spPr/>
        <p:txBody>
          <a:bodyPr/>
          <a:lstStyle/>
          <a:p>
            <a:fld id="{B6F15528-F159-4107-2D15-E3D4FB21A1E3}"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3.2</a:t>
            </a:r>
          </a:p>
          <a:p>
            <a:r>
              <a:rPr lang="en-US"/>
              <a:t>This scenario presents a common organizational challenge: one person has been carrying the entire funding operation for three years. The question asks which strategy best reflects the “Embed FSR in Culture” building block.</a:t>
            </a:r>
          </a:p>
          <a:p>
            <a:r>
              <a:rPr lang="en-US"/>
              <a:t>The correct answer is B — Train all program staff to identify and flag funding opportunities as part of their regular work. Embedding FSR in culture means making funding intelligence everyone’s job, not concentrating it in a single position—even a specialized one. When only one person scans for opportunities, the organization’s surveillance capacity is limited to that person’s bandwidth, networks, and tenure.</a:t>
            </a:r>
          </a:p>
          <a:p>
            <a:r>
              <a:rPr lang="en-US"/>
              <a:t>Training all staff to spot and flag opportunities builds organizational capacity that survives turnover and distributes the surveillance burden. A case manager who hears about a new city initiative, a program facilitator who learns about a foundation’s interest at a conference, a finance staffer who notices a new line item in a state budget—these are all scanning inputs that a single grant writer would never capture alone.</a:t>
            </a:r>
          </a:p>
          <a:p>
            <a:r>
              <a:rPr lang="en-US"/>
              <a:t>Reflection: Who in your organization currently “owns” funding intelligence? What would it look like to distribute that responsibility more broadly?</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3.3</a:t>
            </a:r>
          </a:p>
          <a:p>
            <a:r>
              <a:rPr lang="en-US"/>
              <a:t>This scenario presents a sustainability dashboard with four gaps: a 70/30 funding concentration, a 2-month reserve, only 1 engaged board member, and no annual FSR review. All four are real concerns—but the question asks which represents the greatest immediate strategic vulnerability.</a:t>
            </a:r>
          </a:p>
          <a:p>
            <a:r>
              <a:rPr lang="en-US"/>
              <a:t>The correct answer is A — The 70% single-funder concentration. While all four gaps matter, a 70% concentration in a single funder creates existential risk. One disruption—a policy change, a failed renewal, a budget cut—could eliminate nearly three-quarters of the budget overnight. The other gaps are serious but survivable; losing your dominant funder may not be.</a:t>
            </a:r>
          </a:p>
          <a:p>
            <a:r>
              <a:rPr lang="en-US"/>
              <a:t>This question reinforces a key principle: diversification is the single most important sustainability metric for organizations with high funder concentration. A 2-month reserve won’t save you if 70% of your revenue disappears. One board member can’t compensate for structural financial fragility. The FSR review matters, but not if there’s no organization left to review.</a:t>
            </a:r>
          </a:p>
          <a:p>
            <a:r>
              <a:rPr lang="en-US"/>
              <a:t>Reflection: What percentage of your budget comes from your single largest funder? If it’s above 50%, what would your 90-day plan look like to begin reducing that concentration?</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a:t>
            </a:r>
            <a:r>
              <a:rPr lang="en-US"/>
              <a:t>Applied Examples</a:t>
            </a:r>
            <a:r>
              <a:rPr lang="en-US" dirty="0"/>
              <a:t>—FSR in </a:t>
            </a:r>
            <a:r>
              <a:rPr lang="en-US"/>
              <a:t>Practice</a:t>
            </a:r>
            <a:r>
              <a:rPr lang="en-US" dirty="0"/>
              <a:t>. Theory is valuable, but seeing the FSR system applied to a real program makes the concepts concrete. In this section, we walk through the Fatherhood MISSION Project (FMP) Better Together Program as </a:t>
            </a:r>
            <a:r>
              <a:rPr lang="en-US"/>
              <a:t>an applied example of</a:t>
            </a:r>
            <a:r>
              <a:rPr lang="en-US" dirty="0"/>
              <a:t> how the FSR system maps to program design, logic models, and funder priorities.</a:t>
            </a:r>
          </a:p>
          <a:p>
            <a:r>
              <a:rPr lang="en-US" dirty="0"/>
              <a:t>The FMP example is instructive because it demonstrates several key principles: how a program can be designed with funding sustainability in mind from the start, how a logic model can serve as both a program management tool and a funding alignment tool, and how FSR activities connect to measurable outcomes that funders care about.</a:t>
            </a:r>
          </a:p>
          <a:p>
            <a:r>
              <a:rPr lang="en-US" dirty="0"/>
              <a:t>As you review this case, think about parallels to your own program. Where do you see similarities? Where do you see opportunities to adapt the FMP approach to your context? The goal </a:t>
            </a:r>
            <a:r>
              <a:rPr lang="en-US"/>
              <a:t>isn't</a:t>
            </a:r>
            <a:r>
              <a:rPr lang="en-US" dirty="0"/>
              <a:t> to replicate FMP but to learn from its example and apply the principles to your own situation.</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slide addresses a question every leader asks: What does it cost to implement an FSR system, and </a:t>
            </a:r>
            <a:r>
              <a:rPr lang="en-US"/>
              <a:t>what's </a:t>
            </a:r>
            <a:r>
              <a:rPr lang="en-US" dirty="0"/>
              <a:t>the return? The short answer is that the investment is modest relative to the potential return, but it requires sustained commitment. Initial implementation costs include staff time for system design (estimated at 40-60 hours over 90 days), technology tools (ranging from free to a few hundred dollars per month), and training (which NPCL can support).</a:t>
            </a:r>
          </a:p>
          <a:p>
            <a:r>
              <a:rPr lang="en-US" dirty="0"/>
              <a:t>The returns, however, compound over time. Organizations with functioning FSR systems report higher grant success rates, reduced time per proposal (because readiness materials are maintained), better funder relationships (because interactions are strategic rather than transactional), and greater mission alignment in their funding portfolio.</a:t>
            </a:r>
          </a:p>
          <a:p>
            <a:r>
              <a:rPr lang="en-US" dirty="0"/>
              <a:t>A conservative estimate suggests that an effective FSR system can increase funding success rates by 15-25% within the first two years while reducing the per-proposal investment of staff time by 30-40%. For an organization pursuing $500,000 or more in annual funding, the ROI is substantial.</a:t>
            </a:r>
          </a:p>
          <a:p>
            <a:r>
              <a:rPr lang="en-US" dirty="0"/>
              <a:t>The most important return, however, may be the hardest to quantify: organizational confidence. When your team knows it has a system—when funding strategy </a:t>
            </a:r>
            <a:r>
              <a:rPr lang="en-US"/>
              <a:t>isn't</a:t>
            </a:r>
            <a:r>
              <a:rPr lang="en-US" dirty="0"/>
              <a:t> dependent on one person’s heroic effort—the entire organization operates with greater stability and focus.</a:t>
            </a:r>
          </a:p>
          <a:p>
            <a:r>
              <a:rPr lang="en-US" dirty="0"/>
              <a:t>Your Notes:</a:t>
            </a:r>
          </a:p>
        </p:txBody>
      </p:sp>
    </p:spTree>
    <p:extLst>
      <p:ext uri="{BB962C8B-B14F-4D97-AF65-F5344CB8AC3E}">
        <p14:creationId xmlns:p14="http://schemas.microsoft.com/office/powerpoint/2010/main" val="36822602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Measuring FSR effectiveness requires tracking four key metrics: (1) Pipeline Health—the number and quality of opportunities in your active pipeline at any given time, categorized by tier and stage. (2) Conversion Rate—the percentage of proposals submitted that result in awards, tracked over time to identify trends. (3) Alignment Score—a qualitative assessment of how well your funded portfolio aligns with your strategic plan and mission. (4) Readiness Index—your organization’s score on the quarterly readiness assessment, tracked over time to measure improvement.</a:t>
            </a:r>
          </a:p>
          <a:p>
            <a:r>
              <a:rPr lang="en-US" dirty="0"/>
              <a:t>These four metrics together provide a balanced view of FSR performance. Pipeline Health measures quantity and forward momentum. Conversion Rate measures quality and competitiveness. Alignment Score measures strategic discipline. Readiness Index measures organizational capacity. No single metric tells the whole story; together, they provide a comprehensive dashboard.</a:t>
            </a:r>
          </a:p>
          <a:p>
            <a:r>
              <a:rPr lang="en-US" dirty="0"/>
              <a:t>We recommend reviewing these metrics monthly with your leadership team and quarterly with your board. Over time, </a:t>
            </a:r>
            <a:r>
              <a:rPr lang="en-US"/>
              <a:t>you'll</a:t>
            </a:r>
            <a:r>
              <a:rPr lang="en-US" dirty="0"/>
              <a:t> develop benchmarks specific to your organization and be able to set meaningful improvement targets. Share your metrics with NPCL and peer organizations to contribute to sector-wide learning.</a:t>
            </a:r>
          </a:p>
          <a:p>
            <a:r>
              <a:rPr lang="en-US" dirty="0"/>
              <a:t>Your Notes:</a:t>
            </a:r>
          </a:p>
        </p:txBody>
      </p:sp>
    </p:spTree>
    <p:extLst>
      <p:ext uri="{BB962C8B-B14F-4D97-AF65-F5344CB8AC3E}">
        <p14:creationId xmlns:p14="http://schemas.microsoft.com/office/powerpoint/2010/main" val="36822602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FMP Better Together — Program Overview</a:t>
            </a:r>
          </a:p>
          <a:p>
            <a:r>
              <a:rPr lang="en-US" dirty="0"/>
              <a:t>The Fatherhood MISSION Project (FMP) Better Together Program is a comprehensive RF initiative that integrates parenting education, economic stability support, and healthy relationship skills into a coordinated service model. </a:t>
            </a:r>
            <a:r>
              <a:rPr lang="en-US"/>
              <a:t>It </a:t>
            </a:r>
            <a:r>
              <a:rPr lang="en-US" dirty="0"/>
              <a:t>serves fathers across multiple sites and has built a strong evidence base through rigorous evaluation.</a:t>
            </a:r>
          </a:p>
          <a:p>
            <a:r>
              <a:rPr lang="en-US" dirty="0"/>
              <a:t>What makes FMP instructive as an FSR case study </a:t>
            </a:r>
            <a:r>
              <a:rPr lang="en-US"/>
              <a:t>isn’t </a:t>
            </a:r>
            <a:r>
              <a:rPr lang="en-US" dirty="0"/>
              <a:t>just the program’s design but how the organization has strategically aligned its funding portfolio with its program model. Each funding source supports a specific component of the program, and the program’s outcomes data is structured to meet multiple funders’ reporting requirements simultaneously.</a:t>
            </a:r>
          </a:p>
          <a:p>
            <a:r>
              <a:rPr lang="en-US" dirty="0"/>
              <a:t>This dual-purpose design—serving participants effectively while generating the evidence funders need—is a hallmark of proactive funding strategy. It </a:t>
            </a:r>
            <a:r>
              <a:rPr lang="en-US"/>
              <a:t>doesn’t </a:t>
            </a:r>
            <a:r>
              <a:rPr lang="en-US" dirty="0"/>
              <a:t>happen by accident. It requires intentional program design, data infrastructure investment, and ongoing alignment between program and development staff.</a:t>
            </a:r>
            <a:r>
              <a:rPr lang="en-US"/>
              <a:t> </a:t>
            </a:r>
            <a:r>
              <a:rPr lang="en-US" dirty="0"/>
              <a:t>Your </a:t>
            </a:r>
            <a:r>
              <a:rPr lang="en-US"/>
              <a:t>program may be smaller than FMP—that’s fine. The principles scale down.</a:t>
            </a:r>
          </a:p>
          <a:p>
            <a:r>
              <a:rPr lang="en-US" b="1"/>
              <a:t>FMP’s Outputs Tell a Funding Story</a:t>
            </a:r>
          </a:p>
          <a:p>
            <a:r>
              <a:rPr lang="en-US"/>
              <a:t>Here are some of FMP’s key output metrics and why they matter for funding conversations: 120+ fathers served annually across 3 partner sites (demonstrating reach and multi-site capacity), 85% curriculum completion rate (signaling above-average retention and program quality), a 4:1 leverage ratio (for every $1 from OFA, $4 in matched resources mobilized—a powerful number for any funder), and 12 active MOUs (demonstrating ecosystem breadth and service integration).</a:t>
            </a:r>
          </a:p>
          <a:p>
            <a:r>
              <a:rPr lang="en-US"/>
              <a:t>Every output statistic is a funder conversation starter. As you review your own program’s outputs, ask: which numbers would make a funder want to learn more?</a:t>
            </a:r>
          </a:p>
          <a:p>
            <a:r>
              <a:rPr lang="en-US"/>
              <a:t>Your Notes: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FMP logic model in a simplified format. A logic model is a visual representation of how a program’s inputs, activities, outputs, and outcomes connect. For FSR purposes, the logic model serves a dual function: it guides program implementation and provides a framework for demonstrating impact to funders.</a:t>
            </a:r>
          </a:p>
          <a:p>
            <a:r>
              <a:rPr lang="en-US" dirty="0"/>
              <a:t>Notice how the logic model flows from left to right: inputs (funding, staff, partnerships) drive activities (parenting classes, case management, employment services), which produce outputs (enrollment numbers, completion rates, referrals made), which lead to short-term outcomes (improved parenting skills, job placements), and ultimately long-term outcomes (family stability, economic self-sufficiency, child well-being).</a:t>
            </a:r>
          </a:p>
          <a:p>
            <a:r>
              <a:rPr lang="en-US" dirty="0"/>
              <a:t>Every element of this logic model can be connected to a specific funder’s priorities. Federal HMRF funders care about the full chain. State workforce agencies care about employment outcomes. Private foundations may focus on child well-being. The logic model gives you a single framework that speaks to multiple audiences.</a:t>
            </a:r>
          </a:p>
          <a:p>
            <a:r>
              <a:rPr lang="en-US" dirty="0"/>
              <a:t>If your organization </a:t>
            </a:r>
            <a:r>
              <a:rPr lang="en-US"/>
              <a:t>doesn't </a:t>
            </a:r>
            <a:r>
              <a:rPr lang="en-US" dirty="0"/>
              <a:t>have a current logic model, creating one should be a priority. </a:t>
            </a:r>
            <a:r>
              <a:rPr lang="en-US"/>
              <a:t>It's</a:t>
            </a:r>
            <a:r>
              <a:rPr lang="en-US" dirty="0"/>
              <a:t> one of the most versatile tools in both program management and funding strategy.</a:t>
            </a:r>
          </a:p>
          <a:p>
            <a:r>
              <a:rPr lang="en-US" b="1"/>
              <a:t>Handout Reference:</a:t>
            </a:r>
            <a:r>
              <a:rPr lang="en-US"/>
              <a:t> Direct participants to the Logic Model Handout. This handout provides the full FMP Better Together logic model for reference. Encourage participants to compare it against their own program’s logic model and note areas where their inputs, activities, outputs, and outcomes align with funder priorities.</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FSR Mapped to the FMP Logic Model</a:t>
            </a:r>
          </a:p>
          <a:p>
            <a:r>
              <a:rPr lang="en-US" dirty="0"/>
              <a:t>This slide demonstrates how FSR activities map directly onto </a:t>
            </a:r>
            <a:r>
              <a:rPr lang="en-US"/>
              <a:t>a program’s </a:t>
            </a:r>
            <a:r>
              <a:rPr lang="en-US" dirty="0"/>
              <a:t>logic model. </a:t>
            </a:r>
            <a:r>
              <a:rPr lang="en-US"/>
              <a:t>On </a:t>
            </a:r>
            <a:r>
              <a:rPr lang="en-US" dirty="0"/>
              <a:t>the </a:t>
            </a:r>
            <a:r>
              <a:rPr lang="en-US"/>
              <a:t>left, you see </a:t>
            </a:r>
            <a:r>
              <a:rPr lang="en-US" dirty="0"/>
              <a:t>what </a:t>
            </a:r>
            <a:r>
              <a:rPr lang="en-US"/>
              <a:t>FMP looks like without FSR—OFA as the sole revenue source, foundation grants pursued reactively, MOUs without </a:t>
            </a:r>
            <a:r>
              <a:rPr lang="en-US" dirty="0"/>
              <a:t>funder </a:t>
            </a:r>
            <a:r>
              <a:rPr lang="en-US"/>
              <a:t>alignment, data collected only for compliance, and narratives updated only at renewal time</a:t>
            </a:r>
            <a:r>
              <a:rPr lang="en-US" dirty="0"/>
              <a:t>. </a:t>
            </a:r>
            <a:r>
              <a:rPr lang="en-US"/>
              <a:t>On </a:t>
            </a:r>
            <a:r>
              <a:rPr lang="en-US" dirty="0"/>
              <a:t>the </a:t>
            </a:r>
            <a:r>
              <a:rPr lang="en-US"/>
              <a:t>right, you see </a:t>
            </a:r>
            <a:r>
              <a:rPr lang="en-US" dirty="0"/>
              <a:t>the </a:t>
            </a:r>
            <a:r>
              <a:rPr lang="en-US"/>
              <a:t>projected impact when FSR pillars are activated across </a:t>
            </a:r>
            <a:r>
              <a:rPr lang="en-US" dirty="0"/>
              <a:t>every element.</a:t>
            </a:r>
          </a:p>
          <a:p>
            <a:r>
              <a:rPr lang="en-US" dirty="0"/>
              <a:t>This mapping is powerful because it shows that the FSR system </a:t>
            </a:r>
            <a:r>
              <a:rPr lang="en-US"/>
              <a:t>isn’t </a:t>
            </a:r>
            <a:r>
              <a:rPr lang="en-US" dirty="0"/>
              <a:t>a separate function from program delivery—it is integrated into the organization’s core work. When scanning identifies a new funder interested in employment outcomes, the program team can ensure that employment data collection is robust. When a readiness assessment reveals gaps in child well-being measurement, the evaluation team can address those gaps before the next proposal deadline.</a:t>
            </a:r>
          </a:p>
          <a:p>
            <a:r>
              <a:rPr lang="en-US" dirty="0"/>
              <a:t>The integration of FSR with the logic model also helps break down silos between program and development staff. Both teams can see how their work connects and how each contributes to the organization’s funding sustainability.</a:t>
            </a:r>
          </a:p>
          <a:p>
            <a:r>
              <a:rPr lang="en-US" b="1"/>
              <a:t>A Year in the Life of FSR at FMP</a:t>
            </a:r>
          </a:p>
          <a:p>
            <a:r>
              <a:rPr lang="en-US"/>
              <a:t>Here’s what a realistic FSR cycle looks like at a program like FMP: In January, Pillar 1 kicks in—pull 990s for 5 target foundations and update the landscape map. By March, Pillar 2 is active—score 5 opportunities, advance 2, pass on 3 with documented rationale. In May, Pillar 3 runs a 90-day pre-renewal audit, closing a data gap in employment tracking. July brings Pillar 4 into action—OFA renewal submitted, 1 foundation LOI sent, relationship touchpoints maintained. By September, results arrive: OFA renewed, a $75K foundation supplement won, and 1 LOI invited to full proposal. In November, Pillar 5 closes the loop—full debrief, reviewer feedback integrated, and the Year 2 FSR calendar drafted.</a:t>
            </a:r>
          </a:p>
          <a:p>
            <a:r>
              <a:rPr lang="en-US"/>
              <a:t>This cycle is achievable with limited staff. The system—not heroics—is what makes it repeatable.</a:t>
            </a:r>
          </a:p>
          <a:p>
            <a:r>
              <a:rPr lang="en-US" b="1"/>
              <a:t>Apply the Logic Model Lens to Your Own Program</a:t>
            </a:r>
          </a:p>
          <a:p>
            <a:r>
              <a:rPr lang="en-US"/>
              <a:t>Try this quick exercise: (1) Identify one output your program already tracks consistently. (2) Match that output to one active funder priority—name the funder. (3) Name the one FSR pillar that would strengthen the connection between your output and that funder’s priorities.</a:t>
            </a:r>
          </a:p>
          <a:p>
            <a:r>
              <a:rPr lang="en-US"/>
              <a:t>Your logic model is your funding narrative. If you can tell the story of what you do and why it matters—with data—you can win the grant.</a:t>
            </a:r>
          </a:p>
          <a:p>
            <a:r>
              <a:rPr lang="en-US"/>
              <a:t>Your Notes: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b="1" dirty="0"/>
              <a:t>From Principles to Practice — FMP’s Grant Tracking Sheet</a:t>
            </a:r>
          </a:p>
          <a:p>
            <a:endParaRPr lang="en-US" dirty="0"/>
          </a:p>
          <a:p>
            <a:r>
              <a:rPr lang="en-US" dirty="0"/>
              <a:t>This slide is a deliberate transition from Slide 39, which mapped the projected growth of FMP’s funding capacity through the FSR framework. Now we move from “what could happen” to “what FMP actually built.” The point is simple but powerful: an effective grant tracking system does not require complex engineering, specialized IT infrastructure, or expensive software. What you are looking at is a standard Excel spreadsheet — complete with the familiar ribbon interface visible at the top — that Fathers Making Progress uses to actively track the status of 49 grants across their portfolio.</a:t>
            </a:r>
          </a:p>
          <a:p>
            <a:endParaRPr lang="en-US" dirty="0"/>
          </a:p>
          <a:p>
            <a:r>
              <a:rPr lang="en-US" dirty="0"/>
              <a:t>Only 7 of the 49 grants are displayed here for conciseness and presentation clarity, but the full tracker follows the same structure. The Excel ribbons are shown intentionally — this is not a custom database, a CRM platform, or a proprietary system. It is a spreadsheet that any program can replicate today.</a:t>
            </a:r>
          </a:p>
          <a:p>
            <a:endParaRPr lang="en-US" dirty="0"/>
          </a:p>
          <a:p>
            <a:r>
              <a:rPr lang="en-US" dirty="0"/>
              <a:t>The status columns are intentionally left blank to protect the confidentiality of FMP’s active grant relationships and pipeline decisions. In practice, these columns track the progression of each opportunity from initial surveillance through outreach, relationship-building, application submission, and final disposition (funded or not funded).</a:t>
            </a:r>
          </a:p>
          <a:p>
            <a:endParaRPr lang="en-US" dirty="0"/>
          </a:p>
          <a:p>
            <a:r>
              <a:rPr lang="en-US" b="1" dirty="0"/>
              <a:t>Key Teaching Points:</a:t>
            </a:r>
          </a:p>
          <a:p>
            <a:r>
              <a:rPr lang="en-US" dirty="0"/>
              <a:t>• The barrier to starting a grant tracking system is lower than most programs think. Excel is enough. What matters is the discipline of using it consistently.</a:t>
            </a:r>
          </a:p>
          <a:p>
            <a:r>
              <a:rPr lang="en-US" dirty="0"/>
              <a:t>• The real work is not in the tool — it is in the surveillance (finding the opportunities), the relationship-building and outreach (connecting with funders before deadlines), and the thoughtfulness of the tracking columns themselves (what you choose to track reveals what you prioritize).</a:t>
            </a:r>
          </a:p>
          <a:p>
            <a:r>
              <a:rPr lang="en-US" dirty="0"/>
              <a:t>• The columns should trace the full journey from surveillance to a yes-or-no response decision. That pipeline view is what transforms grant-seeking from reactive scrambling into strategic portfolio management.</a:t>
            </a:r>
          </a:p>
          <a:p>
            <a:r>
              <a:rPr lang="en-US" dirty="0"/>
              <a:t>• FMP tracks 49 grants using this approach — proof that even a mid-sized Responsible Fatherhood program can manage a substantial pipeline with simple, accessible tools.</a:t>
            </a:r>
          </a:p>
          <a:p>
            <a:endParaRPr lang="en-US" dirty="0"/>
          </a:p>
          <a:p>
            <a:r>
              <a:rPr lang="en-US" b="1" dirty="0"/>
              <a:t>Transition Note:</a:t>
            </a:r>
          </a:p>
          <a:p>
            <a:r>
              <a:rPr lang="en-US" dirty="0"/>
              <a:t>Slide 39 showed how the FSR pillars project growth across FMP’s logic model. This slide grounds that projection in reality — FMP did not wait for a perfect system. They started with Excel, built thoughtful columns, and used it to manage a 49-grant pipeline. The lesson for the audience: start where you are, with what you have. The system is the discipline, not the software.</a:t>
            </a:r>
          </a:p>
          <a:p>
            <a:endParaRPr lang="en-US" dirty="0"/>
          </a:p>
          <a:p>
            <a:r>
              <a:rPr lang="en-US" dirty="0"/>
              <a:t>Your Notes:</a:t>
            </a:r>
          </a:p>
        </p:txBody>
      </p:sp>
    </p:spTree>
    <p:extLst>
      <p:ext uri="{BB962C8B-B14F-4D97-AF65-F5344CB8AC3E}">
        <p14:creationId xmlns:p14="http://schemas.microsoft.com/office/powerpoint/2010/main" val="26346967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Long-Term Outcomes Mapped to Funder Priorities</a:t>
            </a:r>
          </a:p>
          <a:p>
            <a:r>
              <a:rPr lang="en-US" dirty="0"/>
              <a:t>This slide maps FMP’s long-term outcomes to specific funder priorities, demonstrating how a well-designed program can simultaneously serve community needs and funder requirements. Family stability outcomes align with OFA/HMRF priorities. Economic self-sufficiency outcomes align with workforce development funders</a:t>
            </a:r>
            <a:r>
              <a:rPr lang="en-US"/>
              <a:t> like DOL and JPMorgan Chase</a:t>
            </a:r>
            <a:r>
              <a:rPr lang="en-US" dirty="0"/>
              <a:t>. Child well-being outcomes align with children’s foundation priorities</a:t>
            </a:r>
            <a:r>
              <a:rPr lang="en-US"/>
              <a:t> like the Annie E. Casey Foundation and W.K. Kellogg</a:t>
            </a:r>
            <a:r>
              <a:rPr lang="en-US" dirty="0"/>
              <a:t>. </a:t>
            </a:r>
            <a:r>
              <a:rPr lang="en-US"/>
              <a:t>Systems change </a:t>
            </a:r>
            <a:r>
              <a:rPr lang="en-US" dirty="0"/>
              <a:t>outcomes align with </a:t>
            </a:r>
            <a:r>
              <a:rPr lang="en-US"/>
              <a:t>advocacy </a:t>
            </a:r>
            <a:r>
              <a:rPr lang="en-US" dirty="0"/>
              <a:t>funders and </a:t>
            </a:r>
            <a:r>
              <a:rPr lang="en-US"/>
              <a:t>capacity-building grants</a:t>
            </a:r>
            <a:r>
              <a:rPr lang="en-US" dirty="0"/>
              <a:t>.</a:t>
            </a:r>
          </a:p>
          <a:p>
            <a:r>
              <a:rPr lang="en-US" dirty="0"/>
              <a:t>The lesson here is intentional design. When your program outcomes naturally map to multiple funders’ priorities, you create a diversification advantage. You </a:t>
            </a:r>
            <a:r>
              <a:rPr lang="en-US"/>
              <a:t>aren’t </a:t>
            </a:r>
            <a:r>
              <a:rPr lang="en-US" dirty="0"/>
              <a:t>stretching your program to fit funders—</a:t>
            </a:r>
            <a:r>
              <a:rPr lang="en-US"/>
              <a:t>you’re </a:t>
            </a:r>
            <a:r>
              <a:rPr lang="en-US" dirty="0"/>
              <a:t>demonstrating that your program’s natural impact serves multiple stakeholders.</a:t>
            </a:r>
          </a:p>
          <a:p>
            <a:r>
              <a:rPr lang="en-US" dirty="0"/>
              <a:t>To apply this to your own organization, create a matrix with your program’s key outcomes on one axis and your current and target funders on the other. Identify where strong alignment exists and where there are gaps. The gaps represent either outcomes you need to measure better or funder categories you need to explore. We recommend revisiting </a:t>
            </a:r>
            <a:r>
              <a:rPr lang="en-US"/>
              <a:t>this mapping </a:t>
            </a:r>
            <a:r>
              <a:rPr lang="en-US" dirty="0"/>
              <a:t>annually as both your program and the funding landscape evolve.</a:t>
            </a:r>
          </a:p>
          <a:p>
            <a:r>
              <a:rPr lang="en-US" b="1"/>
              <a:t>Short-Term Outcomes That Funders Care About</a:t>
            </a:r>
          </a:p>
          <a:p>
            <a:r>
              <a:rPr lang="en-US"/>
              <a:t>Before those long-term outcomes materialize, FMP tracks short-term outcomes (6–12 months) that demonstrate early impact and keep funders engaged: Employment—68% of participants secure or improve employment within 6 months (aligned with DOL and Annie E. Casey priorities). Co-Parenting—74% report improved communication with co-parents (aligned with OFA/ACF and Family Court partners). Financial Health—55% reduce debt or establish savings (aligned with CFPB and financial capability foundations). Fatherhood Identity—82% report a strengthened sense of identity and purpose (aligned with RF-specific private funders). Social Capital—participants gain an average of 3 new pro-social connections.</a:t>
            </a:r>
          </a:p>
          <a:p>
            <a:r>
              <a:rPr lang="en-US"/>
              <a:t>These outcomes exist in the Responsible Fatherhood research literature. Funders fund what’s proven—your job is to make the connection between your program’s results and the evidence base that funders trust.</a:t>
            </a:r>
          </a:p>
          <a:p>
            <a:r>
              <a:rPr lang="en-US" b="1"/>
              <a:t>Handout Reference:</a:t>
            </a:r>
            <a:r>
              <a:rPr lang="en-US"/>
              <a:t> Direct participants to the Outcomes Handout. This handout maps long-term outcomes to funder priorities. Have participants identify which outcomes their program currently tracks and which funders align with each outcome area. This exercise connects directly to FSR Pillar 2: Opportunity Intelligence.</a:t>
            </a:r>
          </a:p>
          <a:p>
            <a:r>
              <a:rPr lang="en-US"/>
              <a:t>Your Notes: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4.1</a:t>
            </a:r>
          </a:p>
          <a:p>
            <a:r>
              <a:rPr lang="en-US"/>
              <a:t>This scenario describes a program with strong outputs—120 fathers served, 85% completion, 12 MOUs—but no systematic short-term outcome data on employment or co-parenting. The question asks why this gap is a critical vulnerability from a logic model and funding strategy perspective.</a:t>
            </a:r>
          </a:p>
          <a:p>
            <a:r>
              <a:rPr lang="en-US"/>
              <a:t>The correct answer is C — Outputs demonstrate program reach, but funders increasingly require outcome evidence to justify continued investment and demonstrate actual impact on fathers’ lives. The logic model framework makes this clear: outputs prove volume (how much you did) while outcomes prove impact (what changed as a result). Funders need both columns populated.</a:t>
            </a:r>
          </a:p>
          <a:p>
            <a:r>
              <a:rPr lang="en-US"/>
              <a:t>Strong enrollment and completion numbers are necessary but not sufficient. Without outcome data, the program cannot demonstrate that participation actually changes fathers’ lives—which is ultimately what funders are investing in. This is especially true as the funding landscape becomes more competitive and evidence-driven.</a:t>
            </a:r>
          </a:p>
          <a:p>
            <a:r>
              <a:rPr lang="en-US"/>
              <a:t>Reflection: Does your program currently track both outputs and outcomes? If you had to name your strongest output metric and your strongest outcome metric right now, what would they be?</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4.2</a:t>
            </a:r>
          </a:p>
          <a:p>
            <a:r>
              <a:rPr lang="en-US"/>
              <a:t>This scenario describes a practitioner who maps one program activity—employment pathways—to two different funders simultaneously: a state workforce board and the OFA HMRF renewal. The question asks which FSR-integrated strategy this best demonstrates.</a:t>
            </a:r>
          </a:p>
          <a:p>
            <a:r>
              <a:rPr lang="en-US"/>
              <a:t>The correct answer is A — Portfolio diversification through intentional alignment of a single program activity to multiple funder priorities across the logic model. This is strategic portfolio diversification in action. The practitioner isn’t just applying to more grants—they’re intentionally designing their program activities and data collection so that one strong program element speaks to multiple funders simultaneously.</a:t>
            </a:r>
          </a:p>
          <a:p>
            <a:r>
              <a:rPr lang="en-US"/>
              <a:t>This is one of the most efficient strategies available to RF organizations. Rather than creating separate programs for separate funders, you align your existing logic model to serve diverse funder priorities. The employment pathways activity generates data that satisfies the workforce board’s metrics and the OFA renewal’s narrative—with no additional program cost.</a:t>
            </a:r>
          </a:p>
          <a:p>
            <a:r>
              <a:rPr lang="en-US"/>
              <a:t>Reflection: Can you identify one activity in your program that could map to two different funders’ priorities? What data would you need to collect to make that dual alignment work?</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Check Your Thinking — Learning Check 4.3</a:t>
            </a:r>
          </a:p>
          <a:p>
            <a:r>
              <a:rPr lang="en-US"/>
              <a:t>This scenario describes a program that lost a competitive foundation grant but conducted a structured debrief. The debrief revealed strong program design scores but low marks for outcome measurement and evaluation planning. The question asks how to best apply this intelligence.</a:t>
            </a:r>
          </a:p>
          <a:p>
            <a:r>
              <a:rPr lang="en-US"/>
              <a:t>The correct answer is B — Strengthen data readiness and evaluation capacity before the next cycle. Pillar 5 (Continuous Learning) exists precisely for this purpose: every grant cycle—win or lose—produces actionable intelligence. The debrief identified specific, addressable weaknesses. Strengthening evaluation capacity before the next cycle transforms a loss into a strategic investment.</a:t>
            </a:r>
          </a:p>
          <a:p>
            <a:r>
              <a:rPr lang="en-US"/>
              <a:t>The other options represent common but counterproductive responses: avoiding the funder entirely (A) wastes the intelligence you gained and the relationship you’ve begun. Resubmitting with only minor edits (C) ignores the feedback. Shifting to funders with lower evaluation standards (D) is a form of avoidance that limits your organization’s growth.</a:t>
            </a:r>
          </a:p>
          <a:p>
            <a:r>
              <a:rPr lang="en-US"/>
              <a:t>The most successful organizations in the RF sector treat every grant decision—especially losses—as data. A structured debrief turns disappointment into a roadmap for improvement.</a:t>
            </a:r>
          </a:p>
          <a:p>
            <a:r>
              <a:rPr lang="en-US"/>
              <a:t>Reflection: Does your program conduct structured debriefs after grant decisions? If not, what would a simple debrief process look like for your team?</a:t>
            </a:r>
          </a:p>
          <a:p>
            <a:r>
              <a:rPr lang="en-US"/>
              <a:t>Your Notes:</a:t>
            </a:r>
          </a:p>
        </p:txBody>
      </p:sp>
      <p:sp>
        <p:nvSpPr>
          <p:cNvPr id="4" name="Slide Number Placeholder 3"/>
          <p:cNvSpPr>
            <a:spLocks noGrp="1"/>
          </p:cNvSpPr>
          <p:nvPr>
            <p:ph type="sldNum" sz="quarter" idx="5"/>
          </p:nvPr>
        </p:nvSpPr>
        <p:spPr/>
        <p:txBody>
          <a:bodyPr/>
          <a:lstStyle/>
          <a:p>
            <a:fld id="{B6F15528-F159-4107-2D15-E3D4FB21A1E3}" type="slidenum">
              <a:rPr lang="en-US"/>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Build Your Own FSR. This is where the workshop shifts from learning to doing. In this final section, </a:t>
            </a:r>
            <a:r>
              <a:rPr lang="en-US"/>
              <a:t>you'll </a:t>
            </a:r>
            <a:r>
              <a:rPr lang="en-US" dirty="0"/>
              <a:t>use everything </a:t>
            </a:r>
            <a:r>
              <a:rPr lang="en-US"/>
              <a:t>we've </a:t>
            </a:r>
            <a:r>
              <a:rPr lang="en-US" dirty="0"/>
              <a:t>covered—the funding landscape analysis, the FSR framework, the strategic building blocks, and the FMP case study—to build your own 90-day FSR implementation plan.</a:t>
            </a:r>
          </a:p>
          <a:p>
            <a:r>
              <a:rPr lang="en-US" dirty="0"/>
              <a:t>The tools in this section are designed to be practical and actionable. The 90-Day Roadmap gives you a phased implementation plan. The Tools &amp; Resources slide provides specific resources to support each phase. The Commitment Card gives you a mechanism for accountability.</a:t>
            </a:r>
          </a:p>
          <a:p>
            <a:r>
              <a:rPr lang="en-US" dirty="0"/>
              <a:t>This </a:t>
            </a:r>
            <a:r>
              <a:rPr lang="en-US"/>
              <a:t>isn't </a:t>
            </a:r>
            <a:r>
              <a:rPr lang="en-US" dirty="0"/>
              <a:t>about creating a perfect plan. </a:t>
            </a:r>
            <a:r>
              <a:rPr lang="en-US"/>
              <a:t>It's</a:t>
            </a:r>
            <a:r>
              <a:rPr lang="en-US" dirty="0"/>
              <a:t> about creating a starting plan—one that you can begin implementing next week. Perfection is the enemy of progress in FSR implementation. Start small, learn fast, and build from there.</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90-Day FSR Implementation Roadmap is your primary take-home planning tool. </a:t>
            </a:r>
            <a:r>
              <a:rPr lang="en-US"/>
              <a:t>It's </a:t>
            </a:r>
            <a:r>
              <a:rPr lang="en-US" dirty="0"/>
              <a:t>organized into three phases, each building on the previous one. Use this roadmap as a checklist and timeline for getting your FSR system operational.</a:t>
            </a:r>
          </a:p>
          <a:p>
            <a:r>
              <a:rPr lang="en-US" dirty="0"/>
              <a:t>PHASE 1: Foundation (Days 1-30). The goal of Phase 1 is to establish the basic infrastructure for your FSR system. Key activities include: (a) Designate an FSR lead—one person who will champion the system and coordinate activities. This </a:t>
            </a:r>
            <a:r>
              <a:rPr lang="en-US"/>
              <a:t>doesn't </a:t>
            </a:r>
            <a:r>
              <a:rPr lang="en-US" dirty="0"/>
              <a:t>need to be a new hire; it can be a current staff member with dedicated time. (b) Conduct a baseline readiness assessment using the five-pillar framework from Section 2. Rate your organization honestly on each pillar and document specific gaps. (c) Set up basic environmental scanning—create Google Alerts for key terms, register for Grants.gov and SAM.gov notifications, and identify 5-10 key funders to monitor. (d) Inventory your existing materials—organizational descriptions, outcome data, financial documents, key personnel bios, and letters of support. Identify </a:t>
            </a:r>
            <a:r>
              <a:rPr lang="en-US"/>
              <a:t>what's </a:t>
            </a:r>
            <a:r>
              <a:rPr lang="en-US" dirty="0"/>
              <a:t>current, what needs updating, and </a:t>
            </a:r>
            <a:r>
              <a:rPr lang="en-US"/>
              <a:t>what's </a:t>
            </a:r>
            <a:r>
              <a:rPr lang="en-US" dirty="0"/>
              <a:t>missing. (e) Schedule a monthly FSR review meeting with your leadership team to track progress and maintain momentum.</a:t>
            </a:r>
          </a:p>
          <a:p>
            <a:r>
              <a:rPr lang="en-US" dirty="0"/>
              <a:t>PHASE 2: Development (Days 31-60). The goal of Phase 2 is to build out your intelligence and readiness capabilities. Key activities include: (a) Create a Funder Profile Database—start with your current funders and your top 10 target funders. For each, document their mission, priorities, funding history, application timelines, key contacts, and alignment with your programs. (b) Develop your organizational readiness package—update or create boilerplate language, organizational capability statements, outcome summaries, and budget templates that can be customized for specific proposals. (c) Build a funding pipeline tracker—a simple spreadsheet or tool that tracks every opportunity from identification through submission and decision. Include fields for tier classification, alignment score, deadline, and status. (d) Establish a go/no-go decision framework—define the criteria your organization will use to decide whether to pursue a specific opportunity. Include mission alignment, capacity requirements, probability of success, and strategic value. (e) Connect with NPCL and at least two peer organizations to share intelligence and resources.</a:t>
            </a:r>
          </a:p>
          <a:p>
            <a:r>
              <a:rPr lang="en-US" dirty="0"/>
              <a:t>PHASE 3: Activation (Days 61-90). The goal of Phase 3 is to put your system into practice and establish ongoing routines. Key activities include: (a) Apply the full FSR process to at least one real funding opportunity—scan, research, assess readiness, make a go/no-go decision, and if you proceed, execute a strategic response using your new tools and templates. (b) Conduct your first formal FSR review meeting—review pipeline health, readiness scores, and any lessons learned from the Phase 3 application. (c) Document your FSR standard operating procedures—write down the processes, tools, and routines </a:t>
            </a:r>
            <a:r>
              <a:rPr lang="en-US"/>
              <a:t>you've </a:t>
            </a:r>
            <a:r>
              <a:rPr lang="en-US" dirty="0"/>
              <a:t>established so they </a:t>
            </a:r>
            <a:r>
              <a:rPr lang="en-US"/>
              <a:t>aren't</a:t>
            </a:r>
            <a:r>
              <a:rPr lang="en-US" dirty="0"/>
              <a:t> dependent on any single person. (d) Set 6-month targets for each of the four FSR effectiveness metrics: pipeline health, conversion rate, alignment score, and readiness index. (e) Share your progress with your board and key stakeholders. Building organizational buy-in early ensures the system survives leadership transitions and competing priorities.</a:t>
            </a:r>
          </a:p>
          <a:p>
            <a:r>
              <a:rPr lang="en-US" dirty="0"/>
              <a:t>Remember: this roadmap is a starting point, not a rigid prescription. Adapt the timeline to your organization’s capacity and context. The most important thing is to start and to maintain momentum. Even completing Phase 1 will put you ahead of most RF organizations in the sector.</a:t>
            </a:r>
          </a:p>
          <a:p>
            <a:r>
              <a:rPr lang="en-US" b="1"/>
              <a:t>Handout Reference:</a:t>
            </a:r>
            <a:r>
              <a:rPr lang="en-US"/>
              <a:t> Direct participants to Handout Section 3 — 90-Day Funding Opportunity Calendar. Have them begin mapping their next 90 days of funding activity using the week-by-week template. This calendar pairs with the 90-Day Roadmap phases shown on this slide.</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curated list of tools and resources to support your FSR implementation. These resources have been selected for their relevance to RF organizations and their accessibility (most are free or low-cost).</a:t>
            </a:r>
          </a:p>
          <a:p>
            <a:r>
              <a:rPr lang="en-US" dirty="0"/>
              <a:t>For environmental scanning: Grants.gov, SAM.gov, Foundation Directory Online, Candid (formerly GuideStar + Foundation Center), and state-specific grant portals. For opportunity intelligence: funder annual reports, IRS Form 990 data (available through Candid), and the NPCL Funder Intelligence Network. For readiness assessment: the FSR Readiness Checklist (available from NPCL), organizational capability statement templates, and financial health assessment tools.</a:t>
            </a:r>
          </a:p>
          <a:p>
            <a:r>
              <a:rPr lang="en-US" dirty="0"/>
              <a:t>For strategic response: proposal development templates, budget preparation guides, and logic model frameworks. For continuous learning: after-action review templates, the NPCL Learning Community, and funder feedback request templates. All of these resources are available through NPCL or can be accessed at the links provided on the slide.</a:t>
            </a:r>
          </a:p>
          <a:p>
            <a:r>
              <a:rPr lang="en-US" dirty="0"/>
              <a:t>We recommend starting with two or three resources that address your most pressing needs rather than trying to use everything at once. Build your toolkit incrementally as your FSR system matures.</a:t>
            </a:r>
          </a:p>
          <a:p>
            <a:r>
              <a:rPr lang="en-US" b="1"/>
              <a:t>Handout Reference: </a:t>
            </a:r>
            <a:r>
              <a:rPr lang="en-US"/>
              <a:t>This is a good moment to remind participants of their full handout package. Point to item 06 (FSR Starter Kit) on the slide and walk through the six handouts: (1) Self-Assessment — Slide 24, (2) Opportunity Scoring — Slide 21, (3) 90-Day Calendar — Slide 45, (4) Commitment Card — Slide 47, (5) Logic Model — Slide 38, (6) Outcomes — Slide 40. Encourage participants to confirm they have all six and to flag any they may have missed. A printable summary of all handouts with slide numbers is on Slide 48 (Handout Reference Guide).</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Your Commitment — </a:t>
            </a:r>
            <a:r>
              <a:rPr lang="en-US" b="1" dirty="0"/>
              <a:t>One Action</a:t>
            </a:r>
            <a:r>
              <a:rPr lang="en-US" b="1"/>
              <a:t>, </a:t>
            </a:r>
            <a:r>
              <a:rPr lang="en-US" b="1" dirty="0"/>
              <a:t>30 Days</a:t>
            </a:r>
          </a:p>
          <a:p>
            <a:r>
              <a:rPr lang="en-US" dirty="0"/>
              <a:t>Based on everything </a:t>
            </a:r>
            <a:r>
              <a:rPr lang="en-US"/>
              <a:t>you’ve </a:t>
            </a:r>
            <a:r>
              <a:rPr lang="en-US" dirty="0"/>
              <a:t>learned and reflected on today, write down </a:t>
            </a:r>
            <a:r>
              <a:rPr lang="en-US"/>
              <a:t>one </a:t>
            </a:r>
            <a:r>
              <a:rPr lang="en-US" dirty="0"/>
              <a:t>specific action </a:t>
            </a:r>
            <a:r>
              <a:rPr lang="en-US"/>
              <a:t>you’ll </a:t>
            </a:r>
            <a:r>
              <a:rPr lang="en-US" dirty="0"/>
              <a:t>take in the next 30 days to start building or strengthening your FSR system.</a:t>
            </a:r>
          </a:p>
          <a:p>
            <a:r>
              <a:rPr lang="en-US" dirty="0"/>
              <a:t>Make your commitment</a:t>
            </a:r>
            <a:r>
              <a:rPr lang="en-US"/>
              <a:t> specific</a:t>
            </a:r>
            <a:r>
              <a:rPr lang="en-US" dirty="0"/>
              <a:t>—not </a:t>
            </a:r>
            <a:r>
              <a:rPr lang="en-US"/>
              <a:t>“</a:t>
            </a:r>
            <a:r>
              <a:rPr lang="en-US" dirty="0"/>
              <a:t>improve our funding strategy</a:t>
            </a:r>
            <a:r>
              <a:rPr lang="en-US"/>
              <a:t>” </a:t>
            </a:r>
            <a:r>
              <a:rPr lang="en-US" dirty="0"/>
              <a:t>but </a:t>
            </a:r>
            <a:r>
              <a:rPr lang="en-US"/>
              <a:t>“</a:t>
            </a:r>
            <a:r>
              <a:rPr lang="en-US" dirty="0"/>
              <a:t>set up Google Alerts for five key funders and review results weekly</a:t>
            </a:r>
            <a:r>
              <a:rPr lang="en-US"/>
              <a:t>.” It should be achievable </a:t>
            </a:r>
            <a:r>
              <a:rPr lang="en-US" dirty="0"/>
              <a:t>given your current workload</a:t>
            </a:r>
            <a:r>
              <a:rPr lang="en-US"/>
              <a:t> and meaningful enough to </a:t>
            </a:r>
            <a:r>
              <a:rPr lang="en-US" dirty="0"/>
              <a:t>make a tangible difference in your </a:t>
            </a:r>
            <a:r>
              <a:rPr lang="en-US"/>
              <a:t>organization’s </a:t>
            </a:r>
            <a:r>
              <a:rPr lang="en-US" dirty="0"/>
              <a:t>funding readiness.</a:t>
            </a:r>
          </a:p>
          <a:p>
            <a:r>
              <a:rPr lang="en-US" dirty="0"/>
              <a:t>Research shows that sharing a commitment with another person significantly increases follow-through. </a:t>
            </a:r>
            <a:r>
              <a:rPr lang="en-US"/>
              <a:t>If you’re working alongside colleagues, share your commitment with them. If you’re reviewing this notebook independently, tell a colleague or supervisor what </a:t>
            </a:r>
            <a:r>
              <a:rPr lang="en-US" dirty="0"/>
              <a:t>you </a:t>
            </a:r>
            <a:r>
              <a:rPr lang="en-US"/>
              <a:t>plan to do—and set a </a:t>
            </a:r>
            <a:r>
              <a:rPr lang="en-US" dirty="0"/>
              <a:t>30-day </a:t>
            </a:r>
            <a:r>
              <a:rPr lang="en-US"/>
              <a:t>check-in</a:t>
            </a:r>
            <a:r>
              <a:rPr lang="en-US" dirty="0"/>
              <a:t>.</a:t>
            </a:r>
          </a:p>
          <a:p>
            <a:r>
              <a:rPr lang="en-US" dirty="0"/>
              <a:t>Examples: </a:t>
            </a:r>
            <a:r>
              <a:rPr lang="en-US"/>
              <a:t>“I’ll </a:t>
            </a:r>
            <a:r>
              <a:rPr lang="en-US" dirty="0"/>
              <a:t>complete the FSR readiness assessment with my leadership team by </a:t>
            </a:r>
            <a:r>
              <a:rPr lang="en-US"/>
              <a:t>the end of this month.” “I’ll </a:t>
            </a:r>
            <a:r>
              <a:rPr lang="en-US" dirty="0"/>
              <a:t>create a funder profile database with our top 10 funders </a:t>
            </a:r>
            <a:r>
              <a:rPr lang="en-US"/>
              <a:t>within three weeks.” “I’ll </a:t>
            </a:r>
            <a:r>
              <a:rPr lang="en-US" dirty="0"/>
              <a:t>schedule a monthly FSR review meeting starting </a:t>
            </a:r>
            <a:r>
              <a:rPr lang="en-US"/>
              <a:t>next month.”</a:t>
            </a:r>
            <a:endParaRPr lang="en-US" dirty="0"/>
          </a:p>
          <a:p>
            <a:r>
              <a:rPr lang="en-US" dirty="0"/>
              <a:t>My 30-Day Commitment: ____________________________________________</a:t>
            </a:r>
          </a:p>
          <a:p>
            <a:r>
              <a:rPr lang="en-US" b="1"/>
              <a:t>Handout Reference:</a:t>
            </a:r>
            <a:r>
              <a:rPr lang="en-US"/>
              <a:t> Direct participants to Handout Section 4 — My Funding System Commitment. Have them complete the commitment card now: choose one specific action, name a date, identify an accountability partner, and sign it. Encourage them to share their commitment aloud with a neighbor before leaving the room.</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opportunity to ask questions, share insights, and engage with the presenters and fellow participants. No question is too basic or too specific—if you're wondering about something, others likely are too.</a:t>
            </a:r>
          </a:p>
          <a:p>
            <a:r>
              <a:rPr lang="en-US" dirty="0"/>
              <a:t>Common questions from past workshops include: How do I get leadership buy-in for FSR? (Start with the cost-of-reactive analysis from Section 1 and the ROI data from Section 4.) What if I am a one-person development shop? (Focus on Phase 1 of the 90-day roadmap and leverage NPCL’s shared infrastructure.) How does FSR work for small organizations with limited budgets? (The core system requires time, not money—start with free scanning tools and a simple spreadsheet pipeline tracker.)</a:t>
            </a:r>
          </a:p>
          <a:p>
            <a:r>
              <a:rPr lang="en-US" dirty="0"/>
              <a:t>Use this space to capture questions you want to ask, answers you hear that are relevant to your organization, and contact information for people you want to follow up with after the session.</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engagement and commitment during this session. The work of building proactive funding systems for Responsible Fatherhood programs isn't glamorous, but it is essential. Every hour you invest in FSR infrastructure is an hour invested in your organization’s ability to serve fathers and families for years to come.</a:t>
            </a:r>
          </a:p>
          <a:p>
            <a:r>
              <a:rPr lang="en-US" dirty="0"/>
              <a:t>Remember the key messages from today: (1) Reactive funding is costly—in money, mission, and morale. (2) The FSR system provides a structured, scalable framework for becoming proactive. (3) You don't need to build everything at once—start with Phase 1 and build from there. (4) You aren't alone—NPCL and the organizations in this room are your partners in this work.</a:t>
            </a:r>
          </a:p>
          <a:p>
            <a:r>
              <a:rPr lang="en-US" dirty="0"/>
              <a:t>The fathers and families we serve deserve organizations that are stable, strategic, and sustainable. Building an FSR system is one of the most important investments you can make in that future. Take your commitment card seriously. Start this week. And stay connected—the NPCL network is here to support you every step of the way.</a:t>
            </a:r>
          </a:p>
          <a:p>
            <a:r>
              <a:rPr lang="en-US" dirty="0"/>
              <a:t>The work ahead is significant, but so is the opportunity. Together, we can build a Responsible Fatherhood sector that doesn't just survive on funding but thrives because of strategic, mission-aligned investment.</a:t>
            </a:r>
          </a:p>
          <a:p>
            <a:r>
              <a:rPr lang="en-US" dirty="0"/>
              <a:t>Your Notes: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svg"/><Relationship Id="rId18" Type="http://schemas.openxmlformats.org/officeDocument/2006/relationships/image" Target="../media/image35.svg"/><Relationship Id="rId3" Type="http://schemas.openxmlformats.org/officeDocument/2006/relationships/image" Target="../media/image20.svg"/><Relationship Id="rId7" Type="http://schemas.openxmlformats.org/officeDocument/2006/relationships/image" Target="../media/image24.svg"/><Relationship Id="rId12" Type="http://schemas.openxmlformats.org/officeDocument/2006/relationships/image" Target="../media/image29.svg"/><Relationship Id="rId17" Type="http://schemas.openxmlformats.org/officeDocument/2006/relationships/image" Target="../media/image34.svg"/><Relationship Id="rId2" Type="http://schemas.openxmlformats.org/officeDocument/2006/relationships/notesSlide" Target="../notesSlides/notesSlide6.xml"/><Relationship Id="rId16" Type="http://schemas.openxmlformats.org/officeDocument/2006/relationships/image" Target="../media/image33.svg"/><Relationship Id="rId1" Type="http://schemas.openxmlformats.org/officeDocument/2006/relationships/slideLayout" Target="../slideLayouts/slideLayout1.xml"/><Relationship Id="rId6" Type="http://schemas.openxmlformats.org/officeDocument/2006/relationships/image" Target="../media/image23.svg"/><Relationship Id="rId11" Type="http://schemas.openxmlformats.org/officeDocument/2006/relationships/image" Target="../media/image28.svg"/><Relationship Id="rId5" Type="http://schemas.openxmlformats.org/officeDocument/2006/relationships/image" Target="../media/image22.svg"/><Relationship Id="rId15" Type="http://schemas.openxmlformats.org/officeDocument/2006/relationships/image" Target="../media/image32.svg"/><Relationship Id="rId10" Type="http://schemas.openxmlformats.org/officeDocument/2006/relationships/image" Target="../media/image27.svg"/><Relationship Id="rId19" Type="http://schemas.openxmlformats.org/officeDocument/2006/relationships/image" Target="../media/image36.svg"/><Relationship Id="rId4" Type="http://schemas.openxmlformats.org/officeDocument/2006/relationships/image" Target="../media/image21.svg"/><Relationship Id="rId9" Type="http://schemas.openxmlformats.org/officeDocument/2006/relationships/image" Target="../media/image26.svg"/><Relationship Id="rId14" Type="http://schemas.openxmlformats.org/officeDocument/2006/relationships/image" Target="../media/image31.svg"/></Relationships>
</file>

<file path=ppt/slides/_rels/slide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8.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svg"/><Relationship Id="rId7" Type="http://schemas.openxmlformats.org/officeDocument/2006/relationships/image" Target="../media/image45.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4.svg"/><Relationship Id="rId5" Type="http://schemas.openxmlformats.org/officeDocument/2006/relationships/image" Target="../media/image43.svg"/><Relationship Id="rId4" Type="http://schemas.openxmlformats.org/officeDocument/2006/relationships/image" Target="../media/image42.svg"/><Relationship Id="rId9" Type="http://schemas.openxmlformats.org/officeDocument/2006/relationships/image" Target="../media/image47.svg"/></Relationships>
</file>

<file path=ppt/slides/_rels/slide9.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svg"/><Relationship Id="rId7" Type="http://schemas.openxmlformats.org/officeDocument/2006/relationships/image" Target="../media/image52.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1.svg"/><Relationship Id="rId5" Type="http://schemas.openxmlformats.org/officeDocument/2006/relationships/image" Target="../media/image50.svg"/><Relationship Id="rId4" Type="http://schemas.openxmlformats.org/officeDocument/2006/relationships/image" Target="../media/image49.svg"/></Relationships>
</file>

<file path=ppt/slides/_rels/slide10.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svg"/><Relationship Id="rId7" Type="http://schemas.openxmlformats.org/officeDocument/2006/relationships/image" Target="../media/image58.svg"/><Relationship Id="rId12" Type="http://schemas.openxmlformats.org/officeDocument/2006/relationships/image" Target="../media/image63.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7.svg"/><Relationship Id="rId11" Type="http://schemas.openxmlformats.org/officeDocument/2006/relationships/image" Target="../media/image62.svg"/><Relationship Id="rId5" Type="http://schemas.openxmlformats.org/officeDocument/2006/relationships/image" Target="../media/image56.sv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svg"/></Relationships>
</file>

<file path=ppt/slides/_rels/slide11.xml.rels><?xml version="1.0" encoding="UTF-8" standalone="yes"?>
<Relationships xmlns="http://schemas.openxmlformats.org/package/2006/relationships"><Relationship Id="rId3" Type="http://schemas.openxmlformats.org/officeDocument/2006/relationships/image" Target="../media/image64.svg"/><Relationship Id="rId7" Type="http://schemas.openxmlformats.org/officeDocument/2006/relationships/image" Target="../media/image68.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svg"/><Relationship Id="rId4" Type="http://schemas.openxmlformats.org/officeDocument/2006/relationships/image" Target="../media/image65.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71.svg"/><Relationship Id="rId4" Type="http://schemas.openxmlformats.org/officeDocument/2006/relationships/image" Target="../media/image70.svg"/></Relationships>
</file>

<file path=ppt/slides/_rels/slide16.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5.svg"/><Relationship Id="rId5" Type="http://schemas.openxmlformats.org/officeDocument/2006/relationships/image" Target="../media/image74.svg"/><Relationship Id="rId4" Type="http://schemas.openxmlformats.org/officeDocument/2006/relationships/image" Target="../media/image73.svg"/></Relationships>
</file>

<file path=ppt/slides/_rels/slide17.xml.rels><?xml version="1.0" encoding="UTF-8" standalone="yes"?>
<Relationships xmlns="http://schemas.openxmlformats.org/package/2006/relationships"><Relationship Id="rId3" Type="http://schemas.openxmlformats.org/officeDocument/2006/relationships/image" Target="../media/image76.svg"/><Relationship Id="rId7" Type="http://schemas.openxmlformats.org/officeDocument/2006/relationships/image" Target="../media/image80.sv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9.svg"/><Relationship Id="rId5" Type="http://schemas.openxmlformats.org/officeDocument/2006/relationships/image" Target="../media/image78.svg"/><Relationship Id="rId4" Type="http://schemas.openxmlformats.org/officeDocument/2006/relationships/image" Target="../media/image77.svg"/></Relationships>
</file>

<file path=ppt/slides/_rels/slide18.xml.rels><?xml version="1.0" encoding="UTF-8" standalone="yes"?>
<Relationships xmlns="http://schemas.openxmlformats.org/package/2006/relationships"><Relationship Id="rId8" Type="http://schemas.openxmlformats.org/officeDocument/2006/relationships/image" Target="../media/image86.svg"/><Relationship Id="rId3" Type="http://schemas.openxmlformats.org/officeDocument/2006/relationships/image" Target="../media/image81.svg"/><Relationship Id="rId7" Type="http://schemas.openxmlformats.org/officeDocument/2006/relationships/image" Target="../media/image85.svg"/><Relationship Id="rId12" Type="http://schemas.openxmlformats.org/officeDocument/2006/relationships/image" Target="../media/image90.sv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84.svg"/><Relationship Id="rId11" Type="http://schemas.openxmlformats.org/officeDocument/2006/relationships/image" Target="../media/image89.svg"/><Relationship Id="rId5" Type="http://schemas.openxmlformats.org/officeDocument/2006/relationships/image" Target="../media/image83.svg"/><Relationship Id="rId10" Type="http://schemas.openxmlformats.org/officeDocument/2006/relationships/image" Target="../media/image88.svg"/><Relationship Id="rId4" Type="http://schemas.openxmlformats.org/officeDocument/2006/relationships/image" Target="../media/image82.svg"/><Relationship Id="rId9" Type="http://schemas.openxmlformats.org/officeDocument/2006/relationships/image" Target="../media/image87.svg"/></Relationships>
</file>

<file path=ppt/slides/_rels/slide19.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91.svg"/><Relationship Id="rId7" Type="http://schemas.openxmlformats.org/officeDocument/2006/relationships/image" Target="../media/image95.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94.svg"/><Relationship Id="rId5" Type="http://schemas.openxmlformats.org/officeDocument/2006/relationships/image" Target="../media/image93.svg"/><Relationship Id="rId10" Type="http://schemas.openxmlformats.org/officeDocument/2006/relationships/image" Target="../media/image98.svg"/><Relationship Id="rId4" Type="http://schemas.openxmlformats.org/officeDocument/2006/relationships/image" Target="../media/image92.svg"/><Relationship Id="rId9" Type="http://schemas.openxmlformats.org/officeDocument/2006/relationships/image" Target="../media/image97.svg"/></Relationships>
</file>

<file path=ppt/slides/_rels/slide20.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99.svg"/><Relationship Id="rId7" Type="http://schemas.openxmlformats.org/officeDocument/2006/relationships/image" Target="../media/image103.sv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2.svg"/><Relationship Id="rId11" Type="http://schemas.openxmlformats.org/officeDocument/2006/relationships/image" Target="../media/image107.svg"/><Relationship Id="rId5" Type="http://schemas.openxmlformats.org/officeDocument/2006/relationships/image" Target="../media/image101.svg"/><Relationship Id="rId10" Type="http://schemas.openxmlformats.org/officeDocument/2006/relationships/image" Target="../media/image106.svg"/><Relationship Id="rId4" Type="http://schemas.openxmlformats.org/officeDocument/2006/relationships/image" Target="../media/image100.svg"/><Relationship Id="rId9" Type="http://schemas.openxmlformats.org/officeDocument/2006/relationships/image" Target="../media/image105.svg"/></Relationships>
</file>

<file path=ppt/slides/_rels/slide21.xml.rels><?xml version="1.0" encoding="UTF-8" standalone="yes"?>
<Relationships xmlns="http://schemas.openxmlformats.org/package/2006/relationships"><Relationship Id="rId8" Type="http://schemas.openxmlformats.org/officeDocument/2006/relationships/image" Target="../media/image113.svg"/><Relationship Id="rId3" Type="http://schemas.openxmlformats.org/officeDocument/2006/relationships/image" Target="../media/image108.svg"/><Relationship Id="rId7" Type="http://schemas.openxmlformats.org/officeDocument/2006/relationships/image" Target="../media/image112.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11.svg"/><Relationship Id="rId5" Type="http://schemas.openxmlformats.org/officeDocument/2006/relationships/image" Target="../media/image110.svg"/><Relationship Id="rId4" Type="http://schemas.openxmlformats.org/officeDocument/2006/relationships/image" Target="../media/image109.svg"/><Relationship Id="rId9" Type="http://schemas.openxmlformats.org/officeDocument/2006/relationships/image" Target="../media/image114.svg"/></Relationships>
</file>

<file path=ppt/slides/_rels/slide22.xml.rels><?xml version="1.0" encoding="UTF-8" standalone="yes"?>
<Relationships xmlns="http://schemas.openxmlformats.org/package/2006/relationships"><Relationship Id="rId8" Type="http://schemas.openxmlformats.org/officeDocument/2006/relationships/image" Target="../media/image120.svg"/><Relationship Id="rId3" Type="http://schemas.openxmlformats.org/officeDocument/2006/relationships/image" Target="../media/image115.svg"/><Relationship Id="rId7" Type="http://schemas.openxmlformats.org/officeDocument/2006/relationships/image" Target="../media/image119.sv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18.svg"/><Relationship Id="rId5" Type="http://schemas.openxmlformats.org/officeDocument/2006/relationships/image" Target="../media/image117.svg"/><Relationship Id="rId4" Type="http://schemas.openxmlformats.org/officeDocument/2006/relationships/image" Target="../media/image116.svg"/></Relationships>
</file>

<file path=ppt/slides/_rels/slide23.xml.rels><?xml version="1.0" encoding="UTF-8" standalone="yes"?>
<Relationships xmlns="http://schemas.openxmlformats.org/package/2006/relationships"><Relationship Id="rId8" Type="http://schemas.openxmlformats.org/officeDocument/2006/relationships/image" Target="../media/image126.svg"/><Relationship Id="rId3" Type="http://schemas.openxmlformats.org/officeDocument/2006/relationships/image" Target="../media/image121.svg"/><Relationship Id="rId7" Type="http://schemas.openxmlformats.org/officeDocument/2006/relationships/image" Target="../media/image125.sv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24.svg"/><Relationship Id="rId5" Type="http://schemas.openxmlformats.org/officeDocument/2006/relationships/image" Target="../media/image123.svg"/><Relationship Id="rId10" Type="http://schemas.openxmlformats.org/officeDocument/2006/relationships/image" Target="../media/image128.svg"/><Relationship Id="rId4" Type="http://schemas.openxmlformats.org/officeDocument/2006/relationships/image" Target="../media/image122.svg"/><Relationship Id="rId9" Type="http://schemas.openxmlformats.org/officeDocument/2006/relationships/image" Target="../media/image127.svg"/></Relationships>
</file>

<file path=ppt/slides/_rels/slide24.xml.rels><?xml version="1.0" encoding="UTF-8" standalone="yes"?>
<Relationships xmlns="http://schemas.openxmlformats.org/package/2006/relationships"><Relationship Id="rId8" Type="http://schemas.openxmlformats.org/officeDocument/2006/relationships/image" Target="../media/image134.svg"/><Relationship Id="rId3" Type="http://schemas.openxmlformats.org/officeDocument/2006/relationships/image" Target="../media/image129.svg"/><Relationship Id="rId7" Type="http://schemas.openxmlformats.org/officeDocument/2006/relationships/image" Target="../media/image133.sv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32.svg"/><Relationship Id="rId5" Type="http://schemas.openxmlformats.org/officeDocument/2006/relationships/image" Target="../media/image131.svg"/><Relationship Id="rId4" Type="http://schemas.openxmlformats.org/officeDocument/2006/relationships/image" Target="../media/image130.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141.svg"/><Relationship Id="rId3" Type="http://schemas.openxmlformats.org/officeDocument/2006/relationships/image" Target="../media/image136.svg"/><Relationship Id="rId7" Type="http://schemas.openxmlformats.org/officeDocument/2006/relationships/image" Target="../media/image140.sv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39.svg"/><Relationship Id="rId5" Type="http://schemas.openxmlformats.org/officeDocument/2006/relationships/image" Target="../media/image138.svg"/><Relationship Id="rId4" Type="http://schemas.openxmlformats.org/officeDocument/2006/relationships/image" Target="../media/image137.svg"/><Relationship Id="rId9" Type="http://schemas.openxmlformats.org/officeDocument/2006/relationships/image" Target="../media/image142.svg"/></Relationships>
</file>

<file path=ppt/slides/_rels/slide30.xml.rels><?xml version="1.0" encoding="UTF-8" standalone="yes"?>
<Relationships xmlns="http://schemas.openxmlformats.org/package/2006/relationships"><Relationship Id="rId8" Type="http://schemas.openxmlformats.org/officeDocument/2006/relationships/image" Target="../media/image148.svg"/><Relationship Id="rId3" Type="http://schemas.openxmlformats.org/officeDocument/2006/relationships/image" Target="../media/image143.svg"/><Relationship Id="rId7" Type="http://schemas.openxmlformats.org/officeDocument/2006/relationships/image" Target="../media/image147.svg"/><Relationship Id="rId12" Type="http://schemas.openxmlformats.org/officeDocument/2006/relationships/image" Target="../media/image152.sv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46.svg"/><Relationship Id="rId11" Type="http://schemas.openxmlformats.org/officeDocument/2006/relationships/image" Target="../media/image151.svg"/><Relationship Id="rId5" Type="http://schemas.openxmlformats.org/officeDocument/2006/relationships/image" Target="../media/image145.svg"/><Relationship Id="rId10" Type="http://schemas.openxmlformats.org/officeDocument/2006/relationships/image" Target="../media/image150.svg"/><Relationship Id="rId4" Type="http://schemas.openxmlformats.org/officeDocument/2006/relationships/image" Target="../media/image144.svg"/><Relationship Id="rId9" Type="http://schemas.openxmlformats.org/officeDocument/2006/relationships/image" Target="../media/image149.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53.svg"/><Relationship Id="rId7" Type="http://schemas.openxmlformats.org/officeDocument/2006/relationships/image" Target="../media/image157.sv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56.svg"/><Relationship Id="rId5" Type="http://schemas.openxmlformats.org/officeDocument/2006/relationships/image" Target="../media/image155.svg"/><Relationship Id="rId4" Type="http://schemas.openxmlformats.org/officeDocument/2006/relationships/image" Target="../media/image154.svg"/></Relationships>
</file>

<file path=ppt/slides/_rels/slide35.xml.rels><?xml version="1.0" encoding="UTF-8" standalone="yes"?>
<Relationships xmlns="http://schemas.openxmlformats.org/package/2006/relationships"><Relationship Id="rId8" Type="http://schemas.openxmlformats.org/officeDocument/2006/relationships/image" Target="../media/image163.svg"/><Relationship Id="rId3" Type="http://schemas.openxmlformats.org/officeDocument/2006/relationships/image" Target="../media/image158.svg"/><Relationship Id="rId7" Type="http://schemas.openxmlformats.org/officeDocument/2006/relationships/image" Target="../media/image162.sv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61.svg"/><Relationship Id="rId5" Type="http://schemas.openxmlformats.org/officeDocument/2006/relationships/image" Target="../media/image160.svg"/><Relationship Id="rId4" Type="http://schemas.openxmlformats.org/officeDocument/2006/relationships/image" Target="../media/image159.svg"/></Relationships>
</file>

<file path=ppt/slides/_rels/slide36.xml.rels><?xml version="1.0" encoding="UTF-8" standalone="yes"?>
<Relationships xmlns="http://schemas.openxmlformats.org/package/2006/relationships"><Relationship Id="rId8" Type="http://schemas.openxmlformats.org/officeDocument/2006/relationships/image" Target="../media/image163.svg"/><Relationship Id="rId3" Type="http://schemas.openxmlformats.org/officeDocument/2006/relationships/image" Target="../media/image158.svg"/><Relationship Id="rId7" Type="http://schemas.openxmlformats.org/officeDocument/2006/relationships/image" Target="../media/image162.sv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61.svg"/><Relationship Id="rId5" Type="http://schemas.openxmlformats.org/officeDocument/2006/relationships/image" Target="../media/image160.svg"/><Relationship Id="rId4" Type="http://schemas.openxmlformats.org/officeDocument/2006/relationships/image" Target="../media/image159.svg"/></Relationships>
</file>

<file path=ppt/slides/_rels/slide37.xml.rels><?xml version="1.0" encoding="UTF-8" standalone="yes"?>
<Relationships xmlns="http://schemas.openxmlformats.org/package/2006/relationships"><Relationship Id="rId8" Type="http://schemas.openxmlformats.org/officeDocument/2006/relationships/image" Target="../media/image168.svg"/><Relationship Id="rId3" Type="http://schemas.openxmlformats.org/officeDocument/2006/relationships/image" Target="../media/image164.svg"/><Relationship Id="rId7" Type="http://schemas.openxmlformats.org/officeDocument/2006/relationships/image" Target="../media/image167.sv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161.svg"/><Relationship Id="rId5" Type="http://schemas.openxmlformats.org/officeDocument/2006/relationships/image" Target="../media/image166.svg"/><Relationship Id="rId4" Type="http://schemas.openxmlformats.org/officeDocument/2006/relationships/image" Target="../media/image165.svg"/><Relationship Id="rId9" Type="http://schemas.openxmlformats.org/officeDocument/2006/relationships/image" Target="../media/image169.svg"/></Relationships>
</file>

<file path=ppt/slides/_rels/slide38.xml.rels><?xml version="1.0" encoding="UTF-8" standalone="yes"?>
<Relationships xmlns="http://schemas.openxmlformats.org/package/2006/relationships"><Relationship Id="rId3" Type="http://schemas.openxmlformats.org/officeDocument/2006/relationships/image" Target="../media/image170.sv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73.svg"/><Relationship Id="rId5" Type="http://schemas.openxmlformats.org/officeDocument/2006/relationships/image" Target="../media/image172.svg"/><Relationship Id="rId4" Type="http://schemas.openxmlformats.org/officeDocument/2006/relationships/image" Target="../media/image171.svg"/></Relationships>
</file>

<file path=ppt/slides/_rels/slide39.xml.rels><?xml version="1.0" encoding="UTF-8" standalone="yes"?>
<Relationships xmlns="http://schemas.openxmlformats.org/package/2006/relationships"><Relationship Id="rId8" Type="http://schemas.openxmlformats.org/officeDocument/2006/relationships/image" Target="../media/image179.svg"/><Relationship Id="rId13" Type="http://schemas.openxmlformats.org/officeDocument/2006/relationships/image" Target="../media/image184.svg"/><Relationship Id="rId3" Type="http://schemas.openxmlformats.org/officeDocument/2006/relationships/image" Target="../media/image174.svg"/><Relationship Id="rId7" Type="http://schemas.openxmlformats.org/officeDocument/2006/relationships/image" Target="../media/image178.svg"/><Relationship Id="rId12" Type="http://schemas.openxmlformats.org/officeDocument/2006/relationships/image" Target="../media/image183.svg"/><Relationship Id="rId2" Type="http://schemas.openxmlformats.org/officeDocument/2006/relationships/notesSlide" Target="../notesSlides/notesSlide39.xml"/><Relationship Id="rId16" Type="http://schemas.openxmlformats.org/officeDocument/2006/relationships/image" Target="../media/image187.svg"/><Relationship Id="rId1" Type="http://schemas.openxmlformats.org/officeDocument/2006/relationships/slideLayout" Target="../slideLayouts/slideLayout1.xml"/><Relationship Id="rId6" Type="http://schemas.openxmlformats.org/officeDocument/2006/relationships/image" Target="../media/image177.svg"/><Relationship Id="rId11" Type="http://schemas.openxmlformats.org/officeDocument/2006/relationships/image" Target="../media/image182.svg"/><Relationship Id="rId5" Type="http://schemas.openxmlformats.org/officeDocument/2006/relationships/image" Target="../media/image176.svg"/><Relationship Id="rId15" Type="http://schemas.openxmlformats.org/officeDocument/2006/relationships/image" Target="../media/image186.svg"/><Relationship Id="rId10" Type="http://schemas.openxmlformats.org/officeDocument/2006/relationships/image" Target="../media/image181.svg"/><Relationship Id="rId4" Type="http://schemas.openxmlformats.org/officeDocument/2006/relationships/image" Target="../media/image175.svg"/><Relationship Id="rId9" Type="http://schemas.openxmlformats.org/officeDocument/2006/relationships/image" Target="../media/image180.svg"/><Relationship Id="rId14" Type="http://schemas.openxmlformats.org/officeDocument/2006/relationships/image" Target="../media/image185.svg"/></Relationships>
</file>

<file path=ppt/slides/_rels/slide40.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image" Target="../media/image194.svg"/><Relationship Id="rId3" Type="http://schemas.openxmlformats.org/officeDocument/2006/relationships/image" Target="../media/image189.svg"/><Relationship Id="rId7" Type="http://schemas.openxmlformats.org/officeDocument/2006/relationships/image" Target="../media/image193.sv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192.svg"/><Relationship Id="rId5" Type="http://schemas.openxmlformats.org/officeDocument/2006/relationships/image" Target="../media/image191.svg"/><Relationship Id="rId4" Type="http://schemas.openxmlformats.org/officeDocument/2006/relationships/image" Target="../media/image190.sv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95.sv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image" Target="../media/image201.svg"/><Relationship Id="rId13" Type="http://schemas.openxmlformats.org/officeDocument/2006/relationships/image" Target="../media/image206.svg"/><Relationship Id="rId18" Type="http://schemas.openxmlformats.org/officeDocument/2006/relationships/image" Target="../media/image211.svg"/><Relationship Id="rId3" Type="http://schemas.openxmlformats.org/officeDocument/2006/relationships/image" Target="../media/image196.svg"/><Relationship Id="rId21" Type="http://schemas.openxmlformats.org/officeDocument/2006/relationships/image" Target="../media/image214.svg"/><Relationship Id="rId7" Type="http://schemas.openxmlformats.org/officeDocument/2006/relationships/image" Target="../media/image200.svg"/><Relationship Id="rId12" Type="http://schemas.openxmlformats.org/officeDocument/2006/relationships/image" Target="../media/image205.svg"/><Relationship Id="rId17" Type="http://schemas.openxmlformats.org/officeDocument/2006/relationships/image" Target="../media/image210.svg"/><Relationship Id="rId2" Type="http://schemas.openxmlformats.org/officeDocument/2006/relationships/notesSlide" Target="../notesSlides/notesSlide46.xml"/><Relationship Id="rId16" Type="http://schemas.openxmlformats.org/officeDocument/2006/relationships/image" Target="../media/image209.svg"/><Relationship Id="rId20" Type="http://schemas.openxmlformats.org/officeDocument/2006/relationships/image" Target="../media/image213.svg"/><Relationship Id="rId1" Type="http://schemas.openxmlformats.org/officeDocument/2006/relationships/slideLayout" Target="../slideLayouts/slideLayout1.xml"/><Relationship Id="rId6" Type="http://schemas.openxmlformats.org/officeDocument/2006/relationships/image" Target="../media/image199.svg"/><Relationship Id="rId11" Type="http://schemas.openxmlformats.org/officeDocument/2006/relationships/image" Target="../media/image204.svg"/><Relationship Id="rId5" Type="http://schemas.openxmlformats.org/officeDocument/2006/relationships/image" Target="../media/image198.svg"/><Relationship Id="rId15" Type="http://schemas.openxmlformats.org/officeDocument/2006/relationships/image" Target="../media/image208.svg"/><Relationship Id="rId10" Type="http://schemas.openxmlformats.org/officeDocument/2006/relationships/image" Target="../media/image203.svg"/><Relationship Id="rId19" Type="http://schemas.openxmlformats.org/officeDocument/2006/relationships/image" Target="../media/image212.svg"/><Relationship Id="rId4" Type="http://schemas.openxmlformats.org/officeDocument/2006/relationships/image" Target="../media/image197.svg"/><Relationship Id="rId9" Type="http://schemas.openxmlformats.org/officeDocument/2006/relationships/image" Target="../media/image202.svg"/><Relationship Id="rId14" Type="http://schemas.openxmlformats.org/officeDocument/2006/relationships/image" Target="../media/image207.svg"/></Relationships>
</file>

<file path=ppt/slides/_rels/slide47.xml.rels><?xml version="1.0" encoding="UTF-8" standalone="yes"?>
<Relationships xmlns="http://schemas.openxmlformats.org/package/2006/relationships"><Relationship Id="rId8" Type="http://schemas.openxmlformats.org/officeDocument/2006/relationships/image" Target="../media/image220.svg"/><Relationship Id="rId3" Type="http://schemas.openxmlformats.org/officeDocument/2006/relationships/image" Target="../media/image215.svg"/><Relationship Id="rId7" Type="http://schemas.openxmlformats.org/officeDocument/2006/relationships/image" Target="../media/image219.sv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218.svg"/><Relationship Id="rId5" Type="http://schemas.openxmlformats.org/officeDocument/2006/relationships/image" Target="../media/image217.svg"/><Relationship Id="rId4" Type="http://schemas.openxmlformats.org/officeDocument/2006/relationships/image" Target="../media/image216.svg"/><Relationship Id="rId9" Type="http://schemas.openxmlformats.org/officeDocument/2006/relationships/image" Target="../media/image221.svg"/></Relationships>
</file>

<file path=ppt/slides/_rels/slide48.xml.rels><?xml version="1.0" encoding="UTF-8" standalone="yes"?>
<Relationships xmlns="http://schemas.openxmlformats.org/package/2006/relationships"><Relationship Id="rId3" Type="http://schemas.openxmlformats.org/officeDocument/2006/relationships/image" Target="../media/image222.sv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225.svg"/><Relationship Id="rId5" Type="http://schemas.openxmlformats.org/officeDocument/2006/relationships/image" Target="../media/image224.svg"/><Relationship Id="rId4" Type="http://schemas.openxmlformats.org/officeDocument/2006/relationships/image" Target="../media/image223.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26.sv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228.svg"/><Relationship Id="rId4" Type="http://schemas.openxmlformats.org/officeDocument/2006/relationships/image" Target="../media/image227.svg"/></Relationships>
</file>

<file path=ppt/slides/_rels/slide51.xml.rels><?xml version="1.0" encoding="UTF-8" standalone="yes"?>
<Relationships xmlns="http://schemas.openxmlformats.org/package/2006/relationships"><Relationship Id="rId3" Type="http://schemas.openxmlformats.org/officeDocument/2006/relationships/image" Target="../media/image229.sv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6858000" cy="3857625"/>
          </a:xfrm>
          <a:prstGeom prst="rect">
            <a:avLst/>
          </a:prstGeom>
        </p:spPr>
      </p:pic>
      <p:sp>
        <p:nvSpPr>
          <p:cNvPr id="3" name="Text 0"/>
          <p:cNvSpPr/>
          <p:nvPr/>
        </p:nvSpPr>
        <p:spPr>
          <a:xfrm>
            <a:off x="0" y="0"/>
            <a:ext cx="9144000" cy="5143500"/>
          </a:xfrm>
          <a:prstGeom prst="rect">
            <a:avLst/>
          </a:prstGeom>
          <a:gradFill rotWithShape="1">
            <a:gsLst>
              <a:gs pos="0">
                <a:srgbClr val="0D1B3E">
                  <a:alpha val="10000"/>
                </a:srgbClr>
              </a:gs>
              <a:gs pos="70000">
                <a:srgbClr val="0D1B3E">
                  <a:alpha val="82000"/>
                </a:srgbClr>
              </a:gs>
            </a:gsLst>
            <a:path path="circle">
              <a:fillToRect l="80000" t="50000" r="20000" b="50000"/>
            </a:path>
          </a:gradFill>
          <a:ln/>
        </p:spPr>
        <p:txBody>
          <a:bodyPr wrap="square" rtlCol="0" anchor="t"/>
          <a:lstStyle/>
          <a:p>
            <a:pPr marL="0" indent="0">
              <a:buNone/>
            </a:pPr>
            <a:endParaRPr lang="en-US" dirty="0"/>
          </a:p>
        </p:txBody>
      </p:sp>
      <p:sp>
        <p:nvSpPr>
          <p:cNvPr id="4" name="Text 1"/>
          <p:cNvSpPr/>
          <p:nvPr/>
        </p:nvSpPr>
        <p:spPr>
          <a:xfrm>
            <a:off x="1250" y="0"/>
            <a:ext cx="9144000" cy="5143500"/>
          </a:xfrm>
          <a:prstGeom prst="rect">
            <a:avLst/>
          </a:prstGeom>
          <a:gradFill rotWithShape="1">
            <a:gsLst>
              <a:gs pos="0">
                <a:srgbClr val="0D1B3E">
                  <a:alpha val="97000"/>
                </a:srgbClr>
              </a:gs>
              <a:gs pos="42000">
                <a:srgbClr val="0D1B3E">
                  <a:alpha val="88000"/>
                </a:srgbClr>
              </a:gs>
              <a:gs pos="75000">
                <a:srgbClr val="0D1B3E">
                  <a:alpha val="45000"/>
                </a:srgbClr>
              </a:gs>
              <a:gs pos="100000">
                <a:srgbClr val="0D1B3E">
                  <a:alpha val="20000"/>
                </a:srgbClr>
              </a:gs>
            </a:gsLst>
            <a:lin ang="0" scaled="1"/>
          </a:gradFill>
          <a:ln/>
        </p:spPr>
        <p:txBody>
          <a:bodyPr wrap="square" rtlCol="0" anchor="t"/>
          <a:lstStyle/>
          <a:p>
            <a:pPr marL="0" indent="0">
              <a:buNone/>
            </a:pPr>
            <a:r>
              <a:rPr lang="en-US" dirty="0"/>
              <a:t>,</a:t>
            </a:r>
          </a:p>
        </p:txBody>
      </p:sp>
      <p:sp>
        <p:nvSpPr>
          <p:cNvPr id="5" name="Text 2"/>
          <p:cNvSpPr/>
          <p:nvPr/>
        </p:nvSpPr>
        <p:spPr>
          <a:xfrm>
            <a:off x="628650" y="1147018"/>
            <a:ext cx="342900" cy="13841"/>
          </a:xfrm>
          <a:prstGeom prst="roundRect">
            <a:avLst>
              <a:gd name="adj" fmla="val 100932"/>
            </a:avLst>
          </a:prstGeom>
          <a:solidFill>
            <a:srgbClr val="E8A020"/>
          </a:solidFill>
          <a:ln/>
        </p:spPr>
        <p:txBody>
          <a:bodyPr wrap="none" rtlCol="0" anchor="t"/>
          <a:lstStyle/>
          <a:p>
            <a:pPr marL="0" indent="0">
              <a:buNone/>
            </a:pPr>
            <a:endParaRPr lang="en-US" dirty="0"/>
          </a:p>
        </p:txBody>
      </p:sp>
      <p:sp>
        <p:nvSpPr>
          <p:cNvPr id="6" name="Text 3"/>
          <p:cNvSpPr/>
          <p:nvPr/>
        </p:nvSpPr>
        <p:spPr>
          <a:xfrm>
            <a:off x="1057870" y="1084511"/>
            <a:ext cx="1370261" cy="139005"/>
          </a:xfrm>
          <a:prstGeom prst="rect">
            <a:avLst/>
          </a:prstGeom>
          <a:noFill/>
          <a:ln/>
        </p:spPr>
        <p:txBody>
          <a:bodyPr wrap="none" lIns="0" tIns="0" rIns="0" bIns="0" rtlCol="0" anchor="ctr"/>
          <a:lstStyle/>
          <a:p>
            <a:pPr marL="0" indent="0" algn="l">
              <a:lnSpc>
                <a:spcPts val="1095"/>
              </a:lnSpc>
              <a:buNone/>
            </a:pPr>
            <a:r>
              <a:rPr lang="en-US" sz="1000" b="1" dirty="0">
                <a:solidFill>
                  <a:srgbClr val="E8A020"/>
                </a:solidFill>
                <a:latin typeface="Calibri" pitchFamily="34" charset="0"/>
                <a:ea typeface="Calibri" pitchFamily="34" charset="-122"/>
                <a:cs typeface="Calibri" pitchFamily="34" charset="-120"/>
              </a:rPr>
              <a:t>IFC 2026 WORKSHOP</a:t>
            </a:r>
            <a:endParaRPr lang="en-US" sz="1000" dirty="0"/>
          </a:p>
        </p:txBody>
      </p:sp>
      <p:sp>
        <p:nvSpPr>
          <p:cNvPr id="7" name="Text 4"/>
          <p:cNvSpPr/>
          <p:nvPr/>
        </p:nvSpPr>
        <p:spPr>
          <a:xfrm>
            <a:off x="508000" y="1378818"/>
            <a:ext cx="5101245" cy="1290786"/>
          </a:xfrm>
          <a:prstGeom prst="rect">
            <a:avLst/>
          </a:prstGeom>
          <a:noFill/>
          <a:ln/>
          <a:effectLst>
            <a:outerShdw blurRad="285750" dist="13970" dir="5400000" algn="bl" rotWithShape="0">
              <a:srgbClr val="E8A020">
                <a:alpha val="22000"/>
              </a:srgbClr>
            </a:outerShdw>
          </a:effectLst>
        </p:spPr>
        <p:txBody>
          <a:bodyPr wrap="square" lIns="0" tIns="0" rIns="0" bIns="0" rtlCol="0" anchor="t"/>
          <a:lstStyle/>
          <a:p>
            <a:pPr marL="171450">
              <a:lnSpc>
                <a:spcPts val="4840"/>
              </a:lnSpc>
              <a:spcAft>
                <a:spcPts val="340"/>
              </a:spcAft>
              <a:buNone/>
            </a:pPr>
            <a:r>
              <a:rPr lang="en-US" sz="4840" kern="0" spc="-48" dirty="0">
                <a:solidFill>
                  <a:srgbClr val="E8A020"/>
                </a:solidFill>
                <a:latin typeface="Calibri Light" pitchFamily="34" charset="0"/>
                <a:ea typeface="Calibri Light" pitchFamily="34" charset="-122"/>
                <a:cs typeface="Calibri Light" pitchFamily="34" charset="-120"/>
              </a:rPr>
              <a:t>Funding</a:t>
            </a:r>
            <a:br>
              <a:rPr dirty="0"/>
            </a:br>
            <a:r>
              <a:rPr lang="en-US" sz="4840" b="1" kern="0" spc="-48" dirty="0">
                <a:solidFill>
                  <a:srgbClr val="E8A020"/>
                </a:solidFill>
                <a:latin typeface="Calibri Light" pitchFamily="34" charset="0"/>
                <a:ea typeface="Calibri Light" pitchFamily="34" charset="-122"/>
                <a:cs typeface="Calibri Light" pitchFamily="34" charset="-120"/>
              </a:rPr>
              <a:t>What Works</a:t>
            </a:r>
            <a:endParaRPr lang="en-US" sz="4840" dirty="0"/>
          </a:p>
        </p:txBody>
      </p:sp>
      <p:sp>
        <p:nvSpPr>
          <p:cNvPr id="8" name="Text 5"/>
          <p:cNvSpPr/>
          <p:nvPr/>
        </p:nvSpPr>
        <p:spPr>
          <a:xfrm>
            <a:off x="628650" y="2824907"/>
            <a:ext cx="3714750" cy="13841"/>
          </a:xfrm>
          <a:prstGeom prst="roundRect">
            <a:avLst>
              <a:gd name="adj" fmla="val 100932"/>
            </a:avLst>
          </a:prstGeom>
          <a:gradFill rotWithShape="1">
            <a:gsLst>
              <a:gs pos="0">
                <a:srgbClr val="E8A020"/>
              </a:gs>
              <a:gs pos="100000">
                <a:srgbClr val="E8A020">
                  <a:alpha val="0"/>
                </a:srgbClr>
              </a:gs>
            </a:gsLst>
            <a:lin ang="0" scaled="1"/>
          </a:gradFill>
          <a:ln/>
        </p:spPr>
        <p:txBody>
          <a:bodyPr wrap="none" rtlCol="0" anchor="t"/>
          <a:lstStyle/>
          <a:p>
            <a:pPr marL="0" indent="0">
              <a:buNone/>
            </a:pPr>
            <a:endParaRPr lang="en-US" dirty="0"/>
          </a:p>
        </p:txBody>
      </p:sp>
      <p:sp>
        <p:nvSpPr>
          <p:cNvPr id="9" name="Text 6"/>
          <p:cNvSpPr/>
          <p:nvPr/>
        </p:nvSpPr>
        <p:spPr>
          <a:xfrm>
            <a:off x="605219" y="3024039"/>
            <a:ext cx="4250281" cy="707901"/>
          </a:xfrm>
          <a:prstGeom prst="rect">
            <a:avLst/>
          </a:prstGeom>
          <a:noFill/>
          <a:ln/>
        </p:spPr>
        <p:txBody>
          <a:bodyPr wrap="square" lIns="0" tIns="0" rIns="0" bIns="0" rtlCol="0" anchor="t"/>
          <a:lstStyle/>
          <a:p>
            <a:pPr>
              <a:lnSpc>
                <a:spcPts val="1770"/>
              </a:lnSpc>
              <a:spcAft>
                <a:spcPts val="1580"/>
              </a:spcAft>
            </a:pPr>
            <a:r>
              <a:rPr lang="en-US" sz="1600" kern="0" spc="12" dirty="0">
                <a:solidFill>
                  <a:srgbClr val="D0DCF4"/>
                </a:solidFill>
                <a:latin typeface="Calibri" pitchFamily="34" charset="0"/>
                <a:ea typeface="Calibri" pitchFamily="34" charset="-122"/>
                <a:cs typeface="Calibri" pitchFamily="34" charset="-120"/>
              </a:rPr>
              <a:t>Building a Proactive Funding Surveillance</a:t>
            </a:r>
            <a:br>
              <a:rPr lang="en-US" sz="1600" dirty="0"/>
            </a:br>
            <a:r>
              <a:rPr lang="en-US" sz="1600" kern="0" spc="12" dirty="0">
                <a:solidFill>
                  <a:srgbClr val="D0DCF4"/>
                </a:solidFill>
                <a:latin typeface="Calibri" pitchFamily="34" charset="0"/>
                <a:ea typeface="Calibri" pitchFamily="34" charset="-122"/>
                <a:cs typeface="Calibri" pitchFamily="34" charset="-120"/>
              </a:rPr>
              <a:t>and Response (FSR) System for</a:t>
            </a:r>
            <a:br>
              <a:rPr lang="en-US" sz="1600"/>
            </a:br>
            <a:r>
              <a:rPr lang="en-US" sz="1600" kern="0" spc="12">
                <a:solidFill>
                  <a:srgbClr val="D0DCF4"/>
                </a:solidFill>
                <a:latin typeface="Calibri" pitchFamily="34" charset="0"/>
                <a:ea typeface="Calibri" pitchFamily="34" charset="-122"/>
                <a:cs typeface="Calibri" pitchFamily="34" charset="-120"/>
              </a:rPr>
              <a:t>Fatherhood </a:t>
            </a:r>
            <a:r>
              <a:rPr lang="en-US" sz="1600" kern="0" spc="12" dirty="0">
                <a:solidFill>
                  <a:srgbClr val="D0DCF4"/>
                </a:solidFill>
                <a:latin typeface="Calibri" pitchFamily="34" charset="0"/>
                <a:ea typeface="Calibri" pitchFamily="34" charset="-122"/>
                <a:cs typeface="Calibri" pitchFamily="34" charset="-120"/>
              </a:rPr>
              <a:t>Programs</a:t>
            </a:r>
            <a:endParaRPr lang="en-US" sz="1600" dirty="0"/>
          </a:p>
        </p:txBody>
      </p:sp>
      <p:sp>
        <p:nvSpPr>
          <p:cNvPr id="10" name="Text 7"/>
          <p:cNvSpPr/>
          <p:nvPr/>
        </p:nvSpPr>
        <p:spPr>
          <a:xfrm>
            <a:off x="628650" y="3961061"/>
            <a:ext cx="35421" cy="35421"/>
          </a:xfrm>
          <a:prstGeom prst="ellipse">
            <a:avLst/>
          </a:prstGeom>
          <a:solidFill>
            <a:srgbClr val="E8A020">
              <a:alpha val="70000"/>
            </a:srgbClr>
          </a:solidFill>
          <a:ln/>
        </p:spPr>
        <p:txBody>
          <a:bodyPr wrap="none" rtlCol="0" anchor="t"/>
          <a:lstStyle/>
          <a:p>
            <a:pPr marL="0" indent="0">
              <a:buNone/>
            </a:pPr>
            <a:endParaRPr lang="en-US" dirty="0"/>
          </a:p>
        </p:txBody>
      </p:sp>
      <p:sp>
        <p:nvSpPr>
          <p:cNvPr id="11" name="Text 8"/>
          <p:cNvSpPr/>
          <p:nvPr/>
        </p:nvSpPr>
        <p:spPr>
          <a:xfrm>
            <a:off x="605219" y="3898850"/>
            <a:ext cx="2029843" cy="176734"/>
          </a:xfrm>
          <a:prstGeom prst="rect">
            <a:avLst/>
          </a:prstGeom>
          <a:noFill/>
          <a:ln/>
        </p:spPr>
        <p:txBody>
          <a:bodyPr wrap="none" lIns="0" tIns="0" rIns="0" bIns="0" rtlCol="0" anchor="ctr"/>
          <a:lstStyle/>
          <a:p>
            <a:pPr algn="l">
              <a:lnSpc>
                <a:spcPts val="1260"/>
              </a:lnSpc>
              <a:buNone/>
            </a:pPr>
            <a:r>
              <a:rPr lang="en-US" sz="1200" dirty="0">
                <a:solidFill>
                  <a:srgbClr val="8FA3C8"/>
                </a:solidFill>
                <a:latin typeface="Calibri" pitchFamily="34" charset="0"/>
                <a:ea typeface="Calibri" pitchFamily="34" charset="-122"/>
                <a:cs typeface="Calibri" pitchFamily="34" charset="-120"/>
              </a:rPr>
              <a:t>Herbert M. Turner, III, Ph.D</a:t>
            </a:r>
            <a:r>
              <a:rPr lang="en-US" sz="840" dirty="0">
                <a:solidFill>
                  <a:srgbClr val="8FA3C8"/>
                </a:solidFill>
                <a:latin typeface="Calibri" pitchFamily="34" charset="0"/>
                <a:ea typeface="Calibri" pitchFamily="34" charset="-122"/>
                <a:cs typeface="Calibri" pitchFamily="34" charset="-120"/>
              </a:rPr>
              <a:t>.</a:t>
            </a:r>
            <a:endParaRPr lang="en-US" sz="840" dirty="0"/>
          </a:p>
        </p:txBody>
      </p:sp>
      <p:sp>
        <p:nvSpPr>
          <p:cNvPr id="12" name="Text 9"/>
          <p:cNvSpPr/>
          <p:nvPr/>
        </p:nvSpPr>
        <p:spPr>
          <a:xfrm>
            <a:off x="2700000" y="3961061"/>
            <a:ext cx="35421" cy="35421"/>
          </a:xfrm>
          <a:prstGeom prst="ellipse">
            <a:avLst/>
          </a:prstGeom>
          <a:solidFill>
            <a:srgbClr val="E8A020">
              <a:alpha val="70000"/>
            </a:srgbClr>
          </a:solidFill>
          <a:ln/>
        </p:spPr>
        <p:txBody>
          <a:bodyPr wrap="none" rtlCol="0" anchor="t"/>
          <a:lstStyle/>
          <a:p>
            <a:pPr marL="0" indent="0">
              <a:buNone/>
            </a:pPr>
            <a:endParaRPr lang="en-US" dirty="0"/>
          </a:p>
        </p:txBody>
      </p:sp>
      <p:sp>
        <p:nvSpPr>
          <p:cNvPr id="13" name="Text 10"/>
          <p:cNvSpPr/>
          <p:nvPr/>
        </p:nvSpPr>
        <p:spPr>
          <a:xfrm>
            <a:off x="2850681" y="3917231"/>
            <a:ext cx="1492719" cy="291396"/>
          </a:xfrm>
          <a:prstGeom prst="rect">
            <a:avLst/>
          </a:prstGeom>
          <a:noFill/>
          <a:ln/>
        </p:spPr>
        <p:txBody>
          <a:bodyPr wrap="none" lIns="0" tIns="0" rIns="0" bIns="0" rtlCol="0" anchor="ctr"/>
          <a:lstStyle/>
          <a:p>
            <a:pPr marL="0" indent="0" algn="l">
              <a:lnSpc>
                <a:spcPts val="1260"/>
              </a:lnSpc>
              <a:buNone/>
            </a:pPr>
            <a:r>
              <a:rPr lang="en-US" sz="1200" dirty="0">
                <a:solidFill>
                  <a:srgbClr val="8FA3C8"/>
                </a:solidFill>
                <a:latin typeface="Calibri" pitchFamily="34" charset="0"/>
                <a:ea typeface="Calibri" pitchFamily="34" charset="-122"/>
                <a:cs typeface="Calibri" pitchFamily="34" charset="-120"/>
              </a:rPr>
              <a:t>Tuesday, June 9, 2026  </a:t>
            </a:r>
          </a:p>
          <a:p>
            <a:pPr marL="0" indent="0" algn="l">
              <a:lnSpc>
                <a:spcPts val="1260"/>
              </a:lnSpc>
              <a:buNone/>
            </a:pPr>
            <a:r>
              <a:rPr lang="en-US" sz="1200" dirty="0">
                <a:solidFill>
                  <a:srgbClr val="8FA3C8"/>
                </a:solidFill>
                <a:latin typeface="Calibri" pitchFamily="34" charset="0"/>
                <a:ea typeface="Calibri" pitchFamily="34" charset="-122"/>
                <a:cs typeface="Calibri" pitchFamily="34" charset="-120"/>
              </a:rPr>
              <a:t>10:15 AM – 11:30 A.M.</a:t>
            </a:r>
            <a:endParaRPr lang="en-US" sz="1200" dirty="0"/>
          </a:p>
        </p:txBody>
      </p:sp>
      <p:sp>
        <p:nvSpPr>
          <p:cNvPr id="14" name="Text 11"/>
          <p:cNvSpPr/>
          <p:nvPr/>
        </p:nvSpPr>
        <p:spPr>
          <a:xfrm>
            <a:off x="0" y="4828580"/>
            <a:ext cx="9144000" cy="314920"/>
          </a:xfrm>
          <a:prstGeom prst="rect">
            <a:avLst/>
          </a:prstGeom>
          <a:gradFill rotWithShape="1">
            <a:gsLst>
              <a:gs pos="0">
                <a:srgbClr val="0D1B3E">
                  <a:alpha val="95000"/>
                </a:srgbClr>
              </a:gs>
              <a:gs pos="100000">
                <a:srgbClr val="000000">
                  <a:alpha val="0"/>
                </a:srgbClr>
              </a:gs>
            </a:gsLst>
            <a:lin ang="16200000" scaled="1"/>
          </a:gradFill>
          <a:ln/>
        </p:spPr>
        <p:txBody>
          <a:bodyPr wrap="square" rtlCol="0" anchor="t"/>
          <a:lstStyle/>
          <a:p>
            <a:pPr marL="0" indent="0">
              <a:buNone/>
            </a:pPr>
            <a:endParaRPr lang="en-US" dirty="0"/>
          </a:p>
        </p:txBody>
      </p:sp>
      <p:sp>
        <p:nvSpPr>
          <p:cNvPr id="15" name="Text 12"/>
          <p:cNvSpPr/>
          <p:nvPr/>
        </p:nvSpPr>
        <p:spPr>
          <a:xfrm>
            <a:off x="7841307" y="342900"/>
            <a:ext cx="960819" cy="118021"/>
          </a:xfrm>
          <a:prstGeom prst="rect">
            <a:avLst/>
          </a:prstGeom>
          <a:noFill/>
          <a:ln/>
        </p:spPr>
        <p:txBody>
          <a:bodyPr wrap="none" lIns="0" tIns="0" rIns="0" bIns="0" rtlCol="0" anchor="ctr"/>
          <a:lstStyle/>
          <a:p>
            <a:pPr marL="0" indent="0" algn="l">
              <a:lnSpc>
                <a:spcPts val="930"/>
              </a:lnSpc>
              <a:buNone/>
            </a:pPr>
            <a:r>
              <a:rPr lang="en-US" sz="620" dirty="0">
                <a:solidFill>
                  <a:srgbClr val="8FA3C8"/>
                </a:solidFill>
                <a:latin typeface="Calibri" pitchFamily="34" charset="0"/>
                <a:ea typeface="Calibri" pitchFamily="34" charset="-122"/>
                <a:cs typeface="Calibri" pitchFamily="34" charset="-120"/>
              </a:rPr>
              <a:t>SESSION FORMAT</a:t>
            </a:r>
            <a:endParaRPr lang="en-US" sz="620" dirty="0"/>
          </a:p>
        </p:txBody>
      </p:sp>
      <p:sp>
        <p:nvSpPr>
          <p:cNvPr id="16" name="Text 13"/>
          <p:cNvSpPr/>
          <p:nvPr/>
        </p:nvSpPr>
        <p:spPr>
          <a:xfrm>
            <a:off x="6964561" y="504081"/>
            <a:ext cx="1785223" cy="244376"/>
          </a:xfrm>
          <a:prstGeom prst="roundRect">
            <a:avLst>
              <a:gd name="adj" fmla="val 17669"/>
            </a:avLst>
          </a:prstGeom>
          <a:solidFill>
            <a:srgbClr val="E8A020">
              <a:alpha val="12000"/>
            </a:srgbClr>
          </a:solidFill>
          <a:ln w="9525">
            <a:solidFill>
              <a:srgbClr val="E8A020">
                <a:alpha val="35000"/>
              </a:srgbClr>
            </a:solidFill>
          </a:ln>
        </p:spPr>
        <p:txBody>
          <a:bodyPr wrap="none" lIns="205392" tIns="43180" rIns="100330" bIns="43180" rtlCol="0" anchor="t"/>
          <a:lstStyle/>
          <a:p>
            <a:pPr marL="0" indent="0" algn="l">
              <a:buNone/>
            </a:pPr>
            <a:r>
              <a:rPr lang="en-US" sz="730" b="1" kern="0" spc="58" dirty="0">
                <a:solidFill>
                  <a:srgbClr val="E8A020"/>
                </a:solidFill>
                <a:latin typeface="Calibri" pitchFamily="34" charset="0"/>
                <a:ea typeface="Calibri" pitchFamily="34" charset="-122"/>
                <a:cs typeface="Calibri" pitchFamily="34" charset="-120"/>
              </a:rPr>
              <a:t>75-Minute Working Session</a:t>
            </a:r>
            <a:endParaRPr lang="en-US" sz="730"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42853" y="559975"/>
            <a:ext cx="132588" cy="132588"/>
          </a:xfrm>
          <a:prstGeom prst="rect">
            <a:avLst/>
          </a:prstGeom>
        </p:spPr>
      </p:pic>
      <p:sp>
        <p:nvSpPr>
          <p:cNvPr id="18" name="Text 14"/>
          <p:cNvSpPr/>
          <p:nvPr/>
        </p:nvSpPr>
        <p:spPr>
          <a:xfrm>
            <a:off x="0" y="5114330"/>
            <a:ext cx="9144000" cy="29170"/>
          </a:xfrm>
          <a:prstGeom prst="rect">
            <a:avLst/>
          </a:prstGeom>
          <a:gradFill rotWithShape="1">
            <a:gsLst>
              <a:gs pos="0">
                <a:srgbClr val="E8A020"/>
              </a:gs>
              <a:gs pos="60000">
                <a:srgbClr val="E8A020">
                  <a:alpha val="60000"/>
                </a:srgbClr>
              </a:gs>
              <a:gs pos="100000">
                <a:srgbClr val="E8A020">
                  <a:alpha val="0"/>
                </a:srgbClr>
              </a:gs>
            </a:gsLst>
            <a:lin ang="0" scaled="1"/>
          </a:gradFill>
          <a:ln/>
        </p:spPr>
        <p:txBody>
          <a:bodyPr wrap="none" rtlCol="0" anchor="t"/>
          <a:lstStyle/>
          <a:p>
            <a:pPr marL="0" indent="0">
              <a:buNone/>
            </a:pPr>
            <a:endParaRPr lang="en-US" dirty="0"/>
          </a:p>
        </p:txBody>
      </p:sp>
      <p:pic>
        <p:nvPicPr>
          <p:cNvPr id="19" name="Image 2" descr="preencoded.png"/>
          <p:cNvPicPr>
            <a:picLocks noChangeAspect="1"/>
          </p:cNvPicPr>
          <p:nvPr/>
        </p:nvPicPr>
        <p:blipFill>
          <a:blip>
            <a:alphaModFix amt="50000"/>
            <a:extLst>
              <a:ext uri="{96DAC541-7B7A-43D3-8B79-37D633B846F1}">
                <asvg:svgBlip xmlns:asvg="http://schemas.microsoft.com/office/drawing/2016/SVG/main" r:embed="rId5"/>
              </a:ext>
            </a:extLst>
          </a:blip>
          <a:stretch>
            <a:fillRect/>
          </a:stretch>
        </p:blipFill>
        <p:spPr>
          <a:xfrm>
            <a:off x="605219" y="4912156"/>
            <a:ext cx="132588" cy="132588"/>
          </a:xfrm>
          <a:prstGeom prst="rect">
            <a:avLst/>
          </a:prstGeom>
        </p:spPr>
      </p:pic>
      <p:sp>
        <p:nvSpPr>
          <p:cNvPr id="20" name="Text 15"/>
          <p:cNvSpPr/>
          <p:nvPr/>
        </p:nvSpPr>
        <p:spPr>
          <a:xfrm>
            <a:off x="628650" y="4773282"/>
            <a:ext cx="3558034" cy="264541"/>
          </a:xfrm>
          <a:prstGeom prst="rect">
            <a:avLst/>
          </a:prstGeom>
          <a:noFill/>
          <a:ln/>
        </p:spPr>
        <p:txBody>
          <a:bodyPr wrap="none" lIns="0" tIns="0" rIns="0" bIns="0" rtlCol="0" anchor="ctr"/>
          <a:lstStyle/>
          <a:p>
            <a:pPr marL="0" indent="0" algn="l">
              <a:lnSpc>
                <a:spcPts val="1020"/>
              </a:lnSpc>
              <a:buNone/>
            </a:pPr>
            <a:r>
              <a:rPr lang="en-US" sz="1000" dirty="0">
                <a:solidFill>
                  <a:srgbClr val="8FA3C8"/>
                </a:solidFill>
                <a:latin typeface="Calibri" pitchFamily="34" charset="0"/>
                <a:ea typeface="Calibri" pitchFamily="34" charset="-122"/>
                <a:cs typeface="Calibri" pitchFamily="34" charset="-120"/>
              </a:rPr>
              <a:t>NPCL | Analytica  · NAVIGATING THE FUNDING LANDSCAPE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55000">
                <a:srgbClr val="000000">
                  <a:alpha val="0"/>
                </a:srgbClr>
              </a:gs>
            </a:gsLst>
            <a:path path="circle">
              <a:fillToRect l="5000" t="90000" r="95000" b="1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E8A020">
                  <a:alpha val="4000"/>
                </a:srgbClr>
              </a:gs>
              <a:gs pos="45000">
                <a:srgbClr val="000000">
                  <a:alpha val="0"/>
                </a:srgbClr>
              </a:gs>
            </a:gsLst>
            <a:path path="circle">
              <a:fillToRect l="95000" t="10000" r="5000" b="90000"/>
            </a:path>
          </a:gradFill>
          <a:ln/>
        </p:spPr>
        <p:txBody>
          <a:bodyPr wrap="square" rtlCol="0" anchor="t"/>
          <a:lstStyle/>
          <a:p>
            <a:pPr marL="0" indent="0">
              <a:buNone/>
            </a:pPr>
            <a:endParaRPr lang="en-US" dirty="0"/>
          </a:p>
        </p:txBody>
      </p:sp>
      <p:sp>
        <p:nvSpPr>
          <p:cNvPr id="4" name="Text 2"/>
          <p:cNvSpPr/>
          <p:nvPr/>
        </p:nvSpPr>
        <p:spPr>
          <a:xfrm>
            <a:off x="0" y="0"/>
            <a:ext cx="35421" cy="5143500"/>
          </a:xfrm>
          <a:prstGeom prst="rect">
            <a:avLst/>
          </a:prstGeom>
          <a:gradFill rotWithShape="1">
            <a:gsLst>
              <a:gs pos="0">
                <a:srgbClr val="E8A020"/>
              </a:gs>
              <a:gs pos="100000">
                <a:srgbClr val="E8A020">
                  <a:alpha val="20000"/>
                </a:srgbClr>
              </a:gs>
            </a:gsLst>
            <a:lin ang="5400000" scaled="1"/>
          </a:gradFill>
          <a:ln/>
        </p:spPr>
        <p:txBody>
          <a:bodyPr wrap="square" rtlCol="0" anchor="t"/>
          <a:lstStyle/>
          <a:p>
            <a:pPr marL="0" indent="0">
              <a:buNone/>
            </a:pPr>
            <a:endParaRPr lang="en-US" dirty="0"/>
          </a:p>
        </p:txBody>
      </p:sp>
      <p:sp>
        <p:nvSpPr>
          <p:cNvPr id="5" name="Text 3"/>
          <p:cNvSpPr/>
          <p:nvPr/>
        </p:nvSpPr>
        <p:spPr>
          <a:xfrm>
            <a:off x="8145512" y="228600"/>
            <a:ext cx="668700" cy="206871"/>
          </a:xfrm>
          <a:prstGeom prst="roundRect">
            <a:avLst>
              <a:gd name="adj" fmla="val 69372"/>
            </a:avLst>
          </a:prstGeom>
          <a:solidFill>
            <a:srgbClr val="E8A020">
              <a:alpha val="10000"/>
            </a:srgbClr>
          </a:solidFill>
          <a:ln w="9525">
            <a:solidFill>
              <a:srgbClr val="E8A020">
                <a:alpha val="40000"/>
              </a:srgbClr>
            </a:solidFill>
          </a:ln>
        </p:spPr>
        <p:txBody>
          <a:bodyPr wrap="none" lIns="194280" tIns="29210" rIns="86360" bIns="29210" rtlCol="0" anchor="ctr"/>
          <a:lstStyle/>
          <a:p>
            <a:pPr marL="0" indent="0" algn="l">
              <a:buNone/>
            </a:pPr>
            <a:r>
              <a:rPr lang="en-US" sz="884" b="1" kern="0" spc="34">
                <a:solidFill>
                  <a:srgbClr val="E8A020"/>
                </a:solidFill>
                <a:latin typeface="Calibri" pitchFamily="34" charset="0"/>
                <a:ea typeface="Calibri" pitchFamily="34" charset="-122"/>
                <a:cs typeface="Calibri" pitchFamily="34" charset="-120"/>
              </a:rPr>
              <a:t>MIN 2–4</a:t>
            </a:r>
            <a:endParaRPr lang="en-US" sz="884"/>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07434" y="265667"/>
            <a:ext cx="132588" cy="132588"/>
          </a:xfrm>
          <a:prstGeom prst="rect">
            <a:avLst/>
          </a:prstGeom>
        </p:spPr>
      </p:pic>
      <p:sp>
        <p:nvSpPr>
          <p:cNvPr id="7" name="Text 4"/>
          <p:cNvSpPr/>
          <p:nvPr/>
        </p:nvSpPr>
        <p:spPr>
          <a:xfrm>
            <a:off x="0" y="4814590"/>
            <a:ext cx="9144000" cy="328910"/>
          </a:xfrm>
          <a:prstGeom prst="rect">
            <a:avLst/>
          </a:prstGeom>
          <a:solidFill>
            <a:srgbClr val="E8A020">
              <a:alpha val="12000"/>
            </a:srgbClr>
          </a:solidFill>
          <a:ln/>
        </p:spPr>
        <p:txBody>
          <a:bodyPr wrap="square" rtlCol="0" anchor="t"/>
          <a:lstStyle/>
          <a:p>
            <a:pPr marL="0" indent="0">
              <a:buNone/>
            </a:pPr>
            <a:endParaRPr lang="en-US" dirty="0"/>
          </a:p>
        </p:txBody>
      </p:sp>
      <p:sp>
        <p:nvSpPr>
          <p:cNvPr id="8" name="Text 5"/>
          <p:cNvSpPr/>
          <p:nvPr/>
        </p:nvSpPr>
        <p:spPr>
          <a:xfrm>
            <a:off x="0" y="4814590"/>
            <a:ext cx="9144000" cy="9525"/>
          </a:xfrm>
          <a:prstGeom prst="rect">
            <a:avLst/>
          </a:prstGeom>
          <a:solidFill>
            <a:srgbClr val="E8A020"/>
          </a:solidFill>
          <a:ln/>
        </p:spPr>
        <p:txBody>
          <a:bodyPr wrap="none" rtlCol="0" anchor="t"/>
          <a:lstStyle/>
          <a:p>
            <a:pPr marL="0" indent="0">
              <a:buNone/>
            </a:pPr>
            <a:endParaRPr lang="en-US"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4570" y="4917513"/>
            <a:ext cx="132588" cy="132588"/>
          </a:xfrm>
          <a:prstGeom prst="rect">
            <a:avLst/>
          </a:prstGeom>
        </p:spPr>
      </p:pic>
      <p:sp>
        <p:nvSpPr>
          <p:cNvPr id="10" name="Text 6"/>
          <p:cNvSpPr/>
          <p:nvPr/>
        </p:nvSpPr>
        <p:spPr>
          <a:xfrm>
            <a:off x="3042493" y="4898082"/>
            <a:ext cx="3364751" cy="171450"/>
          </a:xfrm>
          <a:prstGeom prst="rect">
            <a:avLst/>
          </a:prstGeom>
          <a:noFill/>
          <a:ln/>
        </p:spPr>
        <p:txBody>
          <a:bodyPr wrap="none" lIns="0" tIns="0" rIns="0" bIns="0" rtlCol="0" anchor="ctr"/>
          <a:lstStyle/>
          <a:p>
            <a:pPr marL="0" indent="0" algn="l">
              <a:lnSpc>
                <a:spcPts val="1755"/>
              </a:lnSpc>
              <a:buNone/>
            </a:pPr>
            <a:r>
              <a:rPr lang="en-US" sz="1170" b="1" dirty="0">
                <a:solidFill>
                  <a:srgbClr val="E8A020"/>
                </a:solidFill>
                <a:latin typeface="Calibri Light" pitchFamily="34" charset="0"/>
                <a:ea typeface="Calibri Light" pitchFamily="34" charset="-122"/>
                <a:cs typeface="Calibri Light" pitchFamily="34" charset="-120"/>
              </a:rPr>
              <a:t>THIS IS  AN INTERACTIVE SESSION — NOT A LECTURE.</a:t>
            </a:r>
            <a:endParaRPr lang="en-US" sz="117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38993" y="4917513"/>
            <a:ext cx="132588" cy="132588"/>
          </a:xfrm>
          <a:prstGeom prst="rect">
            <a:avLst/>
          </a:prstGeom>
        </p:spPr>
      </p:pic>
      <p:sp>
        <p:nvSpPr>
          <p:cNvPr id="12" name="Text 7"/>
          <p:cNvSpPr/>
          <p:nvPr/>
        </p:nvSpPr>
        <p:spPr>
          <a:xfrm>
            <a:off x="429220" y="257770"/>
            <a:ext cx="299591" cy="299591"/>
          </a:xfrm>
          <a:prstGeom prst="roundRect">
            <a:avLst>
              <a:gd name="adj" fmla="val 23739"/>
            </a:avLst>
          </a:prstGeom>
          <a:solidFill>
            <a:srgbClr val="E8A020">
              <a:alpha val="13000"/>
            </a:srgbClr>
          </a:solidFill>
          <a:ln w="9525">
            <a:solidFill>
              <a:srgbClr val="E8A020">
                <a:alpha val="40000"/>
              </a:srgbClr>
            </a:solidFill>
          </a:ln>
        </p:spPr>
        <p:txBody>
          <a:bodyPr wrap="square" rtlCol="0" anchor="t"/>
          <a:lstStyle/>
          <a:p>
            <a:pPr marL="0" indent="0">
              <a:buNone/>
            </a:pPr>
            <a:endParaRPr lang="en-US"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2722" y="341272"/>
            <a:ext cx="132588" cy="132588"/>
          </a:xfrm>
          <a:prstGeom prst="rect">
            <a:avLst/>
          </a:prstGeom>
        </p:spPr>
      </p:pic>
      <p:sp>
        <p:nvSpPr>
          <p:cNvPr id="14" name="Text 8"/>
          <p:cNvSpPr/>
          <p:nvPr/>
        </p:nvSpPr>
        <p:spPr>
          <a:xfrm>
            <a:off x="829121" y="284113"/>
            <a:ext cx="4702696" cy="246757"/>
          </a:xfrm>
          <a:prstGeom prst="rect">
            <a:avLst/>
          </a:prstGeom>
          <a:noFill/>
          <a:ln/>
        </p:spPr>
        <p:txBody>
          <a:bodyPr wrap="none" lIns="0" tIns="0" rIns="0" bIns="0" rtlCol="0" anchor="ctr"/>
          <a:lstStyle/>
          <a:p>
            <a:pPr marL="0" indent="0" algn="l">
              <a:lnSpc>
                <a:spcPts val="2525"/>
              </a:lnSpc>
              <a:buNone/>
            </a:pPr>
            <a:r>
              <a:rPr lang="en-US" sz="1690" b="1" kern="0" spc="34" dirty="0">
                <a:solidFill>
                  <a:srgbClr val="E8A020"/>
                </a:solidFill>
                <a:latin typeface="Calibri Light" pitchFamily="34" charset="0"/>
                <a:ea typeface="Calibri Light" pitchFamily="34" charset="-122"/>
                <a:cs typeface="Calibri Light" pitchFamily="34" charset="-120"/>
              </a:rPr>
              <a:t>Welcome</a:t>
            </a:r>
            <a:r>
              <a:rPr lang="en-US" sz="1690" kern="0" spc="34" dirty="0">
                <a:solidFill>
                  <a:srgbClr val="0D1B3E"/>
                </a:solidFill>
                <a:latin typeface="Calibri Light" pitchFamily="34" charset="0"/>
                <a:ea typeface="Calibri Light" pitchFamily="34" charset="-122"/>
                <a:cs typeface="Calibri Light" pitchFamily="34" charset="-120"/>
              </a:rPr>
              <a:t> — A Few Things Before We Begin</a:t>
            </a:r>
            <a:endParaRPr lang="en-US" sz="1690"/>
          </a:p>
        </p:txBody>
      </p:sp>
      <p:sp>
        <p:nvSpPr>
          <p:cNvPr id="15" name="Text 9"/>
          <p:cNvSpPr/>
          <p:nvPr/>
        </p:nvSpPr>
        <p:spPr>
          <a:xfrm>
            <a:off x="829270" y="643682"/>
            <a:ext cx="400050" cy="21580"/>
          </a:xfrm>
          <a:prstGeom prst="roundRect">
            <a:avLst>
              <a:gd name="adj" fmla="val 64736"/>
            </a:avLst>
          </a:prstGeom>
          <a:solidFill>
            <a:srgbClr val="E8A020"/>
          </a:solidFill>
          <a:ln/>
        </p:spPr>
        <p:txBody>
          <a:bodyPr wrap="none" rtlCol="0" anchor="t"/>
          <a:lstStyle/>
          <a:p>
            <a:pPr marL="0" indent="0">
              <a:buNone/>
            </a:pPr>
            <a:endParaRPr lang="en-US" dirty="0"/>
          </a:p>
        </p:txBody>
      </p:sp>
      <p:sp>
        <p:nvSpPr>
          <p:cNvPr id="16" name="Text 10"/>
          <p:cNvSpPr/>
          <p:nvPr/>
        </p:nvSpPr>
        <p:spPr>
          <a:xfrm>
            <a:off x="429220" y="808732"/>
            <a:ext cx="4057055" cy="1264146"/>
          </a:xfrm>
          <a:prstGeom prst="roundRect">
            <a:avLst>
              <a:gd name="adj" fmla="val 4521"/>
            </a:avLst>
          </a:prstGeom>
          <a:solidFill>
            <a:srgbClr val="F0F4F8"/>
          </a:solidFill>
          <a:ln w="9525">
            <a:solidFill>
              <a:srgbClr val="E8A020">
                <a:alpha val="40000"/>
              </a:srgbClr>
            </a:solidFill>
          </a:ln>
        </p:spPr>
        <p:txBody>
          <a:bodyPr wrap="square" rtlCol="0" anchor="t"/>
          <a:lstStyle/>
          <a:p>
            <a:pPr marL="0" indent="0">
              <a:buNone/>
            </a:pPr>
            <a:endParaRPr lang="en-US" dirty="0"/>
          </a:p>
        </p:txBody>
      </p:sp>
      <p:sp>
        <p:nvSpPr>
          <p:cNvPr id="17" name="Text 11"/>
          <p:cNvSpPr/>
          <p:nvPr/>
        </p:nvSpPr>
        <p:spPr>
          <a:xfrm>
            <a:off x="539055" y="896987"/>
            <a:ext cx="257770" cy="25777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1572" y="959504"/>
            <a:ext cx="132588" cy="132588"/>
          </a:xfrm>
          <a:prstGeom prst="rect">
            <a:avLst/>
          </a:prstGeom>
        </p:spPr>
      </p:pic>
      <p:sp>
        <p:nvSpPr>
          <p:cNvPr id="19" name="Text 12"/>
          <p:cNvSpPr/>
          <p:nvPr/>
        </p:nvSpPr>
        <p:spPr>
          <a:xfrm>
            <a:off x="897136" y="896987"/>
            <a:ext cx="2710321" cy="531912"/>
          </a:xfrm>
          <a:prstGeom prst="rect">
            <a:avLst/>
          </a:prstGeom>
          <a:noFill/>
          <a:ln/>
        </p:spPr>
        <p:txBody>
          <a:bodyPr wrap="square" lIns="0" tIns="0" rIns="0" bIns="0" rtlCol="0" anchor="ctr"/>
          <a:lstStyle/>
          <a:p>
            <a:pPr marL="0" indent="0" algn="l">
              <a:lnSpc>
                <a:spcPts val="2050"/>
              </a:lnSpc>
              <a:buNone/>
            </a:pPr>
            <a:r>
              <a:rPr lang="en-US" sz="1300" b="1">
                <a:solidFill>
                  <a:srgbClr val="0D1B3E"/>
                </a:solidFill>
                <a:latin typeface="Calibri" pitchFamily="34" charset="0"/>
                <a:ea typeface="Calibri" pitchFamily="34" charset="-122"/>
                <a:cs typeface="Calibri" pitchFamily="34" charset="-120"/>
              </a:rPr>
              <a:t>We have 75 minutes — we'll use every one of them
</a:t>
            </a:r>
            <a:r>
              <a:rPr lang="en-US" sz="1079">
                <a:solidFill>
                  <a:srgbClr val="64748B"/>
                </a:solidFill>
                <a:latin typeface="Calibri" pitchFamily="34" charset="0"/>
                <a:ea typeface="Calibri" pitchFamily="34" charset="-122"/>
                <a:cs typeface="Calibri" pitchFamily="34" charset="-120"/>
              </a:rPr>
              <a:t>Time is intentional. Every section has a purpose.</a:t>
            </a:r>
            <a:endParaRPr lang="en-US" sz="1560"/>
          </a:p>
        </p:txBody>
      </p:sp>
      <p:sp>
        <p:nvSpPr>
          <p:cNvPr id="20" name="Text 13"/>
          <p:cNvSpPr/>
          <p:nvPr/>
        </p:nvSpPr>
        <p:spPr>
          <a:xfrm>
            <a:off x="4714875" y="808732"/>
            <a:ext cx="4057055" cy="1264146"/>
          </a:xfrm>
          <a:prstGeom prst="roundRect">
            <a:avLst>
              <a:gd name="adj" fmla="val 4521"/>
            </a:avLst>
          </a:prstGeom>
          <a:solidFill>
            <a:srgbClr val="F0F4F8"/>
          </a:solidFill>
          <a:ln w="9525">
            <a:solidFill>
              <a:srgbClr val="E8A020">
                <a:alpha val="40000"/>
              </a:srgbClr>
            </a:solidFill>
          </a:ln>
        </p:spPr>
        <p:txBody>
          <a:bodyPr wrap="square" rtlCol="0" anchor="t"/>
          <a:lstStyle/>
          <a:p>
            <a:pPr marL="0" indent="0">
              <a:buNone/>
            </a:pPr>
            <a:endParaRPr lang="en-US" dirty="0"/>
          </a:p>
        </p:txBody>
      </p:sp>
      <p:sp>
        <p:nvSpPr>
          <p:cNvPr id="21" name="Text 14"/>
          <p:cNvSpPr/>
          <p:nvPr/>
        </p:nvSpPr>
        <p:spPr>
          <a:xfrm>
            <a:off x="4824710" y="896987"/>
            <a:ext cx="257770" cy="25777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2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87227" y="959504"/>
            <a:ext cx="132588" cy="132588"/>
          </a:xfrm>
          <a:prstGeom prst="rect">
            <a:avLst/>
          </a:prstGeom>
        </p:spPr>
      </p:pic>
      <p:sp>
        <p:nvSpPr>
          <p:cNvPr id="23" name="Text 15"/>
          <p:cNvSpPr/>
          <p:nvPr/>
        </p:nvSpPr>
        <p:spPr>
          <a:xfrm>
            <a:off x="5182791" y="896987"/>
            <a:ext cx="3229645" cy="531912"/>
          </a:xfrm>
          <a:prstGeom prst="rect">
            <a:avLst/>
          </a:prstGeom>
          <a:noFill/>
          <a:ln/>
        </p:spPr>
        <p:txBody>
          <a:bodyPr wrap="square" lIns="0" tIns="0" rIns="0" bIns="0" rtlCol="0" anchor="ctr"/>
          <a:lstStyle/>
          <a:p>
            <a:pPr marL="0" indent="0" algn="l">
              <a:lnSpc>
                <a:spcPts val="2050"/>
              </a:lnSpc>
              <a:buNone/>
            </a:pPr>
            <a:r>
              <a:rPr lang="en-US" sz="1300" b="1">
                <a:solidFill>
                  <a:srgbClr val="0D1B3E"/>
                </a:solidFill>
                <a:latin typeface="Calibri" pitchFamily="34" charset="0"/>
                <a:ea typeface="Calibri" pitchFamily="34" charset="-122"/>
                <a:cs typeface="Calibri" pitchFamily="34" charset="-120"/>
              </a:rPr>
              <a:t>Bring your program to the room — your real context matters
</a:t>
            </a:r>
            <a:r>
              <a:rPr lang="en-US" sz="1079">
                <a:solidFill>
                  <a:srgbClr val="64748B"/>
                </a:solidFill>
                <a:latin typeface="Calibri" pitchFamily="34" charset="0"/>
                <a:ea typeface="Calibri" pitchFamily="34" charset="-122"/>
                <a:cs typeface="Calibri" pitchFamily="34" charset="-120"/>
              </a:rPr>
              <a:t>This session is designed for all experience levels.</a:t>
            </a:r>
            <a:endParaRPr lang="en-US" sz="1560"/>
          </a:p>
        </p:txBody>
      </p:sp>
      <p:sp>
        <p:nvSpPr>
          <p:cNvPr id="24" name="Text 16"/>
          <p:cNvSpPr/>
          <p:nvPr/>
        </p:nvSpPr>
        <p:spPr>
          <a:xfrm>
            <a:off x="429220" y="2143869"/>
            <a:ext cx="4057055" cy="1264295"/>
          </a:xfrm>
          <a:prstGeom prst="roundRect">
            <a:avLst>
              <a:gd name="adj" fmla="val 4520"/>
            </a:avLst>
          </a:prstGeom>
          <a:solidFill>
            <a:srgbClr val="F0F4F8"/>
          </a:solidFill>
          <a:ln w="9525">
            <a:solidFill>
              <a:srgbClr val="E8A020">
                <a:alpha val="40000"/>
              </a:srgbClr>
            </a:solidFill>
          </a:ln>
        </p:spPr>
        <p:txBody>
          <a:bodyPr wrap="square" rtlCol="0" anchor="t"/>
          <a:lstStyle/>
          <a:p>
            <a:pPr marL="0" indent="0">
              <a:buNone/>
            </a:pPr>
            <a:endParaRPr lang="en-US" dirty="0"/>
          </a:p>
        </p:txBody>
      </p:sp>
      <p:sp>
        <p:nvSpPr>
          <p:cNvPr id="25" name="Text 17"/>
          <p:cNvSpPr/>
          <p:nvPr/>
        </p:nvSpPr>
        <p:spPr>
          <a:xfrm>
            <a:off x="539055" y="2232124"/>
            <a:ext cx="257770" cy="25777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2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1572" y="2294641"/>
            <a:ext cx="132588" cy="132588"/>
          </a:xfrm>
          <a:prstGeom prst="rect">
            <a:avLst/>
          </a:prstGeom>
        </p:spPr>
      </p:pic>
      <p:sp>
        <p:nvSpPr>
          <p:cNvPr id="27" name="Text 18"/>
          <p:cNvSpPr/>
          <p:nvPr/>
        </p:nvSpPr>
        <p:spPr>
          <a:xfrm>
            <a:off x="897136" y="2232124"/>
            <a:ext cx="3198525" cy="531912"/>
          </a:xfrm>
          <a:prstGeom prst="rect">
            <a:avLst/>
          </a:prstGeom>
          <a:noFill/>
          <a:ln/>
        </p:spPr>
        <p:txBody>
          <a:bodyPr wrap="square" lIns="0" tIns="0" rIns="0" bIns="0" rtlCol="0" anchor="ctr"/>
          <a:lstStyle/>
          <a:p>
            <a:pPr marL="0" indent="0" algn="l">
              <a:lnSpc>
                <a:spcPts val="2050"/>
              </a:lnSpc>
              <a:buNone/>
            </a:pPr>
            <a:r>
              <a:rPr lang="en-US" sz="1300" b="1">
                <a:solidFill>
                  <a:srgbClr val="0D1B3E"/>
                </a:solidFill>
                <a:latin typeface="Calibri" pitchFamily="34" charset="0"/>
                <a:ea typeface="Calibri" pitchFamily="34" charset="-122"/>
                <a:cs typeface="Calibri" pitchFamily="34" charset="-120"/>
              </a:rPr>
              <a:t>Participation over perfection — there are no wrong answers
</a:t>
            </a:r>
            <a:r>
              <a:rPr lang="en-US" sz="1079">
                <a:solidFill>
                  <a:srgbClr val="64748B"/>
                </a:solidFill>
                <a:latin typeface="Calibri" pitchFamily="34" charset="0"/>
                <a:ea typeface="Calibri" pitchFamily="34" charset="-122"/>
                <a:cs typeface="Calibri" pitchFamily="34" charset="-120"/>
              </a:rPr>
              <a:t>Your perspective adds value to the room.</a:t>
            </a:r>
            <a:endParaRPr lang="en-US" sz="1560"/>
          </a:p>
        </p:txBody>
      </p:sp>
      <p:sp>
        <p:nvSpPr>
          <p:cNvPr id="28" name="Text 19"/>
          <p:cNvSpPr/>
          <p:nvPr/>
        </p:nvSpPr>
        <p:spPr>
          <a:xfrm>
            <a:off x="4714875" y="2143869"/>
            <a:ext cx="4057055" cy="1264295"/>
          </a:xfrm>
          <a:prstGeom prst="roundRect">
            <a:avLst>
              <a:gd name="adj" fmla="val 4520"/>
            </a:avLst>
          </a:prstGeom>
          <a:solidFill>
            <a:srgbClr val="F0F4F8"/>
          </a:solidFill>
          <a:ln w="9525">
            <a:solidFill>
              <a:srgbClr val="E8A020">
                <a:alpha val="40000"/>
              </a:srgbClr>
            </a:solidFill>
          </a:ln>
        </p:spPr>
        <p:txBody>
          <a:bodyPr wrap="square" rtlCol="0" anchor="t"/>
          <a:lstStyle/>
          <a:p>
            <a:pPr marL="0" indent="0">
              <a:buNone/>
            </a:pPr>
            <a:endParaRPr lang="en-US" dirty="0"/>
          </a:p>
        </p:txBody>
      </p:sp>
      <p:sp>
        <p:nvSpPr>
          <p:cNvPr id="29" name="Text 20"/>
          <p:cNvSpPr/>
          <p:nvPr/>
        </p:nvSpPr>
        <p:spPr>
          <a:xfrm>
            <a:off x="4824710" y="2232124"/>
            <a:ext cx="257770" cy="25777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30"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887227" y="2294641"/>
            <a:ext cx="132588" cy="132588"/>
          </a:xfrm>
          <a:prstGeom prst="rect">
            <a:avLst/>
          </a:prstGeom>
        </p:spPr>
      </p:pic>
      <p:sp>
        <p:nvSpPr>
          <p:cNvPr id="31" name="Text 21"/>
          <p:cNvSpPr/>
          <p:nvPr/>
        </p:nvSpPr>
        <p:spPr>
          <a:xfrm>
            <a:off x="5182791" y="2232124"/>
            <a:ext cx="3042166" cy="531912"/>
          </a:xfrm>
          <a:prstGeom prst="rect">
            <a:avLst/>
          </a:prstGeom>
          <a:noFill/>
          <a:ln/>
        </p:spPr>
        <p:txBody>
          <a:bodyPr wrap="square" lIns="0" tIns="0" rIns="0" bIns="0" rtlCol="0" anchor="ctr"/>
          <a:lstStyle/>
          <a:p>
            <a:pPr marL="0" indent="0" algn="l">
              <a:lnSpc>
                <a:spcPts val="2050"/>
              </a:lnSpc>
              <a:buNone/>
            </a:pPr>
            <a:r>
              <a:rPr lang="en-US" sz="1300" b="1">
                <a:solidFill>
                  <a:srgbClr val="0D1B3E"/>
                </a:solidFill>
                <a:latin typeface="Calibri" pitchFamily="34" charset="0"/>
                <a:ea typeface="Calibri" pitchFamily="34" charset="-122"/>
                <a:cs typeface="Calibri" pitchFamily="34" charset="-120"/>
              </a:rPr>
              <a:t>Phones on vibrate — your programs can wait 75 minutes
</a:t>
            </a:r>
            <a:r>
              <a:rPr lang="en-US" sz="1079">
                <a:solidFill>
                  <a:srgbClr val="64748B"/>
                </a:solidFill>
                <a:latin typeface="Calibri" pitchFamily="34" charset="0"/>
                <a:ea typeface="Calibri" pitchFamily="34" charset="-122"/>
                <a:cs typeface="Calibri" pitchFamily="34" charset="-120"/>
              </a:rPr>
              <a:t>Give yourself permission to be fully present.</a:t>
            </a:r>
            <a:endParaRPr lang="en-US" sz="1560"/>
          </a:p>
        </p:txBody>
      </p:sp>
      <p:sp>
        <p:nvSpPr>
          <p:cNvPr id="32" name="Text 22"/>
          <p:cNvSpPr/>
          <p:nvPr/>
        </p:nvSpPr>
        <p:spPr>
          <a:xfrm>
            <a:off x="429220" y="3479155"/>
            <a:ext cx="4057055" cy="1264295"/>
          </a:xfrm>
          <a:prstGeom prst="roundRect">
            <a:avLst>
              <a:gd name="adj" fmla="val 4520"/>
            </a:avLst>
          </a:prstGeom>
          <a:solidFill>
            <a:srgbClr val="F0F4F8"/>
          </a:solidFill>
          <a:ln w="9525">
            <a:solidFill>
              <a:srgbClr val="E8A020">
                <a:alpha val="40000"/>
              </a:srgbClr>
            </a:solidFill>
          </a:ln>
        </p:spPr>
        <p:txBody>
          <a:bodyPr wrap="square" rtlCol="0" anchor="t"/>
          <a:lstStyle/>
          <a:p>
            <a:pPr marL="0" indent="0">
              <a:buNone/>
            </a:pPr>
            <a:endParaRPr lang="en-US" dirty="0"/>
          </a:p>
        </p:txBody>
      </p:sp>
      <p:sp>
        <p:nvSpPr>
          <p:cNvPr id="33" name="Text 23"/>
          <p:cNvSpPr/>
          <p:nvPr/>
        </p:nvSpPr>
        <p:spPr>
          <a:xfrm>
            <a:off x="539055" y="3567410"/>
            <a:ext cx="257770" cy="25777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34"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01572" y="3629927"/>
            <a:ext cx="132588" cy="132588"/>
          </a:xfrm>
          <a:prstGeom prst="rect">
            <a:avLst/>
          </a:prstGeom>
        </p:spPr>
      </p:pic>
      <p:sp>
        <p:nvSpPr>
          <p:cNvPr id="35" name="Text 24"/>
          <p:cNvSpPr/>
          <p:nvPr/>
        </p:nvSpPr>
        <p:spPr>
          <a:xfrm>
            <a:off x="897136" y="3567410"/>
            <a:ext cx="2628802" cy="887858"/>
          </a:xfrm>
          <a:prstGeom prst="rect">
            <a:avLst/>
          </a:prstGeom>
          <a:noFill/>
          <a:ln/>
        </p:spPr>
        <p:txBody>
          <a:bodyPr wrap="square" lIns="0" tIns="0" rIns="0" bIns="0" rtlCol="0" anchor="ctr"/>
          <a:lstStyle/>
          <a:p>
            <a:pPr marL="0" indent="0" algn="l">
              <a:lnSpc>
                <a:spcPts val="2050"/>
              </a:lnSpc>
              <a:buNone/>
            </a:pPr>
            <a:r>
              <a:rPr lang="en-US" sz="1300" b="1" dirty="0">
                <a:solidFill>
                  <a:srgbClr val="0D1B3E"/>
                </a:solidFill>
                <a:latin typeface="Calibri" pitchFamily="34" charset="0"/>
                <a:ea typeface="Calibri" pitchFamily="34" charset="-122"/>
                <a:cs typeface="Calibri" pitchFamily="34" charset="-120"/>
              </a:rPr>
              <a:t>Handouts are your take-home toolkit — use them
</a:t>
            </a:r>
            <a:r>
              <a:rPr lang="en-US" sz="1079">
                <a:solidFill>
                  <a:srgbClr val="64748B"/>
                </a:solidFill>
                <a:latin typeface="Calibri" pitchFamily="34" charset="0"/>
                <a:ea typeface="Calibri" pitchFamily="34" charset="-122"/>
                <a:cs typeface="Calibri" pitchFamily="34" charset="-120"/>
              </a:rPr>
              <a:t>Self-Assessment </a:t>
            </a:r>
            <a:r>
              <a:rPr lang="en-US" sz="1079" dirty="0">
                <a:solidFill>
                  <a:srgbClr val="64748B"/>
                </a:solidFill>
                <a:latin typeface="Calibri" pitchFamily="34" charset="0"/>
                <a:ea typeface="Calibri" pitchFamily="34" charset="-122"/>
                <a:cs typeface="Calibri" pitchFamily="34" charset="-120"/>
              </a:rPr>
              <a:t>· Opportunity </a:t>
            </a:r>
            <a:r>
              <a:rPr lang="en-US" sz="1079">
                <a:solidFill>
                  <a:srgbClr val="64748B"/>
                </a:solidFill>
                <a:latin typeface="Calibri" pitchFamily="34" charset="0"/>
                <a:ea typeface="Calibri" pitchFamily="34" charset="-122"/>
                <a:cs typeface="Calibri" pitchFamily="34" charset="-120"/>
              </a:rPr>
              <a:t>Scoring · 90-Day </a:t>
            </a:r>
            <a:r>
              <a:rPr lang="en-US" sz="1079" dirty="0">
                <a:solidFill>
                  <a:srgbClr val="64748B"/>
                </a:solidFill>
                <a:latin typeface="Calibri" pitchFamily="34" charset="0"/>
                <a:ea typeface="Calibri" pitchFamily="34" charset="-122"/>
                <a:cs typeface="Calibri" pitchFamily="34" charset="-120"/>
              </a:rPr>
              <a:t>Calendar</a:t>
            </a:r>
            <a:r>
              <a:rPr lang="en-US" sz="1079">
                <a:solidFill>
                  <a:srgbClr val="64748B"/>
                </a:solidFill>
                <a:latin typeface="Calibri" pitchFamily="34" charset="0"/>
                <a:ea typeface="Calibri" pitchFamily="34" charset="-122"/>
                <a:cs typeface="Calibri" pitchFamily="34" charset="-120"/>
              </a:rPr>
              <a:t> · Logic Model · Outcomes</a:t>
            </a:r>
            <a:r>
              <a:rPr lang="en-US" sz="1079" dirty="0">
                <a:solidFill>
                  <a:srgbClr val="64748B"/>
                </a:solidFill>
                <a:latin typeface="Calibri" pitchFamily="34" charset="0"/>
                <a:ea typeface="Calibri" pitchFamily="34" charset="-122"/>
                <a:cs typeface="Calibri" pitchFamily="34" charset="-120"/>
              </a:rPr>
              <a:t> · Commitment Card</a:t>
            </a:r>
            <a:endParaRPr lang="en-US" sz="1560" dirty="0"/>
          </a:p>
        </p:txBody>
      </p:sp>
      <p:sp>
        <p:nvSpPr>
          <p:cNvPr id="36" name="Text 25"/>
          <p:cNvSpPr/>
          <p:nvPr/>
        </p:nvSpPr>
        <p:spPr>
          <a:xfrm>
            <a:off x="4714875" y="3479155"/>
            <a:ext cx="4057055" cy="1264295"/>
          </a:xfrm>
          <a:prstGeom prst="roundRect">
            <a:avLst>
              <a:gd name="adj" fmla="val 4520"/>
            </a:avLst>
          </a:prstGeom>
          <a:solidFill>
            <a:srgbClr val="F0F4F8"/>
          </a:solidFill>
          <a:ln w="9525">
            <a:solidFill>
              <a:srgbClr val="E8A020">
                <a:alpha val="40000"/>
              </a:srgbClr>
            </a:solidFill>
          </a:ln>
        </p:spPr>
        <p:txBody>
          <a:bodyPr wrap="square" rtlCol="0" anchor="t"/>
          <a:lstStyle/>
          <a:p>
            <a:pPr marL="0" indent="0">
              <a:buNone/>
            </a:pPr>
            <a:endParaRPr lang="en-US" dirty="0"/>
          </a:p>
        </p:txBody>
      </p:sp>
      <p:sp>
        <p:nvSpPr>
          <p:cNvPr id="37" name="Text 26"/>
          <p:cNvSpPr/>
          <p:nvPr/>
        </p:nvSpPr>
        <p:spPr>
          <a:xfrm>
            <a:off x="4824710" y="3567410"/>
            <a:ext cx="257770" cy="25777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38"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887227" y="3629927"/>
            <a:ext cx="132588" cy="132588"/>
          </a:xfrm>
          <a:prstGeom prst="rect">
            <a:avLst/>
          </a:prstGeom>
        </p:spPr>
      </p:pic>
      <p:sp>
        <p:nvSpPr>
          <p:cNvPr id="39" name="Text 27"/>
          <p:cNvSpPr/>
          <p:nvPr/>
        </p:nvSpPr>
        <p:spPr>
          <a:xfrm>
            <a:off x="5182791" y="3567410"/>
            <a:ext cx="3033665" cy="531912"/>
          </a:xfrm>
          <a:prstGeom prst="rect">
            <a:avLst/>
          </a:prstGeom>
          <a:noFill/>
          <a:ln/>
        </p:spPr>
        <p:txBody>
          <a:bodyPr wrap="square" lIns="0" tIns="0" rIns="0" bIns="0" rtlCol="0" anchor="ctr"/>
          <a:lstStyle/>
          <a:p>
            <a:pPr marL="0" indent="0" algn="l">
              <a:lnSpc>
                <a:spcPts val="2050"/>
              </a:lnSpc>
              <a:buNone/>
            </a:pPr>
            <a:r>
              <a:rPr lang="en-US" sz="1300" b="1">
                <a:solidFill>
                  <a:srgbClr val="0D1B3E"/>
                </a:solidFill>
                <a:latin typeface="Calibri" pitchFamily="34" charset="0"/>
                <a:ea typeface="Calibri" pitchFamily="34" charset="-122"/>
                <a:cs typeface="Calibri" pitchFamily="34" charset="-120"/>
              </a:rPr>
              <a:t>You will leave with a 90-day implementation commitment
</a:t>
            </a:r>
            <a:r>
              <a:rPr lang="en-US" sz="1079">
                <a:solidFill>
                  <a:srgbClr val="64748B"/>
                </a:solidFill>
                <a:latin typeface="Calibri" pitchFamily="34" charset="0"/>
                <a:ea typeface="Calibri" pitchFamily="34" charset="-122"/>
                <a:cs typeface="Calibri" pitchFamily="34" charset="-120"/>
              </a:rPr>
              <a:t>Not a goal — a commitment. Written. Spoken. Kept.</a:t>
            </a:r>
            <a:endParaRPr lang="en-US" sz="156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96708"/>
            <a:ext cx="9144000" cy="5143500"/>
          </a:xfrm>
          <a:prstGeom prst="rect">
            <a:avLst/>
          </a:prstGeom>
          <a:gradFill rotWithShape="1">
            <a:gsLst>
              <a:gs pos="0">
                <a:srgbClr val="E8A020">
                  <a:alpha val="6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0" y="0"/>
            <a:ext cx="3714750" cy="2715220"/>
          </a:xfrm>
          <a:prstGeom prst="rect">
            <a:avLst/>
          </a:prstGeom>
          <a:gradFill rotWithShape="1">
            <a:gsLst>
              <a:gs pos="0">
                <a:srgbClr val="E8A020">
                  <a:alpha val="7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0" y="0"/>
            <a:ext cx="9144000" cy="29170"/>
          </a:xfrm>
          <a:prstGeom prst="rect">
            <a:avLst/>
          </a:prstGeom>
          <a:gradFill rotWithShape="1">
            <a:gsLst>
              <a:gs pos="0">
                <a:srgbClr val="000000">
                  <a:alpha val="0"/>
                </a:srgbClr>
              </a:gs>
              <a:gs pos="30000">
                <a:srgbClr val="E8A020"/>
              </a:gs>
              <a:gs pos="70000">
                <a:srgbClr val="E8A020"/>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514350" y="257770"/>
            <a:ext cx="8926830" cy="139005"/>
          </a:xfrm>
          <a:prstGeom prst="rect">
            <a:avLst/>
          </a:prstGeom>
          <a:noFill/>
          <a:ln/>
        </p:spPr>
        <p:txBody>
          <a:bodyPr wrap="none" lIns="0" tIns="0" rIns="0" bIns="0" rtlCol="0" anchor="t"/>
          <a:lstStyle/>
          <a:p>
            <a:pPr marL="0" indent="0" algn="l">
              <a:lnSpc>
                <a:spcPts val="1423"/>
              </a:lnSpc>
              <a:buNone/>
            </a:pPr>
            <a:r>
              <a:rPr lang="en-US" sz="949" b="1" kern="0" spc="131">
                <a:solidFill>
                  <a:srgbClr val="E8A020"/>
                </a:solidFill>
                <a:latin typeface="Calibri" pitchFamily="34" charset="0"/>
                <a:ea typeface="Calibri" pitchFamily="34" charset="-122"/>
                <a:cs typeface="Calibri" pitchFamily="34" charset="-120"/>
              </a:rPr>
              <a:t>SESSION ROADMAP</a:t>
            </a:r>
            <a:endParaRPr lang="en-US" sz="949"/>
          </a:p>
        </p:txBody>
      </p:sp>
      <p:sp>
        <p:nvSpPr>
          <p:cNvPr id="7" name="Text 5"/>
          <p:cNvSpPr/>
          <p:nvPr/>
        </p:nvSpPr>
        <p:spPr>
          <a:xfrm>
            <a:off x="514350" y="439936"/>
            <a:ext cx="8521065" cy="346323"/>
          </a:xfrm>
          <a:prstGeom prst="rect">
            <a:avLst/>
          </a:prstGeom>
          <a:noFill/>
          <a:ln/>
        </p:spPr>
        <p:txBody>
          <a:bodyPr wrap="none" lIns="0" tIns="0" rIns="0" bIns="0" rtlCol="0" anchor="t"/>
          <a:lstStyle/>
          <a:p>
            <a:pPr marL="0" indent="0" algn="l">
              <a:lnSpc>
                <a:spcPts val="2728"/>
              </a:lnSpc>
              <a:buNone/>
            </a:pPr>
            <a:r>
              <a:rPr lang="en-US" sz="2480" dirty="0">
                <a:solidFill>
                  <a:srgbClr val="0D1B3E"/>
                </a:solidFill>
                <a:latin typeface="Calibri Light" pitchFamily="34" charset="0"/>
                <a:ea typeface="Calibri Light" pitchFamily="34" charset="-122"/>
                <a:cs typeface="Calibri Light" pitchFamily="34" charset="-120"/>
              </a:rPr>
              <a:t>Our </a:t>
            </a:r>
            <a:r>
              <a:rPr lang="en-US" sz="2480" b="1" dirty="0">
                <a:solidFill>
                  <a:srgbClr val="E8A020"/>
                </a:solidFill>
                <a:latin typeface="Calibri Light" pitchFamily="34" charset="0"/>
                <a:ea typeface="Calibri Light" pitchFamily="34" charset="-122"/>
                <a:cs typeface="Calibri Light" pitchFamily="34" charset="-120"/>
              </a:rPr>
              <a:t>Journey</a:t>
            </a:r>
            <a:r>
              <a:rPr lang="en-US" sz="2480" dirty="0">
                <a:solidFill>
                  <a:srgbClr val="0D1B3E"/>
                </a:solidFill>
                <a:latin typeface="Calibri Light" pitchFamily="34" charset="0"/>
                <a:ea typeface="Calibri Light" pitchFamily="34" charset="-122"/>
                <a:cs typeface="Calibri Light" pitchFamily="34" charset="-120"/>
              </a:rPr>
              <a:t> Today</a:t>
            </a:r>
            <a:endParaRPr lang="en-US" sz="2480" dirty="0"/>
          </a:p>
        </p:txBody>
      </p:sp>
      <p:sp>
        <p:nvSpPr>
          <p:cNvPr id="8" name="Text 6"/>
          <p:cNvSpPr/>
          <p:nvPr/>
        </p:nvSpPr>
        <p:spPr>
          <a:xfrm>
            <a:off x="514350" y="857250"/>
            <a:ext cx="8115300" cy="13841"/>
          </a:xfrm>
          <a:prstGeom prst="rect">
            <a:avLst/>
          </a:prstGeom>
          <a:gradFill rotWithShape="1">
            <a:gsLst>
              <a:gs pos="0">
                <a:srgbClr val="E8A020"/>
              </a:gs>
              <a:gs pos="50000">
                <a:srgbClr val="E8A020">
                  <a:alpha val="20000"/>
                </a:srgbClr>
              </a:gs>
              <a:gs pos="100000">
                <a:srgbClr val="000000">
                  <a:alpha val="0"/>
                </a:srgbClr>
              </a:gs>
            </a:gsLst>
            <a:lin ang="0" scaled="1"/>
          </a:gradFill>
          <a:ln/>
        </p:spPr>
        <p:txBody>
          <a:bodyPr wrap="none" rtlCol="0" anchor="t"/>
          <a:lstStyle/>
          <a:p>
            <a:pPr marL="0" indent="0">
              <a:buNone/>
            </a:pPr>
            <a:endParaRPr lang="en-US" dirty="0"/>
          </a:p>
        </p:txBody>
      </p:sp>
      <p:sp>
        <p:nvSpPr>
          <p:cNvPr id="9" name="Text 7"/>
          <p:cNvSpPr/>
          <p:nvPr/>
        </p:nvSpPr>
        <p:spPr>
          <a:xfrm>
            <a:off x="1115020" y="1457920"/>
            <a:ext cx="6913959" cy="21580"/>
          </a:xfrm>
          <a:prstGeom prst="rect">
            <a:avLst/>
          </a:prstGeom>
          <a:gradFill rotWithShape="1">
            <a:gsLst>
              <a:gs pos="0">
                <a:srgbClr val="E8A020"/>
              </a:gs>
              <a:gs pos="50000">
                <a:srgbClr val="E8A020">
                  <a:alpha val="60000"/>
                </a:srgbClr>
              </a:gs>
              <a:gs pos="100000">
                <a:srgbClr val="E8A020">
                  <a:alpha val="30000"/>
                </a:srgbClr>
              </a:gs>
            </a:gsLst>
            <a:lin ang="0" scaled="1"/>
          </a:gradFill>
          <a:ln/>
        </p:spPr>
        <p:txBody>
          <a:bodyPr wrap="none" rtlCol="0" anchor="t"/>
          <a:lstStyle/>
          <a:p>
            <a:pPr marL="0" indent="0">
              <a:buNone/>
            </a:pPr>
            <a:endParaRPr lang="en-US" dirty="0"/>
          </a:p>
        </p:txBody>
      </p:sp>
      <p:sp>
        <p:nvSpPr>
          <p:cNvPr id="10" name="Text 8"/>
          <p:cNvSpPr/>
          <p:nvPr/>
        </p:nvSpPr>
        <p:spPr>
          <a:xfrm>
            <a:off x="514350" y="4587478"/>
            <a:ext cx="8115300" cy="374452"/>
          </a:xfrm>
          <a:prstGeom prst="roundRect">
            <a:avLst>
              <a:gd name="adj" fmla="val 11532"/>
            </a:avLst>
          </a:prstGeom>
          <a:gradFill rotWithShape="1">
            <a:gsLst>
              <a:gs pos="0">
                <a:srgbClr val="E8A020">
                  <a:alpha val="13000"/>
                </a:srgbClr>
              </a:gs>
              <a:gs pos="100000">
                <a:srgbClr val="E8A020">
                  <a:alpha val="5000"/>
                </a:srgbClr>
              </a:gs>
            </a:gsLst>
            <a:lin ang="2700000" scaled="1"/>
          </a:gradFill>
          <a:ln/>
        </p:spPr>
        <p:txBody>
          <a:bodyPr wrap="square" rtlCol="0" anchor="t"/>
          <a:lstStyle/>
          <a:p>
            <a:pPr marL="0" indent="0">
              <a:buNone/>
            </a:pPr>
            <a:endParaRPr lang="en-US" dirty="0"/>
          </a:p>
        </p:txBody>
      </p:sp>
      <p:sp>
        <p:nvSpPr>
          <p:cNvPr id="11" name="Text 9"/>
          <p:cNvSpPr/>
          <p:nvPr/>
        </p:nvSpPr>
        <p:spPr>
          <a:xfrm>
            <a:off x="514350" y="4568428"/>
            <a:ext cx="28575" cy="374452"/>
          </a:xfrm>
          <a:custGeom>
            <a:avLst/>
            <a:gdLst/>
            <a:ahLst/>
            <a:cxnLst/>
            <a:rect l="l" t="t" r="r" b="b"/>
            <a:pathLst>
              <a:path w="28575" h="374452">
                <a:moveTo>
                  <a:pt x="0" y="43180"/>
                </a:moveTo>
                <a:lnTo>
                  <a:pt x="3572" y="25984"/>
                </a:lnTo>
                <a:lnTo>
                  <a:pt x="7144" y="19391"/>
                </a:lnTo>
                <a:lnTo>
                  <a:pt x="10716" y="14709"/>
                </a:lnTo>
                <a:lnTo>
                  <a:pt x="14288" y="11090"/>
                </a:lnTo>
                <a:lnTo>
                  <a:pt x="17859" y="8203"/>
                </a:lnTo>
                <a:lnTo>
                  <a:pt x="21431" y="5877"/>
                </a:lnTo>
                <a:lnTo>
                  <a:pt x="25003" y="4012"/>
                </a:lnTo>
                <a:lnTo>
                  <a:pt x="28575" y="2545"/>
                </a:lnTo>
                <a:lnTo>
                  <a:pt x="28575" y="371907"/>
                </a:lnTo>
                <a:lnTo>
                  <a:pt x="25003" y="370439"/>
                </a:lnTo>
                <a:lnTo>
                  <a:pt x="21431" y="368574"/>
                </a:lnTo>
                <a:lnTo>
                  <a:pt x="17859" y="366248"/>
                </a:lnTo>
                <a:lnTo>
                  <a:pt x="14288" y="363361"/>
                </a:lnTo>
                <a:lnTo>
                  <a:pt x="10716" y="359742"/>
                </a:lnTo>
                <a:lnTo>
                  <a:pt x="7144" y="355060"/>
                </a:lnTo>
                <a:lnTo>
                  <a:pt x="3572" y="348468"/>
                </a:lnTo>
                <a:lnTo>
                  <a:pt x="0" y="331272"/>
                </a:lnTo>
                <a:close/>
              </a:path>
            </a:pathLst>
          </a:custGeom>
          <a:solidFill>
            <a:srgbClr val="E8A020"/>
          </a:solidFill>
          <a:ln/>
        </p:spPr>
        <p:txBody>
          <a:bodyPr wrap="square" rtlCol="0" anchor="t"/>
          <a:lstStyle/>
          <a:p>
            <a:pPr marL="0" indent="0">
              <a:buNone/>
            </a:pPr>
            <a:endParaRPr lang="en-US"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7091" y="4689285"/>
            <a:ext cx="132588" cy="132588"/>
          </a:xfrm>
          <a:prstGeom prst="rect">
            <a:avLst/>
          </a:prstGeom>
        </p:spPr>
      </p:pic>
      <p:sp>
        <p:nvSpPr>
          <p:cNvPr id="13" name="Text 10"/>
          <p:cNvSpPr/>
          <p:nvPr/>
        </p:nvSpPr>
        <p:spPr>
          <a:xfrm>
            <a:off x="886082" y="4599384"/>
            <a:ext cx="6371967" cy="286346"/>
          </a:xfrm>
          <a:prstGeom prst="rect">
            <a:avLst/>
          </a:prstGeom>
          <a:noFill/>
          <a:ln/>
        </p:spPr>
        <p:txBody>
          <a:bodyPr wrap="none" lIns="0" tIns="0" rIns="0" bIns="0" rtlCol="0" anchor="ctr"/>
          <a:lstStyle/>
          <a:p>
            <a:pPr marL="0" indent="0" algn="l">
              <a:lnSpc>
                <a:spcPts val="1872"/>
              </a:lnSpc>
              <a:buNone/>
            </a:pPr>
            <a:r>
              <a:rPr lang="en-US" sz="1248" b="1" kern="0" spc="10" dirty="0">
                <a:solidFill>
                  <a:srgbClr val="E8A020"/>
                </a:solidFill>
                <a:latin typeface="Calibri" pitchFamily="34" charset="0"/>
                <a:ea typeface="Calibri" pitchFamily="34" charset="-122"/>
                <a:cs typeface="Calibri" pitchFamily="34" charset="-120"/>
              </a:rPr>
              <a:t>Activities embedded throughout.</a:t>
            </a:r>
            <a:r>
              <a:rPr lang="en-US" sz="1248" kern="0" spc="10" dirty="0">
                <a:solidFill>
                  <a:srgbClr val="0D1B3E"/>
                </a:solidFill>
                <a:latin typeface="Calibri" pitchFamily="34" charset="0"/>
                <a:ea typeface="Calibri" pitchFamily="34" charset="-122"/>
                <a:cs typeface="Calibri" pitchFamily="34" charset="-120"/>
              </a:rPr>
              <a:t> Learning checks woven in. Try to resist passive watching.</a:t>
            </a:r>
            <a:endParaRPr lang="en-US" sz="1248" dirty="0"/>
          </a:p>
        </p:txBody>
      </p:sp>
      <p:sp>
        <p:nvSpPr>
          <p:cNvPr id="14" name="Text 11"/>
          <p:cNvSpPr/>
          <p:nvPr/>
        </p:nvSpPr>
        <p:spPr>
          <a:xfrm>
            <a:off x="342900" y="1842641"/>
            <a:ext cx="1543050" cy="1143000"/>
          </a:xfrm>
          <a:prstGeom prst="roundRect">
            <a:avLst>
              <a:gd name="adj" fmla="val 5000"/>
            </a:avLst>
          </a:prstGeom>
          <a:solidFill>
            <a:srgbClr val="F0F4F8"/>
          </a:solidFill>
          <a:ln/>
        </p:spPr>
        <p:txBody>
          <a:bodyPr wrap="square" rtlCol="0" anchor="t"/>
          <a:lstStyle/>
          <a:p>
            <a:pPr marL="0" indent="0">
              <a:buNone/>
            </a:pPr>
            <a:endParaRPr lang="en-US" dirty="0"/>
          </a:p>
        </p:txBody>
      </p:sp>
      <p:sp>
        <p:nvSpPr>
          <p:cNvPr id="15" name="Text 12"/>
          <p:cNvSpPr/>
          <p:nvPr/>
        </p:nvSpPr>
        <p:spPr>
          <a:xfrm>
            <a:off x="342900" y="1842641"/>
            <a:ext cx="1543050" cy="19050"/>
          </a:xfrm>
          <a:custGeom>
            <a:avLst/>
            <a:gdLst/>
            <a:ahLst/>
            <a:cxnLst/>
            <a:rect l="l" t="t" r="r" b="b"/>
            <a:pathLst>
              <a:path w="1543050" h="19050">
                <a:moveTo>
                  <a:pt x="57150" y="0"/>
                </a:moveTo>
                <a:lnTo>
                  <a:pt x="40825" y="2381"/>
                </a:lnTo>
                <a:lnTo>
                  <a:pt x="34310" y="4763"/>
                </a:lnTo>
                <a:lnTo>
                  <a:pt x="29482" y="7144"/>
                </a:lnTo>
                <a:lnTo>
                  <a:pt x="25559" y="9525"/>
                </a:lnTo>
                <a:lnTo>
                  <a:pt x="22234" y="11906"/>
                </a:lnTo>
                <a:lnTo>
                  <a:pt x="19349" y="14288"/>
                </a:lnTo>
                <a:lnTo>
                  <a:pt x="16809" y="16669"/>
                </a:lnTo>
                <a:lnTo>
                  <a:pt x="14553" y="19050"/>
                </a:lnTo>
                <a:lnTo>
                  <a:pt x="1528497" y="19050"/>
                </a:lnTo>
                <a:lnTo>
                  <a:pt x="1526241" y="16669"/>
                </a:lnTo>
                <a:lnTo>
                  <a:pt x="1523701" y="14288"/>
                </a:lnTo>
                <a:lnTo>
                  <a:pt x="1520816" y="11906"/>
                </a:lnTo>
                <a:lnTo>
                  <a:pt x="1517491" y="9525"/>
                </a:lnTo>
                <a:lnTo>
                  <a:pt x="1513568" y="7144"/>
                </a:lnTo>
                <a:lnTo>
                  <a:pt x="1508740" y="4763"/>
                </a:lnTo>
                <a:lnTo>
                  <a:pt x="1502225" y="2381"/>
                </a:lnTo>
                <a:lnTo>
                  <a:pt x="1485900" y="0"/>
                </a:lnTo>
                <a:close/>
              </a:path>
            </a:pathLst>
          </a:custGeom>
          <a:solidFill>
            <a:srgbClr val="E8A020"/>
          </a:solidFill>
          <a:ln/>
        </p:spPr>
        <p:txBody>
          <a:bodyPr wrap="none" rtlCol="0" anchor="t"/>
          <a:lstStyle/>
          <a:p>
            <a:pPr marL="0" indent="0">
              <a:buNone/>
            </a:pPr>
            <a:endParaRPr lang="en-US" dirty="0"/>
          </a:p>
        </p:txBody>
      </p:sp>
      <p:sp>
        <p:nvSpPr>
          <p:cNvPr id="16" name="Text 13"/>
          <p:cNvSpPr/>
          <p:nvPr/>
        </p:nvSpPr>
        <p:spPr>
          <a:xfrm>
            <a:off x="574625" y="1989832"/>
            <a:ext cx="565458" cy="118021"/>
          </a:xfrm>
          <a:prstGeom prst="rect">
            <a:avLst/>
          </a:prstGeom>
          <a:noFill/>
          <a:ln/>
        </p:spPr>
        <p:txBody>
          <a:bodyPr wrap="none" lIns="0" tIns="0" rIns="0" bIns="0" rtlCol="0" anchor="ctr"/>
          <a:lstStyle/>
          <a:p>
            <a:pPr marL="0" indent="0" algn="l">
              <a:lnSpc>
                <a:spcPts val="1209"/>
              </a:lnSpc>
              <a:buNone/>
            </a:pPr>
            <a:r>
              <a:rPr lang="en-US" sz="806" b="1" kern="0" spc="87">
                <a:solidFill>
                  <a:srgbClr val="E8A020"/>
                </a:solidFill>
                <a:latin typeface="Calibri" pitchFamily="34" charset="0"/>
                <a:ea typeface="Calibri" pitchFamily="34" charset="-122"/>
                <a:cs typeface="Calibri" pitchFamily="34" charset="-120"/>
              </a:rPr>
              <a:t>SECTION 1</a:t>
            </a:r>
            <a:endParaRPr lang="en-US" sz="806"/>
          </a:p>
        </p:txBody>
      </p:sp>
      <p:pic>
        <p:nvPicPr>
          <p:cNvPr id="17" name="Image 1" descr="preencoded.png"/>
          <p:cNvPicPr>
            <a:picLocks noChangeAspect="1"/>
          </p:cNvPicPr>
          <p:nvPr/>
        </p:nvPicPr>
        <p:blipFill>
          <a:blip>
            <a:alphaModFix amt="85000"/>
            <a:extLst>
              <a:ext uri="{96DAC541-7B7A-43D3-8B79-37D633B846F1}">
                <asvg:svgBlip xmlns:asvg="http://schemas.microsoft.com/office/drawing/2016/SVG/main" r:embed="rId4"/>
              </a:ext>
            </a:extLst>
          </a:blip>
          <a:stretch>
            <a:fillRect/>
          </a:stretch>
        </p:blipFill>
        <p:spPr>
          <a:xfrm>
            <a:off x="432801" y="1982548"/>
            <a:ext cx="132588" cy="132588"/>
          </a:xfrm>
          <a:prstGeom prst="rect">
            <a:avLst/>
          </a:prstGeom>
        </p:spPr>
      </p:pic>
      <p:sp>
        <p:nvSpPr>
          <p:cNvPr id="18" name="Text 14"/>
          <p:cNvSpPr/>
          <p:nvPr/>
        </p:nvSpPr>
        <p:spPr>
          <a:xfrm>
            <a:off x="466725" y="2165003"/>
            <a:ext cx="1321308" cy="310039"/>
          </a:xfrm>
          <a:prstGeom prst="rect">
            <a:avLst/>
          </a:prstGeom>
          <a:noFill/>
          <a:ln/>
        </p:spPr>
        <p:txBody>
          <a:bodyPr wrap="square" lIns="0" tIns="0" rIns="0" bIns="0" rtlCol="0" anchor="t"/>
          <a:lstStyle/>
          <a:p>
            <a:pPr marL="0" indent="0" algn="l">
              <a:lnSpc>
                <a:spcPts val="1511"/>
              </a:lnSpc>
              <a:buNone/>
            </a:pPr>
            <a:r>
              <a:rPr lang="en-US" sz="1209" b="1">
                <a:solidFill>
                  <a:srgbClr val="0D1B3E"/>
                </a:solidFill>
                <a:latin typeface="Calibri" pitchFamily="34" charset="0"/>
                <a:ea typeface="Calibri" pitchFamily="34" charset="-122"/>
                <a:cs typeface="Calibri" pitchFamily="34" charset="-120"/>
              </a:rPr>
              <a:t>The Funding Landscape Reality</a:t>
            </a:r>
            <a:endParaRPr lang="en-US" sz="1209"/>
          </a:p>
        </p:txBody>
      </p:sp>
      <p:sp>
        <p:nvSpPr>
          <p:cNvPr id="19" name="Text 15"/>
          <p:cNvSpPr/>
          <p:nvPr/>
        </p:nvSpPr>
        <p:spPr>
          <a:xfrm>
            <a:off x="466725" y="2689175"/>
            <a:ext cx="572000" cy="172641"/>
          </a:xfrm>
          <a:prstGeom prst="roundRect">
            <a:avLst>
              <a:gd name="adj" fmla="val 16920"/>
            </a:avLst>
          </a:prstGeom>
          <a:solidFill>
            <a:srgbClr val="64748B">
              <a:alpha val="10000"/>
            </a:srgbClr>
          </a:solidFill>
          <a:ln/>
        </p:spPr>
        <p:txBody>
          <a:bodyPr wrap="none" lIns="57150" tIns="21590" rIns="57150" bIns="21590" rtlCol="0" anchor="t"/>
          <a:lstStyle/>
          <a:p>
            <a:pPr marL="0" indent="0" algn="l">
              <a:buNone/>
            </a:pPr>
            <a:r>
              <a:rPr lang="en-US" sz="884" b="1" kern="0" spc="27">
                <a:solidFill>
                  <a:srgbClr val="64748B"/>
                </a:solidFill>
                <a:latin typeface="Calibri" pitchFamily="34" charset="0"/>
                <a:ea typeface="Calibri" pitchFamily="34" charset="-122"/>
                <a:cs typeface="Calibri" pitchFamily="34" charset="-120"/>
              </a:rPr>
              <a:t>Min 5 – 18</a:t>
            </a:r>
            <a:endParaRPr lang="en-US" sz="884"/>
          </a:p>
        </p:txBody>
      </p:sp>
      <p:sp>
        <p:nvSpPr>
          <p:cNvPr id="20" name="Text 16"/>
          <p:cNvSpPr/>
          <p:nvPr/>
        </p:nvSpPr>
        <p:spPr>
          <a:xfrm>
            <a:off x="2071688" y="1842641"/>
            <a:ext cx="1543050" cy="1143000"/>
          </a:xfrm>
          <a:prstGeom prst="roundRect">
            <a:avLst>
              <a:gd name="adj" fmla="val 5000"/>
            </a:avLst>
          </a:prstGeom>
          <a:solidFill>
            <a:srgbClr val="F0F4F8"/>
          </a:solidFill>
          <a:ln/>
        </p:spPr>
        <p:txBody>
          <a:bodyPr wrap="square" rtlCol="0" anchor="t"/>
          <a:lstStyle/>
          <a:p>
            <a:pPr marL="0" indent="0">
              <a:buNone/>
            </a:pPr>
            <a:endParaRPr lang="en-US" dirty="0"/>
          </a:p>
        </p:txBody>
      </p:sp>
      <p:sp>
        <p:nvSpPr>
          <p:cNvPr id="21" name="Text 17"/>
          <p:cNvSpPr/>
          <p:nvPr/>
        </p:nvSpPr>
        <p:spPr>
          <a:xfrm>
            <a:off x="2071688" y="1842641"/>
            <a:ext cx="1543050" cy="19050"/>
          </a:xfrm>
          <a:custGeom>
            <a:avLst/>
            <a:gdLst/>
            <a:ahLst/>
            <a:cxnLst/>
            <a:rect l="l" t="t" r="r" b="b"/>
            <a:pathLst>
              <a:path w="1543050" h="19050">
                <a:moveTo>
                  <a:pt x="57150" y="0"/>
                </a:moveTo>
                <a:lnTo>
                  <a:pt x="40825" y="2381"/>
                </a:lnTo>
                <a:lnTo>
                  <a:pt x="34310" y="4763"/>
                </a:lnTo>
                <a:lnTo>
                  <a:pt x="29482" y="7144"/>
                </a:lnTo>
                <a:lnTo>
                  <a:pt x="25559" y="9525"/>
                </a:lnTo>
                <a:lnTo>
                  <a:pt x="22234" y="11906"/>
                </a:lnTo>
                <a:lnTo>
                  <a:pt x="19349" y="14288"/>
                </a:lnTo>
                <a:lnTo>
                  <a:pt x="16809" y="16669"/>
                </a:lnTo>
                <a:lnTo>
                  <a:pt x="14553" y="19050"/>
                </a:lnTo>
                <a:lnTo>
                  <a:pt x="1528497" y="19050"/>
                </a:lnTo>
                <a:lnTo>
                  <a:pt x="1526241" y="16669"/>
                </a:lnTo>
                <a:lnTo>
                  <a:pt x="1523701" y="14288"/>
                </a:lnTo>
                <a:lnTo>
                  <a:pt x="1520816" y="11906"/>
                </a:lnTo>
                <a:lnTo>
                  <a:pt x="1517491" y="9525"/>
                </a:lnTo>
                <a:lnTo>
                  <a:pt x="1513568" y="7144"/>
                </a:lnTo>
                <a:lnTo>
                  <a:pt x="1508740" y="4763"/>
                </a:lnTo>
                <a:lnTo>
                  <a:pt x="1502225" y="2381"/>
                </a:lnTo>
                <a:lnTo>
                  <a:pt x="1485900" y="0"/>
                </a:lnTo>
                <a:close/>
              </a:path>
            </a:pathLst>
          </a:custGeom>
          <a:solidFill>
            <a:srgbClr val="E8A020"/>
          </a:solidFill>
          <a:ln/>
        </p:spPr>
        <p:txBody>
          <a:bodyPr wrap="none" rtlCol="0" anchor="t"/>
          <a:lstStyle/>
          <a:p>
            <a:pPr marL="0" indent="0">
              <a:buNone/>
            </a:pPr>
            <a:endParaRPr lang="en-US" dirty="0"/>
          </a:p>
        </p:txBody>
      </p:sp>
      <p:sp>
        <p:nvSpPr>
          <p:cNvPr id="22" name="Text 18"/>
          <p:cNvSpPr/>
          <p:nvPr/>
        </p:nvSpPr>
        <p:spPr>
          <a:xfrm>
            <a:off x="2303413" y="1989832"/>
            <a:ext cx="565458" cy="118021"/>
          </a:xfrm>
          <a:prstGeom prst="rect">
            <a:avLst/>
          </a:prstGeom>
          <a:noFill/>
          <a:ln/>
        </p:spPr>
        <p:txBody>
          <a:bodyPr wrap="none" lIns="0" tIns="0" rIns="0" bIns="0" rtlCol="0" anchor="ctr"/>
          <a:lstStyle/>
          <a:p>
            <a:pPr marL="0" indent="0" algn="l">
              <a:lnSpc>
                <a:spcPts val="1209"/>
              </a:lnSpc>
              <a:buNone/>
            </a:pPr>
            <a:r>
              <a:rPr lang="en-US" sz="806" b="1" kern="0" spc="87">
                <a:solidFill>
                  <a:srgbClr val="E8A020"/>
                </a:solidFill>
                <a:latin typeface="Calibri" pitchFamily="34" charset="0"/>
                <a:ea typeface="Calibri" pitchFamily="34" charset="-122"/>
                <a:cs typeface="Calibri" pitchFamily="34" charset="-120"/>
              </a:rPr>
              <a:t>SECTION 2</a:t>
            </a:r>
            <a:endParaRPr lang="en-US" sz="806"/>
          </a:p>
        </p:txBody>
      </p:sp>
      <p:pic>
        <p:nvPicPr>
          <p:cNvPr id="23" name="Image 2" descr="preencoded.png"/>
          <p:cNvPicPr>
            <a:picLocks noChangeAspect="1"/>
          </p:cNvPicPr>
          <p:nvPr/>
        </p:nvPicPr>
        <p:blipFill>
          <a:blip>
            <a:alphaModFix amt="85000"/>
            <a:extLst>
              <a:ext uri="{96DAC541-7B7A-43D3-8B79-37D633B846F1}">
                <asvg:svgBlip xmlns:asvg="http://schemas.microsoft.com/office/drawing/2016/SVG/main" r:embed="rId5"/>
              </a:ext>
            </a:extLst>
          </a:blip>
          <a:stretch>
            <a:fillRect/>
          </a:stretch>
        </p:blipFill>
        <p:spPr>
          <a:xfrm>
            <a:off x="2161589" y="1982548"/>
            <a:ext cx="132588" cy="132588"/>
          </a:xfrm>
          <a:prstGeom prst="rect">
            <a:avLst/>
          </a:prstGeom>
        </p:spPr>
      </p:pic>
      <p:sp>
        <p:nvSpPr>
          <p:cNvPr id="24" name="Text 19"/>
          <p:cNvSpPr/>
          <p:nvPr/>
        </p:nvSpPr>
        <p:spPr>
          <a:xfrm>
            <a:off x="2195513" y="2165003"/>
            <a:ext cx="1321308" cy="310039"/>
          </a:xfrm>
          <a:prstGeom prst="rect">
            <a:avLst/>
          </a:prstGeom>
          <a:noFill/>
          <a:ln/>
        </p:spPr>
        <p:txBody>
          <a:bodyPr wrap="square" lIns="0" tIns="0" rIns="0" bIns="0" rtlCol="0" anchor="t"/>
          <a:lstStyle/>
          <a:p>
            <a:pPr marL="0" indent="0" algn="l">
              <a:lnSpc>
                <a:spcPts val="1511"/>
              </a:lnSpc>
              <a:buNone/>
            </a:pPr>
            <a:r>
              <a:rPr lang="en-US" sz="1209" b="1">
                <a:solidFill>
                  <a:srgbClr val="0D1B3E"/>
                </a:solidFill>
                <a:latin typeface="Calibri" pitchFamily="34" charset="0"/>
                <a:ea typeface="Calibri" pitchFamily="34" charset="-122"/>
                <a:cs typeface="Calibri" pitchFamily="34" charset="-120"/>
              </a:rPr>
              <a:t>The FSR Architecture</a:t>
            </a:r>
            <a:endParaRPr lang="en-US" sz="1209"/>
          </a:p>
        </p:txBody>
      </p:sp>
      <p:sp>
        <p:nvSpPr>
          <p:cNvPr id="25" name="Text 20"/>
          <p:cNvSpPr/>
          <p:nvPr/>
        </p:nvSpPr>
        <p:spPr>
          <a:xfrm>
            <a:off x="2195513" y="2689175"/>
            <a:ext cx="624373" cy="172641"/>
          </a:xfrm>
          <a:prstGeom prst="roundRect">
            <a:avLst>
              <a:gd name="adj" fmla="val 16920"/>
            </a:avLst>
          </a:prstGeom>
          <a:solidFill>
            <a:srgbClr val="64748B">
              <a:alpha val="10000"/>
            </a:srgbClr>
          </a:solidFill>
          <a:ln/>
        </p:spPr>
        <p:txBody>
          <a:bodyPr wrap="none" lIns="57150" tIns="21590" rIns="57150" bIns="21590" rtlCol="0" anchor="t"/>
          <a:lstStyle/>
          <a:p>
            <a:pPr marL="0" indent="0" algn="l">
              <a:buNone/>
            </a:pPr>
            <a:r>
              <a:rPr lang="en-US" sz="884" b="1" kern="0" spc="27">
                <a:solidFill>
                  <a:srgbClr val="64748B"/>
                </a:solidFill>
                <a:latin typeface="Calibri" pitchFamily="34" charset="0"/>
                <a:ea typeface="Calibri" pitchFamily="34" charset="-122"/>
                <a:cs typeface="Calibri" pitchFamily="34" charset="-120"/>
              </a:rPr>
              <a:t>Min 18 – 37</a:t>
            </a:r>
            <a:endParaRPr lang="en-US" sz="884"/>
          </a:p>
        </p:txBody>
      </p:sp>
      <p:sp>
        <p:nvSpPr>
          <p:cNvPr id="26" name="Text 21"/>
          <p:cNvSpPr/>
          <p:nvPr/>
        </p:nvSpPr>
        <p:spPr>
          <a:xfrm>
            <a:off x="3800475" y="1842641"/>
            <a:ext cx="1543050" cy="1143000"/>
          </a:xfrm>
          <a:prstGeom prst="roundRect">
            <a:avLst>
              <a:gd name="adj" fmla="val 5000"/>
            </a:avLst>
          </a:prstGeom>
          <a:solidFill>
            <a:srgbClr val="F0F4F8"/>
          </a:solidFill>
          <a:ln/>
        </p:spPr>
        <p:txBody>
          <a:bodyPr wrap="square" rtlCol="0" anchor="t"/>
          <a:lstStyle/>
          <a:p>
            <a:pPr marL="0" indent="0">
              <a:buNone/>
            </a:pPr>
            <a:endParaRPr lang="en-US" dirty="0"/>
          </a:p>
        </p:txBody>
      </p:sp>
      <p:sp>
        <p:nvSpPr>
          <p:cNvPr id="27" name="Text 22"/>
          <p:cNvSpPr/>
          <p:nvPr/>
        </p:nvSpPr>
        <p:spPr>
          <a:xfrm>
            <a:off x="3800475" y="1842641"/>
            <a:ext cx="1543050" cy="19050"/>
          </a:xfrm>
          <a:custGeom>
            <a:avLst/>
            <a:gdLst/>
            <a:ahLst/>
            <a:cxnLst/>
            <a:rect l="l" t="t" r="r" b="b"/>
            <a:pathLst>
              <a:path w="1543050" h="19050">
                <a:moveTo>
                  <a:pt x="57150" y="0"/>
                </a:moveTo>
                <a:lnTo>
                  <a:pt x="40825" y="2381"/>
                </a:lnTo>
                <a:lnTo>
                  <a:pt x="34310" y="4763"/>
                </a:lnTo>
                <a:lnTo>
                  <a:pt x="29482" y="7144"/>
                </a:lnTo>
                <a:lnTo>
                  <a:pt x="25559" y="9525"/>
                </a:lnTo>
                <a:lnTo>
                  <a:pt x="22234" y="11906"/>
                </a:lnTo>
                <a:lnTo>
                  <a:pt x="19349" y="14288"/>
                </a:lnTo>
                <a:lnTo>
                  <a:pt x="16809" y="16669"/>
                </a:lnTo>
                <a:lnTo>
                  <a:pt x="14553" y="19050"/>
                </a:lnTo>
                <a:lnTo>
                  <a:pt x="1528497" y="19050"/>
                </a:lnTo>
                <a:lnTo>
                  <a:pt x="1526241" y="16669"/>
                </a:lnTo>
                <a:lnTo>
                  <a:pt x="1523701" y="14288"/>
                </a:lnTo>
                <a:lnTo>
                  <a:pt x="1520816" y="11906"/>
                </a:lnTo>
                <a:lnTo>
                  <a:pt x="1517491" y="9525"/>
                </a:lnTo>
                <a:lnTo>
                  <a:pt x="1513568" y="7144"/>
                </a:lnTo>
                <a:lnTo>
                  <a:pt x="1508740" y="4763"/>
                </a:lnTo>
                <a:lnTo>
                  <a:pt x="1502225" y="2381"/>
                </a:lnTo>
                <a:lnTo>
                  <a:pt x="1485900" y="0"/>
                </a:lnTo>
                <a:close/>
              </a:path>
            </a:pathLst>
          </a:custGeom>
          <a:solidFill>
            <a:srgbClr val="E8A020"/>
          </a:solidFill>
          <a:ln/>
        </p:spPr>
        <p:txBody>
          <a:bodyPr wrap="none" rtlCol="0" anchor="t"/>
          <a:lstStyle/>
          <a:p>
            <a:pPr marL="0" indent="0">
              <a:buNone/>
            </a:pPr>
            <a:endParaRPr lang="en-US" dirty="0"/>
          </a:p>
        </p:txBody>
      </p:sp>
      <p:sp>
        <p:nvSpPr>
          <p:cNvPr id="28" name="Text 23"/>
          <p:cNvSpPr/>
          <p:nvPr/>
        </p:nvSpPr>
        <p:spPr>
          <a:xfrm>
            <a:off x="4032200" y="1989832"/>
            <a:ext cx="565458" cy="118021"/>
          </a:xfrm>
          <a:prstGeom prst="rect">
            <a:avLst/>
          </a:prstGeom>
          <a:noFill/>
          <a:ln/>
        </p:spPr>
        <p:txBody>
          <a:bodyPr wrap="none" lIns="0" tIns="0" rIns="0" bIns="0" rtlCol="0" anchor="ctr"/>
          <a:lstStyle/>
          <a:p>
            <a:pPr marL="0" indent="0" algn="l">
              <a:lnSpc>
                <a:spcPts val="1209"/>
              </a:lnSpc>
              <a:buNone/>
            </a:pPr>
            <a:r>
              <a:rPr lang="en-US" sz="806" b="1" kern="0" spc="87">
                <a:solidFill>
                  <a:srgbClr val="E8A020"/>
                </a:solidFill>
                <a:latin typeface="Calibri" pitchFamily="34" charset="0"/>
                <a:ea typeface="Calibri" pitchFamily="34" charset="-122"/>
                <a:cs typeface="Calibri" pitchFamily="34" charset="-120"/>
              </a:rPr>
              <a:t>SECTION 3</a:t>
            </a:r>
            <a:endParaRPr lang="en-US" sz="806"/>
          </a:p>
        </p:txBody>
      </p:sp>
      <p:pic>
        <p:nvPicPr>
          <p:cNvPr id="29" name="Image 3" descr="preencoded.png"/>
          <p:cNvPicPr>
            <a:picLocks noChangeAspect="1"/>
          </p:cNvPicPr>
          <p:nvPr/>
        </p:nvPicPr>
        <p:blipFill>
          <a:blip>
            <a:alphaModFix amt="85000"/>
            <a:extLst>
              <a:ext uri="{96DAC541-7B7A-43D3-8B79-37D633B846F1}">
                <asvg:svgBlip xmlns:asvg="http://schemas.microsoft.com/office/drawing/2016/SVG/main" r:embed="rId6"/>
              </a:ext>
            </a:extLst>
          </a:blip>
          <a:stretch>
            <a:fillRect/>
          </a:stretch>
        </p:blipFill>
        <p:spPr>
          <a:xfrm>
            <a:off x="3890376" y="1982548"/>
            <a:ext cx="132588" cy="132588"/>
          </a:xfrm>
          <a:prstGeom prst="rect">
            <a:avLst/>
          </a:prstGeom>
        </p:spPr>
      </p:pic>
      <p:sp>
        <p:nvSpPr>
          <p:cNvPr id="30" name="Text 24"/>
          <p:cNvSpPr/>
          <p:nvPr/>
        </p:nvSpPr>
        <p:spPr>
          <a:xfrm>
            <a:off x="3924300" y="2165003"/>
            <a:ext cx="1321308" cy="310039"/>
          </a:xfrm>
          <a:prstGeom prst="rect">
            <a:avLst/>
          </a:prstGeom>
          <a:noFill/>
          <a:ln/>
        </p:spPr>
        <p:txBody>
          <a:bodyPr wrap="square" lIns="0" tIns="0" rIns="0" bIns="0" rtlCol="0" anchor="t"/>
          <a:lstStyle/>
          <a:p>
            <a:pPr marL="0" indent="0" algn="l">
              <a:lnSpc>
                <a:spcPts val="1511"/>
              </a:lnSpc>
              <a:buNone/>
            </a:pPr>
            <a:r>
              <a:rPr lang="en-US" sz="1209" b="1">
                <a:solidFill>
                  <a:srgbClr val="0D1B3E"/>
                </a:solidFill>
                <a:latin typeface="Calibri" pitchFamily="34" charset="0"/>
                <a:ea typeface="Calibri" pitchFamily="34" charset="-122"/>
                <a:cs typeface="Calibri" pitchFamily="34" charset="-120"/>
              </a:rPr>
              <a:t>Navigating the Funding Landscape</a:t>
            </a:r>
            <a:endParaRPr lang="en-US" sz="1209"/>
          </a:p>
        </p:txBody>
      </p:sp>
      <p:sp>
        <p:nvSpPr>
          <p:cNvPr id="31" name="Text 25"/>
          <p:cNvSpPr/>
          <p:nvPr/>
        </p:nvSpPr>
        <p:spPr>
          <a:xfrm>
            <a:off x="3924300" y="2689175"/>
            <a:ext cx="624373" cy="172641"/>
          </a:xfrm>
          <a:prstGeom prst="roundRect">
            <a:avLst>
              <a:gd name="adj" fmla="val 16920"/>
            </a:avLst>
          </a:prstGeom>
          <a:solidFill>
            <a:srgbClr val="64748B">
              <a:alpha val="10000"/>
            </a:srgbClr>
          </a:solidFill>
          <a:ln/>
        </p:spPr>
        <p:txBody>
          <a:bodyPr wrap="none" lIns="57150" tIns="21590" rIns="57150" bIns="21590" rtlCol="0" anchor="t"/>
          <a:lstStyle/>
          <a:p>
            <a:pPr marL="0" indent="0" algn="l">
              <a:buNone/>
            </a:pPr>
            <a:r>
              <a:rPr lang="en-US" sz="884" b="1" kern="0" spc="27">
                <a:solidFill>
                  <a:srgbClr val="64748B"/>
                </a:solidFill>
                <a:latin typeface="Calibri" pitchFamily="34" charset="0"/>
                <a:ea typeface="Calibri" pitchFamily="34" charset="-122"/>
                <a:cs typeface="Calibri" pitchFamily="34" charset="-120"/>
              </a:rPr>
              <a:t>Min 37 – 50</a:t>
            </a:r>
            <a:endParaRPr lang="en-US" sz="884"/>
          </a:p>
        </p:txBody>
      </p:sp>
      <p:sp>
        <p:nvSpPr>
          <p:cNvPr id="32" name="Text 26"/>
          <p:cNvSpPr/>
          <p:nvPr/>
        </p:nvSpPr>
        <p:spPr>
          <a:xfrm>
            <a:off x="5529263" y="1842641"/>
            <a:ext cx="1543050" cy="1143000"/>
          </a:xfrm>
          <a:prstGeom prst="roundRect">
            <a:avLst>
              <a:gd name="adj" fmla="val 5000"/>
            </a:avLst>
          </a:prstGeom>
          <a:solidFill>
            <a:srgbClr val="F0F4F8"/>
          </a:solidFill>
          <a:ln/>
        </p:spPr>
        <p:txBody>
          <a:bodyPr wrap="square" rtlCol="0" anchor="t"/>
          <a:lstStyle/>
          <a:p>
            <a:pPr marL="0" indent="0">
              <a:buNone/>
            </a:pPr>
            <a:endParaRPr lang="en-US" dirty="0"/>
          </a:p>
        </p:txBody>
      </p:sp>
      <p:sp>
        <p:nvSpPr>
          <p:cNvPr id="33" name="Text 27"/>
          <p:cNvSpPr/>
          <p:nvPr/>
        </p:nvSpPr>
        <p:spPr>
          <a:xfrm>
            <a:off x="5529263" y="1842641"/>
            <a:ext cx="1543050" cy="19050"/>
          </a:xfrm>
          <a:custGeom>
            <a:avLst/>
            <a:gdLst/>
            <a:ahLst/>
            <a:cxnLst/>
            <a:rect l="l" t="t" r="r" b="b"/>
            <a:pathLst>
              <a:path w="1543050" h="19050">
                <a:moveTo>
                  <a:pt x="57150" y="0"/>
                </a:moveTo>
                <a:lnTo>
                  <a:pt x="40825" y="2381"/>
                </a:lnTo>
                <a:lnTo>
                  <a:pt x="34310" y="4763"/>
                </a:lnTo>
                <a:lnTo>
                  <a:pt x="29482" y="7144"/>
                </a:lnTo>
                <a:lnTo>
                  <a:pt x="25559" y="9525"/>
                </a:lnTo>
                <a:lnTo>
                  <a:pt x="22234" y="11906"/>
                </a:lnTo>
                <a:lnTo>
                  <a:pt x="19349" y="14288"/>
                </a:lnTo>
                <a:lnTo>
                  <a:pt x="16809" y="16669"/>
                </a:lnTo>
                <a:lnTo>
                  <a:pt x="14553" y="19050"/>
                </a:lnTo>
                <a:lnTo>
                  <a:pt x="1528497" y="19050"/>
                </a:lnTo>
                <a:lnTo>
                  <a:pt x="1526241" y="16669"/>
                </a:lnTo>
                <a:lnTo>
                  <a:pt x="1523701" y="14288"/>
                </a:lnTo>
                <a:lnTo>
                  <a:pt x="1520816" y="11906"/>
                </a:lnTo>
                <a:lnTo>
                  <a:pt x="1517491" y="9525"/>
                </a:lnTo>
                <a:lnTo>
                  <a:pt x="1513568" y="7144"/>
                </a:lnTo>
                <a:lnTo>
                  <a:pt x="1508740" y="4763"/>
                </a:lnTo>
                <a:lnTo>
                  <a:pt x="1502225" y="2381"/>
                </a:lnTo>
                <a:lnTo>
                  <a:pt x="1485900" y="0"/>
                </a:lnTo>
                <a:close/>
              </a:path>
            </a:pathLst>
          </a:custGeom>
          <a:solidFill>
            <a:srgbClr val="E8A020"/>
          </a:solidFill>
          <a:ln/>
        </p:spPr>
        <p:txBody>
          <a:bodyPr wrap="none" rtlCol="0" anchor="t"/>
          <a:lstStyle/>
          <a:p>
            <a:pPr marL="0" indent="0">
              <a:buNone/>
            </a:pPr>
            <a:endParaRPr lang="en-US" dirty="0"/>
          </a:p>
        </p:txBody>
      </p:sp>
      <p:sp>
        <p:nvSpPr>
          <p:cNvPr id="34" name="Text 28"/>
          <p:cNvSpPr/>
          <p:nvPr/>
        </p:nvSpPr>
        <p:spPr>
          <a:xfrm>
            <a:off x="5760988" y="1989832"/>
            <a:ext cx="565458" cy="118021"/>
          </a:xfrm>
          <a:prstGeom prst="rect">
            <a:avLst/>
          </a:prstGeom>
          <a:noFill/>
          <a:ln/>
        </p:spPr>
        <p:txBody>
          <a:bodyPr wrap="none" lIns="0" tIns="0" rIns="0" bIns="0" rtlCol="0" anchor="ctr"/>
          <a:lstStyle/>
          <a:p>
            <a:pPr marL="0" indent="0" algn="l">
              <a:lnSpc>
                <a:spcPts val="1209"/>
              </a:lnSpc>
              <a:buNone/>
            </a:pPr>
            <a:r>
              <a:rPr lang="en-US" sz="806" b="1" kern="0" spc="87">
                <a:solidFill>
                  <a:srgbClr val="E8A020"/>
                </a:solidFill>
                <a:latin typeface="Calibri" pitchFamily="34" charset="0"/>
                <a:ea typeface="Calibri" pitchFamily="34" charset="-122"/>
                <a:cs typeface="Calibri" pitchFamily="34" charset="-120"/>
              </a:rPr>
              <a:t>SECTION 4</a:t>
            </a:r>
            <a:endParaRPr lang="en-US" sz="806"/>
          </a:p>
        </p:txBody>
      </p:sp>
      <p:pic>
        <p:nvPicPr>
          <p:cNvPr id="35" name="Image 4" descr="preencoded.png"/>
          <p:cNvPicPr>
            <a:picLocks noChangeAspect="1"/>
          </p:cNvPicPr>
          <p:nvPr/>
        </p:nvPicPr>
        <p:blipFill>
          <a:blip>
            <a:alphaModFix amt="85000"/>
            <a:extLst>
              <a:ext uri="{96DAC541-7B7A-43D3-8B79-37D633B846F1}">
                <asvg:svgBlip xmlns:asvg="http://schemas.microsoft.com/office/drawing/2016/SVG/main" r:embed="rId7"/>
              </a:ext>
            </a:extLst>
          </a:blip>
          <a:stretch>
            <a:fillRect/>
          </a:stretch>
        </p:blipFill>
        <p:spPr>
          <a:xfrm>
            <a:off x="5619164" y="1982548"/>
            <a:ext cx="132588" cy="132588"/>
          </a:xfrm>
          <a:prstGeom prst="rect">
            <a:avLst/>
          </a:prstGeom>
        </p:spPr>
      </p:pic>
      <p:sp>
        <p:nvSpPr>
          <p:cNvPr id="36" name="Text 29"/>
          <p:cNvSpPr/>
          <p:nvPr/>
        </p:nvSpPr>
        <p:spPr>
          <a:xfrm>
            <a:off x="5653088" y="2165003"/>
            <a:ext cx="1321308" cy="310039"/>
          </a:xfrm>
          <a:prstGeom prst="rect">
            <a:avLst/>
          </a:prstGeom>
          <a:noFill/>
          <a:ln/>
        </p:spPr>
        <p:txBody>
          <a:bodyPr wrap="square" lIns="0" tIns="0" rIns="0" bIns="0" rtlCol="0" anchor="t"/>
          <a:lstStyle/>
          <a:p>
            <a:pPr marL="0" indent="0" algn="l">
              <a:lnSpc>
                <a:spcPts val="1511"/>
              </a:lnSpc>
              <a:buNone/>
            </a:pPr>
            <a:r>
              <a:rPr lang="en-US" sz="1209" b="1">
                <a:solidFill>
                  <a:srgbClr val="0D1B3E"/>
                </a:solidFill>
                <a:latin typeface="Calibri" pitchFamily="34" charset="0"/>
                <a:ea typeface="Calibri" pitchFamily="34" charset="-122"/>
                <a:cs typeface="Calibri" pitchFamily="34" charset="-120"/>
              </a:rPr>
              <a:t>Applied Examples</a:t>
            </a:r>
            <a:endParaRPr lang="en-US" sz="1209"/>
          </a:p>
        </p:txBody>
      </p:sp>
      <p:sp>
        <p:nvSpPr>
          <p:cNvPr id="37" name="Text 30"/>
          <p:cNvSpPr/>
          <p:nvPr/>
        </p:nvSpPr>
        <p:spPr>
          <a:xfrm>
            <a:off x="5653088" y="2689175"/>
            <a:ext cx="624373" cy="172641"/>
          </a:xfrm>
          <a:prstGeom prst="roundRect">
            <a:avLst>
              <a:gd name="adj" fmla="val 16920"/>
            </a:avLst>
          </a:prstGeom>
          <a:solidFill>
            <a:srgbClr val="64748B">
              <a:alpha val="10000"/>
            </a:srgbClr>
          </a:solidFill>
          <a:ln/>
        </p:spPr>
        <p:txBody>
          <a:bodyPr wrap="none" lIns="57150" tIns="21590" rIns="57150" bIns="21590" rtlCol="0" anchor="t"/>
          <a:lstStyle/>
          <a:p>
            <a:pPr marL="0" indent="0" algn="l">
              <a:buNone/>
            </a:pPr>
            <a:r>
              <a:rPr lang="en-US" sz="884" b="1" kern="0" spc="27">
                <a:solidFill>
                  <a:srgbClr val="64748B"/>
                </a:solidFill>
                <a:latin typeface="Calibri" pitchFamily="34" charset="0"/>
                <a:ea typeface="Calibri" pitchFamily="34" charset="-122"/>
                <a:cs typeface="Calibri" pitchFamily="34" charset="-120"/>
              </a:rPr>
              <a:t>Min 50 – 67</a:t>
            </a:r>
            <a:endParaRPr lang="en-US" sz="884"/>
          </a:p>
        </p:txBody>
      </p:sp>
      <p:sp>
        <p:nvSpPr>
          <p:cNvPr id="38" name="Text 31"/>
          <p:cNvSpPr/>
          <p:nvPr/>
        </p:nvSpPr>
        <p:spPr>
          <a:xfrm>
            <a:off x="7258050" y="1842641"/>
            <a:ext cx="1543050" cy="1143000"/>
          </a:xfrm>
          <a:prstGeom prst="roundRect">
            <a:avLst>
              <a:gd name="adj" fmla="val 5000"/>
            </a:avLst>
          </a:prstGeom>
          <a:solidFill>
            <a:srgbClr val="F0F4F8"/>
          </a:solidFill>
          <a:ln/>
        </p:spPr>
        <p:txBody>
          <a:bodyPr wrap="square" rtlCol="0" anchor="t"/>
          <a:lstStyle/>
          <a:p>
            <a:pPr marL="0" indent="0">
              <a:buNone/>
            </a:pPr>
            <a:endParaRPr lang="en-US" dirty="0"/>
          </a:p>
        </p:txBody>
      </p:sp>
      <p:sp>
        <p:nvSpPr>
          <p:cNvPr id="39" name="Text 32"/>
          <p:cNvSpPr/>
          <p:nvPr/>
        </p:nvSpPr>
        <p:spPr>
          <a:xfrm>
            <a:off x="7258050" y="1842641"/>
            <a:ext cx="1543050" cy="19050"/>
          </a:xfrm>
          <a:custGeom>
            <a:avLst/>
            <a:gdLst/>
            <a:ahLst/>
            <a:cxnLst/>
            <a:rect l="l" t="t" r="r" b="b"/>
            <a:pathLst>
              <a:path w="1543050" h="19050">
                <a:moveTo>
                  <a:pt x="57150" y="0"/>
                </a:moveTo>
                <a:lnTo>
                  <a:pt x="40825" y="2381"/>
                </a:lnTo>
                <a:lnTo>
                  <a:pt x="34310" y="4763"/>
                </a:lnTo>
                <a:lnTo>
                  <a:pt x="29482" y="7144"/>
                </a:lnTo>
                <a:lnTo>
                  <a:pt x="25559" y="9525"/>
                </a:lnTo>
                <a:lnTo>
                  <a:pt x="22234" y="11906"/>
                </a:lnTo>
                <a:lnTo>
                  <a:pt x="19349" y="14288"/>
                </a:lnTo>
                <a:lnTo>
                  <a:pt x="16809" y="16669"/>
                </a:lnTo>
                <a:lnTo>
                  <a:pt x="14553" y="19050"/>
                </a:lnTo>
                <a:lnTo>
                  <a:pt x="1528497" y="19050"/>
                </a:lnTo>
                <a:lnTo>
                  <a:pt x="1526241" y="16669"/>
                </a:lnTo>
                <a:lnTo>
                  <a:pt x="1523701" y="14288"/>
                </a:lnTo>
                <a:lnTo>
                  <a:pt x="1520816" y="11906"/>
                </a:lnTo>
                <a:lnTo>
                  <a:pt x="1517491" y="9525"/>
                </a:lnTo>
                <a:lnTo>
                  <a:pt x="1513568" y="7144"/>
                </a:lnTo>
                <a:lnTo>
                  <a:pt x="1508740" y="4763"/>
                </a:lnTo>
                <a:lnTo>
                  <a:pt x="1502225" y="2381"/>
                </a:lnTo>
                <a:lnTo>
                  <a:pt x="1485900" y="0"/>
                </a:lnTo>
                <a:close/>
              </a:path>
            </a:pathLst>
          </a:custGeom>
          <a:solidFill>
            <a:srgbClr val="E8A020"/>
          </a:solidFill>
          <a:ln/>
        </p:spPr>
        <p:txBody>
          <a:bodyPr wrap="none" rtlCol="0" anchor="t"/>
          <a:lstStyle/>
          <a:p>
            <a:pPr marL="0" indent="0">
              <a:buNone/>
            </a:pPr>
            <a:endParaRPr lang="en-US" dirty="0"/>
          </a:p>
        </p:txBody>
      </p:sp>
      <p:sp>
        <p:nvSpPr>
          <p:cNvPr id="40" name="Text 33"/>
          <p:cNvSpPr/>
          <p:nvPr/>
        </p:nvSpPr>
        <p:spPr>
          <a:xfrm>
            <a:off x="7489775" y="1989832"/>
            <a:ext cx="565458" cy="118021"/>
          </a:xfrm>
          <a:prstGeom prst="rect">
            <a:avLst/>
          </a:prstGeom>
          <a:noFill/>
          <a:ln/>
        </p:spPr>
        <p:txBody>
          <a:bodyPr wrap="none" lIns="0" tIns="0" rIns="0" bIns="0" rtlCol="0" anchor="ctr"/>
          <a:lstStyle/>
          <a:p>
            <a:pPr marL="0" indent="0" algn="l">
              <a:lnSpc>
                <a:spcPts val="1209"/>
              </a:lnSpc>
              <a:buNone/>
            </a:pPr>
            <a:r>
              <a:rPr lang="en-US" sz="806" b="1" kern="0" spc="87">
                <a:solidFill>
                  <a:srgbClr val="E8A020"/>
                </a:solidFill>
                <a:latin typeface="Calibri" pitchFamily="34" charset="0"/>
                <a:ea typeface="Calibri" pitchFamily="34" charset="-122"/>
                <a:cs typeface="Calibri" pitchFamily="34" charset="-120"/>
              </a:rPr>
              <a:t>SECTION 5</a:t>
            </a:r>
            <a:endParaRPr lang="en-US" sz="806"/>
          </a:p>
        </p:txBody>
      </p:sp>
      <p:pic>
        <p:nvPicPr>
          <p:cNvPr id="41" name="Image 5" descr="preencoded.png"/>
          <p:cNvPicPr>
            <a:picLocks noChangeAspect="1"/>
          </p:cNvPicPr>
          <p:nvPr/>
        </p:nvPicPr>
        <p:blipFill>
          <a:blip>
            <a:alphaModFix amt="85000"/>
            <a:extLst>
              <a:ext uri="{96DAC541-7B7A-43D3-8B79-37D633B846F1}">
                <asvg:svgBlip xmlns:asvg="http://schemas.microsoft.com/office/drawing/2016/SVG/main" r:embed="rId8"/>
              </a:ext>
            </a:extLst>
          </a:blip>
          <a:stretch>
            <a:fillRect/>
          </a:stretch>
        </p:blipFill>
        <p:spPr>
          <a:xfrm>
            <a:off x="7347951" y="1982548"/>
            <a:ext cx="132588" cy="132588"/>
          </a:xfrm>
          <a:prstGeom prst="rect">
            <a:avLst/>
          </a:prstGeom>
        </p:spPr>
      </p:pic>
      <p:sp>
        <p:nvSpPr>
          <p:cNvPr id="42" name="Text 34"/>
          <p:cNvSpPr/>
          <p:nvPr/>
        </p:nvSpPr>
        <p:spPr>
          <a:xfrm>
            <a:off x="7381875" y="2165003"/>
            <a:ext cx="1321308" cy="465058"/>
          </a:xfrm>
          <a:prstGeom prst="rect">
            <a:avLst/>
          </a:prstGeom>
          <a:noFill/>
          <a:ln/>
        </p:spPr>
        <p:txBody>
          <a:bodyPr wrap="square" lIns="0" tIns="0" rIns="0" bIns="0" rtlCol="0" anchor="t"/>
          <a:lstStyle/>
          <a:p>
            <a:pPr marL="0" indent="0" algn="l">
              <a:lnSpc>
                <a:spcPts val="1511"/>
              </a:lnSpc>
              <a:buNone/>
            </a:pPr>
            <a:r>
              <a:rPr lang="en-US" sz="1209" b="1">
                <a:solidFill>
                  <a:srgbClr val="0D1B3E"/>
                </a:solidFill>
                <a:latin typeface="Calibri" pitchFamily="34" charset="0"/>
                <a:ea typeface="Calibri" pitchFamily="34" charset="-122"/>
                <a:cs typeface="Calibri" pitchFamily="34" charset="-120"/>
              </a:rPr>
              <a:t>Build Your Own System + Commitments</a:t>
            </a:r>
            <a:endParaRPr lang="en-US" sz="1209"/>
          </a:p>
        </p:txBody>
      </p:sp>
      <p:sp>
        <p:nvSpPr>
          <p:cNvPr id="43" name="Text 35"/>
          <p:cNvSpPr/>
          <p:nvPr/>
        </p:nvSpPr>
        <p:spPr>
          <a:xfrm>
            <a:off x="7381875" y="2689175"/>
            <a:ext cx="624373" cy="172641"/>
          </a:xfrm>
          <a:prstGeom prst="roundRect">
            <a:avLst>
              <a:gd name="adj" fmla="val 16920"/>
            </a:avLst>
          </a:prstGeom>
          <a:solidFill>
            <a:srgbClr val="64748B">
              <a:alpha val="10000"/>
            </a:srgbClr>
          </a:solidFill>
          <a:ln/>
        </p:spPr>
        <p:txBody>
          <a:bodyPr wrap="none" lIns="57150" tIns="21590" rIns="57150" bIns="21590" rtlCol="0" anchor="t"/>
          <a:lstStyle/>
          <a:p>
            <a:pPr marL="0" indent="0" algn="l">
              <a:buNone/>
            </a:pPr>
            <a:r>
              <a:rPr lang="en-US" sz="884" b="1" kern="0" spc="27">
                <a:solidFill>
                  <a:srgbClr val="64748B"/>
                </a:solidFill>
                <a:latin typeface="Calibri" pitchFamily="34" charset="0"/>
                <a:ea typeface="Calibri" pitchFamily="34" charset="-122"/>
                <a:cs typeface="Calibri" pitchFamily="34" charset="-120"/>
              </a:rPr>
              <a:t>Min 67 – 75</a:t>
            </a:r>
            <a:endParaRPr lang="en-US" sz="884"/>
          </a:p>
        </p:txBody>
      </p:sp>
      <p:sp>
        <p:nvSpPr>
          <p:cNvPr id="44" name="Text 36"/>
          <p:cNvSpPr/>
          <p:nvPr/>
        </p:nvSpPr>
        <p:spPr>
          <a:xfrm>
            <a:off x="857250" y="1200150"/>
            <a:ext cx="514350" cy="565785"/>
          </a:xfrm>
          <a:prstGeom prst="ellipse">
            <a:avLst/>
          </a:prstGeom>
          <a:solidFill>
            <a:srgbClr val="E8A020"/>
          </a:solidFill>
          <a:ln/>
          <a:effectLst>
            <a:outerShdw blurRad="101600" dist="50800" dir="16200000" algn="bl" rotWithShape="0">
              <a:srgbClr val="E8A020">
                <a:alpha val="25000"/>
              </a:srgbClr>
            </a:outerShdw>
          </a:effectLst>
        </p:spPr>
        <p:txBody>
          <a:bodyPr wrap="none" lIns="0" tIns="0" rIns="0" bIns="0" rtlCol="0" anchor="ctr"/>
          <a:lstStyle/>
          <a:p>
            <a:pPr marL="0" indent="0" algn="ctr">
              <a:buNone/>
            </a:pPr>
            <a:r>
              <a:rPr lang="en-US" sz="1580" b="1" dirty="0">
                <a:solidFill>
                  <a:srgbClr val="FFFFFF"/>
                </a:solidFill>
                <a:latin typeface="Calibri" pitchFamily="34" charset="0"/>
                <a:ea typeface="Calibri" pitchFamily="34" charset="-122"/>
                <a:cs typeface="Calibri" pitchFamily="34" charset="-120"/>
              </a:rPr>
              <a:t>1</a:t>
            </a:r>
            <a:endParaRPr lang="en-US" sz="1580" dirty="0"/>
          </a:p>
        </p:txBody>
      </p:sp>
      <p:sp>
        <p:nvSpPr>
          <p:cNvPr id="45" name="Text 37"/>
          <p:cNvSpPr/>
          <p:nvPr/>
        </p:nvSpPr>
        <p:spPr>
          <a:xfrm>
            <a:off x="2586038" y="1200150"/>
            <a:ext cx="514350" cy="565785"/>
          </a:xfrm>
          <a:prstGeom prst="ellipse">
            <a:avLst/>
          </a:prstGeom>
          <a:solidFill>
            <a:srgbClr val="E8A020"/>
          </a:solidFill>
          <a:ln/>
          <a:effectLst>
            <a:outerShdw blurRad="101600" dist="50800" dir="16200000" algn="bl" rotWithShape="0">
              <a:srgbClr val="E8A020">
                <a:alpha val="25000"/>
              </a:srgbClr>
            </a:outerShdw>
          </a:effectLst>
        </p:spPr>
        <p:txBody>
          <a:bodyPr wrap="none" lIns="0" tIns="0" rIns="0" bIns="0" rtlCol="0" anchor="ctr"/>
          <a:lstStyle/>
          <a:p>
            <a:pPr marL="0" indent="0" algn="ctr">
              <a:buNone/>
            </a:pPr>
            <a:r>
              <a:rPr lang="en-US" sz="1580" b="1" dirty="0">
                <a:solidFill>
                  <a:srgbClr val="FFFFFF"/>
                </a:solidFill>
                <a:latin typeface="Calibri" pitchFamily="34" charset="0"/>
                <a:ea typeface="Calibri" pitchFamily="34" charset="-122"/>
                <a:cs typeface="Calibri" pitchFamily="34" charset="-120"/>
              </a:rPr>
              <a:t>2</a:t>
            </a:r>
            <a:endParaRPr lang="en-US" sz="1580" dirty="0"/>
          </a:p>
        </p:txBody>
      </p:sp>
      <p:sp>
        <p:nvSpPr>
          <p:cNvPr id="46" name="Text 38"/>
          <p:cNvSpPr/>
          <p:nvPr/>
        </p:nvSpPr>
        <p:spPr>
          <a:xfrm>
            <a:off x="4314825" y="1200150"/>
            <a:ext cx="514350" cy="565785"/>
          </a:xfrm>
          <a:prstGeom prst="ellipse">
            <a:avLst/>
          </a:prstGeom>
          <a:solidFill>
            <a:srgbClr val="E8A020"/>
          </a:solidFill>
          <a:ln/>
          <a:effectLst>
            <a:outerShdw blurRad="101600" dist="50800" dir="16200000" algn="bl" rotWithShape="0">
              <a:srgbClr val="E8A020">
                <a:alpha val="25000"/>
              </a:srgbClr>
            </a:outerShdw>
          </a:effectLst>
        </p:spPr>
        <p:txBody>
          <a:bodyPr wrap="none" lIns="0" tIns="0" rIns="0" bIns="0" rtlCol="0" anchor="ctr"/>
          <a:lstStyle/>
          <a:p>
            <a:pPr marL="0" indent="0" algn="ctr">
              <a:buNone/>
            </a:pPr>
            <a:r>
              <a:rPr lang="en-US" sz="1580" b="1" dirty="0">
                <a:solidFill>
                  <a:srgbClr val="FFFFFF"/>
                </a:solidFill>
                <a:latin typeface="Calibri" pitchFamily="34" charset="0"/>
                <a:ea typeface="Calibri" pitchFamily="34" charset="-122"/>
                <a:cs typeface="Calibri" pitchFamily="34" charset="-120"/>
              </a:rPr>
              <a:t>3</a:t>
            </a:r>
            <a:endParaRPr lang="en-US" sz="1580" dirty="0"/>
          </a:p>
        </p:txBody>
      </p:sp>
      <p:sp>
        <p:nvSpPr>
          <p:cNvPr id="47" name="Text 39"/>
          <p:cNvSpPr/>
          <p:nvPr/>
        </p:nvSpPr>
        <p:spPr>
          <a:xfrm>
            <a:off x="6043613" y="1200150"/>
            <a:ext cx="514350" cy="565785"/>
          </a:xfrm>
          <a:prstGeom prst="ellipse">
            <a:avLst/>
          </a:prstGeom>
          <a:solidFill>
            <a:srgbClr val="E8A020"/>
          </a:solidFill>
          <a:ln/>
          <a:effectLst>
            <a:outerShdw blurRad="101600" dist="50800" dir="16200000" algn="bl" rotWithShape="0">
              <a:srgbClr val="E8A020">
                <a:alpha val="25000"/>
              </a:srgbClr>
            </a:outerShdw>
          </a:effectLst>
        </p:spPr>
        <p:txBody>
          <a:bodyPr wrap="none" lIns="0" tIns="0" rIns="0" bIns="0" rtlCol="0" anchor="ctr"/>
          <a:lstStyle/>
          <a:p>
            <a:pPr marL="0" indent="0" algn="ctr">
              <a:buNone/>
            </a:pPr>
            <a:r>
              <a:rPr lang="en-US" sz="1580" b="1" dirty="0">
                <a:solidFill>
                  <a:srgbClr val="FFFFFF"/>
                </a:solidFill>
                <a:latin typeface="Calibri" pitchFamily="34" charset="0"/>
                <a:ea typeface="Calibri" pitchFamily="34" charset="-122"/>
                <a:cs typeface="Calibri" pitchFamily="34" charset="-120"/>
              </a:rPr>
              <a:t>4</a:t>
            </a:r>
            <a:endParaRPr lang="en-US" sz="1580" dirty="0"/>
          </a:p>
        </p:txBody>
      </p:sp>
      <p:sp>
        <p:nvSpPr>
          <p:cNvPr id="48" name="Text 40"/>
          <p:cNvSpPr/>
          <p:nvPr/>
        </p:nvSpPr>
        <p:spPr>
          <a:xfrm>
            <a:off x="7772400" y="1200150"/>
            <a:ext cx="514350" cy="565785"/>
          </a:xfrm>
          <a:prstGeom prst="ellipse">
            <a:avLst/>
          </a:prstGeom>
          <a:solidFill>
            <a:srgbClr val="E8A020"/>
          </a:solidFill>
          <a:ln/>
          <a:effectLst>
            <a:outerShdw blurRad="101600" dist="50800" dir="16200000" algn="bl" rotWithShape="0">
              <a:srgbClr val="E8A020">
                <a:alpha val="25000"/>
              </a:srgbClr>
            </a:outerShdw>
          </a:effectLst>
        </p:spPr>
        <p:txBody>
          <a:bodyPr wrap="none" lIns="0" tIns="0" rIns="0" bIns="0" rtlCol="0" anchor="ctr"/>
          <a:lstStyle/>
          <a:p>
            <a:pPr marL="0" indent="0" algn="ctr">
              <a:buNone/>
            </a:pPr>
            <a:r>
              <a:rPr lang="en-US" sz="1580" b="1" dirty="0">
                <a:solidFill>
                  <a:srgbClr val="FFFFFF"/>
                </a:solidFill>
                <a:latin typeface="Calibri" pitchFamily="34" charset="0"/>
                <a:ea typeface="Calibri" pitchFamily="34" charset="-122"/>
                <a:cs typeface="Calibri" pitchFamily="34" charset="-120"/>
              </a:rPr>
              <a:t>5</a:t>
            </a:r>
            <a:endParaRPr lang="en-US" sz="15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70000">
                <a:srgbClr val="000000">
                  <a:alpha val="0"/>
                </a:srgbClr>
              </a:gs>
            </a:gsLst>
            <a:path path="circle">
              <a:fillToRect l="85000" t="50000" r="15000" b="50000"/>
            </a:path>
          </a:gradFill>
          <a:ln/>
        </p:spPr>
        <p:txBody>
          <a:bodyPr wrap="square" rtlCol="0" anchor="t"/>
          <a:lstStyle/>
          <a:p>
            <a:pPr marL="0" indent="0">
              <a:buNone/>
            </a:pPr>
            <a:endParaRPr lang="en-US"/>
          </a:p>
        </p:txBody>
      </p:sp>
      <p:sp>
        <p:nvSpPr>
          <p:cNvPr id="3" name="Text 1"/>
          <p:cNvSpPr/>
          <p:nvPr/>
        </p:nvSpPr>
        <p:spPr>
          <a:xfrm>
            <a:off x="3700000" y="342900"/>
            <a:ext cx="1744000" cy="244376"/>
          </a:xfrm>
          <a:prstGeom prst="roundRect">
            <a:avLst>
              <a:gd name="adj" fmla="val 58725"/>
            </a:avLst>
          </a:prstGeom>
          <a:solidFill>
            <a:srgbClr val="E8A020">
              <a:alpha val="12000"/>
            </a:srgbClr>
          </a:solidFill>
          <a:ln w="9525">
            <a:solidFill>
              <a:srgbClr val="E8A020">
                <a:alpha val="35000"/>
              </a:srgbClr>
            </a:solidFill>
          </a:ln>
        </p:spPr>
        <p:txBody>
          <a:bodyPr wrap="none" lIns="157480" tIns="43180" rIns="157480" bIns="43180" rtlCol="0" anchor="t"/>
          <a:lstStyle/>
          <a:p>
            <a:pPr marL="0" indent="0" algn="l">
              <a:buNone/>
            </a:pPr>
            <a:r>
              <a:rPr lang="en-US" sz="730" b="1" kern="0" spc="131">
                <a:solidFill>
                  <a:srgbClr val="E8A020"/>
                </a:solidFill>
                <a:latin typeface="Calibri" pitchFamily="34" charset="0"/>
                <a:ea typeface="Calibri" pitchFamily="34" charset="-122"/>
                <a:cs typeface="Calibri" pitchFamily="34" charset="-120"/>
              </a:rPr>
              <a:t>THE MOTIVATION</a:t>
            </a:r>
            <a:endParaRPr lang="en-US" sz="730"/>
          </a:p>
        </p:txBody>
      </p:sp>
      <p:sp>
        <p:nvSpPr>
          <p:cNvPr id="4" name="Text 2"/>
          <p:cNvSpPr/>
          <p:nvPr/>
        </p:nvSpPr>
        <p:spPr>
          <a:xfrm>
            <a:off x="0" y="0"/>
            <a:ext cx="9144000" cy="5143500"/>
          </a:xfrm>
          <a:prstGeom prst="rect">
            <a:avLst/>
          </a:prstGeom>
          <a:gradFill rotWithShape="1">
            <a:gsLst>
              <a:gs pos="0">
                <a:srgbClr val="000000">
                  <a:alpha val="0"/>
                </a:srgbClr>
              </a:gs>
              <a:gs pos="33333">
                <a:srgbClr val="000000">
                  <a:alpha val="0"/>
                </a:srgbClr>
              </a:gs>
              <a:gs pos="66667">
                <a:srgbClr val="E8A020">
                  <a:alpha val="4000"/>
                </a:srgbClr>
              </a:gs>
              <a:gs pos="100000">
                <a:srgbClr val="E8A020">
                  <a:alpha val="4000"/>
                </a:srgbClr>
              </a:gs>
            </a:gsLst>
            <a:lin ang="16200000" scaled="1"/>
          </a:gradFill>
          <a:ln/>
        </p:spPr>
        <p:txBody>
          <a:bodyPr wrap="square" rtlCol="0" anchor="t"/>
          <a:lstStyle/>
          <a:p>
            <a:pPr marL="0" indent="0">
              <a:buNone/>
            </a:pPr>
            <a:endParaRPr lang="en-US"/>
          </a:p>
        </p:txBody>
      </p:sp>
      <p:sp>
        <p:nvSpPr>
          <p:cNvPr id="5" name="Text 3"/>
          <p:cNvSpPr/>
          <p:nvPr/>
        </p:nvSpPr>
        <p:spPr>
          <a:xfrm>
            <a:off x="-107950" y="-222200"/>
            <a:ext cx="9144000" cy="5143500"/>
          </a:xfrm>
          <a:prstGeom prst="rect">
            <a:avLst/>
          </a:prstGeom>
          <a:gradFill rotWithShape="1">
            <a:gsLst>
              <a:gs pos="0">
                <a:srgbClr val="000000">
                  <a:alpha val="0"/>
                </a:srgbClr>
              </a:gs>
              <a:gs pos="33333">
                <a:srgbClr val="000000">
                  <a:alpha val="0"/>
                </a:srgbClr>
              </a:gs>
              <a:gs pos="66667">
                <a:srgbClr val="E8A020">
                  <a:alpha val="3000"/>
                </a:srgbClr>
              </a:gs>
              <a:gs pos="100000">
                <a:srgbClr val="E8A020">
                  <a:alpha val="3000"/>
                </a:srgbClr>
              </a:gs>
            </a:gsLst>
            <a:lin ang="0" scaled="1"/>
          </a:gradFill>
          <a:ln/>
        </p:spPr>
        <p:txBody>
          <a:bodyPr wrap="square" rtlCol="0" anchor="t"/>
          <a:lstStyle/>
          <a:p>
            <a:pPr marL="0" indent="0">
              <a:buNone/>
            </a:pPr>
            <a:endParaRPr lang="en-US"/>
          </a:p>
        </p:txBody>
      </p:sp>
      <p:sp>
        <p:nvSpPr>
          <p:cNvPr id="6" name="Text 4"/>
          <p:cNvSpPr/>
          <p:nvPr/>
        </p:nvSpPr>
        <p:spPr>
          <a:xfrm>
            <a:off x="0" y="0"/>
            <a:ext cx="43160" cy="5143500"/>
          </a:xfrm>
          <a:prstGeom prst="rect">
            <a:avLst/>
          </a:prstGeom>
          <a:gradFill rotWithShape="1">
            <a:gsLst>
              <a:gs pos="0">
                <a:srgbClr val="000000">
                  <a:alpha val="0"/>
                </a:srgbClr>
              </a:gs>
              <a:gs pos="30000">
                <a:srgbClr val="E8A020">
                  <a:alpha val="70000"/>
                </a:srgbClr>
              </a:gs>
              <a:gs pos="70000">
                <a:srgbClr val="E8A020">
                  <a:alpha val="70000"/>
                </a:srgbClr>
              </a:gs>
              <a:gs pos="100000">
                <a:srgbClr val="000000">
                  <a:alpha val="0"/>
                </a:srgbClr>
              </a:gs>
            </a:gsLst>
            <a:lin ang="5400000" scaled="1"/>
          </a:gradFill>
          <a:ln/>
        </p:spPr>
        <p:txBody>
          <a:bodyPr wrap="square" rtlCol="0" anchor="t"/>
          <a:lstStyle/>
          <a:p>
            <a:pPr marL="0" indent="0">
              <a:buNone/>
            </a:pPr>
            <a:endParaRPr lang="en-US"/>
          </a:p>
        </p:txBody>
      </p:sp>
      <p:sp>
        <p:nvSpPr>
          <p:cNvPr id="7" name="Text 5"/>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
        <p:nvSpPr>
          <p:cNvPr id="8" name="Text 6"/>
          <p:cNvSpPr/>
          <p:nvPr/>
        </p:nvSpPr>
        <p:spPr>
          <a:xfrm>
            <a:off x="3500000" y="1200000"/>
            <a:ext cx="2200000" cy="1428750"/>
          </a:xfrm>
          <a:prstGeom prst="rect">
            <a:avLst/>
          </a:prstGeom>
          <a:noFill/>
          <a:ln>
            <a:solidFill>
              <a:schemeClr val="accent2">
                <a:lumMod val="60000"/>
                <a:lumOff val="40000"/>
              </a:schemeClr>
            </a:solidFill>
          </a:ln>
          <a:effectLst>
            <a:outerShdw blurRad="285750" dist="29210" dir="5400000" algn="bl" rotWithShape="0">
              <a:srgbClr val="E8A020">
                <a:alpha val="35000"/>
              </a:srgbClr>
            </a:outerShdw>
          </a:effectLst>
        </p:spPr>
        <p:txBody>
          <a:bodyPr wrap="none" lIns="0" tIns="0" rIns="0" bIns="0" rtlCol="0" anchor="t"/>
          <a:lstStyle/>
          <a:p>
            <a:pPr marL="0" indent="0" algn="ctr">
              <a:lnSpc>
                <a:spcPts val="11250"/>
              </a:lnSpc>
              <a:buNone/>
            </a:pPr>
            <a:r>
              <a:rPr lang="en-US" sz="11250" kern="0" spc="-225" dirty="0">
                <a:solidFill>
                  <a:srgbClr val="E8A020"/>
                </a:solidFill>
                <a:effectLst>
                  <a:glow rad="2143125">
                    <a:srgbClr val="E8A020">
                      <a:alpha val="3000"/>
                    </a:srgbClr>
                  </a:glow>
                </a:effectLst>
                <a:latin typeface="Calibri Light" pitchFamily="34" charset="0"/>
                <a:ea typeface="Calibri Light" pitchFamily="34" charset="-122"/>
                <a:cs typeface="Calibri Light" pitchFamily="34" charset="-120"/>
              </a:rPr>
              <a:t>22</a:t>
            </a:r>
            <a:endParaRPr lang="en-US" sz="11250" dirty="0"/>
          </a:p>
        </p:txBody>
      </p:sp>
      <p:sp>
        <p:nvSpPr>
          <p:cNvPr id="9" name="Text 7"/>
          <p:cNvSpPr/>
          <p:nvPr/>
        </p:nvSpPr>
        <p:spPr>
          <a:xfrm>
            <a:off x="901700" y="2700000"/>
            <a:ext cx="7042300" cy="500000"/>
          </a:xfrm>
          <a:prstGeom prst="rect">
            <a:avLst/>
          </a:prstGeom>
          <a:noFill/>
          <a:ln/>
        </p:spPr>
        <p:txBody>
          <a:bodyPr wrap="square" lIns="0" tIns="0" rIns="0" bIns="0" rtlCol="0" anchor="t"/>
          <a:lstStyle/>
          <a:p>
            <a:pPr marL="0" indent="0" algn="ctr">
              <a:lnSpc>
                <a:spcPts val="2200"/>
              </a:lnSpc>
              <a:buNone/>
            </a:pPr>
            <a:r>
              <a:rPr lang="en-US" sz="1400" kern="0" spc="26" dirty="0">
                <a:solidFill>
                  <a:srgbClr val="A8BCD8"/>
                </a:solidFill>
                <a:latin typeface="Calibri" pitchFamily="34" charset="0"/>
                <a:ea typeface="Calibri" pitchFamily="34" charset="-122"/>
                <a:cs typeface="Calibri" pitchFamily="34" charset="-120"/>
              </a:rPr>
              <a:t>Years ago, expertise, the desire to do good and a </a:t>
            </a:r>
            <a:r>
              <a:rPr lang="en-US" sz="1400" kern="0" spc="26" dirty="0">
                <a:solidFill>
                  <a:schemeClr val="accent2"/>
                </a:solidFill>
                <a:latin typeface="Calibri" pitchFamily="34" charset="0"/>
                <a:ea typeface="Calibri" pitchFamily="34" charset="-122"/>
                <a:cs typeface="Calibri" pitchFamily="34" charset="-120"/>
              </a:rPr>
              <a:t>first contract </a:t>
            </a:r>
            <a:r>
              <a:rPr lang="en-US" sz="1400" kern="0" spc="26" dirty="0">
                <a:solidFill>
                  <a:srgbClr val="A8BCD8"/>
                </a:solidFill>
                <a:latin typeface="Calibri" pitchFamily="34" charset="0"/>
                <a:ea typeface="Calibri" pitchFamily="34" charset="-122"/>
                <a:cs typeface="Calibri" pitchFamily="34" charset="-120"/>
              </a:rPr>
              <a:t>launched Analytica  Inc.</a:t>
            </a:r>
            <a:br>
              <a:rPr lang="en-US" dirty="0"/>
            </a:br>
            <a:r>
              <a:rPr lang="en-US" sz="1400" kern="0" spc="26" dirty="0">
                <a:solidFill>
                  <a:srgbClr val="A8BCD8"/>
                </a:solidFill>
                <a:latin typeface="Calibri" pitchFamily="34" charset="0"/>
                <a:ea typeface="Calibri" pitchFamily="34" charset="-122"/>
                <a:cs typeface="Calibri" pitchFamily="34" charset="-120"/>
              </a:rPr>
              <a:t>But sustaining it? That took a </a:t>
            </a:r>
            <a:r>
              <a:rPr lang="en-US" sz="1400" kern="0" spc="26" dirty="0">
                <a:solidFill>
                  <a:schemeClr val="accent2"/>
                </a:solidFill>
                <a:latin typeface="Calibri" pitchFamily="34" charset="0"/>
                <a:ea typeface="Calibri" pitchFamily="34" charset="-122"/>
                <a:cs typeface="Calibri" pitchFamily="34" charset="-120"/>
              </a:rPr>
              <a:t>second</a:t>
            </a:r>
            <a:r>
              <a:rPr lang="en-US" sz="1400" kern="0" spc="26" dirty="0">
                <a:solidFill>
                  <a:srgbClr val="A8BCD8"/>
                </a:solidFill>
                <a:latin typeface="Calibri" pitchFamily="34" charset="0"/>
                <a:ea typeface="Calibri" pitchFamily="34" charset="-122"/>
                <a:cs typeface="Calibri" pitchFamily="34" charset="-120"/>
              </a:rPr>
              <a:t>, the </a:t>
            </a:r>
            <a:r>
              <a:rPr lang="en-US" sz="1400" kern="0" spc="26" dirty="0">
                <a:solidFill>
                  <a:schemeClr val="accent2"/>
                </a:solidFill>
                <a:latin typeface="Calibri" pitchFamily="34" charset="0"/>
                <a:ea typeface="Calibri" pitchFamily="34" charset="-122"/>
                <a:cs typeface="Calibri" pitchFamily="34" charset="-120"/>
              </a:rPr>
              <a:t>tenth</a:t>
            </a:r>
            <a:r>
              <a:rPr lang="en-US" sz="1400" kern="0" spc="26" dirty="0">
                <a:solidFill>
                  <a:srgbClr val="A8BCD8"/>
                </a:solidFill>
                <a:latin typeface="Calibri" pitchFamily="34" charset="0"/>
                <a:ea typeface="Calibri" pitchFamily="34" charset="-122"/>
                <a:cs typeface="Calibri" pitchFamily="34" charset="-120"/>
              </a:rPr>
              <a:t>, the </a:t>
            </a:r>
            <a:r>
              <a:rPr lang="en-US" sz="1400" kern="0" spc="26" dirty="0">
                <a:solidFill>
                  <a:schemeClr val="accent2"/>
                </a:solidFill>
                <a:latin typeface="Calibri" pitchFamily="34" charset="0"/>
                <a:ea typeface="Calibri" pitchFamily="34" charset="-122"/>
                <a:cs typeface="Calibri" pitchFamily="34" charset="-120"/>
              </a:rPr>
              <a:t>twentieth </a:t>
            </a:r>
            <a:r>
              <a:rPr lang="en-US" sz="1400" kern="0" spc="26" dirty="0">
                <a:solidFill>
                  <a:srgbClr val="A8BCD8"/>
                </a:solidFill>
                <a:latin typeface="Calibri" pitchFamily="34" charset="0"/>
                <a:ea typeface="Calibri" pitchFamily="34" charset="-122"/>
                <a:cs typeface="Calibri" pitchFamily="34" charset="-120"/>
              </a:rPr>
              <a:t>and so on.</a:t>
            </a:r>
            <a:endParaRPr lang="en-US" sz="1400" dirty="0"/>
          </a:p>
        </p:txBody>
      </p:sp>
      <p:sp>
        <p:nvSpPr>
          <p:cNvPr id="10" name="Text 8"/>
          <p:cNvSpPr/>
          <p:nvPr/>
        </p:nvSpPr>
        <p:spPr>
          <a:xfrm>
            <a:off x="2714625" y="3350000"/>
            <a:ext cx="3714750" cy="13841"/>
          </a:xfrm>
          <a:prstGeom prst="rect">
            <a:avLst/>
          </a:prstGeom>
          <a:gradFill rotWithShape="1">
            <a:gsLst>
              <a:gs pos="0">
                <a:srgbClr val="000000">
                  <a:alpha val="0"/>
                </a:srgbClr>
              </a:gs>
              <a:gs pos="10000">
                <a:srgbClr val="E8A020">
                  <a:alpha val="30000"/>
                </a:srgbClr>
              </a:gs>
              <a:gs pos="30000">
                <a:srgbClr val="E8A020"/>
              </a:gs>
              <a:gs pos="70000">
                <a:srgbClr val="E8A020"/>
              </a:gs>
              <a:gs pos="90000">
                <a:srgbClr val="E8A020">
                  <a:alpha val="30000"/>
                </a:srgbClr>
              </a:gs>
              <a:gs pos="100000">
                <a:srgbClr val="000000">
                  <a:alpha val="0"/>
                </a:srgbClr>
              </a:gs>
            </a:gsLst>
            <a:lin ang="0" scaled="1"/>
          </a:gradFill>
          <a:ln/>
        </p:spPr>
        <p:txBody>
          <a:bodyPr wrap="none" rtlCol="0" anchor="t"/>
          <a:lstStyle/>
          <a:p>
            <a:pPr marL="0" indent="0">
              <a:buNone/>
            </a:pPr>
            <a:endParaRPr lang="en-US"/>
          </a:p>
        </p:txBody>
      </p:sp>
      <p:sp>
        <p:nvSpPr>
          <p:cNvPr id="11" name="Text 9"/>
          <p:cNvSpPr/>
          <p:nvPr/>
        </p:nvSpPr>
        <p:spPr>
          <a:xfrm>
            <a:off x="1221579" y="3516375"/>
            <a:ext cx="6937163" cy="1100000"/>
          </a:xfrm>
          <a:prstGeom prst="rect">
            <a:avLst/>
          </a:prstGeom>
          <a:noFill/>
          <a:ln/>
        </p:spPr>
        <p:txBody>
          <a:bodyPr wrap="square" lIns="0" tIns="0" rIns="0" bIns="0" rtlCol="0" anchor="t"/>
          <a:lstStyle/>
          <a:p>
            <a:pPr marL="0" indent="0" algn="ctr">
              <a:lnSpc>
                <a:spcPts val="3200"/>
              </a:lnSpc>
              <a:spcAft>
                <a:spcPts val="600"/>
              </a:spcAft>
              <a:buNone/>
            </a:pPr>
            <a:r>
              <a:rPr lang="en-US" sz="2400" b="1" kern="0" spc="12" dirty="0">
                <a:solidFill>
                  <a:srgbClr val="E8A020"/>
                </a:solidFill>
                <a:latin typeface="Calibri Light" pitchFamily="34" charset="0"/>
                <a:ea typeface="Calibri Light" pitchFamily="34" charset="-122"/>
                <a:cs typeface="Calibri Light" pitchFamily="34" charset="-120"/>
              </a:rPr>
              <a:t>Good Intentions are noble and needed but </a:t>
            </a:r>
            <a:r>
              <a:rPr lang="en-US" sz="2400" b="1" u="sng" kern="0" spc="12" dirty="0">
                <a:solidFill>
                  <a:srgbClr val="E8A020"/>
                </a:solidFill>
                <a:latin typeface="Calibri Light" pitchFamily="34" charset="0"/>
                <a:ea typeface="Calibri Light" pitchFamily="34" charset="-122"/>
                <a:cs typeface="Calibri Light" pitchFamily="34" charset="-120"/>
              </a:rPr>
              <a:t>not</a:t>
            </a:r>
            <a:r>
              <a:rPr lang="en-US" sz="2400" b="1" kern="0" spc="12" dirty="0">
                <a:solidFill>
                  <a:srgbClr val="E8A020"/>
                </a:solidFill>
                <a:latin typeface="Calibri Light" pitchFamily="34" charset="0"/>
                <a:ea typeface="Calibri Light" pitchFamily="34" charset="-122"/>
                <a:cs typeface="Calibri Light" pitchFamily="34" charset="-120"/>
              </a:rPr>
              <a:t> enough!</a:t>
            </a:r>
            <a:br>
              <a:rPr lang="en-US" dirty="0"/>
            </a:br>
            <a:r>
              <a:rPr lang="en-US" sz="2400" b="1" kern="0" spc="12" dirty="0">
                <a:solidFill>
                  <a:srgbClr val="E8A020"/>
                </a:solidFill>
                <a:latin typeface="Calibri Light" pitchFamily="34" charset="0"/>
                <a:ea typeface="Calibri Light" pitchFamily="34" charset="-122"/>
                <a:cs typeface="Calibri Light" pitchFamily="34" charset="-120"/>
              </a:rPr>
              <a:t>Funding is also need to do good.</a:t>
            </a:r>
          </a:p>
          <a:p>
            <a:pPr marL="0" indent="0" algn="ctr">
              <a:lnSpc>
                <a:spcPts val="1700"/>
              </a:lnSpc>
              <a:buNone/>
            </a:pPr>
            <a:r>
              <a:rPr lang="en-US" sz="1400" i="1" kern="0" spc="23" dirty="0">
                <a:solidFill>
                  <a:srgbClr val="8FA3C8"/>
                </a:solidFill>
                <a:latin typeface="Calibri" pitchFamily="34" charset="0"/>
                <a:ea typeface="Calibri" pitchFamily="34" charset="-122"/>
                <a:cs typeface="Calibri" pitchFamily="34" charset="-120"/>
              </a:rPr>
              <a:t>Funding is not a side task — it is the lifeblood of every organization that serves families.</a:t>
            </a:r>
            <a:endParaRPr lang="en-US" sz="1400" dirty="0"/>
          </a:p>
        </p:txBody>
      </p:sp>
      <p:sp>
        <p:nvSpPr>
          <p:cNvPr id="12" name="Text 10"/>
          <p:cNvSpPr/>
          <p:nvPr/>
        </p:nvSpPr>
        <p:spPr>
          <a:xfrm>
            <a:off x="0" y="4828580"/>
            <a:ext cx="9144000" cy="314920"/>
          </a:xfrm>
          <a:prstGeom prst="rect">
            <a:avLst/>
          </a:prstGeom>
          <a:solidFill>
            <a:srgbClr val="1A2D5A">
              <a:alpha val="70000"/>
            </a:srgbClr>
          </a:solidFill>
          <a:ln/>
        </p:spPr>
        <p:txBody>
          <a:bodyPr wrap="square" rtlCol="0" anchor="t"/>
          <a:lstStyle/>
          <a:p>
            <a:pPr marL="0" indent="0">
              <a:buNone/>
            </a:pPr>
            <a:endParaRPr lang="en-US"/>
          </a:p>
        </p:txBody>
      </p:sp>
      <p:sp>
        <p:nvSpPr>
          <p:cNvPr id="13" name="Text 11"/>
          <p:cNvSpPr/>
          <p:nvPr/>
        </p:nvSpPr>
        <p:spPr>
          <a:xfrm>
            <a:off x="0" y="4828580"/>
            <a:ext cx="9144000" cy="9525"/>
          </a:xfrm>
          <a:prstGeom prst="rect">
            <a:avLst/>
          </a:prstGeom>
          <a:solidFill>
            <a:srgbClr val="E8A020">
              <a:alpha val="20000"/>
            </a:srgbClr>
          </a:solidFill>
          <a:ln/>
        </p:spPr>
        <p:txBody>
          <a:bodyPr wrap="none" rtlCol="0" anchor="t"/>
          <a:lstStyle/>
          <a:p>
            <a:pPr marL="0" indent="0">
              <a:buNone/>
            </a:pPr>
            <a:endParaRPr lang="en-US"/>
          </a:p>
        </p:txBody>
      </p:sp>
      <p:sp>
        <p:nvSpPr>
          <p:cNvPr id="14" name="Text 12"/>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8FA3C8"/>
                </a:solidFill>
                <a:latin typeface="Calibri" pitchFamily="34" charset="0"/>
                <a:ea typeface="Calibri" pitchFamily="34" charset="-122"/>
                <a:cs typeface="Calibri" pitchFamily="34" charset="-120"/>
              </a:rPr>
              <a:t>FUNDING WHAT WORKS  ·  IFC 2026</a:t>
            </a:r>
            <a:endParaRPr lang="en-US" sz="730"/>
          </a:p>
        </p:txBody>
      </p:sp>
      <p:sp>
        <p:nvSpPr>
          <p:cNvPr id="15" name="Text 13"/>
          <p:cNvSpPr/>
          <p:nvPr/>
        </p:nvSpPr>
        <p:spPr>
          <a:xfrm>
            <a:off x="8375600" y="4921300"/>
            <a:ext cx="405185" cy="139005"/>
          </a:xfrm>
          <a:prstGeom prst="rect">
            <a:avLst/>
          </a:prstGeom>
          <a:noFill/>
          <a:ln/>
        </p:spPr>
        <p:txBody>
          <a:bodyPr wrap="none" lIns="0" tIns="0" rIns="0" bIns="0" rtlCol="0" anchor="ctr"/>
          <a:lstStyle/>
          <a:p>
            <a:pPr marL="0" indent="0" algn="l">
              <a:lnSpc>
                <a:spcPts val="1095"/>
              </a:lnSpc>
              <a:buNone/>
            </a:pPr>
            <a:r>
              <a:rPr lang="en-US" sz="730">
                <a:solidFill>
                  <a:srgbClr val="E8A020"/>
                </a:solidFill>
                <a:latin typeface="Calibri" pitchFamily="34" charset="0"/>
                <a:ea typeface="Calibri" pitchFamily="34" charset="-122"/>
                <a:cs typeface="Calibri" pitchFamily="34" charset="-120"/>
              </a:rPr>
              <a:t>Min 4–5</a:t>
            </a:r>
            <a:endParaRPr lang="en-US" sz="730"/>
          </a:p>
        </p:txBody>
      </p:sp>
      <p:sp>
        <p:nvSpPr>
          <p:cNvPr id="16" name="Text 14"/>
          <p:cNvSpPr/>
          <p:nvPr/>
        </p:nvSpPr>
        <p:spPr>
          <a:xfrm>
            <a:off x="3200000" y="2425000"/>
            <a:ext cx="2800000" cy="200000"/>
          </a:xfrm>
          <a:prstGeom prst="rect">
            <a:avLst/>
          </a:prstGeom>
          <a:noFill/>
          <a:ln/>
        </p:spPr>
        <p:txBody>
          <a:bodyPr wrap="none" lIns="0" tIns="0" rIns="0" bIns="0" rtlCol="0" anchor="t"/>
          <a:lstStyle/>
          <a:p>
            <a:pPr marL="0" indent="0" algn="ctr">
              <a:lnSpc>
                <a:spcPts val="1200"/>
              </a:lnSpc>
              <a:buNone/>
            </a:pPr>
            <a:r>
              <a:rPr lang="en-US" sz="1000" b="1" kern="0" spc="80" dirty="0">
                <a:solidFill>
                  <a:srgbClr val="E8A020">
                    <a:alpha val="60000"/>
                  </a:srgbClr>
                </a:solidFill>
                <a:latin typeface="Calibri" pitchFamily="34" charset="0"/>
                <a:ea typeface="Calibri" pitchFamily="34" charset="-122"/>
                <a:cs typeface="Calibri" pitchFamily="34" charset="-120"/>
              </a:rPr>
              <a:t>YEARS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70000">
                <a:srgbClr val="000000">
                  <a:alpha val="0"/>
                </a:srgbClr>
              </a:gs>
            </a:gsLst>
            <a:path path="circle">
              <a:fillToRect l="85000" t="50000" r="15000" b="50000"/>
            </a:path>
          </a:gradFill>
          <a:ln/>
        </p:spPr>
        <p:txBody>
          <a:bodyPr wrap="square" rtlCol="0" anchor="t"/>
          <a:lstStyle/>
          <a:p>
            <a:pPr marL="0" indent="0">
              <a:buNone/>
            </a:pPr>
            <a:endParaRPr lang="en-US" dirty="0"/>
          </a:p>
        </p:txBody>
      </p:sp>
      <p:sp>
        <p:nvSpPr>
          <p:cNvPr id="3" name="Text 1"/>
          <p:cNvSpPr/>
          <p:nvPr/>
        </p:nvSpPr>
        <p:spPr>
          <a:xfrm>
            <a:off x="3994324" y="342900"/>
            <a:ext cx="1178460" cy="244376"/>
          </a:xfrm>
          <a:prstGeom prst="roundRect">
            <a:avLst>
              <a:gd name="adj" fmla="val 58725"/>
            </a:avLst>
          </a:prstGeom>
          <a:solidFill>
            <a:srgbClr val="E8A020">
              <a:alpha val="12000"/>
            </a:srgbClr>
          </a:solidFill>
          <a:ln w="9525">
            <a:solidFill>
              <a:srgbClr val="E8A020">
                <a:alpha val="35000"/>
              </a:srgbClr>
            </a:solidFill>
          </a:ln>
        </p:spPr>
        <p:txBody>
          <a:bodyPr wrap="none" lIns="157480" tIns="43180" rIns="157480" bIns="43180" rtlCol="0" anchor="t"/>
          <a:lstStyle/>
          <a:p>
            <a:pPr marL="0" indent="0" algn="l">
              <a:buNone/>
            </a:pPr>
            <a:r>
              <a:rPr lang="en-US" sz="730" b="1" kern="0" spc="131" dirty="0">
                <a:solidFill>
                  <a:srgbClr val="E8A020"/>
                </a:solidFill>
                <a:latin typeface="Calibri" pitchFamily="34" charset="0"/>
                <a:ea typeface="Calibri" pitchFamily="34" charset="-122"/>
                <a:cs typeface="Calibri" pitchFamily="34" charset="-120"/>
              </a:rPr>
              <a:t>SECTION ONE</a:t>
            </a:r>
            <a:endParaRPr lang="en-US" sz="730" dirty="0"/>
          </a:p>
        </p:txBody>
      </p:sp>
      <p:sp>
        <p:nvSpPr>
          <p:cNvPr id="4" name="Text 2"/>
          <p:cNvSpPr/>
          <p:nvPr/>
        </p:nvSpPr>
        <p:spPr>
          <a:xfrm>
            <a:off x="0" y="0"/>
            <a:ext cx="9144000" cy="5143500"/>
          </a:xfrm>
          <a:prstGeom prst="rect">
            <a:avLst/>
          </a:prstGeom>
          <a:gradFill rotWithShape="1">
            <a:gsLst>
              <a:gs pos="0">
                <a:srgbClr val="000000">
                  <a:alpha val="0"/>
                </a:srgbClr>
              </a:gs>
              <a:gs pos="33333">
                <a:srgbClr val="000000">
                  <a:alpha val="0"/>
                </a:srgbClr>
              </a:gs>
              <a:gs pos="66667">
                <a:srgbClr val="E8A020">
                  <a:alpha val="4000"/>
                </a:srgbClr>
              </a:gs>
              <a:gs pos="100000">
                <a:srgbClr val="E8A020">
                  <a:alpha val="4000"/>
                </a:srgbClr>
              </a:gs>
            </a:gsLst>
            <a:lin ang="16200000" scaled="1"/>
          </a:gradFill>
          <a:ln/>
        </p:spPr>
        <p:txBody>
          <a:bodyPr wrap="square" rtlCol="0" anchor="t"/>
          <a:lstStyle/>
          <a:p>
            <a:pPr marL="0" indent="0">
              <a:buNone/>
            </a:pPr>
            <a:endParaRPr lang="en-US" dirty="0"/>
          </a:p>
        </p:txBody>
      </p:sp>
      <p:sp>
        <p:nvSpPr>
          <p:cNvPr id="5" name="Text 3"/>
          <p:cNvSpPr/>
          <p:nvPr/>
        </p:nvSpPr>
        <p:spPr>
          <a:xfrm>
            <a:off x="0" y="0"/>
            <a:ext cx="9144000" cy="5143500"/>
          </a:xfrm>
          <a:prstGeom prst="rect">
            <a:avLst/>
          </a:prstGeom>
          <a:gradFill rotWithShape="1">
            <a:gsLst>
              <a:gs pos="0">
                <a:srgbClr val="000000">
                  <a:alpha val="0"/>
                </a:srgbClr>
              </a:gs>
              <a:gs pos="33333">
                <a:srgbClr val="000000">
                  <a:alpha val="0"/>
                </a:srgbClr>
              </a:gs>
              <a:gs pos="66667">
                <a:srgbClr val="E8A020">
                  <a:alpha val="3000"/>
                </a:srgbClr>
              </a:gs>
              <a:gs pos="100000">
                <a:srgbClr val="E8A020">
                  <a:alpha val="3000"/>
                </a:srgbClr>
              </a:gs>
            </a:gsLst>
            <a:lin ang="0" scaled="1"/>
          </a:gradFill>
          <a:ln/>
        </p:spPr>
        <p:txBody>
          <a:bodyPr wrap="square" rtlCol="0" anchor="t"/>
          <a:lstStyle/>
          <a:p>
            <a:pPr marL="0" indent="0">
              <a:buNone/>
            </a:pPr>
            <a:endParaRPr lang="en-US" dirty="0"/>
          </a:p>
        </p:txBody>
      </p:sp>
      <p:sp>
        <p:nvSpPr>
          <p:cNvPr id="6" name="Text 4"/>
          <p:cNvSpPr/>
          <p:nvPr/>
        </p:nvSpPr>
        <p:spPr>
          <a:xfrm>
            <a:off x="0" y="0"/>
            <a:ext cx="43160" cy="5143500"/>
          </a:xfrm>
          <a:prstGeom prst="rect">
            <a:avLst/>
          </a:prstGeom>
          <a:gradFill rotWithShape="1">
            <a:gsLst>
              <a:gs pos="0">
                <a:srgbClr val="000000">
                  <a:alpha val="0"/>
                </a:srgbClr>
              </a:gs>
              <a:gs pos="30000">
                <a:srgbClr val="E8A020">
                  <a:alpha val="70000"/>
                </a:srgbClr>
              </a:gs>
              <a:gs pos="70000">
                <a:srgbClr val="E8A020">
                  <a:alpha val="70000"/>
                </a:srgbClr>
              </a:gs>
              <a:gs pos="100000">
                <a:srgbClr val="000000">
                  <a:alpha val="0"/>
                </a:srgbClr>
              </a:gs>
            </a:gsLst>
            <a:lin ang="5400000" scaled="1"/>
          </a:gradFill>
          <a:ln/>
        </p:spPr>
        <p:txBody>
          <a:bodyPr wrap="square" rtlCol="0" anchor="t"/>
          <a:lstStyle/>
          <a:p>
            <a:pPr marL="0" indent="0">
              <a:buNone/>
            </a:pPr>
            <a:endParaRPr lang="en-US" dirty="0"/>
          </a:p>
        </p:txBody>
      </p:sp>
      <p:sp>
        <p:nvSpPr>
          <p:cNvPr id="7" name="Text 5"/>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dirty="0"/>
          </a:p>
        </p:txBody>
      </p:sp>
      <p:sp>
        <p:nvSpPr>
          <p:cNvPr id="8" name="Text 6"/>
          <p:cNvSpPr/>
          <p:nvPr/>
        </p:nvSpPr>
        <p:spPr>
          <a:xfrm>
            <a:off x="4188916" y="1394966"/>
            <a:ext cx="804476" cy="1428750"/>
          </a:xfrm>
          <a:prstGeom prst="rect">
            <a:avLst/>
          </a:prstGeom>
          <a:noFill/>
          <a:ln/>
          <a:effectLst>
            <a:outerShdw blurRad="285750" dist="29210" dir="5400000" algn="bl" rotWithShape="0">
              <a:srgbClr val="E8A020">
                <a:alpha val="35000"/>
              </a:srgbClr>
            </a:outerShdw>
          </a:effectLst>
        </p:spPr>
        <p:txBody>
          <a:bodyPr wrap="none" lIns="0" tIns="0" rIns="0" bIns="0" rtlCol="0" anchor="t"/>
          <a:lstStyle/>
          <a:p>
            <a:pPr marL="0" indent="0" algn="l">
              <a:lnSpc>
                <a:spcPts val="11250"/>
              </a:lnSpc>
              <a:buNone/>
            </a:pPr>
            <a:r>
              <a:rPr lang="en-US" sz="11250" kern="0" spc="-225" dirty="0">
                <a:solidFill>
                  <a:srgbClr val="E8A020"/>
                </a:solidFill>
                <a:effectLst>
                  <a:glow rad="2143125">
                    <a:srgbClr val="E8A020">
                      <a:alpha val="3000"/>
                    </a:srgbClr>
                  </a:glow>
                </a:effectLst>
                <a:latin typeface="Calibri Light" pitchFamily="34" charset="0"/>
                <a:ea typeface="Calibri Light" pitchFamily="34" charset="-122"/>
                <a:cs typeface="Calibri Light" pitchFamily="34" charset="-120"/>
              </a:rPr>
              <a:t>1</a:t>
            </a:r>
            <a:endParaRPr lang="en-US" sz="11250" dirty="0"/>
          </a:p>
        </p:txBody>
      </p:sp>
      <p:sp>
        <p:nvSpPr>
          <p:cNvPr id="9" name="Text 7"/>
          <p:cNvSpPr/>
          <p:nvPr/>
        </p:nvSpPr>
        <p:spPr>
          <a:xfrm>
            <a:off x="2084662" y="2823716"/>
            <a:ext cx="4974528" cy="394692"/>
          </a:xfrm>
          <a:prstGeom prst="rect">
            <a:avLst/>
          </a:prstGeom>
          <a:noFill/>
          <a:ln/>
        </p:spPr>
        <p:txBody>
          <a:bodyPr wrap="none" lIns="0" tIns="0" rIns="0" bIns="0" rtlCol="0" anchor="t"/>
          <a:lstStyle/>
          <a:p>
            <a:pPr marL="0" indent="0" algn="ctr">
              <a:lnSpc>
                <a:spcPts val="3108"/>
              </a:lnSpc>
              <a:spcAft>
                <a:spcPts val="1130"/>
              </a:spcAft>
              <a:buNone/>
            </a:pPr>
            <a:r>
              <a:rPr lang="en-US" sz="2590" kern="0" spc="26">
                <a:solidFill>
                  <a:srgbClr val="F0F4FF"/>
                </a:solidFill>
                <a:latin typeface="Calibri Light" pitchFamily="34" charset="0"/>
                <a:ea typeface="Calibri Light" pitchFamily="34" charset="-122"/>
                <a:cs typeface="Calibri Light" pitchFamily="34" charset="-120"/>
              </a:rPr>
              <a:t>The Funding Landscape Reality</a:t>
            </a:r>
            <a:endParaRPr lang="en-US" sz="2590"/>
          </a:p>
        </p:txBody>
      </p:sp>
      <p:sp>
        <p:nvSpPr>
          <p:cNvPr id="10" name="Text 8"/>
          <p:cNvSpPr/>
          <p:nvPr/>
        </p:nvSpPr>
        <p:spPr>
          <a:xfrm>
            <a:off x="2714625" y="3361879"/>
            <a:ext cx="3714750" cy="13841"/>
          </a:xfrm>
          <a:prstGeom prst="rect">
            <a:avLst/>
          </a:prstGeom>
          <a:gradFill rotWithShape="1">
            <a:gsLst>
              <a:gs pos="0">
                <a:srgbClr val="000000">
                  <a:alpha val="0"/>
                </a:srgbClr>
              </a:gs>
              <a:gs pos="10000">
                <a:srgbClr val="E8A020">
                  <a:alpha val="30000"/>
                </a:srgbClr>
              </a:gs>
              <a:gs pos="30000">
                <a:srgbClr val="E8A020"/>
              </a:gs>
              <a:gs pos="70000">
                <a:srgbClr val="E8A020"/>
              </a:gs>
              <a:gs pos="90000">
                <a:srgbClr val="E8A020">
                  <a:alpha val="30000"/>
                </a:srgbClr>
              </a:gs>
              <a:gs pos="100000">
                <a:srgbClr val="000000">
                  <a:alpha val="0"/>
                </a:srgbClr>
              </a:gs>
            </a:gsLst>
            <a:lin ang="0" scaled="1"/>
          </a:gradFill>
          <a:ln/>
        </p:spPr>
        <p:txBody>
          <a:bodyPr wrap="none" rtlCol="0" anchor="t"/>
          <a:lstStyle/>
          <a:p>
            <a:pPr marL="0" indent="0">
              <a:buNone/>
            </a:pPr>
            <a:endParaRPr lang="en-US" dirty="0"/>
          </a:p>
        </p:txBody>
      </p:sp>
      <p:sp>
        <p:nvSpPr>
          <p:cNvPr id="11" name="Text 9"/>
          <p:cNvSpPr/>
          <p:nvPr/>
        </p:nvSpPr>
        <p:spPr>
          <a:xfrm>
            <a:off x="2103730" y="3541858"/>
            <a:ext cx="5182162" cy="315083"/>
          </a:xfrm>
          <a:prstGeom prst="rect">
            <a:avLst/>
          </a:prstGeom>
          <a:noFill/>
          <a:ln/>
        </p:spPr>
        <p:txBody>
          <a:bodyPr wrap="none" lIns="0" tIns="0" rIns="0" bIns="0" rtlCol="0" anchor="ctr"/>
          <a:lstStyle/>
          <a:p>
            <a:pPr marL="0" indent="0" algn="ctr">
              <a:lnSpc>
                <a:spcPts val="1695"/>
              </a:lnSpc>
              <a:buNone/>
            </a:pPr>
            <a:r>
              <a:rPr lang="en-US" sz="1400" i="1" kern="0" spc="23" dirty="0">
                <a:solidFill>
                  <a:srgbClr val="A8BCD8"/>
                </a:solidFill>
                <a:latin typeface="Calibri" pitchFamily="34" charset="0"/>
                <a:ea typeface="Calibri" pitchFamily="34" charset="-122"/>
                <a:cs typeface="Calibri" pitchFamily="34" charset="-120"/>
              </a:rPr>
              <a:t>Why Most Responsible Fatherhood Programs React Instead of Plan</a:t>
            </a:r>
            <a:endParaRPr lang="en-US" sz="1400" dirty="0"/>
          </a:p>
        </p:txBody>
      </p:sp>
      <p:sp>
        <p:nvSpPr>
          <p:cNvPr id="12" name="Text 10"/>
          <p:cNvSpPr/>
          <p:nvPr/>
        </p:nvSpPr>
        <p:spPr>
          <a:xfrm>
            <a:off x="0" y="4828580"/>
            <a:ext cx="9144000" cy="314920"/>
          </a:xfrm>
          <a:prstGeom prst="rect">
            <a:avLst/>
          </a:prstGeom>
          <a:solidFill>
            <a:srgbClr val="1A2D5A">
              <a:alpha val="70000"/>
            </a:srgbClr>
          </a:solidFill>
          <a:ln/>
        </p:spPr>
        <p:txBody>
          <a:bodyPr wrap="square" rtlCol="0" anchor="t"/>
          <a:lstStyle/>
          <a:p>
            <a:pPr marL="0" indent="0">
              <a:buNone/>
            </a:pPr>
            <a:endParaRPr lang="en-US" dirty="0"/>
          </a:p>
        </p:txBody>
      </p:sp>
      <p:sp>
        <p:nvSpPr>
          <p:cNvPr id="13" name="Text 11"/>
          <p:cNvSpPr/>
          <p:nvPr/>
        </p:nvSpPr>
        <p:spPr>
          <a:xfrm>
            <a:off x="0" y="4828580"/>
            <a:ext cx="9144000" cy="9525"/>
          </a:xfrm>
          <a:prstGeom prst="rect">
            <a:avLst/>
          </a:prstGeom>
          <a:solidFill>
            <a:srgbClr val="E8A020">
              <a:alpha val="20000"/>
            </a:srgbClr>
          </a:solidFill>
          <a:ln/>
        </p:spPr>
        <p:txBody>
          <a:bodyPr wrap="none" rtlCol="0" anchor="t"/>
          <a:lstStyle/>
          <a:p>
            <a:pPr marL="0" indent="0">
              <a:buNone/>
            </a:pPr>
            <a:endParaRPr lang="en-US" dirty="0"/>
          </a:p>
        </p:txBody>
      </p:sp>
      <p:sp>
        <p:nvSpPr>
          <p:cNvPr id="14" name="Text 12"/>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dirty="0">
                <a:solidFill>
                  <a:srgbClr val="8FA3C8"/>
                </a:solidFill>
                <a:latin typeface="Calibri" pitchFamily="34" charset="0"/>
                <a:ea typeface="Calibri" pitchFamily="34" charset="-122"/>
                <a:cs typeface="Calibri" pitchFamily="34" charset="-120"/>
              </a:rPr>
              <a:t>FUNDING WHAT WORKS  ·  IFC 2026</a:t>
            </a:r>
            <a:endParaRPr lang="en-US" sz="730" dirty="0"/>
          </a:p>
        </p:txBody>
      </p:sp>
      <p:sp>
        <p:nvSpPr>
          <p:cNvPr id="15" name="Text 13"/>
          <p:cNvSpPr/>
          <p:nvPr/>
        </p:nvSpPr>
        <p:spPr>
          <a:xfrm>
            <a:off x="8375600" y="4921300"/>
            <a:ext cx="405185" cy="139005"/>
          </a:xfrm>
          <a:prstGeom prst="rect">
            <a:avLst/>
          </a:prstGeom>
          <a:noFill/>
          <a:ln/>
        </p:spPr>
        <p:txBody>
          <a:bodyPr wrap="none" lIns="0" tIns="0" rIns="0" bIns="0" rtlCol="0" anchor="ctr"/>
          <a:lstStyle/>
          <a:p>
            <a:pPr marL="0" indent="0" algn="l">
              <a:lnSpc>
                <a:spcPts val="1095"/>
              </a:lnSpc>
              <a:buNone/>
            </a:pPr>
            <a:r>
              <a:rPr lang="en-US" sz="730" dirty="0">
                <a:solidFill>
                  <a:srgbClr val="E8A020"/>
                </a:solidFill>
                <a:latin typeface="Calibri" pitchFamily="34" charset="0"/>
                <a:ea typeface="Calibri" pitchFamily="34" charset="-122"/>
                <a:cs typeface="Calibri" pitchFamily="34" charset="-120"/>
              </a:rPr>
              <a:t>Min 5–6</a:t>
            </a:r>
            <a:endParaRPr lang="en-US" sz="7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3539" y="438230"/>
            <a:ext cx="9144000" cy="5143500"/>
          </a:xfrm>
          <a:prstGeom prst="rect">
            <a:avLst/>
          </a:prstGeom>
          <a:gradFill rotWithShape="1">
            <a:gsLst>
              <a:gs pos="0">
                <a:srgbClr val="E8A020">
                  <a:alpha val="7000"/>
                </a:srgbClr>
              </a:gs>
              <a:gs pos="100000">
                <a:srgbClr val="000000">
                  <a:alpha val="0"/>
                </a:srgbClr>
              </a:gs>
            </a:gsLst>
            <a:lin ang="0" scaled="1"/>
          </a:gradFill>
          <a:ln/>
        </p:spPr>
        <p:txBody>
          <a:bodyPr wrap="square" rtlCol="0" anchor="t"/>
          <a:lstStyle/>
          <a:p>
            <a:pPr marL="0" indent="0">
              <a:buNone/>
            </a:pPr>
            <a:endParaRPr lang="en-US"/>
          </a:p>
        </p:txBody>
      </p:sp>
      <p:sp>
        <p:nvSpPr>
          <p:cNvPr id="4" name="Text 2"/>
          <p:cNvSpPr/>
          <p:nvPr/>
        </p:nvSpPr>
        <p:spPr>
          <a:xfrm>
            <a:off x="0" y="0"/>
            <a:ext cx="9144000" cy="29170"/>
          </a:xfrm>
          <a:prstGeom prst="rect">
            <a:avLst/>
          </a:prstGeom>
          <a:gradFill rotWithShape="1">
            <a:gsLst>
              <a:gs pos="0">
                <a:srgbClr val="C0392B"/>
              </a:gs>
              <a:gs pos="49000">
                <a:srgbClr val="C0392B"/>
              </a:gs>
              <a:gs pos="51000">
                <a:srgbClr val="27AE60"/>
              </a:gs>
              <a:gs pos="100000">
                <a:srgbClr val="27AE60"/>
              </a:gs>
            </a:gsLst>
            <a:lin ang="0" scaled="1"/>
          </a:gradFill>
          <a:ln/>
        </p:spPr>
        <p:txBody>
          <a:bodyPr wrap="none" rtlCol="0" anchor="t"/>
          <a:lstStyle/>
          <a:p>
            <a:pPr marL="0" indent="0">
              <a:buNone/>
            </a:pPr>
            <a:endParaRPr lang="en-US"/>
          </a:p>
        </p:txBody>
      </p:sp>
      <p:sp>
        <p:nvSpPr>
          <p:cNvPr id="5" name="Text 3"/>
          <p:cNvSpPr/>
          <p:nvPr/>
        </p:nvSpPr>
        <p:spPr>
          <a:xfrm>
            <a:off x="400050" y="157311"/>
            <a:ext cx="8927973" cy="257473"/>
          </a:xfrm>
          <a:prstGeom prst="rect">
            <a:avLst/>
          </a:prstGeom>
          <a:noFill/>
          <a:ln/>
        </p:spPr>
        <p:txBody>
          <a:bodyPr wrap="none" lIns="0" tIns="0" rIns="0" bIns="0" rtlCol="0" anchor="t"/>
          <a:lstStyle/>
          <a:p>
            <a:pPr marL="0" indent="0" algn="l">
              <a:lnSpc>
                <a:spcPts val="1793"/>
              </a:lnSpc>
              <a:buNone/>
            </a:pPr>
            <a:r>
              <a:rPr lang="en-US" sz="1690" b="1" kern="0" spc="-20">
                <a:solidFill>
                  <a:srgbClr val="0D1B3E"/>
                </a:solidFill>
                <a:latin typeface="Calibri Light" pitchFamily="34" charset="0"/>
                <a:ea typeface="Calibri Light" pitchFamily="34" charset="-122"/>
                <a:cs typeface="Calibri Light" pitchFamily="34" charset="-120"/>
              </a:rPr>
              <a:t>Two Ways to Approach Funding — Only One Works</a:t>
            </a:r>
            <a:endParaRPr lang="en-US" sz="1690"/>
          </a:p>
        </p:txBody>
      </p:sp>
      <p:sp>
        <p:nvSpPr>
          <p:cNvPr id="6" name="Text 4"/>
          <p:cNvSpPr/>
          <p:nvPr/>
        </p:nvSpPr>
        <p:spPr>
          <a:xfrm>
            <a:off x="400050" y="485775"/>
            <a:ext cx="8343900" cy="13841"/>
          </a:xfrm>
          <a:prstGeom prst="rect">
            <a:avLst/>
          </a:prstGeom>
          <a:gradFill rotWithShape="1">
            <a:gsLst>
              <a:gs pos="0">
                <a:srgbClr val="C0392B">
                  <a:alpha val="50000"/>
                </a:srgbClr>
              </a:gs>
              <a:gs pos="50000">
                <a:srgbClr val="E8A020">
                  <a:alpha val="40000"/>
                </a:srgbClr>
              </a:gs>
              <a:gs pos="100000">
                <a:srgbClr val="27AE60">
                  <a:alpha val="50000"/>
                </a:srgbClr>
              </a:gs>
            </a:gsLst>
            <a:lin ang="0" scaled="1"/>
          </a:gradFill>
          <a:ln/>
        </p:spPr>
        <p:txBody>
          <a:bodyPr wrap="none" rtlCol="0" anchor="t"/>
          <a:lstStyle/>
          <a:p>
            <a:pPr marL="0" indent="0">
              <a:buNone/>
            </a:pPr>
            <a:endParaRPr lang="en-US"/>
          </a:p>
        </p:txBody>
      </p:sp>
      <p:sp>
        <p:nvSpPr>
          <p:cNvPr id="7" name="Text 5"/>
          <p:cNvSpPr/>
          <p:nvPr/>
        </p:nvSpPr>
        <p:spPr>
          <a:xfrm>
            <a:off x="400050" y="656927"/>
            <a:ext cx="4039997" cy="3963442"/>
          </a:xfrm>
          <a:prstGeom prst="roundRect">
            <a:avLst>
              <a:gd name="adj" fmla="val 2206"/>
            </a:avLst>
          </a:prstGeom>
          <a:solidFill>
            <a:srgbClr val="FFF0F0"/>
          </a:solidFill>
          <a:ln w="9525">
            <a:solidFill>
              <a:srgbClr val="C0392B">
                <a:alpha val="30000"/>
              </a:srgbClr>
            </a:solidFill>
          </a:ln>
        </p:spPr>
        <p:txBody>
          <a:bodyPr wrap="square" rtlCol="0" anchor="t"/>
          <a:lstStyle/>
          <a:p>
            <a:pPr marL="0" indent="0">
              <a:buNone/>
            </a:pPr>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3741" y="861559"/>
            <a:ext cx="165735" cy="165735"/>
          </a:xfrm>
          <a:prstGeom prst="rect">
            <a:avLst/>
          </a:prstGeom>
        </p:spPr>
      </p:pic>
      <p:sp>
        <p:nvSpPr>
          <p:cNvPr id="9" name="Text 6"/>
          <p:cNvSpPr/>
          <p:nvPr/>
        </p:nvSpPr>
        <p:spPr>
          <a:xfrm>
            <a:off x="770037" y="809923"/>
            <a:ext cx="953616" cy="269006"/>
          </a:xfrm>
          <a:prstGeom prst="rect">
            <a:avLst/>
          </a:prstGeom>
          <a:noFill/>
          <a:ln/>
        </p:spPr>
        <p:txBody>
          <a:bodyPr wrap="none" lIns="0" tIns="0" rIns="0" bIns="0" rtlCol="0" anchor="ctr"/>
          <a:lstStyle/>
          <a:p>
            <a:pPr marL="0" indent="0" algn="l">
              <a:lnSpc>
                <a:spcPts val="1857"/>
              </a:lnSpc>
              <a:buNone/>
            </a:pPr>
            <a:r>
              <a:rPr lang="en-US" sz="1238" b="1">
                <a:solidFill>
                  <a:srgbClr val="C0392B"/>
                </a:solidFill>
                <a:latin typeface="Calibri" pitchFamily="34" charset="0"/>
                <a:ea typeface="Calibri" pitchFamily="34" charset="-122"/>
                <a:cs typeface="Calibri" pitchFamily="34" charset="-120"/>
              </a:rPr>
              <a:t>REACTIVE</a:t>
            </a:r>
            <a:endParaRPr lang="en-US" sz="1238"/>
          </a:p>
        </p:txBody>
      </p:sp>
      <p:sp>
        <p:nvSpPr>
          <p:cNvPr id="10" name="Text 7"/>
          <p:cNvSpPr/>
          <p:nvPr/>
        </p:nvSpPr>
        <p:spPr>
          <a:xfrm>
            <a:off x="1707952" y="913656"/>
            <a:ext cx="2425898" cy="7590"/>
          </a:xfrm>
          <a:prstGeom prst="rect">
            <a:avLst/>
          </a:prstGeom>
          <a:gradFill rotWithShape="1">
            <a:gsLst>
              <a:gs pos="0">
                <a:srgbClr val="C0392B">
                  <a:alpha val="40000"/>
                </a:srgbClr>
              </a:gs>
              <a:gs pos="100000">
                <a:srgbClr val="000000">
                  <a:alpha val="0"/>
                </a:srgbClr>
              </a:gs>
            </a:gsLst>
            <a:lin ang="0" scaled="1"/>
          </a:gradFill>
          <a:ln/>
        </p:spPr>
        <p:txBody>
          <a:bodyPr wrap="none" rtlCol="0" anchor="t"/>
          <a:lstStyle/>
          <a:p>
            <a:pPr marL="0" indent="0">
              <a:buNone/>
            </a:pPr>
            <a:endParaRPr lang="en-US"/>
          </a:p>
        </p:txBody>
      </p:sp>
      <p:sp>
        <p:nvSpPr>
          <p:cNvPr id="11" name="Text 8"/>
          <p:cNvSpPr/>
          <p:nvPr/>
        </p:nvSpPr>
        <p:spPr>
          <a:xfrm>
            <a:off x="748159" y="1125438"/>
            <a:ext cx="1944722"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Grant alert arrives from a listserv</a:t>
            </a:r>
            <a:endParaRPr lang="en-US" sz="1379"/>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2802" y="1121057"/>
            <a:ext cx="165735" cy="165735"/>
          </a:xfrm>
          <a:prstGeom prst="rect">
            <a:avLst/>
          </a:prstGeom>
        </p:spPr>
      </p:pic>
      <p:sp>
        <p:nvSpPr>
          <p:cNvPr id="13" name="Text 9"/>
          <p:cNvSpPr/>
          <p:nvPr/>
        </p:nvSpPr>
        <p:spPr>
          <a:xfrm>
            <a:off x="748159" y="1419561"/>
            <a:ext cx="2392472"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All-hands scramble to meet the deadline</a:t>
            </a:r>
            <a:endParaRPr lang="en-US" sz="1379"/>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2802" y="1415180"/>
            <a:ext cx="165735" cy="165735"/>
          </a:xfrm>
          <a:prstGeom prst="rect">
            <a:avLst/>
          </a:prstGeom>
        </p:spPr>
      </p:pic>
      <p:sp>
        <p:nvSpPr>
          <p:cNvPr id="15" name="Text 10"/>
          <p:cNvSpPr/>
          <p:nvPr/>
        </p:nvSpPr>
        <p:spPr>
          <a:xfrm>
            <a:off x="748159" y="1713684"/>
            <a:ext cx="3048298"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Proposal scope written around funder requirements</a:t>
            </a:r>
            <a:endParaRPr lang="en-US" sz="1379"/>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2802" y="1709303"/>
            <a:ext cx="165735" cy="165735"/>
          </a:xfrm>
          <a:prstGeom prst="rect">
            <a:avLst/>
          </a:prstGeom>
        </p:spPr>
      </p:pic>
      <p:sp>
        <p:nvSpPr>
          <p:cNvPr id="17" name="Text 11"/>
          <p:cNvSpPr/>
          <p:nvPr/>
        </p:nvSpPr>
        <p:spPr>
          <a:xfrm>
            <a:off x="748159" y="2007807"/>
            <a:ext cx="1758747"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Mission drift sets in unnoticed</a:t>
            </a:r>
            <a:endParaRPr lang="en-US" sz="1379"/>
          </a:p>
        </p:txBody>
      </p:sp>
      <p:pic>
        <p:nvPicPr>
          <p:cNvPr id="1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2802" y="2003426"/>
            <a:ext cx="165735" cy="165735"/>
          </a:xfrm>
          <a:prstGeom prst="rect">
            <a:avLst/>
          </a:prstGeom>
        </p:spPr>
      </p:pic>
      <p:sp>
        <p:nvSpPr>
          <p:cNvPr id="19" name="Text 12"/>
          <p:cNvSpPr/>
          <p:nvPr/>
        </p:nvSpPr>
        <p:spPr>
          <a:xfrm>
            <a:off x="748159" y="2301930"/>
            <a:ext cx="2002512"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Staff burnout after the submission</a:t>
            </a:r>
            <a:endParaRPr lang="en-US" sz="1379"/>
          </a:p>
        </p:txBody>
      </p:sp>
      <p:pic>
        <p:nvPicPr>
          <p:cNvPr id="2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2802" y="2297549"/>
            <a:ext cx="165735" cy="165735"/>
          </a:xfrm>
          <a:prstGeom prst="rect">
            <a:avLst/>
          </a:prstGeom>
        </p:spPr>
      </p:pic>
      <p:sp>
        <p:nvSpPr>
          <p:cNvPr id="21" name="Text 13"/>
          <p:cNvSpPr/>
          <p:nvPr/>
        </p:nvSpPr>
        <p:spPr>
          <a:xfrm>
            <a:off x="748159" y="2596053"/>
            <a:ext cx="2176046"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Win or lose — no structured learning</a:t>
            </a:r>
            <a:endParaRPr lang="en-US" sz="1379"/>
          </a:p>
        </p:txBody>
      </p:sp>
      <p:pic>
        <p:nvPicPr>
          <p:cNvPr id="22"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2802" y="2591672"/>
            <a:ext cx="165735" cy="165735"/>
          </a:xfrm>
          <a:prstGeom prst="rect">
            <a:avLst/>
          </a:prstGeom>
        </p:spPr>
      </p:pic>
      <p:sp>
        <p:nvSpPr>
          <p:cNvPr id="23" name="Text 14"/>
          <p:cNvSpPr/>
          <p:nvPr/>
        </p:nvSpPr>
        <p:spPr>
          <a:xfrm>
            <a:off x="4647070" y="656927"/>
            <a:ext cx="13841" cy="3963442"/>
          </a:xfrm>
          <a:prstGeom prst="rect">
            <a:avLst/>
          </a:prstGeom>
          <a:gradFill rotWithShape="1">
            <a:gsLst>
              <a:gs pos="0">
                <a:srgbClr val="000000">
                  <a:alpha val="0"/>
                </a:srgbClr>
              </a:gs>
              <a:gs pos="20000">
                <a:srgbClr val="E8A020">
                  <a:alpha val="50000"/>
                </a:srgbClr>
              </a:gs>
              <a:gs pos="80000">
                <a:srgbClr val="E8A020">
                  <a:alpha val="50000"/>
                </a:srgbClr>
              </a:gs>
              <a:gs pos="100000">
                <a:srgbClr val="000000">
                  <a:alpha val="0"/>
                </a:srgbClr>
              </a:gs>
            </a:gsLst>
            <a:lin ang="5400000" scaled="1"/>
          </a:gradFill>
          <a:ln/>
        </p:spPr>
        <p:txBody>
          <a:bodyPr wrap="square" rtlCol="0" anchor="t"/>
          <a:lstStyle/>
          <a:p>
            <a:pPr marL="0" indent="0">
              <a:buNone/>
            </a:pPr>
            <a:endParaRPr lang="en-US"/>
          </a:p>
        </p:txBody>
      </p:sp>
      <p:sp>
        <p:nvSpPr>
          <p:cNvPr id="24" name="Text 15"/>
          <p:cNvSpPr/>
          <p:nvPr/>
        </p:nvSpPr>
        <p:spPr>
          <a:xfrm>
            <a:off x="4829175" y="656927"/>
            <a:ext cx="4224784" cy="3963442"/>
          </a:xfrm>
          <a:prstGeom prst="roundRect">
            <a:avLst>
              <a:gd name="adj" fmla="val 2206"/>
            </a:avLst>
          </a:prstGeom>
          <a:solidFill>
            <a:srgbClr val="F0FFF4"/>
          </a:solidFill>
          <a:ln w="9525">
            <a:solidFill>
              <a:srgbClr val="27AE60">
                <a:alpha val="28000"/>
              </a:srgbClr>
            </a:solidFill>
          </a:ln>
        </p:spPr>
        <p:txBody>
          <a:bodyPr wrap="square" rtlCol="0" anchor="t"/>
          <a:lstStyle/>
          <a:p>
            <a:pPr marL="0" indent="0">
              <a:buNone/>
            </a:pPr>
            <a:endParaRPr lang="en-US"/>
          </a:p>
        </p:txBody>
      </p:sp>
      <p:pic>
        <p:nvPicPr>
          <p:cNvPr id="2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002866" y="861559"/>
            <a:ext cx="165735" cy="165735"/>
          </a:xfrm>
          <a:prstGeom prst="rect">
            <a:avLst/>
          </a:prstGeom>
        </p:spPr>
      </p:pic>
      <p:sp>
        <p:nvSpPr>
          <p:cNvPr id="26" name="Text 16"/>
          <p:cNvSpPr/>
          <p:nvPr/>
        </p:nvSpPr>
        <p:spPr>
          <a:xfrm>
            <a:off x="5199162" y="809923"/>
            <a:ext cx="1095881" cy="269006"/>
          </a:xfrm>
          <a:prstGeom prst="rect">
            <a:avLst/>
          </a:prstGeom>
          <a:noFill/>
          <a:ln/>
        </p:spPr>
        <p:txBody>
          <a:bodyPr wrap="none" lIns="0" tIns="0" rIns="0" bIns="0" rtlCol="0" anchor="ctr"/>
          <a:lstStyle/>
          <a:p>
            <a:pPr marL="0" indent="0" algn="l">
              <a:lnSpc>
                <a:spcPts val="1857"/>
              </a:lnSpc>
              <a:buNone/>
            </a:pPr>
            <a:r>
              <a:rPr lang="en-US" sz="1238" b="1">
                <a:solidFill>
                  <a:srgbClr val="B07010"/>
                </a:solidFill>
                <a:latin typeface="Calibri" pitchFamily="34" charset="0"/>
                <a:ea typeface="Calibri" pitchFamily="34" charset="-122"/>
                <a:cs typeface="Calibri" pitchFamily="34" charset="-120"/>
              </a:rPr>
              <a:t>PROACTIVE</a:t>
            </a:r>
            <a:endParaRPr lang="en-US" sz="1238"/>
          </a:p>
        </p:txBody>
      </p:sp>
      <p:sp>
        <p:nvSpPr>
          <p:cNvPr id="27" name="Text 17"/>
          <p:cNvSpPr/>
          <p:nvPr/>
        </p:nvSpPr>
        <p:spPr>
          <a:xfrm>
            <a:off x="6266408" y="913656"/>
            <a:ext cx="2296567" cy="7590"/>
          </a:xfrm>
          <a:prstGeom prst="rect">
            <a:avLst/>
          </a:prstGeom>
          <a:gradFill rotWithShape="1">
            <a:gsLst>
              <a:gs pos="0">
                <a:srgbClr val="E8A020">
                  <a:alpha val="40000"/>
                </a:srgbClr>
              </a:gs>
              <a:gs pos="100000">
                <a:srgbClr val="000000">
                  <a:alpha val="0"/>
                </a:srgbClr>
              </a:gs>
            </a:gsLst>
            <a:lin ang="0" scaled="1"/>
          </a:gradFill>
          <a:ln/>
        </p:spPr>
        <p:txBody>
          <a:bodyPr wrap="none" rtlCol="0" anchor="t"/>
          <a:lstStyle/>
          <a:p>
            <a:pPr marL="0" indent="0">
              <a:buNone/>
            </a:pPr>
            <a:endParaRPr lang="en-US"/>
          </a:p>
        </p:txBody>
      </p:sp>
      <p:sp>
        <p:nvSpPr>
          <p:cNvPr id="28" name="Text 18"/>
          <p:cNvSpPr/>
          <p:nvPr/>
        </p:nvSpPr>
        <p:spPr>
          <a:xfrm>
            <a:off x="5168601" y="1088719"/>
            <a:ext cx="3816995" cy="185440"/>
          </a:xfrm>
          <a:prstGeom prst="rect">
            <a:avLst/>
          </a:prstGeom>
          <a:noFill/>
          <a:ln/>
        </p:spPr>
        <p:txBody>
          <a:bodyPr wrap="none" lIns="0" tIns="0" rIns="0" bIns="0" rtlCol="0" anchor="t"/>
          <a:lstStyle/>
          <a:p>
            <a:pPr marL="0" indent="0" algn="l">
              <a:lnSpc>
                <a:spcPts val="1931"/>
              </a:lnSpc>
              <a:buNone/>
            </a:pPr>
            <a:r>
              <a:rPr lang="en-US" sz="1379" dirty="0">
                <a:solidFill>
                  <a:srgbClr val="0D1B3E"/>
                </a:solidFill>
                <a:latin typeface="Calibri" pitchFamily="34" charset="0"/>
                <a:ea typeface="Calibri" pitchFamily="34" charset="-122"/>
                <a:cs typeface="Calibri" pitchFamily="34" charset="-120"/>
              </a:rPr>
              <a:t>Funding opportunity found 6–12 months in advance</a:t>
            </a:r>
            <a:endParaRPr lang="en-US" sz="1379" dirty="0"/>
          </a:p>
        </p:txBody>
      </p:sp>
      <p:pic>
        <p:nvPicPr>
          <p:cNvPr id="2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991927" y="1121057"/>
            <a:ext cx="165735" cy="165735"/>
          </a:xfrm>
          <a:prstGeom prst="rect">
            <a:avLst/>
          </a:prstGeom>
        </p:spPr>
      </p:pic>
      <p:sp>
        <p:nvSpPr>
          <p:cNvPr id="30" name="Text 19"/>
          <p:cNvSpPr/>
          <p:nvPr/>
        </p:nvSpPr>
        <p:spPr>
          <a:xfrm>
            <a:off x="5177284" y="1419561"/>
            <a:ext cx="2929116"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Readiness-based go/no-go decision made calmly</a:t>
            </a:r>
            <a:endParaRPr lang="en-US" sz="1379"/>
          </a:p>
        </p:txBody>
      </p:sp>
      <p:pic>
        <p:nvPicPr>
          <p:cNvPr id="31"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991927" y="1415180"/>
            <a:ext cx="165735" cy="165735"/>
          </a:xfrm>
          <a:prstGeom prst="rect">
            <a:avLst/>
          </a:prstGeom>
        </p:spPr>
      </p:pic>
      <p:sp>
        <p:nvSpPr>
          <p:cNvPr id="32" name="Text 20"/>
          <p:cNvSpPr/>
          <p:nvPr/>
        </p:nvSpPr>
        <p:spPr>
          <a:xfrm>
            <a:off x="5177284" y="1713684"/>
            <a:ext cx="2333208"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Scope aligned to your theory of change</a:t>
            </a:r>
            <a:endParaRPr lang="en-US" sz="1379"/>
          </a:p>
        </p:txBody>
      </p:sp>
      <p:pic>
        <p:nvPicPr>
          <p:cNvPr id="33"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991927" y="1709303"/>
            <a:ext cx="165735" cy="165735"/>
          </a:xfrm>
          <a:prstGeom prst="rect">
            <a:avLst/>
          </a:prstGeom>
        </p:spPr>
      </p:pic>
      <p:sp>
        <p:nvSpPr>
          <p:cNvPr id="34" name="Text 21"/>
          <p:cNvSpPr/>
          <p:nvPr/>
        </p:nvSpPr>
        <p:spPr>
          <a:xfrm>
            <a:off x="5177284" y="2007807"/>
            <a:ext cx="2228597"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Funder relationship already cultivated</a:t>
            </a:r>
            <a:endParaRPr lang="en-US" sz="1379"/>
          </a:p>
        </p:txBody>
      </p:sp>
      <p:pic>
        <p:nvPicPr>
          <p:cNvPr id="35"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991927" y="2003426"/>
            <a:ext cx="165735" cy="165735"/>
          </a:xfrm>
          <a:prstGeom prst="rect">
            <a:avLst/>
          </a:prstGeom>
        </p:spPr>
      </p:pic>
      <p:sp>
        <p:nvSpPr>
          <p:cNvPr id="36" name="Text 22"/>
          <p:cNvSpPr/>
          <p:nvPr/>
        </p:nvSpPr>
        <p:spPr>
          <a:xfrm>
            <a:off x="5177284" y="2301930"/>
            <a:ext cx="2534082"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Submission is a planned event, not a crisis</a:t>
            </a:r>
            <a:endParaRPr lang="en-US" sz="1379"/>
          </a:p>
        </p:txBody>
      </p:sp>
      <p:pic>
        <p:nvPicPr>
          <p:cNvPr id="37"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991927" y="2297549"/>
            <a:ext cx="165735" cy="165735"/>
          </a:xfrm>
          <a:prstGeom prst="rect">
            <a:avLst/>
          </a:prstGeom>
        </p:spPr>
      </p:pic>
      <p:sp>
        <p:nvSpPr>
          <p:cNvPr id="38" name="Text 23"/>
          <p:cNvSpPr/>
          <p:nvPr/>
        </p:nvSpPr>
        <p:spPr>
          <a:xfrm>
            <a:off x="5177284" y="2596053"/>
            <a:ext cx="2981504" cy="213196"/>
          </a:xfrm>
          <a:prstGeom prst="rect">
            <a:avLst/>
          </a:prstGeom>
          <a:noFill/>
          <a:ln/>
        </p:spPr>
        <p:txBody>
          <a:bodyPr wrap="none" lIns="0" tIns="0" rIns="0" bIns="0" rtlCol="0" anchor="t"/>
          <a:lstStyle/>
          <a:p>
            <a:pPr marL="0" indent="0" algn="l">
              <a:lnSpc>
                <a:spcPts val="1931"/>
              </a:lnSpc>
              <a:buNone/>
            </a:pPr>
            <a:r>
              <a:rPr lang="en-US" sz="1379">
                <a:solidFill>
                  <a:srgbClr val="0D1B3E"/>
                </a:solidFill>
                <a:latin typeface="Calibri" pitchFamily="34" charset="0"/>
                <a:ea typeface="Calibri" pitchFamily="34" charset="-122"/>
                <a:cs typeface="Calibri" pitchFamily="34" charset="-120"/>
              </a:rPr>
              <a:t>Learning debrief scheduled regardless of outcome</a:t>
            </a:r>
            <a:endParaRPr lang="en-US" sz="1379"/>
          </a:p>
        </p:txBody>
      </p:sp>
      <p:pic>
        <p:nvPicPr>
          <p:cNvPr id="39" name="Image 13" descr="preencoded.png"/>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991927" y="2591672"/>
            <a:ext cx="165735" cy="165735"/>
          </a:xfrm>
          <a:prstGeom prst="rect">
            <a:avLst/>
          </a:prstGeom>
        </p:spPr>
      </p:pic>
      <p:sp>
        <p:nvSpPr>
          <p:cNvPr id="40" name="Text 24"/>
          <p:cNvSpPr/>
          <p:nvPr/>
        </p:nvSpPr>
        <p:spPr>
          <a:xfrm>
            <a:off x="400050" y="4734669"/>
            <a:ext cx="8343900" cy="308521"/>
          </a:xfrm>
          <a:prstGeom prst="roundRect">
            <a:avLst>
              <a:gd name="adj" fmla="val 18524"/>
            </a:avLst>
          </a:prstGeom>
          <a:solidFill>
            <a:srgbClr val="E8A020">
              <a:alpha val="10000"/>
            </a:srgbClr>
          </a:solidFill>
          <a:ln w="9525">
            <a:solidFill>
              <a:srgbClr val="E8A020">
                <a:alpha val="35000"/>
              </a:srgbClr>
            </a:solidFill>
          </a:ln>
        </p:spPr>
        <p:txBody>
          <a:bodyPr wrap="square" rtlCol="0" anchor="t"/>
          <a:lstStyle/>
          <a:p>
            <a:pPr marL="0" indent="0">
              <a:buNone/>
            </a:pPr>
            <a:endParaRPr lang="en-US"/>
          </a:p>
        </p:txBody>
      </p:sp>
      <p:pic>
        <p:nvPicPr>
          <p:cNvPr id="41" name="Image 14" descr="preencoded.png"/>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582126" y="4822561"/>
            <a:ext cx="165735" cy="165735"/>
          </a:xfrm>
          <a:prstGeom prst="rect">
            <a:avLst/>
          </a:prstGeom>
        </p:spPr>
      </p:pic>
      <p:sp>
        <p:nvSpPr>
          <p:cNvPr id="42" name="Text 25"/>
          <p:cNvSpPr/>
          <p:nvPr/>
        </p:nvSpPr>
        <p:spPr>
          <a:xfrm>
            <a:off x="1498163" y="4808934"/>
            <a:ext cx="6147673" cy="159990"/>
          </a:xfrm>
          <a:prstGeom prst="rect">
            <a:avLst/>
          </a:prstGeom>
          <a:noFill/>
          <a:ln/>
        </p:spPr>
        <p:txBody>
          <a:bodyPr wrap="none" lIns="0" tIns="0" rIns="0" bIns="0" rtlCol="0" anchor="ctr"/>
          <a:lstStyle/>
          <a:p>
            <a:pPr marL="0" indent="0" algn="ctr">
              <a:lnSpc>
                <a:spcPts val="1810"/>
              </a:lnSpc>
              <a:buNone/>
            </a:pPr>
            <a:r>
              <a:rPr lang="en-US" sz="1207" i="1" dirty="0">
                <a:solidFill>
                  <a:srgbClr val="8A5A00"/>
                </a:solidFill>
                <a:latin typeface="Calibri Light" pitchFamily="34" charset="0"/>
                <a:ea typeface="Calibri Light" pitchFamily="34" charset="-122"/>
                <a:cs typeface="Calibri Light" pitchFamily="34" charset="-120"/>
              </a:rPr>
              <a:t>"Reactive is not a failure of leadership — it is a failure of infrastructure. The goal today is to build the infrastructure."</a:t>
            </a:r>
            <a:endParaRPr lang="en-US" sz="1207" dirty="0"/>
          </a:p>
        </p:txBody>
      </p:sp>
      <p:pic>
        <p:nvPicPr>
          <p:cNvPr id="43" name="Image 15" descr="preencoded.png"/>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429286" y="4822561"/>
            <a:ext cx="165735" cy="165735"/>
          </a:xfrm>
          <a:prstGeom prst="rect">
            <a:avLst/>
          </a:prstGeom>
        </p:spPr>
      </p:pic>
      <p:sp>
        <p:nvSpPr>
          <p:cNvPr id="44" name="Text 26"/>
          <p:cNvSpPr/>
          <p:nvPr/>
        </p:nvSpPr>
        <p:spPr>
          <a:xfrm>
            <a:off x="3519192" y="451823"/>
            <a:ext cx="1000716" cy="1000716"/>
          </a:xfrm>
          <a:prstGeom prst="ellipse">
            <a:avLst/>
          </a:prstGeom>
          <a:gradFill rotWithShape="1">
            <a:gsLst>
              <a:gs pos="0">
                <a:srgbClr val="C0392B">
                  <a:alpha val="10000"/>
                </a:srgbClr>
              </a:gs>
              <a:gs pos="70000">
                <a:srgbClr val="000000">
                  <a:alpha val="0"/>
                </a:srgbClr>
              </a:gs>
            </a:gsLst>
            <a:path path="circle">
              <a:fillToRect l="50000" t="50000" r="50000" b="50000"/>
            </a:path>
          </a:gradFill>
          <a:ln/>
        </p:spPr>
        <p:txBody>
          <a:bodyPr wrap="square" rtlCol="0" anchor="t"/>
          <a:lstStyle/>
          <a:p>
            <a:pPr marL="0" indent="0">
              <a:buNone/>
            </a:pPr>
            <a:endParaRPr lang="en-US"/>
          </a:p>
        </p:txBody>
      </p:sp>
      <p:sp>
        <p:nvSpPr>
          <p:cNvPr id="45" name="Text 27"/>
          <p:cNvSpPr/>
          <p:nvPr/>
        </p:nvSpPr>
        <p:spPr>
          <a:xfrm>
            <a:off x="4624070" y="3824733"/>
            <a:ext cx="1000716" cy="1000716"/>
          </a:xfrm>
          <a:prstGeom prst="ellipse">
            <a:avLst/>
          </a:prstGeom>
          <a:gradFill rotWithShape="1">
            <a:gsLst>
              <a:gs pos="0">
                <a:srgbClr val="27AE60">
                  <a:alpha val="10000"/>
                </a:srgbClr>
              </a:gs>
              <a:gs pos="70000">
                <a:srgbClr val="000000">
                  <a:alpha val="0"/>
                </a:srgbClr>
              </a:gs>
            </a:gsLst>
            <a:path path="circle">
              <a:fillToRect l="50000" t="50000" r="50000" b="50000"/>
            </a:path>
          </a:gradFill>
          <a:ln/>
        </p:spPr>
        <p:txBody>
          <a:bodyPr wrap="square" rtlCol="0" anchor="t"/>
          <a:lstStyle/>
          <a:p>
            <a:pPr marL="0" indent="0">
              <a:buNone/>
            </a:pPr>
            <a:endParaRPr lang="en-US"/>
          </a:p>
        </p:txBody>
      </p:sp>
      <p:sp>
        <p:nvSpPr>
          <p:cNvPr id="46" name="Text 28"/>
          <p:cNvSpPr/>
          <p:nvPr/>
        </p:nvSpPr>
        <p:spPr>
          <a:xfrm>
            <a:off x="4510455" y="1885364"/>
            <a:ext cx="228600" cy="228600"/>
          </a:xfrm>
          <a:prstGeom prst="ellipse">
            <a:avLst/>
          </a:prstGeom>
          <a:solidFill>
            <a:srgbClr val="E8A020"/>
          </a:solidFill>
          <a:ln/>
          <a:effectLst>
            <a:outerShdw blurRad="86360" dist="50800" dir="16200000" algn="bl" rotWithShape="0">
              <a:srgbClr val="E8A020">
                <a:alpha val="40000"/>
              </a:srgbClr>
            </a:outerShdw>
          </a:effectLst>
        </p:spPr>
        <p:txBody>
          <a:bodyPr wrap="none" rtlCol="0" anchor="t"/>
          <a:lstStyle/>
          <a:p>
            <a:pPr marL="0" indent="0">
              <a:buNone/>
            </a:pPr>
            <a:endParaRPr lang="en-US"/>
          </a:p>
        </p:txBody>
      </p:sp>
      <p:pic>
        <p:nvPicPr>
          <p:cNvPr id="47" name="Image 16" descr="preencoded.png"/>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558461" y="1933370"/>
            <a:ext cx="165735" cy="1657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20953" y="14585"/>
            <a:ext cx="9144000" cy="5143500"/>
          </a:xfrm>
          <a:prstGeom prst="rect">
            <a:avLst/>
          </a:prstGeom>
          <a:gradFill rotWithShape="1">
            <a:gsLst>
              <a:gs pos="0">
                <a:srgbClr val="E8A020">
                  <a:alpha val="7000"/>
                </a:srgbClr>
              </a:gs>
              <a:gs pos="100000">
                <a:srgbClr val="000000">
                  <a:alpha val="0"/>
                </a:srgbClr>
              </a:gs>
            </a:gsLst>
            <a:lin ang="5400000" scaled="1"/>
          </a:gradFill>
          <a:ln/>
        </p:spPr>
        <p:txBody>
          <a:bodyPr wrap="square" rtlCol="0" anchor="t"/>
          <a:lstStyle/>
          <a:p>
            <a:pPr marL="0" indent="0">
              <a:buNone/>
            </a:pPr>
            <a:endParaRPr lang="en-US" dirty="0"/>
          </a:p>
        </p:txBody>
      </p:sp>
      <p:sp>
        <p:nvSpPr>
          <p:cNvPr id="4" name="Text 2"/>
          <p:cNvSpPr/>
          <p:nvPr/>
        </p:nvSpPr>
        <p:spPr>
          <a:xfrm>
            <a:off x="5715000" y="2143720"/>
            <a:ext cx="3429000" cy="2999780"/>
          </a:xfrm>
          <a:prstGeom prst="rect">
            <a:avLst/>
          </a:prstGeom>
          <a:gradFill rotWithShape="1">
            <a:gsLst>
              <a:gs pos="0">
                <a:srgbClr val="E8A020">
                  <a:alpha val="9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0" y="0"/>
            <a:ext cx="9144000" cy="29170"/>
          </a:xfrm>
          <a:prstGeom prst="rect">
            <a:avLst/>
          </a:prstGeom>
          <a:gradFill rotWithShape="1">
            <a:gsLst>
              <a:gs pos="0">
                <a:srgbClr val="E8A020"/>
              </a:gs>
              <a:gs pos="100000">
                <a:srgbClr val="E8A020">
                  <a:alpha val="30000"/>
                </a:srgbClr>
              </a:gs>
            </a:gsLst>
            <a:lin ang="0" scaled="1"/>
          </a:gradFill>
          <a:ln/>
        </p:spPr>
        <p:txBody>
          <a:bodyPr wrap="none" rtlCol="0" anchor="t"/>
          <a:lstStyle/>
          <a:p>
            <a:pPr marL="0" indent="0">
              <a:buNone/>
            </a:pPr>
            <a:endParaRPr lang="en-US" dirty="0"/>
          </a:p>
        </p:txBody>
      </p:sp>
      <p:sp>
        <p:nvSpPr>
          <p:cNvPr id="6" name="Text 4"/>
          <p:cNvSpPr/>
          <p:nvPr/>
        </p:nvSpPr>
        <p:spPr>
          <a:xfrm>
            <a:off x="466725" y="1026170"/>
            <a:ext cx="1930746" cy="21580"/>
          </a:xfrm>
          <a:custGeom>
            <a:avLst/>
            <a:gdLst/>
            <a:ahLst/>
            <a:cxnLst/>
            <a:rect l="l" t="t" r="r" b="b"/>
            <a:pathLst>
              <a:path w="1930746" h="21580">
                <a:moveTo>
                  <a:pt x="86360" y="0"/>
                </a:moveTo>
                <a:lnTo>
                  <a:pt x="1844386" y="0"/>
                </a:lnTo>
                <a:lnTo>
                  <a:pt x="1865802" y="2698"/>
                </a:lnTo>
                <a:lnTo>
                  <a:pt x="1874431" y="5395"/>
                </a:lnTo>
                <a:lnTo>
                  <a:pt x="1880886" y="8093"/>
                </a:lnTo>
                <a:lnTo>
                  <a:pt x="1886186" y="10790"/>
                </a:lnTo>
                <a:lnTo>
                  <a:pt x="1890729" y="13488"/>
                </a:lnTo>
                <a:lnTo>
                  <a:pt x="1894720" y="16185"/>
                </a:lnTo>
                <a:lnTo>
                  <a:pt x="1898283" y="18883"/>
                </a:lnTo>
                <a:lnTo>
                  <a:pt x="1901497" y="21580"/>
                </a:lnTo>
                <a:lnTo>
                  <a:pt x="29250" y="21580"/>
                </a:lnTo>
                <a:lnTo>
                  <a:pt x="32463" y="18883"/>
                </a:lnTo>
                <a:lnTo>
                  <a:pt x="36026" y="16185"/>
                </a:lnTo>
                <a:lnTo>
                  <a:pt x="40017" y="13488"/>
                </a:lnTo>
                <a:lnTo>
                  <a:pt x="44560" y="10790"/>
                </a:lnTo>
                <a:lnTo>
                  <a:pt x="49860" y="8093"/>
                </a:lnTo>
                <a:lnTo>
                  <a:pt x="56315" y="5395"/>
                </a:lnTo>
                <a:lnTo>
                  <a:pt x="64944" y="2698"/>
                </a:lnTo>
                <a:close/>
              </a:path>
            </a:pathLst>
          </a:custGeom>
          <a:gradFill rotWithShape="1">
            <a:gsLst>
              <a:gs pos="0">
                <a:srgbClr val="E8A020"/>
              </a:gs>
              <a:gs pos="100000">
                <a:srgbClr val="E8A020">
                  <a:alpha val="30000"/>
                </a:srgbClr>
              </a:gs>
            </a:gsLst>
            <a:lin ang="0" scaled="1"/>
          </a:gradFill>
          <a:ln/>
        </p:spPr>
        <p:txBody>
          <a:bodyPr wrap="none" rtlCol="0" anchor="t"/>
          <a:lstStyle/>
          <a:p>
            <a:pPr marL="0" indent="0">
              <a:buNone/>
            </a:pPr>
            <a:endParaRPr lang="en-US" dirty="0"/>
          </a:p>
        </p:txBody>
      </p:sp>
      <p:sp>
        <p:nvSpPr>
          <p:cNvPr id="7" name="Text 5"/>
          <p:cNvSpPr/>
          <p:nvPr/>
        </p:nvSpPr>
        <p:spPr>
          <a:xfrm>
            <a:off x="2559993" y="1026170"/>
            <a:ext cx="1930746" cy="21580"/>
          </a:xfrm>
          <a:custGeom>
            <a:avLst/>
            <a:gdLst/>
            <a:ahLst/>
            <a:cxnLst/>
            <a:rect l="l" t="t" r="r" b="b"/>
            <a:pathLst>
              <a:path w="1930746" h="21580">
                <a:moveTo>
                  <a:pt x="86360" y="0"/>
                </a:moveTo>
                <a:lnTo>
                  <a:pt x="1844386" y="0"/>
                </a:lnTo>
                <a:lnTo>
                  <a:pt x="1865802" y="2698"/>
                </a:lnTo>
                <a:lnTo>
                  <a:pt x="1874431" y="5395"/>
                </a:lnTo>
                <a:lnTo>
                  <a:pt x="1880886" y="8093"/>
                </a:lnTo>
                <a:lnTo>
                  <a:pt x="1886186" y="10790"/>
                </a:lnTo>
                <a:lnTo>
                  <a:pt x="1890729" y="13488"/>
                </a:lnTo>
                <a:lnTo>
                  <a:pt x="1894720" y="16185"/>
                </a:lnTo>
                <a:lnTo>
                  <a:pt x="1898283" y="18883"/>
                </a:lnTo>
                <a:lnTo>
                  <a:pt x="1901497" y="21580"/>
                </a:lnTo>
                <a:lnTo>
                  <a:pt x="29250" y="21580"/>
                </a:lnTo>
                <a:lnTo>
                  <a:pt x="32463" y="18883"/>
                </a:lnTo>
                <a:lnTo>
                  <a:pt x="36026" y="16185"/>
                </a:lnTo>
                <a:lnTo>
                  <a:pt x="40017" y="13488"/>
                </a:lnTo>
                <a:lnTo>
                  <a:pt x="44560" y="10790"/>
                </a:lnTo>
                <a:lnTo>
                  <a:pt x="49860" y="8093"/>
                </a:lnTo>
                <a:lnTo>
                  <a:pt x="56315" y="5395"/>
                </a:lnTo>
                <a:lnTo>
                  <a:pt x="64944" y="2698"/>
                </a:lnTo>
                <a:close/>
              </a:path>
            </a:pathLst>
          </a:custGeom>
          <a:gradFill rotWithShape="1">
            <a:gsLst>
              <a:gs pos="0">
                <a:srgbClr val="E8A020"/>
              </a:gs>
              <a:gs pos="100000">
                <a:srgbClr val="E8A020">
                  <a:alpha val="30000"/>
                </a:srgbClr>
              </a:gs>
            </a:gsLst>
            <a:lin ang="0" scaled="1"/>
          </a:gradFill>
          <a:ln/>
        </p:spPr>
        <p:txBody>
          <a:bodyPr wrap="none" rtlCol="0" anchor="t"/>
          <a:lstStyle/>
          <a:p>
            <a:pPr marL="0" indent="0">
              <a:buNone/>
            </a:pPr>
            <a:endParaRPr lang="en-US" dirty="0"/>
          </a:p>
        </p:txBody>
      </p:sp>
      <p:sp>
        <p:nvSpPr>
          <p:cNvPr id="8" name="Text 6"/>
          <p:cNvSpPr/>
          <p:nvPr/>
        </p:nvSpPr>
        <p:spPr>
          <a:xfrm>
            <a:off x="4653260" y="1026170"/>
            <a:ext cx="1930746" cy="21580"/>
          </a:xfrm>
          <a:custGeom>
            <a:avLst/>
            <a:gdLst/>
            <a:ahLst/>
            <a:cxnLst/>
            <a:rect l="l" t="t" r="r" b="b"/>
            <a:pathLst>
              <a:path w="1930746" h="21580">
                <a:moveTo>
                  <a:pt x="86360" y="0"/>
                </a:moveTo>
                <a:lnTo>
                  <a:pt x="1844386" y="0"/>
                </a:lnTo>
                <a:lnTo>
                  <a:pt x="1865802" y="2698"/>
                </a:lnTo>
                <a:lnTo>
                  <a:pt x="1874431" y="5395"/>
                </a:lnTo>
                <a:lnTo>
                  <a:pt x="1880886" y="8093"/>
                </a:lnTo>
                <a:lnTo>
                  <a:pt x="1886186" y="10790"/>
                </a:lnTo>
                <a:lnTo>
                  <a:pt x="1890729" y="13488"/>
                </a:lnTo>
                <a:lnTo>
                  <a:pt x="1894720" y="16185"/>
                </a:lnTo>
                <a:lnTo>
                  <a:pt x="1898283" y="18883"/>
                </a:lnTo>
                <a:lnTo>
                  <a:pt x="1901497" y="21580"/>
                </a:lnTo>
                <a:lnTo>
                  <a:pt x="29250" y="21580"/>
                </a:lnTo>
                <a:lnTo>
                  <a:pt x="32463" y="18883"/>
                </a:lnTo>
                <a:lnTo>
                  <a:pt x="36026" y="16185"/>
                </a:lnTo>
                <a:lnTo>
                  <a:pt x="40017" y="13488"/>
                </a:lnTo>
                <a:lnTo>
                  <a:pt x="44560" y="10790"/>
                </a:lnTo>
                <a:lnTo>
                  <a:pt x="49860" y="8093"/>
                </a:lnTo>
                <a:lnTo>
                  <a:pt x="56315" y="5395"/>
                </a:lnTo>
                <a:lnTo>
                  <a:pt x="64944" y="2698"/>
                </a:lnTo>
                <a:close/>
              </a:path>
            </a:pathLst>
          </a:custGeom>
          <a:gradFill rotWithShape="1">
            <a:gsLst>
              <a:gs pos="0">
                <a:srgbClr val="E8A020"/>
              </a:gs>
              <a:gs pos="100000">
                <a:srgbClr val="E8A020">
                  <a:alpha val="30000"/>
                </a:srgbClr>
              </a:gs>
            </a:gsLst>
            <a:lin ang="0" scaled="1"/>
          </a:gradFill>
          <a:ln/>
        </p:spPr>
        <p:txBody>
          <a:bodyPr wrap="none" rtlCol="0" anchor="t"/>
          <a:lstStyle/>
          <a:p>
            <a:pPr marL="0" indent="0">
              <a:buNone/>
            </a:pPr>
            <a:endParaRPr lang="en-US" dirty="0"/>
          </a:p>
        </p:txBody>
      </p:sp>
      <p:sp>
        <p:nvSpPr>
          <p:cNvPr id="9" name="Text 7"/>
          <p:cNvSpPr/>
          <p:nvPr/>
        </p:nvSpPr>
        <p:spPr>
          <a:xfrm>
            <a:off x="6746528" y="1026170"/>
            <a:ext cx="1930746" cy="21580"/>
          </a:xfrm>
          <a:custGeom>
            <a:avLst/>
            <a:gdLst/>
            <a:ahLst/>
            <a:cxnLst/>
            <a:rect l="l" t="t" r="r" b="b"/>
            <a:pathLst>
              <a:path w="1930746" h="21580">
                <a:moveTo>
                  <a:pt x="86360" y="0"/>
                </a:moveTo>
                <a:lnTo>
                  <a:pt x="1844386" y="0"/>
                </a:lnTo>
                <a:lnTo>
                  <a:pt x="1865802" y="2698"/>
                </a:lnTo>
                <a:lnTo>
                  <a:pt x="1874431" y="5395"/>
                </a:lnTo>
                <a:lnTo>
                  <a:pt x="1880886" y="8093"/>
                </a:lnTo>
                <a:lnTo>
                  <a:pt x="1886186" y="10790"/>
                </a:lnTo>
                <a:lnTo>
                  <a:pt x="1890729" y="13488"/>
                </a:lnTo>
                <a:lnTo>
                  <a:pt x="1894720" y="16185"/>
                </a:lnTo>
                <a:lnTo>
                  <a:pt x="1898283" y="18883"/>
                </a:lnTo>
                <a:lnTo>
                  <a:pt x="1901497" y="21580"/>
                </a:lnTo>
                <a:lnTo>
                  <a:pt x="29250" y="21580"/>
                </a:lnTo>
                <a:lnTo>
                  <a:pt x="32463" y="18883"/>
                </a:lnTo>
                <a:lnTo>
                  <a:pt x="36026" y="16185"/>
                </a:lnTo>
                <a:lnTo>
                  <a:pt x="40017" y="13488"/>
                </a:lnTo>
                <a:lnTo>
                  <a:pt x="44560" y="10790"/>
                </a:lnTo>
                <a:lnTo>
                  <a:pt x="49860" y="8093"/>
                </a:lnTo>
                <a:lnTo>
                  <a:pt x="56315" y="5395"/>
                </a:lnTo>
                <a:lnTo>
                  <a:pt x="64944" y="2698"/>
                </a:lnTo>
                <a:close/>
              </a:path>
            </a:pathLst>
          </a:custGeom>
          <a:gradFill rotWithShape="1">
            <a:gsLst>
              <a:gs pos="0">
                <a:srgbClr val="E8A020"/>
              </a:gs>
              <a:gs pos="100000">
                <a:srgbClr val="E8A020">
                  <a:alpha val="30000"/>
                </a:srgbClr>
              </a:gs>
            </a:gsLst>
            <a:lin ang="0" scaled="1"/>
          </a:gradFill>
          <a:ln/>
        </p:spPr>
        <p:txBody>
          <a:bodyPr wrap="none" rtlCol="0" anchor="t"/>
          <a:lstStyle/>
          <a:p>
            <a:pPr marL="0" indent="0">
              <a:buNone/>
            </a:pPr>
            <a:endParaRPr lang="en-US" dirty="0"/>
          </a:p>
        </p:txBody>
      </p:sp>
      <p:sp>
        <p:nvSpPr>
          <p:cNvPr id="10" name="Text 8"/>
          <p:cNvSpPr/>
          <p:nvPr/>
        </p:nvSpPr>
        <p:spPr>
          <a:xfrm>
            <a:off x="457200" y="271760"/>
            <a:ext cx="9052560" cy="129480"/>
          </a:xfrm>
          <a:prstGeom prst="rect">
            <a:avLst/>
          </a:prstGeom>
          <a:noFill/>
          <a:ln/>
        </p:spPr>
        <p:txBody>
          <a:bodyPr wrap="none" lIns="0" tIns="0" rIns="0" bIns="0" rtlCol="0" anchor="t"/>
          <a:lstStyle/>
          <a:p>
            <a:pPr marL="0" indent="0" algn="l">
              <a:lnSpc>
                <a:spcPts val="1020"/>
              </a:lnSpc>
              <a:buNone/>
            </a:pPr>
            <a:r>
              <a:rPr lang="en-US" sz="680" b="1" kern="0" spc="170" dirty="0">
                <a:solidFill>
                  <a:srgbClr val="E8A020"/>
                </a:solidFill>
                <a:latin typeface="Calibri" pitchFamily="34" charset="0"/>
                <a:ea typeface="Calibri" pitchFamily="34" charset="-122"/>
                <a:cs typeface="Calibri" pitchFamily="34" charset="-120"/>
              </a:rPr>
              <a:t>SECTION 1 — THE FUNDING LANDSCAPE REALITY</a:t>
            </a:r>
            <a:endParaRPr lang="en-US" sz="680" dirty="0"/>
          </a:p>
        </p:txBody>
      </p:sp>
      <p:sp>
        <p:nvSpPr>
          <p:cNvPr id="11" name="Text 9"/>
          <p:cNvSpPr/>
          <p:nvPr/>
        </p:nvSpPr>
        <p:spPr>
          <a:xfrm>
            <a:off x="457200" y="458391"/>
            <a:ext cx="8805672" cy="278904"/>
          </a:xfrm>
          <a:prstGeom prst="rect">
            <a:avLst/>
          </a:prstGeom>
          <a:noFill/>
          <a:ln/>
        </p:spPr>
        <p:txBody>
          <a:bodyPr wrap="none" lIns="0" tIns="0" rIns="0" bIns="0" rtlCol="0" anchor="t"/>
          <a:lstStyle/>
          <a:p>
            <a:pPr marL="0" indent="0" algn="l">
              <a:lnSpc>
                <a:spcPts val="2197"/>
              </a:lnSpc>
              <a:buNone/>
            </a:pPr>
            <a:r>
              <a:rPr lang="en-US" sz="1910" dirty="0">
                <a:solidFill>
                  <a:srgbClr val="0D1B3E"/>
                </a:solidFill>
                <a:latin typeface="Calibri Light" pitchFamily="34" charset="0"/>
                <a:ea typeface="Calibri Light" pitchFamily="34" charset="-122"/>
                <a:cs typeface="Calibri Light" pitchFamily="34" charset="-120"/>
              </a:rPr>
              <a:t>The RF Funding Landscape — </a:t>
            </a:r>
            <a:r>
              <a:rPr lang="en-US" sz="1910" b="1" dirty="0">
                <a:solidFill>
                  <a:srgbClr val="E8A020"/>
                </a:solidFill>
                <a:latin typeface="Calibri" pitchFamily="34" charset="0"/>
                <a:ea typeface="Calibri" pitchFamily="34" charset="-122"/>
                <a:cs typeface="Calibri" pitchFamily="34" charset="-120"/>
              </a:rPr>
              <a:t>By the Numbers</a:t>
            </a:r>
            <a:endParaRPr lang="en-US" sz="1910" dirty="0"/>
          </a:p>
        </p:txBody>
      </p:sp>
      <p:sp>
        <p:nvSpPr>
          <p:cNvPr id="12" name="Text 10"/>
          <p:cNvSpPr/>
          <p:nvPr/>
        </p:nvSpPr>
        <p:spPr>
          <a:xfrm>
            <a:off x="457200" y="823615"/>
            <a:ext cx="457200" cy="21580"/>
          </a:xfrm>
          <a:prstGeom prst="roundRect">
            <a:avLst>
              <a:gd name="adj" fmla="val 64736"/>
            </a:avLst>
          </a:prstGeom>
          <a:solidFill>
            <a:srgbClr val="E8A020"/>
          </a:solidFill>
          <a:ln/>
        </p:spPr>
        <p:txBody>
          <a:bodyPr wrap="none" rtlCol="0" anchor="t"/>
          <a:lstStyle/>
          <a:p>
            <a:pPr marL="0" indent="0">
              <a:buNone/>
            </a:pPr>
            <a:endParaRPr lang="en-US" dirty="0"/>
          </a:p>
        </p:txBody>
      </p:sp>
      <p:sp>
        <p:nvSpPr>
          <p:cNvPr id="13" name="Text 11"/>
          <p:cNvSpPr/>
          <p:nvPr/>
        </p:nvSpPr>
        <p:spPr>
          <a:xfrm>
            <a:off x="457200" y="1016645"/>
            <a:ext cx="1949797" cy="2297311"/>
          </a:xfrm>
          <a:prstGeom prst="roundRect">
            <a:avLst>
              <a:gd name="adj" fmla="val 4429"/>
            </a:avLst>
          </a:prstGeom>
          <a:solidFill>
            <a:srgbClr val="F0F4F8"/>
          </a:solidFill>
          <a:ln w="9525">
            <a:solidFill>
              <a:srgbClr val="E8A020">
                <a:alpha val="22000"/>
              </a:srgbClr>
            </a:solidFill>
          </a:ln>
        </p:spPr>
        <p:txBody>
          <a:bodyPr wrap="square" rtlCol="0" anchor="t"/>
          <a:lstStyle/>
          <a:p>
            <a:pPr marL="0" indent="0">
              <a:buNone/>
            </a:pPr>
            <a:endParaRPr lang="en-US" dirty="0"/>
          </a:p>
        </p:txBody>
      </p:sp>
      <p:sp>
        <p:nvSpPr>
          <p:cNvPr id="14" name="Text 12"/>
          <p:cNvSpPr/>
          <p:nvPr/>
        </p:nvSpPr>
        <p:spPr>
          <a:xfrm>
            <a:off x="1993255" y="2833241"/>
            <a:ext cx="333792" cy="571500"/>
          </a:xfrm>
          <a:prstGeom prst="rect">
            <a:avLst/>
          </a:prstGeom>
          <a:noFill/>
          <a:ln/>
        </p:spPr>
        <p:txBody>
          <a:bodyPr wrap="none" lIns="0" tIns="0" rIns="0" bIns="0" rtlCol="0" anchor="t"/>
          <a:lstStyle/>
          <a:p>
            <a:pPr marL="0" indent="0" algn="l">
              <a:lnSpc>
                <a:spcPts val="4500"/>
              </a:lnSpc>
              <a:buNone/>
            </a:pPr>
            <a:r>
              <a:rPr lang="en-US" sz="4500" b="1" dirty="0">
                <a:solidFill>
                  <a:srgbClr val="E8A020">
                    <a:alpha val="8000"/>
                  </a:srgbClr>
                </a:solidFill>
                <a:latin typeface="Calibri" pitchFamily="34" charset="0"/>
                <a:ea typeface="Calibri" pitchFamily="34" charset="-122"/>
                <a:cs typeface="Calibri" pitchFamily="34" charset="-120"/>
              </a:rPr>
              <a:t>1</a:t>
            </a:r>
            <a:endParaRPr lang="en-US" sz="4500" dirty="0"/>
          </a:p>
        </p:txBody>
      </p:sp>
      <p:pic>
        <p:nvPicPr>
          <p:cNvPr id="15" name="Image 0" descr="preencoded.png"/>
          <p:cNvPicPr>
            <a:picLocks noChangeAspect="1"/>
          </p:cNvPicPr>
          <p:nvPr/>
        </p:nvPicPr>
        <p:blipFill>
          <a:blip>
            <a:alphaModFix amt="85000"/>
            <a:extLst>
              <a:ext uri="{96DAC541-7B7A-43D3-8B79-37D633B846F1}">
                <asvg:svgBlip xmlns:asvg="http://schemas.microsoft.com/office/drawing/2016/SVG/main" r:embed="rId3"/>
              </a:ext>
            </a:extLst>
          </a:blip>
          <a:stretch>
            <a:fillRect/>
          </a:stretch>
        </p:blipFill>
        <p:spPr>
          <a:xfrm>
            <a:off x="638175" y="1226790"/>
            <a:ext cx="228600" cy="228600"/>
          </a:xfrm>
          <a:prstGeom prst="rect">
            <a:avLst/>
          </a:prstGeom>
        </p:spPr>
      </p:pic>
      <p:sp>
        <p:nvSpPr>
          <p:cNvPr id="16" name="Text 13"/>
          <p:cNvSpPr/>
          <p:nvPr/>
        </p:nvSpPr>
        <p:spPr>
          <a:xfrm>
            <a:off x="638175" y="1540222"/>
            <a:ext cx="1667240" cy="328910"/>
          </a:xfrm>
          <a:prstGeom prst="rect">
            <a:avLst/>
          </a:prstGeom>
          <a:noFill/>
          <a:ln/>
        </p:spPr>
        <p:txBody>
          <a:bodyPr wrap="none" lIns="0" tIns="0" rIns="0" bIns="0" rtlCol="0" anchor="t"/>
          <a:lstStyle/>
          <a:p>
            <a:pPr marL="0" indent="0" algn="l">
              <a:lnSpc>
                <a:spcPts val="2590"/>
              </a:lnSpc>
              <a:buNone/>
            </a:pPr>
            <a:r>
              <a:rPr lang="en-US" sz="2590" b="1" kern="0" spc="-60" dirty="0">
                <a:solidFill>
                  <a:srgbClr val="E8A020"/>
                </a:solidFill>
                <a:latin typeface="Calibri" pitchFamily="34" charset="0"/>
                <a:ea typeface="Calibri" pitchFamily="34" charset="-122"/>
                <a:cs typeface="Calibri" pitchFamily="34" charset="-120"/>
              </a:rPr>
              <a:t>$150M+</a:t>
            </a:r>
            <a:endParaRPr lang="en-US" sz="2590" dirty="0"/>
          </a:p>
        </p:txBody>
      </p:sp>
      <p:sp>
        <p:nvSpPr>
          <p:cNvPr id="17" name="Text 14"/>
          <p:cNvSpPr/>
          <p:nvPr/>
        </p:nvSpPr>
        <p:spPr>
          <a:xfrm>
            <a:off x="638175" y="1953964"/>
            <a:ext cx="1587847" cy="7590"/>
          </a:xfrm>
          <a:prstGeom prst="rect">
            <a:avLst/>
          </a:prstGeom>
          <a:solidFill>
            <a:srgbClr val="E8A020">
              <a:alpha val="20000"/>
            </a:srgbClr>
          </a:solidFill>
          <a:ln/>
        </p:spPr>
        <p:txBody>
          <a:bodyPr wrap="none" rtlCol="0" anchor="t"/>
          <a:lstStyle/>
          <a:p>
            <a:pPr marL="0" indent="0">
              <a:buNone/>
            </a:pPr>
            <a:endParaRPr lang="en-US" dirty="0"/>
          </a:p>
        </p:txBody>
      </p:sp>
      <p:sp>
        <p:nvSpPr>
          <p:cNvPr id="18" name="Text 15"/>
          <p:cNvSpPr/>
          <p:nvPr/>
        </p:nvSpPr>
        <p:spPr>
          <a:xfrm>
            <a:off x="638175" y="2159194"/>
            <a:ext cx="1619604" cy="1110295"/>
          </a:xfrm>
          <a:prstGeom prst="rect">
            <a:avLst/>
          </a:prstGeom>
          <a:noFill/>
          <a:ln/>
        </p:spPr>
        <p:txBody>
          <a:bodyPr wrap="square" lIns="0" tIns="0" rIns="0" bIns="0" rtlCol="0" anchor="ctr"/>
          <a:lstStyle/>
          <a:p>
            <a:pPr marL="0" indent="0" algn="l">
              <a:lnSpc>
                <a:spcPts val="1189"/>
              </a:lnSpc>
              <a:buNone/>
            </a:pPr>
            <a:r>
              <a:rPr lang="en-US" sz="1100" dirty="0">
                <a:solidFill>
                  <a:srgbClr val="64748B"/>
                </a:solidFill>
                <a:latin typeface="Calibri" pitchFamily="34" charset="0"/>
                <a:ea typeface="Calibri" pitchFamily="34" charset="-122"/>
                <a:cs typeface="Calibri" pitchFamily="34" charset="-120"/>
              </a:rPr>
              <a:t>Annual ACF investment in </a:t>
            </a:r>
            <a:r>
              <a:rPr lang="en-US" sz="1100" b="1" dirty="0">
                <a:solidFill>
                  <a:srgbClr val="0D1B3E"/>
                </a:solidFill>
                <a:latin typeface="Calibri" pitchFamily="34" charset="0"/>
                <a:ea typeface="Calibri" pitchFamily="34" charset="-122"/>
                <a:cs typeface="Calibri" pitchFamily="34" charset="-120"/>
              </a:rPr>
              <a:t>Healthy Marriage &amp; Responsible Fatherhood</a:t>
            </a:r>
            <a:r>
              <a:rPr lang="en-US" sz="1100" dirty="0">
                <a:solidFill>
                  <a:srgbClr val="64748B"/>
                </a:solidFill>
                <a:latin typeface="Calibri" pitchFamily="34" charset="0"/>
                <a:ea typeface="Calibri" pitchFamily="34" charset="-122"/>
                <a:cs typeface="Calibri" pitchFamily="34" charset="-120"/>
              </a:rPr>
              <a:t> programs nationwide — demonstrating federal commitment and competitive stakes</a:t>
            </a:r>
            <a:endParaRPr lang="en-US" sz="1100" dirty="0"/>
          </a:p>
        </p:txBody>
      </p:sp>
      <p:sp>
        <p:nvSpPr>
          <p:cNvPr id="19" name="Text 16"/>
          <p:cNvSpPr/>
          <p:nvPr/>
        </p:nvSpPr>
        <p:spPr>
          <a:xfrm>
            <a:off x="2550468" y="1016645"/>
            <a:ext cx="1949797" cy="2297311"/>
          </a:xfrm>
          <a:prstGeom prst="roundRect">
            <a:avLst>
              <a:gd name="adj" fmla="val 4429"/>
            </a:avLst>
          </a:prstGeom>
          <a:solidFill>
            <a:srgbClr val="F0F4F8"/>
          </a:solidFill>
          <a:ln w="9525">
            <a:solidFill>
              <a:srgbClr val="E8A020">
                <a:alpha val="22000"/>
              </a:srgbClr>
            </a:solidFill>
          </a:ln>
        </p:spPr>
        <p:txBody>
          <a:bodyPr wrap="square" rtlCol="0" anchor="t"/>
          <a:lstStyle/>
          <a:p>
            <a:pPr marL="0" indent="0">
              <a:buNone/>
            </a:pPr>
            <a:endParaRPr lang="en-US" dirty="0"/>
          </a:p>
        </p:txBody>
      </p:sp>
      <p:sp>
        <p:nvSpPr>
          <p:cNvPr id="20" name="Text 17"/>
          <p:cNvSpPr/>
          <p:nvPr/>
        </p:nvSpPr>
        <p:spPr>
          <a:xfrm>
            <a:off x="4086523" y="2833241"/>
            <a:ext cx="333792" cy="571500"/>
          </a:xfrm>
          <a:prstGeom prst="rect">
            <a:avLst/>
          </a:prstGeom>
          <a:noFill/>
          <a:ln/>
        </p:spPr>
        <p:txBody>
          <a:bodyPr wrap="none" lIns="0" tIns="0" rIns="0" bIns="0" rtlCol="0" anchor="t"/>
          <a:lstStyle/>
          <a:p>
            <a:pPr marL="0" indent="0" algn="l">
              <a:lnSpc>
                <a:spcPts val="4500"/>
              </a:lnSpc>
              <a:buNone/>
            </a:pPr>
            <a:r>
              <a:rPr lang="en-US" sz="4500" b="1" dirty="0">
                <a:solidFill>
                  <a:srgbClr val="E8A020">
                    <a:alpha val="8000"/>
                  </a:srgbClr>
                </a:solidFill>
                <a:latin typeface="Calibri" pitchFamily="34" charset="0"/>
                <a:ea typeface="Calibri" pitchFamily="34" charset="-122"/>
                <a:cs typeface="Calibri" pitchFamily="34" charset="-120"/>
              </a:rPr>
              <a:t>2</a:t>
            </a:r>
            <a:endParaRPr lang="en-US" sz="4500" dirty="0"/>
          </a:p>
        </p:txBody>
      </p:sp>
      <p:pic>
        <p:nvPicPr>
          <p:cNvPr id="21" name="Image 1" descr="preencoded.png"/>
          <p:cNvPicPr>
            <a:picLocks noChangeAspect="1"/>
          </p:cNvPicPr>
          <p:nvPr/>
        </p:nvPicPr>
        <p:blipFill>
          <a:blip>
            <a:alphaModFix amt="85000"/>
            <a:extLst>
              <a:ext uri="{96DAC541-7B7A-43D3-8B79-37D633B846F1}">
                <asvg:svgBlip xmlns:asvg="http://schemas.microsoft.com/office/drawing/2016/SVG/main" r:embed="rId4"/>
              </a:ext>
            </a:extLst>
          </a:blip>
          <a:stretch>
            <a:fillRect/>
          </a:stretch>
        </p:blipFill>
        <p:spPr>
          <a:xfrm>
            <a:off x="2731443" y="1226790"/>
            <a:ext cx="228600" cy="228600"/>
          </a:xfrm>
          <a:prstGeom prst="rect">
            <a:avLst/>
          </a:prstGeom>
        </p:spPr>
      </p:pic>
      <p:sp>
        <p:nvSpPr>
          <p:cNvPr id="22" name="Text 18"/>
          <p:cNvSpPr/>
          <p:nvPr/>
        </p:nvSpPr>
        <p:spPr>
          <a:xfrm>
            <a:off x="2731443" y="1526381"/>
            <a:ext cx="1667240" cy="414040"/>
          </a:xfrm>
          <a:prstGeom prst="rect">
            <a:avLst/>
          </a:prstGeom>
          <a:noFill/>
          <a:ln/>
        </p:spPr>
        <p:txBody>
          <a:bodyPr wrap="none" lIns="0" tIns="0" rIns="0" bIns="0" rtlCol="0" anchor="t"/>
          <a:lstStyle/>
          <a:p>
            <a:pPr marL="0" indent="0" algn="l">
              <a:lnSpc>
                <a:spcPts val="3260"/>
              </a:lnSpc>
              <a:buNone/>
            </a:pPr>
            <a:r>
              <a:rPr lang="en-US" sz="3260" b="1" kern="0" spc="-60" dirty="0">
                <a:solidFill>
                  <a:srgbClr val="E8A020"/>
                </a:solidFill>
                <a:latin typeface="Calibri" pitchFamily="34" charset="0"/>
                <a:ea typeface="Calibri" pitchFamily="34" charset="-122"/>
                <a:cs typeface="Calibri" pitchFamily="34" charset="-120"/>
              </a:rPr>
              <a:t>109</a:t>
            </a:r>
            <a:endParaRPr lang="en-US" sz="3260" dirty="0"/>
          </a:p>
        </p:txBody>
      </p:sp>
      <p:sp>
        <p:nvSpPr>
          <p:cNvPr id="23" name="Text 19"/>
          <p:cNvSpPr/>
          <p:nvPr/>
        </p:nvSpPr>
        <p:spPr>
          <a:xfrm>
            <a:off x="2731443" y="2025253"/>
            <a:ext cx="1587847" cy="7590"/>
          </a:xfrm>
          <a:prstGeom prst="rect">
            <a:avLst/>
          </a:prstGeom>
          <a:solidFill>
            <a:srgbClr val="E8A020">
              <a:alpha val="20000"/>
            </a:srgbClr>
          </a:solidFill>
          <a:ln/>
        </p:spPr>
        <p:txBody>
          <a:bodyPr wrap="none" rtlCol="0" anchor="t"/>
          <a:lstStyle/>
          <a:p>
            <a:pPr marL="0" indent="0">
              <a:buNone/>
            </a:pPr>
            <a:endParaRPr lang="en-US" dirty="0"/>
          </a:p>
        </p:txBody>
      </p:sp>
      <p:sp>
        <p:nvSpPr>
          <p:cNvPr id="24" name="Text 20"/>
          <p:cNvSpPr/>
          <p:nvPr/>
        </p:nvSpPr>
        <p:spPr>
          <a:xfrm>
            <a:off x="2731443" y="2146846"/>
            <a:ext cx="1619604" cy="797076"/>
          </a:xfrm>
          <a:prstGeom prst="rect">
            <a:avLst/>
          </a:prstGeom>
          <a:noFill/>
          <a:ln/>
        </p:spPr>
        <p:txBody>
          <a:bodyPr wrap="square" lIns="0" tIns="0" rIns="0" bIns="0" rtlCol="0" anchor="ctr"/>
          <a:lstStyle/>
          <a:p>
            <a:pPr marL="0" indent="0" algn="l">
              <a:lnSpc>
                <a:spcPts val="1189"/>
              </a:lnSpc>
              <a:buNone/>
            </a:pPr>
            <a:r>
              <a:rPr lang="en-US" sz="1100" dirty="0">
                <a:solidFill>
                  <a:srgbClr val="64748B"/>
                </a:solidFill>
                <a:latin typeface="Calibri" pitchFamily="34" charset="0"/>
                <a:ea typeface="Calibri" pitchFamily="34" charset="-122"/>
                <a:cs typeface="Calibri" pitchFamily="34" charset="-120"/>
              </a:rPr>
              <a:t>Active HMRF grant awards across </a:t>
            </a:r>
            <a:r>
              <a:rPr lang="en-US" sz="1100" b="1" dirty="0">
                <a:solidFill>
                  <a:srgbClr val="0D1B3E"/>
                </a:solidFill>
                <a:latin typeface="Calibri" pitchFamily="34" charset="0"/>
                <a:ea typeface="Calibri" pitchFamily="34" charset="-122"/>
                <a:cs typeface="Calibri" pitchFamily="34" charset="-120"/>
              </a:rPr>
              <a:t>38 states</a:t>
            </a:r>
            <a:r>
              <a:rPr lang="en-US" sz="1100" dirty="0">
                <a:solidFill>
                  <a:srgbClr val="64748B"/>
                </a:solidFill>
                <a:latin typeface="Calibri" pitchFamily="34" charset="0"/>
                <a:ea typeface="Calibri" pitchFamily="34" charset="-122"/>
                <a:cs typeface="Calibri" pitchFamily="34" charset="-120"/>
              </a:rPr>
              <a:t> in the current 2025 cohort — meaning many states and communities go unserved</a:t>
            </a:r>
            <a:endParaRPr lang="en-US" sz="1100" dirty="0"/>
          </a:p>
        </p:txBody>
      </p:sp>
      <p:sp>
        <p:nvSpPr>
          <p:cNvPr id="25" name="Text 21"/>
          <p:cNvSpPr/>
          <p:nvPr/>
        </p:nvSpPr>
        <p:spPr>
          <a:xfrm>
            <a:off x="4643735" y="1016645"/>
            <a:ext cx="1949797" cy="2297311"/>
          </a:xfrm>
          <a:prstGeom prst="roundRect">
            <a:avLst>
              <a:gd name="adj" fmla="val 4429"/>
            </a:avLst>
          </a:prstGeom>
          <a:solidFill>
            <a:srgbClr val="F0F4F8"/>
          </a:solidFill>
          <a:ln w="9525">
            <a:solidFill>
              <a:srgbClr val="E8A020">
                <a:alpha val="22000"/>
              </a:srgbClr>
            </a:solidFill>
          </a:ln>
        </p:spPr>
        <p:txBody>
          <a:bodyPr wrap="square" rtlCol="0" anchor="t"/>
          <a:lstStyle/>
          <a:p>
            <a:pPr marL="0" indent="0">
              <a:buNone/>
            </a:pPr>
            <a:endParaRPr lang="en-US" dirty="0"/>
          </a:p>
        </p:txBody>
      </p:sp>
      <p:sp>
        <p:nvSpPr>
          <p:cNvPr id="26" name="Text 22"/>
          <p:cNvSpPr/>
          <p:nvPr/>
        </p:nvSpPr>
        <p:spPr>
          <a:xfrm>
            <a:off x="6179790" y="2833241"/>
            <a:ext cx="333792" cy="571500"/>
          </a:xfrm>
          <a:prstGeom prst="rect">
            <a:avLst/>
          </a:prstGeom>
          <a:noFill/>
          <a:ln/>
        </p:spPr>
        <p:txBody>
          <a:bodyPr wrap="none" lIns="0" tIns="0" rIns="0" bIns="0" rtlCol="0" anchor="t"/>
          <a:lstStyle/>
          <a:p>
            <a:pPr marL="0" indent="0" algn="l">
              <a:lnSpc>
                <a:spcPts val="4500"/>
              </a:lnSpc>
              <a:buNone/>
            </a:pPr>
            <a:r>
              <a:rPr lang="en-US" sz="4500" b="1" dirty="0">
                <a:solidFill>
                  <a:srgbClr val="E8A020">
                    <a:alpha val="8000"/>
                  </a:srgbClr>
                </a:solidFill>
                <a:latin typeface="Calibri" pitchFamily="34" charset="0"/>
                <a:ea typeface="Calibri" pitchFamily="34" charset="-122"/>
                <a:cs typeface="Calibri" pitchFamily="34" charset="-120"/>
              </a:rPr>
              <a:t>3</a:t>
            </a:r>
            <a:endParaRPr lang="en-US" sz="4500" dirty="0"/>
          </a:p>
        </p:txBody>
      </p:sp>
      <p:pic>
        <p:nvPicPr>
          <p:cNvPr id="27" name="Image 2" descr="preencoded.png"/>
          <p:cNvPicPr>
            <a:picLocks noChangeAspect="1"/>
          </p:cNvPicPr>
          <p:nvPr/>
        </p:nvPicPr>
        <p:blipFill>
          <a:blip>
            <a:alphaModFix amt="85000"/>
            <a:extLst>
              <a:ext uri="{96DAC541-7B7A-43D3-8B79-37D633B846F1}">
                <asvg:svgBlip xmlns:asvg="http://schemas.microsoft.com/office/drawing/2016/SVG/main" r:embed="rId5"/>
              </a:ext>
            </a:extLst>
          </a:blip>
          <a:stretch>
            <a:fillRect/>
          </a:stretch>
        </p:blipFill>
        <p:spPr>
          <a:xfrm>
            <a:off x="4824710" y="1226790"/>
            <a:ext cx="228600" cy="228600"/>
          </a:xfrm>
          <a:prstGeom prst="rect">
            <a:avLst/>
          </a:prstGeom>
        </p:spPr>
      </p:pic>
      <p:sp>
        <p:nvSpPr>
          <p:cNvPr id="28" name="Text 23"/>
          <p:cNvSpPr/>
          <p:nvPr/>
        </p:nvSpPr>
        <p:spPr>
          <a:xfrm>
            <a:off x="4824710" y="1555552"/>
            <a:ext cx="1667240" cy="328910"/>
          </a:xfrm>
          <a:prstGeom prst="rect">
            <a:avLst/>
          </a:prstGeom>
          <a:noFill/>
          <a:ln/>
        </p:spPr>
        <p:txBody>
          <a:bodyPr wrap="none" lIns="0" tIns="0" rIns="0" bIns="0" rtlCol="0" anchor="t"/>
          <a:lstStyle/>
          <a:p>
            <a:pPr marL="0" indent="0" algn="l">
              <a:lnSpc>
                <a:spcPts val="2590"/>
              </a:lnSpc>
              <a:buNone/>
            </a:pPr>
            <a:r>
              <a:rPr lang="en-US" sz="2590" kern="0" spc="-60" dirty="0">
                <a:solidFill>
                  <a:srgbClr val="E8A020"/>
                </a:solidFill>
                <a:latin typeface="Calibri" pitchFamily="34" charset="0"/>
                <a:ea typeface="Calibri" pitchFamily="34" charset="-122"/>
                <a:cs typeface="Calibri" pitchFamily="34" charset="-120"/>
              </a:rPr>
              <a:t>5 </a:t>
            </a:r>
            <a:r>
              <a:rPr lang="en-US" sz="1580" b="1" kern="0" spc="-60" dirty="0">
                <a:solidFill>
                  <a:srgbClr val="E8A020"/>
                </a:solidFill>
                <a:latin typeface="Calibri" pitchFamily="34" charset="0"/>
                <a:ea typeface="Calibri" pitchFamily="34" charset="-122"/>
                <a:cs typeface="Calibri" pitchFamily="34" charset="-120"/>
              </a:rPr>
              <a:t>Years</a:t>
            </a:r>
            <a:endParaRPr lang="en-US" sz="2590" dirty="0"/>
          </a:p>
        </p:txBody>
      </p:sp>
      <p:sp>
        <p:nvSpPr>
          <p:cNvPr id="29" name="Text 24"/>
          <p:cNvSpPr/>
          <p:nvPr/>
        </p:nvSpPr>
        <p:spPr>
          <a:xfrm>
            <a:off x="4824710" y="1969294"/>
            <a:ext cx="1587847" cy="7590"/>
          </a:xfrm>
          <a:prstGeom prst="rect">
            <a:avLst/>
          </a:prstGeom>
          <a:solidFill>
            <a:srgbClr val="E8A020">
              <a:alpha val="20000"/>
            </a:srgbClr>
          </a:solidFill>
          <a:ln/>
        </p:spPr>
        <p:txBody>
          <a:bodyPr wrap="none" rtlCol="0" anchor="t"/>
          <a:lstStyle/>
          <a:p>
            <a:pPr marL="0" indent="0">
              <a:buNone/>
            </a:pPr>
            <a:endParaRPr lang="en-US" dirty="0"/>
          </a:p>
        </p:txBody>
      </p:sp>
      <p:sp>
        <p:nvSpPr>
          <p:cNvPr id="30" name="Text 25"/>
          <p:cNvSpPr/>
          <p:nvPr/>
        </p:nvSpPr>
        <p:spPr>
          <a:xfrm>
            <a:off x="4824710" y="2090885"/>
            <a:ext cx="1619604" cy="1013074"/>
          </a:xfrm>
          <a:prstGeom prst="rect">
            <a:avLst/>
          </a:prstGeom>
          <a:noFill/>
          <a:ln/>
        </p:spPr>
        <p:txBody>
          <a:bodyPr wrap="square" lIns="0" tIns="0" rIns="0" bIns="0" rtlCol="0" anchor="ctr"/>
          <a:lstStyle/>
          <a:p>
            <a:pPr marL="0" indent="0" algn="l">
              <a:lnSpc>
                <a:spcPts val="1189"/>
              </a:lnSpc>
              <a:buNone/>
            </a:pPr>
            <a:r>
              <a:rPr lang="en-US" sz="1100" dirty="0">
                <a:solidFill>
                  <a:srgbClr val="64748B"/>
                </a:solidFill>
                <a:latin typeface="Calibri" pitchFamily="34" charset="0"/>
                <a:ea typeface="Calibri" pitchFamily="34" charset="-122"/>
                <a:cs typeface="Calibri" pitchFamily="34" charset="-120"/>
              </a:rPr>
              <a:t>Length of the current OFA HMRF grant cycle </a:t>
            </a:r>
            <a:r>
              <a:rPr lang="en-US" sz="1100" b="1" dirty="0">
                <a:solidFill>
                  <a:srgbClr val="0D1B3E"/>
                </a:solidFill>
                <a:latin typeface="Calibri" pitchFamily="34" charset="0"/>
                <a:ea typeface="Calibri" pitchFamily="34" charset="-122"/>
                <a:cs typeface="Calibri" pitchFamily="34" charset="-120"/>
              </a:rPr>
              <a:t>(September 2025–2030)</a:t>
            </a:r>
            <a:r>
              <a:rPr lang="en-US" sz="1100" dirty="0">
                <a:solidFill>
                  <a:srgbClr val="64748B"/>
                </a:solidFill>
                <a:latin typeface="Calibri" pitchFamily="34" charset="0"/>
                <a:ea typeface="Calibri" pitchFamily="34" charset="-122"/>
                <a:cs typeface="Calibri" pitchFamily="34" charset="-120"/>
              </a:rPr>
              <a:t> — programs must begin planning for renewal NOW, not at expiration</a:t>
            </a:r>
            <a:endParaRPr lang="en-US" sz="1100" dirty="0"/>
          </a:p>
        </p:txBody>
      </p:sp>
      <p:sp>
        <p:nvSpPr>
          <p:cNvPr id="31" name="Text 26"/>
          <p:cNvSpPr/>
          <p:nvPr/>
        </p:nvSpPr>
        <p:spPr>
          <a:xfrm>
            <a:off x="6737003" y="1016645"/>
            <a:ext cx="1949797" cy="2297311"/>
          </a:xfrm>
          <a:prstGeom prst="roundRect">
            <a:avLst>
              <a:gd name="adj" fmla="val 4429"/>
            </a:avLst>
          </a:prstGeom>
          <a:solidFill>
            <a:srgbClr val="F0F4F8"/>
          </a:solidFill>
          <a:ln w="9525">
            <a:solidFill>
              <a:srgbClr val="E8A020">
                <a:alpha val="22000"/>
              </a:srgbClr>
            </a:solidFill>
          </a:ln>
        </p:spPr>
        <p:txBody>
          <a:bodyPr wrap="square" rtlCol="0" anchor="t"/>
          <a:lstStyle/>
          <a:p>
            <a:pPr marL="0" indent="0">
              <a:buNone/>
            </a:pPr>
            <a:endParaRPr lang="en-US" dirty="0"/>
          </a:p>
        </p:txBody>
      </p:sp>
      <p:sp>
        <p:nvSpPr>
          <p:cNvPr id="32" name="Text 27"/>
          <p:cNvSpPr/>
          <p:nvPr/>
        </p:nvSpPr>
        <p:spPr>
          <a:xfrm>
            <a:off x="8273058" y="2833241"/>
            <a:ext cx="333792" cy="571500"/>
          </a:xfrm>
          <a:prstGeom prst="rect">
            <a:avLst/>
          </a:prstGeom>
          <a:noFill/>
          <a:ln/>
        </p:spPr>
        <p:txBody>
          <a:bodyPr wrap="none" lIns="0" tIns="0" rIns="0" bIns="0" rtlCol="0" anchor="t"/>
          <a:lstStyle/>
          <a:p>
            <a:pPr marL="0" indent="0" algn="l">
              <a:lnSpc>
                <a:spcPts val="4500"/>
              </a:lnSpc>
              <a:buNone/>
            </a:pPr>
            <a:r>
              <a:rPr lang="en-US" sz="4500" b="1" dirty="0">
                <a:solidFill>
                  <a:srgbClr val="E8A020">
                    <a:alpha val="8000"/>
                  </a:srgbClr>
                </a:solidFill>
                <a:latin typeface="Calibri" pitchFamily="34" charset="0"/>
                <a:ea typeface="Calibri" pitchFamily="34" charset="-122"/>
                <a:cs typeface="Calibri" pitchFamily="34" charset="-120"/>
              </a:rPr>
              <a:t>4</a:t>
            </a:r>
            <a:endParaRPr lang="en-US" sz="4500" dirty="0"/>
          </a:p>
        </p:txBody>
      </p:sp>
      <p:pic>
        <p:nvPicPr>
          <p:cNvPr id="33" name="Image 3" descr="preencoded.png"/>
          <p:cNvPicPr>
            <a:picLocks noChangeAspect="1"/>
          </p:cNvPicPr>
          <p:nvPr/>
        </p:nvPicPr>
        <p:blipFill>
          <a:blip>
            <a:alphaModFix amt="85000"/>
            <a:extLst>
              <a:ext uri="{96DAC541-7B7A-43D3-8B79-37D633B846F1}">
                <asvg:svgBlip xmlns:asvg="http://schemas.microsoft.com/office/drawing/2016/SVG/main" r:embed="rId6"/>
              </a:ext>
            </a:extLst>
          </a:blip>
          <a:stretch>
            <a:fillRect/>
          </a:stretch>
        </p:blipFill>
        <p:spPr>
          <a:xfrm>
            <a:off x="6917978" y="1226790"/>
            <a:ext cx="228600" cy="228600"/>
          </a:xfrm>
          <a:prstGeom prst="rect">
            <a:avLst/>
          </a:prstGeom>
        </p:spPr>
      </p:pic>
      <p:sp>
        <p:nvSpPr>
          <p:cNvPr id="34" name="Text 28"/>
          <p:cNvSpPr/>
          <p:nvPr/>
        </p:nvSpPr>
        <p:spPr>
          <a:xfrm>
            <a:off x="6917978" y="1526381"/>
            <a:ext cx="1667240" cy="372070"/>
          </a:xfrm>
          <a:prstGeom prst="rect">
            <a:avLst/>
          </a:prstGeom>
          <a:noFill/>
          <a:ln/>
        </p:spPr>
        <p:txBody>
          <a:bodyPr wrap="none" lIns="0" tIns="0" rIns="0" bIns="0" rtlCol="0" anchor="t"/>
          <a:lstStyle/>
          <a:p>
            <a:pPr marL="0" indent="0" algn="l">
              <a:lnSpc>
                <a:spcPts val="2930"/>
              </a:lnSpc>
              <a:buNone/>
            </a:pPr>
            <a:r>
              <a:rPr lang="en-US" sz="2930" b="1" kern="0" spc="-60" dirty="0">
                <a:solidFill>
                  <a:srgbClr val="E8A020"/>
                </a:solidFill>
                <a:latin typeface="Calibri" pitchFamily="34" charset="0"/>
                <a:ea typeface="Calibri" pitchFamily="34" charset="-122"/>
                <a:cs typeface="Calibri" pitchFamily="34" charset="-120"/>
              </a:rPr>
              <a:t>50%+</a:t>
            </a:r>
            <a:endParaRPr lang="en-US" sz="2930" dirty="0"/>
          </a:p>
        </p:txBody>
      </p:sp>
      <p:sp>
        <p:nvSpPr>
          <p:cNvPr id="35" name="Text 29"/>
          <p:cNvSpPr/>
          <p:nvPr/>
        </p:nvSpPr>
        <p:spPr>
          <a:xfrm>
            <a:off x="6917978" y="1983284"/>
            <a:ext cx="1587847" cy="7590"/>
          </a:xfrm>
          <a:prstGeom prst="rect">
            <a:avLst/>
          </a:prstGeom>
          <a:solidFill>
            <a:srgbClr val="E8A020">
              <a:alpha val="20000"/>
            </a:srgbClr>
          </a:solidFill>
          <a:ln/>
        </p:spPr>
        <p:txBody>
          <a:bodyPr wrap="none" rtlCol="0" anchor="t"/>
          <a:lstStyle/>
          <a:p>
            <a:pPr marL="0" indent="0">
              <a:buNone/>
            </a:pPr>
            <a:endParaRPr lang="en-US" dirty="0"/>
          </a:p>
        </p:txBody>
      </p:sp>
      <p:sp>
        <p:nvSpPr>
          <p:cNvPr id="36" name="Text 30"/>
          <p:cNvSpPr/>
          <p:nvPr/>
        </p:nvSpPr>
        <p:spPr>
          <a:xfrm>
            <a:off x="6917978" y="2104876"/>
            <a:ext cx="1619604" cy="839046"/>
          </a:xfrm>
          <a:prstGeom prst="rect">
            <a:avLst/>
          </a:prstGeom>
          <a:noFill/>
          <a:ln/>
        </p:spPr>
        <p:txBody>
          <a:bodyPr wrap="square" lIns="0" tIns="0" rIns="0" bIns="0" rtlCol="0" anchor="ctr"/>
          <a:lstStyle/>
          <a:p>
            <a:pPr marL="0" indent="0" algn="l">
              <a:lnSpc>
                <a:spcPts val="1189"/>
              </a:lnSpc>
              <a:buNone/>
            </a:pPr>
            <a:r>
              <a:rPr lang="en-US" sz="1100" dirty="0">
                <a:solidFill>
                  <a:srgbClr val="64748B"/>
                </a:solidFill>
                <a:latin typeface="Calibri" pitchFamily="34" charset="0"/>
                <a:ea typeface="Calibri" pitchFamily="34" charset="-122"/>
                <a:cs typeface="Calibri" pitchFamily="34" charset="-120"/>
              </a:rPr>
              <a:t>Fathers </a:t>
            </a:r>
            <a:r>
              <a:rPr lang="en-US" sz="1100" b="1" dirty="0">
                <a:solidFill>
                  <a:srgbClr val="0D1B3E"/>
                </a:solidFill>
                <a:latin typeface="Calibri" pitchFamily="34" charset="0"/>
                <a:ea typeface="Calibri" pitchFamily="34" charset="-122"/>
                <a:cs typeface="Calibri" pitchFamily="34" charset="-120"/>
              </a:rPr>
              <a:t>unemployed at enrollment</a:t>
            </a:r>
            <a:r>
              <a:rPr lang="en-US" sz="1100" dirty="0">
                <a:solidFill>
                  <a:srgbClr val="64748B"/>
                </a:solidFill>
                <a:latin typeface="Calibri" pitchFamily="34" charset="0"/>
                <a:ea typeface="Calibri" pitchFamily="34" charset="-122"/>
                <a:cs typeface="Calibri" pitchFamily="34" charset="-120"/>
              </a:rPr>
              <a:t> in RF programs — illustrating the economic complexity programs must be funded to address</a:t>
            </a:r>
            <a:endParaRPr lang="en-US" sz="1100" dirty="0"/>
          </a:p>
        </p:txBody>
      </p:sp>
      <p:sp>
        <p:nvSpPr>
          <p:cNvPr id="37" name="Text 31"/>
          <p:cNvSpPr/>
          <p:nvPr/>
        </p:nvSpPr>
        <p:spPr>
          <a:xfrm>
            <a:off x="457200" y="3457426"/>
            <a:ext cx="8229600" cy="543520"/>
          </a:xfrm>
          <a:prstGeom prst="rect">
            <a:avLst/>
          </a:prstGeom>
          <a:solidFill>
            <a:srgbClr val="E8A020">
              <a:alpha val="7000"/>
            </a:srgbClr>
          </a:solidFill>
          <a:ln/>
        </p:spPr>
        <p:txBody>
          <a:bodyPr wrap="square" rtlCol="0" anchor="ctr"/>
          <a:lstStyle/>
          <a:p>
            <a:pPr marL="0" indent="0">
              <a:buNone/>
            </a:pPr>
            <a:endParaRPr lang="en-US" dirty="0"/>
          </a:p>
        </p:txBody>
      </p:sp>
      <p:sp>
        <p:nvSpPr>
          <p:cNvPr id="38" name="Text 32"/>
          <p:cNvSpPr/>
          <p:nvPr/>
        </p:nvSpPr>
        <p:spPr>
          <a:xfrm>
            <a:off x="457200" y="3457426"/>
            <a:ext cx="19050" cy="543520"/>
          </a:xfrm>
          <a:prstGeom prst="rect">
            <a:avLst/>
          </a:prstGeom>
          <a:solidFill>
            <a:srgbClr val="E8A020"/>
          </a:solidFill>
          <a:ln/>
        </p:spPr>
        <p:txBody>
          <a:bodyPr wrap="square" rtlCol="0" anchor="t"/>
          <a:lstStyle/>
          <a:p>
            <a:pPr marL="0" indent="0">
              <a:buNone/>
            </a:pPr>
            <a:endParaRPr lang="en-US" dirty="0"/>
          </a:p>
        </p:txBody>
      </p:sp>
      <p:sp>
        <p:nvSpPr>
          <p:cNvPr id="40" name="Text 34"/>
          <p:cNvSpPr/>
          <p:nvPr/>
        </p:nvSpPr>
        <p:spPr>
          <a:xfrm>
            <a:off x="518605" y="3607030"/>
            <a:ext cx="8486776" cy="320065"/>
          </a:xfrm>
          <a:prstGeom prst="rect">
            <a:avLst/>
          </a:prstGeom>
          <a:noFill/>
          <a:ln/>
        </p:spPr>
        <p:txBody>
          <a:bodyPr wrap="none" lIns="0" tIns="0" rIns="0" bIns="0" rtlCol="0" anchor="ctr"/>
          <a:lstStyle/>
          <a:p>
            <a:pPr marL="0" indent="0" algn="l">
              <a:lnSpc>
                <a:spcPts val="1344"/>
              </a:lnSpc>
              <a:buNone/>
            </a:pPr>
            <a:r>
              <a:rPr lang="en-US" sz="1400" i="1" dirty="0">
                <a:solidFill>
                  <a:srgbClr val="E8A020"/>
                </a:solidFill>
                <a:latin typeface="Calibri" pitchFamily="34" charset="0"/>
                <a:ea typeface="Calibri" pitchFamily="34" charset="-122"/>
                <a:cs typeface="Calibri" pitchFamily="34" charset="-120"/>
              </a:rPr>
              <a:t>The investment is real. The competition is national. Yet 12+ states have zero RF grants — the unmet need is enormous.</a:t>
            </a:r>
            <a:endParaRPr lang="en-US" sz="1400" dirty="0"/>
          </a:p>
        </p:txBody>
      </p:sp>
      <p:sp>
        <p:nvSpPr>
          <p:cNvPr id="41" name="Text 35"/>
          <p:cNvSpPr/>
          <p:nvPr/>
        </p:nvSpPr>
        <p:spPr>
          <a:xfrm>
            <a:off x="592899" y="4615425"/>
            <a:ext cx="7824270" cy="425302"/>
          </a:xfrm>
          <a:prstGeom prst="rect">
            <a:avLst/>
          </a:prstGeom>
          <a:noFill/>
          <a:ln/>
        </p:spPr>
        <p:txBody>
          <a:bodyPr wrap="none" lIns="0" tIns="0" rIns="0" bIns="0" rtlCol="0" anchor="ctr"/>
          <a:lstStyle/>
          <a:p>
            <a:pPr marL="0" indent="0" algn="l">
              <a:lnSpc>
                <a:spcPts val="826"/>
              </a:lnSpc>
              <a:buNone/>
            </a:pPr>
            <a:r>
              <a:rPr lang="en-US" sz="1200" dirty="0">
                <a:latin typeface="Calibri" pitchFamily="34" charset="0"/>
                <a:ea typeface="Calibri" pitchFamily="34" charset="-122"/>
                <a:cs typeface="Calibri" pitchFamily="34" charset="-120"/>
              </a:rPr>
              <a:t>Source: Administration for Children and Families (ACF), Office of Family Assistance (OFA), September 2025 | fatherhood.gov</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60000">
                <a:srgbClr val="000000">
                  <a:alpha val="0"/>
                </a:srgbClr>
              </a:gs>
            </a:gsLst>
            <a:path path="circle">
              <a:fillToRect l="5000" t="50000" r="95000" b="5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F0F4F8">
                  <a:alpha val="80000"/>
                </a:srgbClr>
              </a:gs>
              <a:gs pos="50000">
                <a:srgbClr val="000000">
                  <a:alpha val="0"/>
                </a:srgbClr>
              </a:gs>
            </a:gsLst>
            <a:path path="circle">
              <a:fillToRect l="95000" t="80000" r="5000" b="20000"/>
            </a:path>
          </a:gradFill>
          <a:ln/>
        </p:spPr>
        <p:txBody>
          <a:bodyPr wrap="square" rtlCol="0" anchor="t"/>
          <a:lstStyle/>
          <a:p>
            <a:pPr marL="0" indent="0">
              <a:buNone/>
            </a:pPr>
            <a:endParaRPr lang="en-US" dirty="0"/>
          </a:p>
        </p:txBody>
      </p:sp>
      <p:sp>
        <p:nvSpPr>
          <p:cNvPr id="4" name="Text 2"/>
          <p:cNvSpPr/>
          <p:nvPr/>
        </p:nvSpPr>
        <p:spPr>
          <a:xfrm>
            <a:off x="0" y="0"/>
            <a:ext cx="35421" cy="5143500"/>
          </a:xfrm>
          <a:prstGeom prst="rect">
            <a:avLst/>
          </a:prstGeom>
          <a:gradFill rotWithShape="1">
            <a:gsLst>
              <a:gs pos="0">
                <a:srgbClr val="000000">
                  <a:alpha val="0"/>
                </a:srgbClr>
              </a:gs>
              <a:gs pos="20000">
                <a:srgbClr val="E8A020"/>
              </a:gs>
              <a:gs pos="80000">
                <a:srgbClr val="E8A020"/>
              </a:gs>
              <a:gs pos="100000">
                <a:srgbClr val="000000">
                  <a:alpha val="0"/>
                </a:srgbClr>
              </a:gs>
            </a:gsLst>
            <a:lin ang="5400000" scaled="1"/>
          </a:gradFill>
          <a:ln/>
        </p:spPr>
        <p:txBody>
          <a:bodyPr wrap="square" rtlCol="0" anchor="t"/>
          <a:lstStyle/>
          <a:p>
            <a:pPr marL="0" indent="0">
              <a:buNone/>
            </a:pPr>
            <a:endParaRPr lang="en-US" dirty="0"/>
          </a:p>
        </p:txBody>
      </p:sp>
      <p:sp>
        <p:nvSpPr>
          <p:cNvPr id="5" name="Text 3"/>
          <p:cNvSpPr/>
          <p:nvPr/>
        </p:nvSpPr>
        <p:spPr>
          <a:xfrm>
            <a:off x="350000" y="145360"/>
            <a:ext cx="8927973" cy="278904"/>
          </a:xfrm>
          <a:prstGeom prst="rect">
            <a:avLst/>
          </a:prstGeom>
          <a:noFill/>
          <a:ln/>
        </p:spPr>
        <p:txBody>
          <a:bodyPr wrap="square" lIns="0" tIns="0" rIns="0" bIns="0" rtlCol="0" anchor="t"/>
          <a:lstStyle/>
          <a:p>
            <a:pPr marL="0" indent="0" algn="l">
              <a:lnSpc>
                <a:spcPts val="2197"/>
              </a:lnSpc>
              <a:spcAft>
                <a:spcPts val="299"/>
              </a:spcAft>
              <a:buNone/>
            </a:pPr>
            <a:r>
              <a:rPr lang="en-US" sz="1910" kern="0" spc="-20" dirty="0">
                <a:solidFill>
                  <a:srgbClr val="0D1B3E"/>
                </a:solidFill>
                <a:latin typeface="Calibri Light" pitchFamily="34" charset="0"/>
                <a:ea typeface="Calibri Light" pitchFamily="34" charset="-122"/>
                <a:cs typeface="Calibri Light" pitchFamily="34" charset="-120"/>
              </a:rPr>
              <a:t>What Reactive Funding </a:t>
            </a:r>
            <a:r>
              <a:rPr lang="en-US" sz="1910" b="1" kern="0" spc="-20" dirty="0">
                <a:solidFill>
                  <a:srgbClr val="E8A020"/>
                </a:solidFill>
                <a:latin typeface="Calibri Light" pitchFamily="34" charset="0"/>
                <a:ea typeface="Calibri Light" pitchFamily="34" charset="-122"/>
                <a:cs typeface="Calibri Light" pitchFamily="34" charset="-120"/>
              </a:rPr>
              <a:t>Costs</a:t>
            </a:r>
            <a:r>
              <a:rPr lang="en-US" sz="1910" kern="0" spc="-20" dirty="0">
                <a:solidFill>
                  <a:srgbClr val="0D1B3E"/>
                </a:solidFill>
                <a:latin typeface="Calibri Light" pitchFamily="34" charset="0"/>
                <a:ea typeface="Calibri Light" pitchFamily="34" charset="-122"/>
                <a:cs typeface="Calibri Light" pitchFamily="34" charset="-120"/>
              </a:rPr>
              <a:t> Your Program</a:t>
            </a:r>
            <a:endParaRPr lang="en-US" sz="1910"/>
          </a:p>
        </p:txBody>
      </p:sp>
      <p:sp>
        <p:nvSpPr>
          <p:cNvPr id="6" name="Text 4"/>
          <p:cNvSpPr/>
          <p:nvPr/>
        </p:nvSpPr>
        <p:spPr>
          <a:xfrm>
            <a:off x="328865" y="473150"/>
            <a:ext cx="4744270" cy="234810"/>
          </a:xfrm>
          <a:prstGeom prst="rect">
            <a:avLst/>
          </a:prstGeom>
          <a:noFill/>
          <a:ln/>
        </p:spPr>
        <p:txBody>
          <a:bodyPr wrap="square" lIns="0" tIns="0" rIns="0" bIns="0" rtlCol="0" anchor="ctr"/>
          <a:lstStyle/>
          <a:p>
            <a:pPr marL="0" indent="0" algn="l">
              <a:lnSpc>
                <a:spcPts val="1638"/>
              </a:lnSpc>
              <a:buNone/>
            </a:pPr>
            <a:r>
              <a:rPr lang="en-US" sz="1560" i="1" kern="0" spc="10" dirty="0">
                <a:solidFill>
                  <a:srgbClr val="64748B"/>
                </a:solidFill>
                <a:latin typeface="Calibri" pitchFamily="34" charset="0"/>
                <a:ea typeface="Calibri" pitchFamily="34" charset="-122"/>
                <a:cs typeface="Calibri" pitchFamily="34" charset="-120"/>
              </a:rPr>
              <a:t>These costs are real — even when the grant is won!</a:t>
            </a:r>
            <a:endParaRPr lang="en-US" sz="1560" dirty="0"/>
          </a:p>
        </p:txBody>
      </p:sp>
      <p:sp>
        <p:nvSpPr>
          <p:cNvPr id="7" name="Text 5"/>
          <p:cNvSpPr/>
          <p:nvPr/>
        </p:nvSpPr>
        <p:spPr>
          <a:xfrm>
            <a:off x="350000" y="700000"/>
            <a:ext cx="8444000" cy="7590"/>
          </a:xfrm>
          <a:prstGeom prst="rect">
            <a:avLst/>
          </a:prstGeom>
          <a:gradFill rotWithShape="1">
            <a:gsLst>
              <a:gs pos="0">
                <a:srgbClr val="E8A020"/>
              </a:gs>
              <a:gs pos="60000">
                <a:srgbClr val="E8A020">
                  <a:alpha val="20000"/>
                </a:srgbClr>
              </a:gs>
              <a:gs pos="100000">
                <a:srgbClr val="000000">
                  <a:alpha val="0"/>
                </a:srgbClr>
              </a:gs>
            </a:gsLst>
            <a:lin ang="0" scaled="1"/>
          </a:gradFill>
          <a:ln/>
        </p:spPr>
        <p:txBody>
          <a:bodyPr wrap="none" rtlCol="0" anchor="t"/>
          <a:lstStyle/>
          <a:p>
            <a:pPr marL="0" indent="0">
              <a:buNone/>
            </a:pPr>
            <a:endParaRPr lang="en-US" dirty="0"/>
          </a:p>
        </p:txBody>
      </p:sp>
      <p:sp>
        <p:nvSpPr>
          <p:cNvPr id="8" name="Text 6"/>
          <p:cNvSpPr/>
          <p:nvPr/>
        </p:nvSpPr>
        <p:spPr>
          <a:xfrm>
            <a:off x="350000" y="820000"/>
            <a:ext cx="4122000" cy="1150000"/>
          </a:xfrm>
          <a:prstGeom prst="roundRect">
            <a:avLst>
              <a:gd name="adj" fmla="val 9089"/>
            </a:avLst>
          </a:prstGeom>
          <a:solidFill>
            <a:srgbClr val="F0F4F8"/>
          </a:solidFill>
          <a:ln w="9525">
            <a:solidFill>
              <a:srgbClr val="E8A020">
                <a:alpha val="45000"/>
              </a:srgbClr>
            </a:solidFill>
          </a:ln>
        </p:spPr>
        <p:txBody>
          <a:bodyPr wrap="square" rtlCol="0" anchor="t"/>
          <a:lstStyle/>
          <a:p>
            <a:pPr marL="0" indent="0">
              <a:buNone/>
            </a:pPr>
            <a:endParaRPr lang="en-US" dirty="0"/>
          </a:p>
        </p:txBody>
      </p:sp>
      <p:sp>
        <p:nvSpPr>
          <p:cNvPr id="9" name="Text 7"/>
          <p:cNvSpPr/>
          <p:nvPr/>
        </p:nvSpPr>
        <p:spPr>
          <a:xfrm>
            <a:off x="480000" y="1185000"/>
            <a:ext cx="420000" cy="420000"/>
          </a:xfrm>
          <a:prstGeom prst="roundRect">
            <a:avLst>
              <a:gd name="adj" fmla="val 21030"/>
            </a:avLst>
          </a:prstGeom>
          <a:solidFill>
            <a:srgbClr val="E8A020">
              <a:alpha val="15000"/>
            </a:srgbClr>
          </a:solidFill>
          <a:ln/>
        </p:spPr>
        <p:txBody>
          <a:bodyPr wrap="none" rtlCol="0" anchor="t"/>
          <a:lstStyle/>
          <a:p>
            <a:pPr marL="0" indent="0">
              <a:buNone/>
            </a:pPr>
            <a:endParaRPr lang="en-US"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5000" y="1290000"/>
            <a:ext cx="210000" cy="210000"/>
          </a:xfrm>
          <a:prstGeom prst="rect">
            <a:avLst/>
          </a:prstGeom>
        </p:spPr>
      </p:pic>
      <p:sp>
        <p:nvSpPr>
          <p:cNvPr id="11" name="Text 8"/>
          <p:cNvSpPr/>
          <p:nvPr/>
        </p:nvSpPr>
        <p:spPr>
          <a:xfrm>
            <a:off x="1030000" y="1060000"/>
            <a:ext cx="3342000" cy="260000"/>
          </a:xfrm>
          <a:prstGeom prst="rect">
            <a:avLst/>
          </a:prstGeom>
          <a:noFill/>
          <a:ln/>
        </p:spPr>
        <p:txBody>
          <a:bodyPr wrap="square" lIns="0" tIns="0" rIns="0" bIns="0" rtlCol="0" anchor="t"/>
          <a:lstStyle/>
          <a:p>
            <a:pPr marL="0" indent="0" algn="l">
              <a:lnSpc>
                <a:spcPts val="2106"/>
              </a:lnSpc>
              <a:buNone/>
            </a:pPr>
            <a:r>
              <a:rPr lang="en-US" sz="1350" b="1" kern="0" spc="10">
                <a:solidFill>
                  <a:srgbClr val="E8A020"/>
                </a:solidFill>
                <a:latin typeface="Calibri" pitchFamily="34" charset="0"/>
                <a:ea typeface="Calibri" pitchFamily="34" charset="-122"/>
                <a:cs typeface="Calibri" pitchFamily="34" charset="-120"/>
              </a:rPr>
              <a:t>Mission Drift</a:t>
            </a:r>
            <a:endParaRPr lang="en-US" sz="1350"/>
          </a:p>
        </p:txBody>
      </p:sp>
      <p:sp>
        <p:nvSpPr>
          <p:cNvPr id="12" name="Text 9"/>
          <p:cNvSpPr/>
          <p:nvPr/>
        </p:nvSpPr>
        <p:spPr>
          <a:xfrm>
            <a:off x="1030000" y="1350000"/>
            <a:ext cx="3342000" cy="480000"/>
          </a:xfrm>
          <a:prstGeom prst="rect">
            <a:avLst/>
          </a:prstGeom>
          <a:noFill/>
          <a:ln/>
        </p:spPr>
        <p:txBody>
          <a:bodyPr wrap="square" lIns="0" tIns="0" rIns="0" bIns="0" rtlCol="0" anchor="t"/>
          <a:lstStyle/>
          <a:p>
            <a:pPr marL="0" indent="0" algn="l">
              <a:lnSpc>
                <a:spcPts val="2145"/>
              </a:lnSpc>
              <a:buNone/>
            </a:pPr>
            <a:r>
              <a:rPr lang="en-US" sz="1560">
                <a:solidFill>
                  <a:srgbClr val="64748B"/>
                </a:solidFill>
                <a:latin typeface="Calibri" pitchFamily="34" charset="0"/>
                <a:ea typeface="Calibri" pitchFamily="34" charset="-122"/>
                <a:cs typeface="Calibri" pitchFamily="34" charset="-120"/>
              </a:rPr>
              <a:t>Accepting funds that pull you away from your theory of change</a:t>
            </a:r>
            <a:endParaRPr lang="en-US" sz="1560"/>
          </a:p>
        </p:txBody>
      </p:sp>
      <p:sp>
        <p:nvSpPr>
          <p:cNvPr id="13" name="Text 10"/>
          <p:cNvSpPr/>
          <p:nvPr/>
        </p:nvSpPr>
        <p:spPr>
          <a:xfrm>
            <a:off x="4672000" y="820000"/>
            <a:ext cx="4122000" cy="1150000"/>
          </a:xfrm>
          <a:prstGeom prst="roundRect">
            <a:avLst>
              <a:gd name="adj" fmla="val 9089"/>
            </a:avLst>
          </a:prstGeom>
          <a:solidFill>
            <a:srgbClr val="F0F4F8"/>
          </a:solidFill>
          <a:ln w="9525">
            <a:solidFill>
              <a:srgbClr val="E8A020">
                <a:alpha val="45000"/>
              </a:srgbClr>
            </a:solidFill>
          </a:ln>
        </p:spPr>
        <p:txBody>
          <a:bodyPr wrap="square" rtlCol="0" anchor="t"/>
          <a:lstStyle/>
          <a:p>
            <a:pPr marL="0" indent="0">
              <a:buNone/>
            </a:pPr>
            <a:endParaRPr lang="en-US" dirty="0"/>
          </a:p>
        </p:txBody>
      </p:sp>
      <p:sp>
        <p:nvSpPr>
          <p:cNvPr id="14" name="Text 11"/>
          <p:cNvSpPr/>
          <p:nvPr/>
        </p:nvSpPr>
        <p:spPr>
          <a:xfrm>
            <a:off x="4802000" y="1185000"/>
            <a:ext cx="420000" cy="420000"/>
          </a:xfrm>
          <a:prstGeom prst="roundRect">
            <a:avLst>
              <a:gd name="adj" fmla="val 21030"/>
            </a:avLst>
          </a:prstGeom>
          <a:solidFill>
            <a:srgbClr val="E8A020">
              <a:alpha val="15000"/>
            </a:srgbClr>
          </a:solidFill>
          <a:ln/>
        </p:spPr>
        <p:txBody>
          <a:bodyPr wrap="none" rtlCol="0" anchor="t"/>
          <a:lstStyle/>
          <a:p>
            <a:pPr marL="0" indent="0">
              <a:buNone/>
            </a:pPr>
            <a:endParaRPr lang="en-US"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07000" y="1290000"/>
            <a:ext cx="210000" cy="210000"/>
          </a:xfrm>
          <a:prstGeom prst="rect">
            <a:avLst/>
          </a:prstGeom>
        </p:spPr>
      </p:pic>
      <p:sp>
        <p:nvSpPr>
          <p:cNvPr id="16" name="Text 12"/>
          <p:cNvSpPr/>
          <p:nvPr/>
        </p:nvSpPr>
        <p:spPr>
          <a:xfrm>
            <a:off x="5352000" y="1060000"/>
            <a:ext cx="3342000" cy="260000"/>
          </a:xfrm>
          <a:prstGeom prst="rect">
            <a:avLst/>
          </a:prstGeom>
          <a:noFill/>
          <a:ln/>
        </p:spPr>
        <p:txBody>
          <a:bodyPr wrap="square" lIns="0" tIns="0" rIns="0" bIns="0" rtlCol="0" anchor="t"/>
          <a:lstStyle/>
          <a:p>
            <a:pPr marL="0" indent="0" algn="l">
              <a:lnSpc>
                <a:spcPts val="2106"/>
              </a:lnSpc>
              <a:buNone/>
            </a:pPr>
            <a:r>
              <a:rPr lang="en-US" sz="1350" b="1" kern="0" spc="10">
                <a:solidFill>
                  <a:srgbClr val="E8A020"/>
                </a:solidFill>
                <a:latin typeface="Calibri" pitchFamily="34" charset="0"/>
                <a:ea typeface="Calibri" pitchFamily="34" charset="-122"/>
                <a:cs typeface="Calibri" pitchFamily="34" charset="-120"/>
              </a:rPr>
              <a:t>Capacity Drain</a:t>
            </a:r>
            <a:endParaRPr lang="en-US" sz="1350"/>
          </a:p>
        </p:txBody>
      </p:sp>
      <p:sp>
        <p:nvSpPr>
          <p:cNvPr id="17" name="Text 13"/>
          <p:cNvSpPr/>
          <p:nvPr/>
        </p:nvSpPr>
        <p:spPr>
          <a:xfrm>
            <a:off x="5352000" y="1350000"/>
            <a:ext cx="3342000" cy="480000"/>
          </a:xfrm>
          <a:prstGeom prst="rect">
            <a:avLst/>
          </a:prstGeom>
          <a:noFill/>
          <a:ln/>
        </p:spPr>
        <p:txBody>
          <a:bodyPr wrap="square" lIns="0" tIns="0" rIns="0" bIns="0" rtlCol="0" anchor="t"/>
          <a:lstStyle/>
          <a:p>
            <a:pPr marL="0" indent="0" algn="l">
              <a:lnSpc>
                <a:spcPts val="2145"/>
              </a:lnSpc>
              <a:buNone/>
            </a:pPr>
            <a:r>
              <a:rPr lang="en-US" sz="1560">
                <a:solidFill>
                  <a:srgbClr val="64748B"/>
                </a:solidFill>
                <a:latin typeface="Calibri" pitchFamily="34" charset="0"/>
                <a:ea typeface="Calibri" pitchFamily="34" charset="-122"/>
                <a:cs typeface="Calibri" pitchFamily="34" charset="-120"/>
              </a:rPr>
              <a:t>Emergency applications consume staff bandwidth needed for program delivery</a:t>
            </a:r>
            <a:endParaRPr lang="en-US" sz="1560"/>
          </a:p>
        </p:txBody>
      </p:sp>
      <p:sp>
        <p:nvSpPr>
          <p:cNvPr id="18" name="Text 14"/>
          <p:cNvSpPr/>
          <p:nvPr/>
        </p:nvSpPr>
        <p:spPr>
          <a:xfrm>
            <a:off x="350000" y="2160000"/>
            <a:ext cx="4122000" cy="1150000"/>
          </a:xfrm>
          <a:prstGeom prst="roundRect">
            <a:avLst>
              <a:gd name="adj" fmla="val 11580"/>
            </a:avLst>
          </a:prstGeom>
          <a:solidFill>
            <a:srgbClr val="F0F4F8"/>
          </a:solidFill>
          <a:ln w="9525">
            <a:solidFill>
              <a:srgbClr val="E8A020">
                <a:alpha val="45000"/>
              </a:srgbClr>
            </a:solidFill>
          </a:ln>
        </p:spPr>
        <p:txBody>
          <a:bodyPr wrap="square" rtlCol="0" anchor="t"/>
          <a:lstStyle/>
          <a:p>
            <a:pPr marL="0" indent="0">
              <a:buNone/>
            </a:pPr>
            <a:endParaRPr lang="en-US" dirty="0"/>
          </a:p>
        </p:txBody>
      </p:sp>
      <p:sp>
        <p:nvSpPr>
          <p:cNvPr id="19" name="Text 15"/>
          <p:cNvSpPr/>
          <p:nvPr/>
        </p:nvSpPr>
        <p:spPr>
          <a:xfrm>
            <a:off x="480000" y="2525000"/>
            <a:ext cx="420000" cy="420000"/>
          </a:xfrm>
          <a:prstGeom prst="roundRect">
            <a:avLst>
              <a:gd name="adj" fmla="val 21030"/>
            </a:avLst>
          </a:prstGeom>
          <a:solidFill>
            <a:srgbClr val="E8A020">
              <a:alpha val="15000"/>
            </a:srgbClr>
          </a:solidFill>
          <a:ln/>
        </p:spPr>
        <p:txBody>
          <a:bodyPr wrap="none" rtlCol="0" anchor="t"/>
          <a:lstStyle/>
          <a:p>
            <a:pPr marL="0" indent="0">
              <a:buNone/>
            </a:pPr>
            <a:endParaRPr lang="en-US"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5000" y="2630000"/>
            <a:ext cx="210000" cy="210000"/>
          </a:xfrm>
          <a:prstGeom prst="rect">
            <a:avLst/>
          </a:prstGeom>
        </p:spPr>
      </p:pic>
      <p:sp>
        <p:nvSpPr>
          <p:cNvPr id="21" name="Text 16"/>
          <p:cNvSpPr/>
          <p:nvPr/>
        </p:nvSpPr>
        <p:spPr>
          <a:xfrm>
            <a:off x="1030000" y="2400000"/>
            <a:ext cx="3342000" cy="260000"/>
          </a:xfrm>
          <a:prstGeom prst="rect">
            <a:avLst/>
          </a:prstGeom>
          <a:noFill/>
          <a:ln/>
        </p:spPr>
        <p:txBody>
          <a:bodyPr wrap="square" lIns="0" tIns="0" rIns="0" bIns="0" rtlCol="0" anchor="t"/>
          <a:lstStyle/>
          <a:p>
            <a:pPr marL="0" indent="0" algn="l">
              <a:lnSpc>
                <a:spcPts val="2106"/>
              </a:lnSpc>
              <a:buNone/>
            </a:pPr>
            <a:r>
              <a:rPr lang="en-US" sz="1350" b="1" kern="0" spc="10">
                <a:solidFill>
                  <a:srgbClr val="E8A020"/>
                </a:solidFill>
                <a:latin typeface="Calibri" pitchFamily="34" charset="0"/>
                <a:ea typeface="Calibri" pitchFamily="34" charset="-122"/>
                <a:cs typeface="Calibri" pitchFamily="34" charset="-120"/>
              </a:rPr>
              <a:t>Relationship Gaps</a:t>
            </a:r>
            <a:endParaRPr lang="en-US" sz="1350"/>
          </a:p>
        </p:txBody>
      </p:sp>
      <p:sp>
        <p:nvSpPr>
          <p:cNvPr id="22" name="Text 17"/>
          <p:cNvSpPr/>
          <p:nvPr/>
        </p:nvSpPr>
        <p:spPr>
          <a:xfrm>
            <a:off x="1030000" y="2690000"/>
            <a:ext cx="3342000" cy="480000"/>
          </a:xfrm>
          <a:prstGeom prst="rect">
            <a:avLst/>
          </a:prstGeom>
          <a:noFill/>
          <a:ln/>
        </p:spPr>
        <p:txBody>
          <a:bodyPr wrap="square" lIns="0" tIns="0" rIns="0" bIns="0" rtlCol="0" anchor="t"/>
          <a:lstStyle/>
          <a:p>
            <a:pPr marL="0" indent="0" algn="l">
              <a:lnSpc>
                <a:spcPts val="2145"/>
              </a:lnSpc>
              <a:buNone/>
            </a:pPr>
            <a:r>
              <a:rPr lang="en-US" sz="1560">
                <a:solidFill>
                  <a:srgbClr val="64748B"/>
                </a:solidFill>
                <a:latin typeface="Calibri" pitchFamily="34" charset="0"/>
                <a:ea typeface="Calibri" pitchFamily="34" charset="-122"/>
                <a:cs typeface="Calibri" pitchFamily="34" charset="-120"/>
              </a:rPr>
              <a:t>Funders don't know you before the deadline — and you don't know them</a:t>
            </a:r>
            <a:endParaRPr lang="en-US" sz="1560"/>
          </a:p>
        </p:txBody>
      </p:sp>
      <p:sp>
        <p:nvSpPr>
          <p:cNvPr id="23" name="Text 18"/>
          <p:cNvSpPr/>
          <p:nvPr/>
        </p:nvSpPr>
        <p:spPr>
          <a:xfrm>
            <a:off x="4672000" y="2160000"/>
            <a:ext cx="4122000" cy="1150000"/>
          </a:xfrm>
          <a:prstGeom prst="roundRect">
            <a:avLst>
              <a:gd name="adj" fmla="val 11580"/>
            </a:avLst>
          </a:prstGeom>
          <a:solidFill>
            <a:srgbClr val="F0F4F8"/>
          </a:solidFill>
          <a:ln w="9525">
            <a:solidFill>
              <a:srgbClr val="E8A020">
                <a:alpha val="45000"/>
              </a:srgbClr>
            </a:solidFill>
          </a:ln>
        </p:spPr>
        <p:txBody>
          <a:bodyPr wrap="square" rtlCol="0" anchor="t"/>
          <a:lstStyle/>
          <a:p>
            <a:pPr marL="0" indent="0">
              <a:buNone/>
            </a:pPr>
            <a:endParaRPr lang="en-US" dirty="0"/>
          </a:p>
        </p:txBody>
      </p:sp>
      <p:sp>
        <p:nvSpPr>
          <p:cNvPr id="24" name="Text 19"/>
          <p:cNvSpPr/>
          <p:nvPr/>
        </p:nvSpPr>
        <p:spPr>
          <a:xfrm>
            <a:off x="4802000" y="2525000"/>
            <a:ext cx="420000" cy="420000"/>
          </a:xfrm>
          <a:prstGeom prst="roundRect">
            <a:avLst>
              <a:gd name="adj" fmla="val 21030"/>
            </a:avLst>
          </a:prstGeom>
          <a:solidFill>
            <a:srgbClr val="E8A020">
              <a:alpha val="15000"/>
            </a:srgbClr>
          </a:solidFill>
          <a:ln/>
        </p:spPr>
        <p:txBody>
          <a:bodyPr wrap="none" rtlCol="0" anchor="t"/>
          <a:lstStyle/>
          <a:p>
            <a:pPr marL="0" indent="0">
              <a:buNone/>
            </a:pPr>
            <a:endParaRPr lang="en-US" dirty="0"/>
          </a:p>
        </p:txBody>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07000" y="2630000"/>
            <a:ext cx="210000" cy="210000"/>
          </a:xfrm>
          <a:prstGeom prst="rect">
            <a:avLst/>
          </a:prstGeom>
        </p:spPr>
      </p:pic>
      <p:sp>
        <p:nvSpPr>
          <p:cNvPr id="26" name="Text 20"/>
          <p:cNvSpPr/>
          <p:nvPr/>
        </p:nvSpPr>
        <p:spPr>
          <a:xfrm>
            <a:off x="5352000" y="2400000"/>
            <a:ext cx="3342000" cy="260000"/>
          </a:xfrm>
          <a:prstGeom prst="rect">
            <a:avLst/>
          </a:prstGeom>
          <a:noFill/>
          <a:ln/>
        </p:spPr>
        <p:txBody>
          <a:bodyPr wrap="square" lIns="0" tIns="0" rIns="0" bIns="0" rtlCol="0" anchor="t"/>
          <a:lstStyle/>
          <a:p>
            <a:pPr marL="0" indent="0" algn="l">
              <a:lnSpc>
                <a:spcPts val="2106"/>
              </a:lnSpc>
              <a:buNone/>
            </a:pPr>
            <a:r>
              <a:rPr lang="en-US" sz="1350" b="1" kern="0" spc="10">
                <a:solidFill>
                  <a:srgbClr val="E8A020"/>
                </a:solidFill>
                <a:latin typeface="Calibri" pitchFamily="34" charset="0"/>
                <a:ea typeface="Calibri" pitchFamily="34" charset="-122"/>
                <a:cs typeface="Calibri" pitchFamily="34" charset="-120"/>
              </a:rPr>
              <a:t>Data Gaps</a:t>
            </a:r>
            <a:endParaRPr lang="en-US" sz="1350"/>
          </a:p>
        </p:txBody>
      </p:sp>
      <p:sp>
        <p:nvSpPr>
          <p:cNvPr id="27" name="Text 21"/>
          <p:cNvSpPr/>
          <p:nvPr/>
        </p:nvSpPr>
        <p:spPr>
          <a:xfrm>
            <a:off x="5352000" y="2690000"/>
            <a:ext cx="3342000" cy="480000"/>
          </a:xfrm>
          <a:prstGeom prst="rect">
            <a:avLst/>
          </a:prstGeom>
          <a:noFill/>
          <a:ln/>
        </p:spPr>
        <p:txBody>
          <a:bodyPr wrap="square" lIns="0" tIns="0" rIns="0" bIns="0" rtlCol="0" anchor="t"/>
          <a:lstStyle/>
          <a:p>
            <a:pPr marL="0" indent="0" algn="l">
              <a:lnSpc>
                <a:spcPts val="2145"/>
              </a:lnSpc>
              <a:buNone/>
            </a:pPr>
            <a:r>
              <a:rPr lang="en-US" sz="1560">
                <a:solidFill>
                  <a:srgbClr val="64748B"/>
                </a:solidFill>
                <a:latin typeface="Calibri" pitchFamily="34" charset="0"/>
                <a:ea typeface="Calibri" pitchFamily="34" charset="-122"/>
                <a:cs typeface="Calibri" pitchFamily="34" charset="-120"/>
              </a:rPr>
              <a:t>No time to gather the evidence funders require before they ask for it</a:t>
            </a:r>
            <a:endParaRPr lang="en-US" sz="1560"/>
          </a:p>
        </p:txBody>
      </p:sp>
      <p:sp>
        <p:nvSpPr>
          <p:cNvPr id="28" name="Text 22"/>
          <p:cNvSpPr/>
          <p:nvPr/>
        </p:nvSpPr>
        <p:spPr>
          <a:xfrm>
            <a:off x="350000" y="3500000"/>
            <a:ext cx="4122000" cy="1150000"/>
          </a:xfrm>
          <a:prstGeom prst="roundRect">
            <a:avLst>
              <a:gd name="adj" fmla="val 11580"/>
            </a:avLst>
          </a:prstGeom>
          <a:solidFill>
            <a:srgbClr val="F0F4F8"/>
          </a:solidFill>
          <a:ln w="9525">
            <a:solidFill>
              <a:srgbClr val="E8A020">
                <a:alpha val="45000"/>
              </a:srgbClr>
            </a:solidFill>
          </a:ln>
        </p:spPr>
        <p:txBody>
          <a:bodyPr wrap="square" rtlCol="0" anchor="t"/>
          <a:lstStyle/>
          <a:p>
            <a:pPr marL="0" indent="0">
              <a:buNone/>
            </a:pPr>
            <a:endParaRPr lang="en-US" dirty="0"/>
          </a:p>
        </p:txBody>
      </p:sp>
      <p:sp>
        <p:nvSpPr>
          <p:cNvPr id="29" name="Text 23"/>
          <p:cNvSpPr/>
          <p:nvPr/>
        </p:nvSpPr>
        <p:spPr>
          <a:xfrm>
            <a:off x="480000" y="3865000"/>
            <a:ext cx="420000" cy="420000"/>
          </a:xfrm>
          <a:prstGeom prst="roundRect">
            <a:avLst>
              <a:gd name="adj" fmla="val 21030"/>
            </a:avLst>
          </a:prstGeom>
          <a:solidFill>
            <a:srgbClr val="E8A020">
              <a:alpha val="15000"/>
            </a:srgbClr>
          </a:solidFill>
          <a:ln/>
        </p:spPr>
        <p:txBody>
          <a:bodyPr wrap="none" rtlCol="0" anchor="t"/>
          <a:lstStyle/>
          <a:p>
            <a:pPr marL="0" indent="0">
              <a:buNone/>
            </a:pPr>
            <a:endParaRPr lang="en-US" dirty="0"/>
          </a:p>
        </p:txBody>
      </p:sp>
      <p:pic>
        <p:nvPicPr>
          <p:cNvPr id="3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5000" y="3970000"/>
            <a:ext cx="210000" cy="210000"/>
          </a:xfrm>
          <a:prstGeom prst="rect">
            <a:avLst/>
          </a:prstGeom>
        </p:spPr>
      </p:pic>
      <p:sp>
        <p:nvSpPr>
          <p:cNvPr id="31" name="Text 24"/>
          <p:cNvSpPr/>
          <p:nvPr/>
        </p:nvSpPr>
        <p:spPr>
          <a:xfrm>
            <a:off x="1030000" y="3740000"/>
            <a:ext cx="3342000" cy="260000"/>
          </a:xfrm>
          <a:prstGeom prst="rect">
            <a:avLst/>
          </a:prstGeom>
          <a:noFill/>
          <a:ln/>
        </p:spPr>
        <p:txBody>
          <a:bodyPr wrap="square" lIns="0" tIns="0" rIns="0" bIns="0" rtlCol="0" anchor="t"/>
          <a:lstStyle/>
          <a:p>
            <a:pPr marL="0" indent="0" algn="l">
              <a:lnSpc>
                <a:spcPts val="2106"/>
              </a:lnSpc>
              <a:buNone/>
            </a:pPr>
            <a:r>
              <a:rPr lang="en-US" sz="1350" b="1" kern="0" spc="10">
                <a:solidFill>
                  <a:srgbClr val="E8A020"/>
                </a:solidFill>
                <a:latin typeface="Calibri" pitchFamily="34" charset="0"/>
                <a:ea typeface="Calibri" pitchFamily="34" charset="-122"/>
                <a:cs typeface="Calibri" pitchFamily="34" charset="-120"/>
              </a:rPr>
              <a:t>Staff Burnout</a:t>
            </a:r>
            <a:endParaRPr lang="en-US" sz="1350"/>
          </a:p>
        </p:txBody>
      </p:sp>
      <p:sp>
        <p:nvSpPr>
          <p:cNvPr id="32" name="Text 25"/>
          <p:cNvSpPr/>
          <p:nvPr/>
        </p:nvSpPr>
        <p:spPr>
          <a:xfrm>
            <a:off x="1030000" y="4030000"/>
            <a:ext cx="3342000" cy="480000"/>
          </a:xfrm>
          <a:prstGeom prst="rect">
            <a:avLst/>
          </a:prstGeom>
          <a:noFill/>
          <a:ln/>
        </p:spPr>
        <p:txBody>
          <a:bodyPr wrap="square" lIns="0" tIns="0" rIns="0" bIns="0" rtlCol="0" anchor="t"/>
          <a:lstStyle/>
          <a:p>
            <a:pPr marL="0" indent="0" algn="l">
              <a:lnSpc>
                <a:spcPts val="2145"/>
              </a:lnSpc>
              <a:buNone/>
            </a:pPr>
            <a:r>
              <a:rPr lang="en-US" sz="1560">
                <a:solidFill>
                  <a:srgbClr val="64748B"/>
                </a:solidFill>
                <a:latin typeface="Calibri" pitchFamily="34" charset="0"/>
                <a:ea typeface="Calibri" pitchFamily="34" charset="-122"/>
                <a:cs typeface="Calibri" pitchFamily="34" charset="-120"/>
              </a:rPr>
              <a:t>Repeated grant crises with no recovery time erode your team</a:t>
            </a:r>
            <a:endParaRPr lang="en-US" sz="1560"/>
          </a:p>
        </p:txBody>
      </p:sp>
      <p:sp>
        <p:nvSpPr>
          <p:cNvPr id="33" name="Text 26"/>
          <p:cNvSpPr/>
          <p:nvPr/>
        </p:nvSpPr>
        <p:spPr>
          <a:xfrm>
            <a:off x="4672000" y="3500000"/>
            <a:ext cx="4122000" cy="1150000"/>
          </a:xfrm>
          <a:prstGeom prst="roundRect">
            <a:avLst>
              <a:gd name="adj" fmla="val 11580"/>
            </a:avLst>
          </a:prstGeom>
          <a:solidFill>
            <a:srgbClr val="F0F4F8"/>
          </a:solidFill>
          <a:ln w="9525">
            <a:solidFill>
              <a:srgbClr val="E8A020">
                <a:alpha val="45000"/>
              </a:srgbClr>
            </a:solidFill>
          </a:ln>
        </p:spPr>
        <p:txBody>
          <a:bodyPr wrap="square" rtlCol="0" anchor="t"/>
          <a:lstStyle/>
          <a:p>
            <a:pPr marL="0" indent="0">
              <a:buNone/>
            </a:pPr>
            <a:endParaRPr lang="en-US" dirty="0"/>
          </a:p>
        </p:txBody>
      </p:sp>
      <p:sp>
        <p:nvSpPr>
          <p:cNvPr id="34" name="Text 27"/>
          <p:cNvSpPr/>
          <p:nvPr/>
        </p:nvSpPr>
        <p:spPr>
          <a:xfrm>
            <a:off x="4802000" y="3865000"/>
            <a:ext cx="420000" cy="420000"/>
          </a:xfrm>
          <a:prstGeom prst="roundRect">
            <a:avLst>
              <a:gd name="adj" fmla="val 21030"/>
            </a:avLst>
          </a:prstGeom>
          <a:solidFill>
            <a:srgbClr val="E8A020">
              <a:alpha val="15000"/>
            </a:srgbClr>
          </a:solidFill>
          <a:ln/>
        </p:spPr>
        <p:txBody>
          <a:bodyPr wrap="none" rtlCol="0" anchor="t"/>
          <a:lstStyle/>
          <a:p>
            <a:pPr marL="0" indent="0">
              <a:buNone/>
            </a:pPr>
            <a:endParaRPr lang="en-US" dirty="0"/>
          </a:p>
        </p:txBody>
      </p:sp>
      <p:pic>
        <p:nvPicPr>
          <p:cNvPr id="3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07000" y="3970000"/>
            <a:ext cx="210000" cy="210000"/>
          </a:xfrm>
          <a:prstGeom prst="rect">
            <a:avLst/>
          </a:prstGeom>
        </p:spPr>
      </p:pic>
      <p:sp>
        <p:nvSpPr>
          <p:cNvPr id="36" name="Text 28"/>
          <p:cNvSpPr/>
          <p:nvPr/>
        </p:nvSpPr>
        <p:spPr>
          <a:xfrm>
            <a:off x="5352000" y="3740000"/>
            <a:ext cx="3342000" cy="260000"/>
          </a:xfrm>
          <a:prstGeom prst="rect">
            <a:avLst/>
          </a:prstGeom>
          <a:noFill/>
          <a:ln/>
        </p:spPr>
        <p:txBody>
          <a:bodyPr wrap="square" lIns="0" tIns="0" rIns="0" bIns="0" rtlCol="0" anchor="t"/>
          <a:lstStyle/>
          <a:p>
            <a:pPr marL="0" indent="0" algn="l">
              <a:lnSpc>
                <a:spcPts val="2106"/>
              </a:lnSpc>
              <a:buNone/>
            </a:pPr>
            <a:r>
              <a:rPr lang="en-US" sz="1350" b="1" kern="0" spc="10">
                <a:solidFill>
                  <a:srgbClr val="E8A020"/>
                </a:solidFill>
                <a:latin typeface="Calibri" pitchFamily="34" charset="0"/>
                <a:ea typeface="Calibri" pitchFamily="34" charset="-122"/>
                <a:cs typeface="Calibri" pitchFamily="34" charset="-120"/>
              </a:rPr>
              <a:t>Strategic Incoherence</a:t>
            </a:r>
            <a:endParaRPr lang="en-US" sz="1350"/>
          </a:p>
        </p:txBody>
      </p:sp>
      <p:sp>
        <p:nvSpPr>
          <p:cNvPr id="37" name="Text 29"/>
          <p:cNvSpPr/>
          <p:nvPr/>
        </p:nvSpPr>
        <p:spPr>
          <a:xfrm>
            <a:off x="5352000" y="4030000"/>
            <a:ext cx="3342000" cy="480000"/>
          </a:xfrm>
          <a:prstGeom prst="rect">
            <a:avLst/>
          </a:prstGeom>
          <a:noFill/>
          <a:ln/>
        </p:spPr>
        <p:txBody>
          <a:bodyPr wrap="square" lIns="0" tIns="0" rIns="0" bIns="0" rtlCol="0" anchor="t"/>
          <a:lstStyle/>
          <a:p>
            <a:pPr marL="0" indent="0" algn="l">
              <a:lnSpc>
                <a:spcPts val="2145"/>
              </a:lnSpc>
              <a:buNone/>
            </a:pPr>
            <a:r>
              <a:rPr lang="en-US" sz="1560">
                <a:solidFill>
                  <a:srgbClr val="64748B"/>
                </a:solidFill>
                <a:latin typeface="Calibri" pitchFamily="34" charset="0"/>
                <a:ea typeface="Calibri" pitchFamily="34" charset="-122"/>
                <a:cs typeface="Calibri" pitchFamily="34" charset="-120"/>
              </a:rPr>
              <a:t>Your funding portfolio tells a fragmented story to every funder</a:t>
            </a:r>
            <a:endParaRPr lang="en-US" sz="1560"/>
          </a:p>
        </p:txBody>
      </p:sp>
      <p:sp>
        <p:nvSpPr>
          <p:cNvPr id="38" name="Text 30"/>
          <p:cNvSpPr/>
          <p:nvPr/>
        </p:nvSpPr>
        <p:spPr>
          <a:xfrm>
            <a:off x="0" y="4828580"/>
            <a:ext cx="9144000" cy="314920"/>
          </a:xfrm>
          <a:prstGeom prst="rect">
            <a:avLst/>
          </a:prstGeom>
          <a:gradFill rotWithShape="1">
            <a:gsLst>
              <a:gs pos="0">
                <a:srgbClr val="E8A020">
                  <a:alpha val="18000"/>
                </a:srgbClr>
              </a:gs>
              <a:gs pos="100000">
                <a:srgbClr val="E8A020">
                  <a:alpha val="5000"/>
                </a:srgbClr>
              </a:gs>
            </a:gsLst>
            <a:lin ang="0" scaled="1"/>
          </a:gradFill>
          <a:ln/>
        </p:spPr>
        <p:txBody>
          <a:bodyPr wrap="square" rtlCol="0" anchor="t"/>
          <a:lstStyle/>
          <a:p>
            <a:pPr marL="0" indent="0">
              <a:buNone/>
            </a:pPr>
            <a:endParaRPr lang="en-US" dirty="0"/>
          </a:p>
        </p:txBody>
      </p:sp>
      <p:sp>
        <p:nvSpPr>
          <p:cNvPr id="39" name="Text 31"/>
          <p:cNvSpPr/>
          <p:nvPr/>
        </p:nvSpPr>
        <p:spPr>
          <a:xfrm>
            <a:off x="0" y="4828580"/>
            <a:ext cx="9144000" cy="9525"/>
          </a:xfrm>
          <a:prstGeom prst="rect">
            <a:avLst/>
          </a:prstGeom>
          <a:solidFill>
            <a:srgbClr val="E8A020"/>
          </a:solidFill>
          <a:ln/>
        </p:spPr>
        <p:txBody>
          <a:bodyPr wrap="none" rtlCol="0" anchor="t"/>
          <a:lstStyle/>
          <a:p>
            <a:pPr marL="0" indent="0">
              <a:buNone/>
            </a:pPr>
            <a:endParaRPr lang="en-US" dirty="0"/>
          </a:p>
        </p:txBody>
      </p:sp>
      <p:pic>
        <p:nvPicPr>
          <p:cNvPr id="40"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1827" y="4924508"/>
            <a:ext cx="132588" cy="132588"/>
          </a:xfrm>
          <a:prstGeom prst="rect">
            <a:avLst/>
          </a:prstGeom>
        </p:spPr>
      </p:pic>
      <p:sp>
        <p:nvSpPr>
          <p:cNvPr id="41" name="Text 32"/>
          <p:cNvSpPr/>
          <p:nvPr/>
        </p:nvSpPr>
        <p:spPr>
          <a:xfrm>
            <a:off x="567184" y="4889220"/>
            <a:ext cx="2896046" cy="156270"/>
          </a:xfrm>
          <a:prstGeom prst="rect">
            <a:avLst/>
          </a:prstGeom>
          <a:noFill/>
          <a:ln/>
        </p:spPr>
        <p:txBody>
          <a:bodyPr wrap="square" lIns="0" tIns="0" rIns="0" bIns="0" rtlCol="0" anchor="ctr"/>
          <a:lstStyle/>
          <a:p>
            <a:pPr marL="0" indent="0" algn="l">
              <a:lnSpc>
                <a:spcPts val="1950"/>
              </a:lnSpc>
              <a:buNone/>
            </a:pPr>
            <a:r>
              <a:rPr lang="en-US" sz="1300" b="1" i="1" dirty="0">
                <a:solidFill>
                  <a:srgbClr val="E8A020"/>
                </a:solidFill>
                <a:latin typeface="Calibri" pitchFamily="34" charset="0"/>
                <a:ea typeface="Calibri" pitchFamily="34" charset="-122"/>
                <a:cs typeface="Calibri" pitchFamily="34" charset="-120"/>
              </a:rPr>
              <a:t>Each is preventable with the right system.</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7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E8A020">
                  <a:alpha val="7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0" y="0"/>
            <a:ext cx="9144000" cy="29170"/>
          </a:xfrm>
          <a:prstGeom prst="rect">
            <a:avLst/>
          </a:prstGeom>
          <a:gradFill rotWithShape="1">
            <a:gsLst>
              <a:gs pos="0">
                <a:srgbClr val="E8A020"/>
              </a:gs>
              <a:gs pos="60000">
                <a:srgbClr val="E8A020">
                  <a:alpha val="40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409575" y="1215777"/>
            <a:ext cx="2666552" cy="3282258"/>
          </a:xfrm>
          <a:prstGeom prst="roundRect">
            <a:avLst>
              <a:gd name="adj" fmla="val 3763"/>
            </a:avLst>
          </a:prstGeom>
          <a:gradFill rotWithShape="1">
            <a:gsLst>
              <a:gs pos="0">
                <a:srgbClr val="DC3C3C">
                  <a:alpha val="6000"/>
                </a:srgbClr>
              </a:gs>
              <a:gs pos="55000">
                <a:srgbClr val="000000">
                  <a:alpha val="0"/>
                </a:srgbClr>
              </a:gs>
            </a:gsLst>
            <a:lin ang="4200000" scaled="1"/>
          </a:gradFill>
          <a:ln/>
        </p:spPr>
        <p:txBody>
          <a:bodyPr wrap="square" rtlCol="0" anchor="t"/>
          <a:lstStyle/>
          <a:p>
            <a:pPr marL="0" indent="0">
              <a:buNone/>
            </a:pPr>
            <a:endParaRPr lang="en-US" dirty="0"/>
          </a:p>
        </p:txBody>
      </p:sp>
      <p:sp>
        <p:nvSpPr>
          <p:cNvPr id="6" name="Text 4"/>
          <p:cNvSpPr/>
          <p:nvPr/>
        </p:nvSpPr>
        <p:spPr>
          <a:xfrm>
            <a:off x="3238649" y="1215777"/>
            <a:ext cx="2666705" cy="3282258"/>
          </a:xfrm>
          <a:prstGeom prst="roundRect">
            <a:avLst>
              <a:gd name="adj" fmla="val 3762"/>
            </a:avLst>
          </a:prstGeom>
          <a:gradFill rotWithShape="1">
            <a:gsLst>
              <a:gs pos="0">
                <a:srgbClr val="E87020">
                  <a:alpha val="6000"/>
                </a:srgbClr>
              </a:gs>
              <a:gs pos="55000">
                <a:srgbClr val="000000">
                  <a:alpha val="0"/>
                </a:srgbClr>
              </a:gs>
            </a:gsLst>
            <a:lin ang="4200000" scaled="1"/>
          </a:gradFill>
          <a:ln/>
        </p:spPr>
        <p:txBody>
          <a:bodyPr wrap="square" rtlCol="0" anchor="t"/>
          <a:lstStyle/>
          <a:p>
            <a:pPr marL="0" indent="0">
              <a:buNone/>
            </a:pPr>
            <a:endParaRPr lang="en-US" dirty="0"/>
          </a:p>
        </p:txBody>
      </p:sp>
      <p:sp>
        <p:nvSpPr>
          <p:cNvPr id="7" name="Text 5"/>
          <p:cNvSpPr/>
          <p:nvPr/>
        </p:nvSpPr>
        <p:spPr>
          <a:xfrm>
            <a:off x="6067871" y="1215777"/>
            <a:ext cx="2666552" cy="3282258"/>
          </a:xfrm>
          <a:prstGeom prst="roundRect">
            <a:avLst>
              <a:gd name="adj" fmla="val 3763"/>
            </a:avLst>
          </a:prstGeom>
          <a:gradFill rotWithShape="1">
            <a:gsLst>
              <a:gs pos="0">
                <a:srgbClr val="C0A030">
                  <a:alpha val="6000"/>
                </a:srgbClr>
              </a:gs>
              <a:gs pos="55000">
                <a:srgbClr val="000000">
                  <a:alpha val="0"/>
                </a:srgbClr>
              </a:gs>
            </a:gsLst>
            <a:lin ang="4200000" scaled="1"/>
          </a:gradFill>
          <a:ln/>
        </p:spPr>
        <p:txBody>
          <a:bodyPr wrap="square" rtlCol="0" anchor="t"/>
          <a:lstStyle/>
          <a:p>
            <a:pPr marL="0" indent="0">
              <a:buNone/>
            </a:pPr>
            <a:endParaRPr lang="en-US" dirty="0"/>
          </a:p>
        </p:txBody>
      </p:sp>
      <p:sp>
        <p:nvSpPr>
          <p:cNvPr id="8" name="Text 6"/>
          <p:cNvSpPr/>
          <p:nvPr/>
        </p:nvSpPr>
        <p:spPr>
          <a:xfrm>
            <a:off x="400050" y="228600"/>
            <a:ext cx="4909971" cy="228898"/>
          </a:xfrm>
          <a:prstGeom prst="roundRect">
            <a:avLst>
              <a:gd name="adj" fmla="val 62696"/>
            </a:avLst>
          </a:prstGeom>
          <a:solidFill>
            <a:srgbClr val="E8A020">
              <a:alpha val="15000"/>
            </a:srgbClr>
          </a:solidFill>
          <a:ln w="9525">
            <a:solidFill>
              <a:srgbClr val="E8A020">
                <a:alpha val="50000"/>
              </a:srgbClr>
            </a:solidFill>
          </a:ln>
        </p:spPr>
        <p:txBody>
          <a:bodyPr wrap="none" lIns="185420" tIns="35560" rIns="114300" bIns="35560" rtlCol="0" anchor="ctr"/>
          <a:lstStyle/>
          <a:p>
            <a:pPr marL="0" indent="0" algn="l">
              <a:buNone/>
            </a:pPr>
            <a:r>
              <a:rPr lang="en-US" sz="949" b="1" kern="0" spc="44" dirty="0">
                <a:solidFill>
                  <a:srgbClr val="B87010"/>
                </a:solidFill>
                <a:latin typeface="Calibri" pitchFamily="34" charset="0"/>
                <a:ea typeface="Calibri" pitchFamily="34" charset="-122"/>
                <a:cs typeface="Calibri" pitchFamily="34" charset="-120"/>
              </a:rPr>
              <a:t>🛑 REFLECTION ACTIVITY</a:t>
            </a:r>
            <a:endParaRPr lang="en-US" sz="949" dirty="0"/>
          </a:p>
        </p:txBody>
      </p:sp>
      <p:sp>
        <p:nvSpPr>
          <p:cNvPr id="9" name="Text 7"/>
          <p:cNvSpPr/>
          <p:nvPr/>
        </p:nvSpPr>
        <p:spPr>
          <a:xfrm>
            <a:off x="480566" y="314474"/>
            <a:ext cx="57150" cy="57150"/>
          </a:xfrm>
          <a:prstGeom prst="ellipse">
            <a:avLst/>
          </a:prstGeom>
          <a:solidFill>
            <a:srgbClr val="E8A020"/>
          </a:solidFill>
          <a:ln/>
        </p:spPr>
        <p:txBody>
          <a:bodyPr wrap="none" rtlCol="0" anchor="t"/>
          <a:lstStyle/>
          <a:p>
            <a:pPr marL="0" indent="0">
              <a:buNone/>
            </a:pPr>
            <a:endParaRPr lang="en-US" dirty="0"/>
          </a:p>
        </p:txBody>
      </p:sp>
      <p:sp>
        <p:nvSpPr>
          <p:cNvPr id="10" name="Text 8"/>
          <p:cNvSpPr/>
          <p:nvPr/>
        </p:nvSpPr>
        <p:spPr>
          <a:xfrm>
            <a:off x="400050" y="514648"/>
            <a:ext cx="5150656" cy="320000"/>
          </a:xfrm>
          <a:prstGeom prst="rect">
            <a:avLst/>
          </a:prstGeom>
          <a:noFill/>
          <a:ln/>
        </p:spPr>
        <p:txBody>
          <a:bodyPr wrap="none" lIns="0" tIns="0" rIns="0" bIns="0" rtlCol="0" anchor="t"/>
          <a:lstStyle/>
          <a:p>
            <a:pPr marL="0" indent="0" algn="l">
              <a:lnSpc>
                <a:spcPts val="2525"/>
              </a:lnSpc>
              <a:buNone/>
            </a:pPr>
            <a:r>
              <a:rPr lang="en-US" sz="2197" b="1">
                <a:solidFill>
                  <a:srgbClr val="B87010"/>
                </a:solidFill>
                <a:latin typeface="Calibri" pitchFamily="34" charset="0"/>
                <a:ea typeface="Calibri" pitchFamily="34" charset="-122"/>
                <a:cs typeface="Calibri" pitchFamily="34" charset="-120"/>
              </a:rPr>
              <a:t>The Three Funding Traps</a:t>
            </a:r>
            <a:endParaRPr lang="en-US" sz="2197"/>
          </a:p>
        </p:txBody>
      </p:sp>
      <p:sp>
        <p:nvSpPr>
          <p:cNvPr id="11" name="Text 9"/>
          <p:cNvSpPr/>
          <p:nvPr/>
        </p:nvSpPr>
        <p:spPr>
          <a:xfrm>
            <a:off x="400050" y="818555"/>
            <a:ext cx="5295067" cy="220000"/>
          </a:xfrm>
          <a:prstGeom prst="rect">
            <a:avLst/>
          </a:prstGeom>
          <a:noFill/>
          <a:ln/>
        </p:spPr>
        <p:txBody>
          <a:bodyPr wrap="none" lIns="0" tIns="0" rIns="0" bIns="0" rtlCol="0" anchor="t"/>
          <a:lstStyle/>
          <a:p>
            <a:pPr marL="0" indent="0" algn="l">
              <a:lnSpc>
                <a:spcPts val="1755"/>
              </a:lnSpc>
              <a:buNone/>
            </a:pPr>
            <a:r>
              <a:rPr lang="en-US" sz="1170" i="1">
                <a:solidFill>
                  <a:srgbClr val="64748B"/>
                </a:solidFill>
                <a:latin typeface="Calibri" pitchFamily="34" charset="0"/>
                <a:ea typeface="Calibri" pitchFamily="34" charset="-122"/>
                <a:cs typeface="Calibri" pitchFamily="34" charset="-120"/>
              </a:rPr>
              <a:t>Take 2 minutes. Identify which trap(s) your program has fallen into. Then share with a neighbor.</a:t>
            </a:r>
            <a:endParaRPr lang="en-US" sz="1170"/>
          </a:p>
        </p:txBody>
      </p:sp>
      <p:sp>
        <p:nvSpPr>
          <p:cNvPr id="12" name="Text 10"/>
          <p:cNvSpPr/>
          <p:nvPr/>
        </p:nvSpPr>
        <p:spPr>
          <a:xfrm>
            <a:off x="8001595" y="271760"/>
            <a:ext cx="900000" cy="260000"/>
          </a:xfrm>
          <a:prstGeom prst="roundRect">
            <a:avLst>
              <a:gd name="adj" fmla="val 66318"/>
            </a:avLst>
          </a:prstGeom>
          <a:solidFill>
            <a:srgbClr val="0D1B3E">
              <a:alpha val="6000"/>
            </a:srgbClr>
          </a:solidFill>
          <a:ln w="9525">
            <a:solidFill>
              <a:srgbClr val="0D1B3E">
                <a:alpha val="12000"/>
              </a:srgbClr>
            </a:solidFill>
          </a:ln>
        </p:spPr>
        <p:txBody>
          <a:bodyPr wrap="none" lIns="204698" tIns="29210" rIns="86360" bIns="29210" rtlCol="0" anchor="ctr"/>
          <a:lstStyle/>
          <a:p>
            <a:pPr marL="0" indent="0" algn="l">
              <a:buNone/>
            </a:pPr>
            <a:r>
              <a:rPr lang="en-US" sz="949">
                <a:solidFill>
                  <a:srgbClr val="64748B"/>
                </a:solidFill>
                <a:latin typeface="Calibri" pitchFamily="34" charset="0"/>
                <a:ea typeface="Calibri" pitchFamily="34" charset="-122"/>
                <a:cs typeface="Calibri" pitchFamily="34" charset="-120"/>
              </a:rPr>
              <a:t>Min 15–17</a:t>
            </a:r>
            <a:endParaRPr lang="en-US" sz="949"/>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68726" y="313590"/>
            <a:ext cx="132588" cy="132588"/>
          </a:xfrm>
          <a:prstGeom prst="rect">
            <a:avLst/>
          </a:prstGeom>
        </p:spPr>
      </p:pic>
      <p:sp>
        <p:nvSpPr>
          <p:cNvPr id="14" name="Text 11"/>
          <p:cNvSpPr/>
          <p:nvPr/>
        </p:nvSpPr>
        <p:spPr>
          <a:xfrm>
            <a:off x="400050" y="1060996"/>
            <a:ext cx="8343900" cy="7590"/>
          </a:xfrm>
          <a:prstGeom prst="rect">
            <a:avLst/>
          </a:prstGeom>
          <a:solidFill>
            <a:srgbClr val="0D1B3E">
              <a:alpha val="10000"/>
            </a:srgbClr>
          </a:solidFill>
          <a:ln/>
        </p:spPr>
        <p:txBody>
          <a:bodyPr wrap="none" rtlCol="0" anchor="t"/>
          <a:lstStyle/>
          <a:p>
            <a:pPr marL="0" indent="0">
              <a:buNone/>
            </a:pPr>
            <a:endParaRPr lang="en-US" dirty="0"/>
          </a:p>
        </p:txBody>
      </p:sp>
      <p:sp>
        <p:nvSpPr>
          <p:cNvPr id="15" name="Text 12"/>
          <p:cNvSpPr/>
          <p:nvPr/>
        </p:nvSpPr>
        <p:spPr>
          <a:xfrm>
            <a:off x="400050" y="1196727"/>
            <a:ext cx="2685604" cy="3310830"/>
          </a:xfrm>
          <a:prstGeom prst="roundRect">
            <a:avLst>
              <a:gd name="adj" fmla="val 3736"/>
            </a:avLst>
          </a:prstGeom>
          <a:solidFill>
            <a:srgbClr val="F0F4F8"/>
          </a:solidFill>
          <a:ln/>
        </p:spPr>
        <p:txBody>
          <a:bodyPr wrap="square" rtlCol="0" anchor="t"/>
          <a:lstStyle/>
          <a:p>
            <a:pPr marL="0" indent="0">
              <a:buNone/>
            </a:pPr>
            <a:endParaRPr lang="en-US" dirty="0"/>
          </a:p>
        </p:txBody>
      </p:sp>
      <p:sp>
        <p:nvSpPr>
          <p:cNvPr id="16" name="Text 13"/>
          <p:cNvSpPr/>
          <p:nvPr/>
        </p:nvSpPr>
        <p:spPr>
          <a:xfrm>
            <a:off x="400050" y="1196727"/>
            <a:ext cx="9525" cy="3310830"/>
          </a:xfrm>
          <a:custGeom>
            <a:avLst/>
            <a:gdLst/>
            <a:ahLst/>
            <a:cxnLst/>
            <a:rect l="l" t="t" r="r" b="b"/>
            <a:pathLst>
              <a:path w="9525" h="3310830">
                <a:moveTo>
                  <a:pt x="0" y="100330"/>
                </a:moveTo>
                <a:lnTo>
                  <a:pt x="1191" y="84919"/>
                </a:lnTo>
                <a:lnTo>
                  <a:pt x="2381" y="78601"/>
                </a:lnTo>
                <a:lnTo>
                  <a:pt x="3572" y="73797"/>
                </a:lnTo>
                <a:lnTo>
                  <a:pt x="4763" y="69785"/>
                </a:lnTo>
                <a:lnTo>
                  <a:pt x="5953" y="66284"/>
                </a:lnTo>
                <a:lnTo>
                  <a:pt x="7144" y="63149"/>
                </a:lnTo>
                <a:lnTo>
                  <a:pt x="8334" y="60293"/>
                </a:lnTo>
                <a:lnTo>
                  <a:pt x="9525" y="57662"/>
                </a:lnTo>
                <a:lnTo>
                  <a:pt x="9525" y="3253169"/>
                </a:lnTo>
                <a:lnTo>
                  <a:pt x="8334" y="3250537"/>
                </a:lnTo>
                <a:lnTo>
                  <a:pt x="7144" y="3247682"/>
                </a:lnTo>
                <a:lnTo>
                  <a:pt x="5953" y="3244546"/>
                </a:lnTo>
                <a:lnTo>
                  <a:pt x="4763" y="3241045"/>
                </a:lnTo>
                <a:lnTo>
                  <a:pt x="3572" y="3237033"/>
                </a:lnTo>
                <a:lnTo>
                  <a:pt x="2381" y="3232230"/>
                </a:lnTo>
                <a:lnTo>
                  <a:pt x="1191" y="3225912"/>
                </a:lnTo>
                <a:lnTo>
                  <a:pt x="0" y="3210501"/>
                </a:lnTo>
                <a:close/>
              </a:path>
            </a:pathLst>
          </a:custGeom>
          <a:solidFill>
            <a:srgbClr val="0D1B3E">
              <a:alpha val="9000"/>
            </a:srgbClr>
          </a:solidFill>
          <a:ln/>
        </p:spPr>
        <p:txBody>
          <a:bodyPr wrap="square" rtlCol="0" anchor="t"/>
          <a:lstStyle/>
          <a:p>
            <a:pPr marL="0" indent="0">
              <a:buNone/>
            </a:pPr>
            <a:endParaRPr lang="en-US" dirty="0"/>
          </a:p>
        </p:txBody>
      </p:sp>
      <p:sp>
        <p:nvSpPr>
          <p:cNvPr id="17" name="Text 14"/>
          <p:cNvSpPr/>
          <p:nvPr/>
        </p:nvSpPr>
        <p:spPr>
          <a:xfrm>
            <a:off x="3076129" y="1196727"/>
            <a:ext cx="9525" cy="3310830"/>
          </a:xfrm>
          <a:custGeom>
            <a:avLst/>
            <a:gdLst/>
            <a:ahLst/>
            <a:cxnLst/>
            <a:rect l="l" t="t" r="r" b="b"/>
            <a:pathLst>
              <a:path w="9525" h="3310830">
                <a:moveTo>
                  <a:pt x="0" y="57662"/>
                </a:moveTo>
                <a:lnTo>
                  <a:pt x="1191" y="60293"/>
                </a:lnTo>
                <a:lnTo>
                  <a:pt x="2381" y="63149"/>
                </a:lnTo>
                <a:lnTo>
                  <a:pt x="3572" y="66284"/>
                </a:lnTo>
                <a:lnTo>
                  <a:pt x="4763" y="69785"/>
                </a:lnTo>
                <a:lnTo>
                  <a:pt x="5953" y="73797"/>
                </a:lnTo>
                <a:lnTo>
                  <a:pt x="7144" y="78601"/>
                </a:lnTo>
                <a:lnTo>
                  <a:pt x="8334" y="84919"/>
                </a:lnTo>
                <a:lnTo>
                  <a:pt x="9525" y="100330"/>
                </a:lnTo>
                <a:lnTo>
                  <a:pt x="9525" y="3210501"/>
                </a:lnTo>
                <a:lnTo>
                  <a:pt x="8334" y="3225912"/>
                </a:lnTo>
                <a:lnTo>
                  <a:pt x="7144" y="3232230"/>
                </a:lnTo>
                <a:lnTo>
                  <a:pt x="5953" y="3237033"/>
                </a:lnTo>
                <a:lnTo>
                  <a:pt x="4763" y="3241045"/>
                </a:lnTo>
                <a:lnTo>
                  <a:pt x="3572" y="3244546"/>
                </a:lnTo>
                <a:lnTo>
                  <a:pt x="2381" y="3247682"/>
                </a:lnTo>
                <a:lnTo>
                  <a:pt x="1191" y="3250537"/>
                </a:lnTo>
                <a:lnTo>
                  <a:pt x="0" y="3253169"/>
                </a:lnTo>
                <a:close/>
              </a:path>
            </a:pathLst>
          </a:custGeom>
          <a:solidFill>
            <a:srgbClr val="0D1B3E">
              <a:alpha val="9000"/>
            </a:srgbClr>
          </a:solidFill>
          <a:ln/>
        </p:spPr>
        <p:txBody>
          <a:bodyPr wrap="square" rtlCol="0" anchor="t"/>
          <a:lstStyle/>
          <a:p>
            <a:pPr marL="0" indent="0">
              <a:buNone/>
            </a:pPr>
            <a:endParaRPr lang="en-US" dirty="0"/>
          </a:p>
        </p:txBody>
      </p:sp>
      <p:sp>
        <p:nvSpPr>
          <p:cNvPr id="18" name="Text 15"/>
          <p:cNvSpPr/>
          <p:nvPr/>
        </p:nvSpPr>
        <p:spPr>
          <a:xfrm>
            <a:off x="400050" y="1196727"/>
            <a:ext cx="2685604" cy="19050"/>
          </a:xfrm>
          <a:custGeom>
            <a:avLst/>
            <a:gdLst/>
            <a:ahLst/>
            <a:cxnLst/>
            <a:rect l="l" t="t" r="r" b="b"/>
            <a:pathLst>
              <a:path w="2685604" h="19050">
                <a:moveTo>
                  <a:pt x="100330" y="0"/>
                </a:moveTo>
                <a:lnTo>
                  <a:pt x="78601" y="2381"/>
                </a:lnTo>
                <a:lnTo>
                  <a:pt x="69785" y="4763"/>
                </a:lnTo>
                <a:lnTo>
                  <a:pt x="63149" y="7144"/>
                </a:lnTo>
                <a:lnTo>
                  <a:pt x="57662" y="9525"/>
                </a:lnTo>
                <a:lnTo>
                  <a:pt x="52924" y="11906"/>
                </a:lnTo>
                <a:lnTo>
                  <a:pt x="48727" y="14288"/>
                </a:lnTo>
                <a:lnTo>
                  <a:pt x="44950" y="16669"/>
                </a:lnTo>
                <a:lnTo>
                  <a:pt x="41511" y="19050"/>
                </a:lnTo>
                <a:lnTo>
                  <a:pt x="2644093" y="19050"/>
                </a:lnTo>
                <a:lnTo>
                  <a:pt x="2640653" y="16669"/>
                </a:lnTo>
                <a:lnTo>
                  <a:pt x="2636876" y="14288"/>
                </a:lnTo>
                <a:lnTo>
                  <a:pt x="2632680" y="11906"/>
                </a:lnTo>
                <a:lnTo>
                  <a:pt x="2627942" y="9525"/>
                </a:lnTo>
                <a:lnTo>
                  <a:pt x="2622455" y="7144"/>
                </a:lnTo>
                <a:lnTo>
                  <a:pt x="2615818" y="4763"/>
                </a:lnTo>
                <a:lnTo>
                  <a:pt x="2607003" y="2381"/>
                </a:lnTo>
                <a:lnTo>
                  <a:pt x="2585274" y="0"/>
                </a:lnTo>
                <a:close/>
              </a:path>
            </a:pathLst>
          </a:custGeom>
          <a:solidFill>
            <a:srgbClr val="E85858"/>
          </a:solidFill>
          <a:ln/>
        </p:spPr>
        <p:txBody>
          <a:bodyPr wrap="none" rtlCol="0" anchor="t"/>
          <a:lstStyle/>
          <a:p>
            <a:pPr marL="0" indent="0">
              <a:buNone/>
            </a:pPr>
            <a:endParaRPr lang="en-US" dirty="0"/>
          </a:p>
        </p:txBody>
      </p:sp>
      <p:sp>
        <p:nvSpPr>
          <p:cNvPr id="19" name="Text 16"/>
          <p:cNvSpPr/>
          <p:nvPr/>
        </p:nvSpPr>
        <p:spPr>
          <a:xfrm>
            <a:off x="409575" y="1215777"/>
            <a:ext cx="21580" cy="3282255"/>
          </a:xfrm>
          <a:prstGeom prst="roundRect">
            <a:avLst>
              <a:gd name="adj" fmla="val 464920"/>
            </a:avLst>
          </a:prstGeom>
          <a:gradFill rotWithShape="1">
            <a:gsLst>
              <a:gs pos="0">
                <a:srgbClr val="E85858"/>
              </a:gs>
              <a:gs pos="100000">
                <a:srgbClr val="000000">
                  <a:alpha val="0"/>
                </a:srgbClr>
              </a:gs>
            </a:gsLst>
            <a:lin ang="5400000" scaled="1"/>
          </a:gradFill>
          <a:ln/>
        </p:spPr>
        <p:txBody>
          <a:bodyPr wrap="square" rtlCol="0" anchor="t"/>
          <a:lstStyle/>
          <a:p>
            <a:pPr marL="0" indent="0">
              <a:buNone/>
            </a:pPr>
            <a:endParaRPr lang="en-US" dirty="0"/>
          </a:p>
        </p:txBody>
      </p:sp>
      <p:sp>
        <p:nvSpPr>
          <p:cNvPr id="20" name="Text 17"/>
          <p:cNvSpPr/>
          <p:nvPr/>
        </p:nvSpPr>
        <p:spPr>
          <a:xfrm>
            <a:off x="553045" y="1373237"/>
            <a:ext cx="2617574" cy="150000"/>
          </a:xfrm>
          <a:prstGeom prst="rect">
            <a:avLst/>
          </a:prstGeom>
          <a:noFill/>
          <a:ln/>
        </p:spPr>
        <p:txBody>
          <a:bodyPr wrap="none" lIns="0" tIns="0" rIns="0" bIns="0" rtlCol="0" anchor="t"/>
          <a:lstStyle/>
          <a:p>
            <a:pPr marL="0" indent="0" algn="l">
              <a:lnSpc>
                <a:spcPts val="930"/>
              </a:lnSpc>
              <a:buNone/>
            </a:pPr>
            <a:r>
              <a:rPr lang="en-US" sz="806" b="1" kern="0" spc="74">
                <a:solidFill>
                  <a:srgbClr val="E85858"/>
                </a:solidFill>
                <a:latin typeface="Calibri Light" pitchFamily="34" charset="0"/>
                <a:ea typeface="Calibri Light" pitchFamily="34" charset="-122"/>
                <a:cs typeface="Calibri Light" pitchFamily="34" charset="-120"/>
              </a:rPr>
              <a:t>TRAP 1</a:t>
            </a:r>
            <a:endParaRPr lang="en-US" sz="806"/>
          </a:p>
        </p:txBody>
      </p:sp>
      <p:sp>
        <p:nvSpPr>
          <p:cNvPr id="21" name="Text 18"/>
          <p:cNvSpPr/>
          <p:nvPr/>
        </p:nvSpPr>
        <p:spPr>
          <a:xfrm>
            <a:off x="553045" y="1577578"/>
            <a:ext cx="372070" cy="372070"/>
          </a:xfrm>
          <a:prstGeom prst="roundRect">
            <a:avLst>
              <a:gd name="adj" fmla="val 23211"/>
            </a:avLst>
          </a:prstGeom>
          <a:solidFill>
            <a:srgbClr val="DC3C3C">
              <a:alpha val="12000"/>
            </a:srgbClr>
          </a:solidFill>
          <a:ln/>
        </p:spPr>
        <p:txBody>
          <a:bodyPr wrap="square" rtlCol="0" anchor="t"/>
          <a:lstStyle/>
          <a:p>
            <a:pPr marL="0" indent="0">
              <a:buNone/>
            </a:pPr>
            <a:endParaRPr lang="en-US" dirty="0"/>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3773" y="1688306"/>
            <a:ext cx="150465" cy="150465"/>
          </a:xfrm>
          <a:prstGeom prst="rect">
            <a:avLst/>
          </a:prstGeom>
        </p:spPr>
      </p:pic>
      <p:sp>
        <p:nvSpPr>
          <p:cNvPr id="23" name="Text 19"/>
          <p:cNvSpPr/>
          <p:nvPr/>
        </p:nvSpPr>
        <p:spPr>
          <a:xfrm>
            <a:off x="1025426" y="1686669"/>
            <a:ext cx="1417573" cy="200000"/>
          </a:xfrm>
          <a:prstGeom prst="rect">
            <a:avLst/>
          </a:prstGeom>
          <a:noFill/>
          <a:ln/>
        </p:spPr>
        <p:txBody>
          <a:bodyPr wrap="none" lIns="0" tIns="0" rIns="0" bIns="0" rtlCol="0" anchor="ctr"/>
          <a:lstStyle/>
          <a:p>
            <a:pPr marL="0" indent="0" algn="l">
              <a:lnSpc>
                <a:spcPts val="1575"/>
              </a:lnSpc>
              <a:buNone/>
            </a:pPr>
            <a:r>
              <a:rPr lang="en-US" sz="1313" b="1">
                <a:solidFill>
                  <a:srgbClr val="0D1B3E"/>
                </a:solidFill>
                <a:latin typeface="Calibri Light" pitchFamily="34" charset="0"/>
                <a:ea typeface="Calibri Light" pitchFamily="34" charset="-122"/>
                <a:cs typeface="Calibri Light" pitchFamily="34" charset="-120"/>
              </a:rPr>
              <a:t>The Last-Minute Trap</a:t>
            </a:r>
            <a:endParaRPr lang="en-US" sz="1313"/>
          </a:p>
        </p:txBody>
      </p:sp>
      <p:sp>
        <p:nvSpPr>
          <p:cNvPr id="24" name="Text 20"/>
          <p:cNvSpPr/>
          <p:nvPr/>
        </p:nvSpPr>
        <p:spPr>
          <a:xfrm>
            <a:off x="553045" y="2035969"/>
            <a:ext cx="2427205" cy="900000"/>
          </a:xfrm>
          <a:prstGeom prst="rect">
            <a:avLst/>
          </a:prstGeom>
          <a:noFill/>
          <a:ln/>
        </p:spPr>
        <p:txBody>
          <a:bodyPr wrap="square" lIns="0" tIns="0" rIns="0" bIns="0" rtlCol="0" anchor="t"/>
          <a:lstStyle/>
          <a:p>
            <a:pPr marL="0" indent="0" algn="l">
              <a:lnSpc>
                <a:spcPts val="1692"/>
              </a:lnSpc>
              <a:buNone/>
            </a:pPr>
            <a:r>
              <a:rPr lang="en-US" sz="1092">
                <a:solidFill>
                  <a:srgbClr val="64748B"/>
                </a:solidFill>
                <a:latin typeface="Calibri" pitchFamily="34" charset="0"/>
                <a:ea typeface="Calibri" pitchFamily="34" charset="-122"/>
                <a:cs typeface="Calibri" pitchFamily="34" charset="-120"/>
              </a:rPr>
              <a:t>Scrambling to apply for grants your program </a:t>
            </a:r>
            <a:r>
              <a:rPr lang="en-US" sz="1092" b="1">
                <a:solidFill>
                  <a:srgbClr val="0D1B3E"/>
                </a:solidFill>
                <a:latin typeface="Calibri" pitchFamily="34" charset="0"/>
                <a:ea typeface="Calibri" pitchFamily="34" charset="-122"/>
                <a:cs typeface="Calibri" pitchFamily="34" charset="-120"/>
              </a:rPr>
              <a:t>isn’t ready to win or deliver</a:t>
            </a:r>
            <a:r>
              <a:rPr lang="en-US" sz="1092">
                <a:solidFill>
                  <a:srgbClr val="64748B"/>
                </a:solidFill>
                <a:latin typeface="Calibri" pitchFamily="34" charset="0"/>
                <a:ea typeface="Calibri" pitchFamily="34" charset="-122"/>
                <a:cs typeface="Calibri" pitchFamily="34" charset="-120"/>
              </a:rPr>
              <a:t> — preparation replaced by panic.</a:t>
            </a:r>
            <a:endParaRPr lang="en-US" sz="1092"/>
          </a:p>
        </p:txBody>
      </p:sp>
      <p:sp>
        <p:nvSpPr>
          <p:cNvPr id="25" name="Text 21"/>
          <p:cNvSpPr/>
          <p:nvPr/>
        </p:nvSpPr>
        <p:spPr>
          <a:xfrm>
            <a:off x="552575" y="4150000"/>
            <a:ext cx="793293" cy="230000"/>
          </a:xfrm>
          <a:prstGeom prst="roundRect">
            <a:avLst>
              <a:gd name="adj" fmla="val 80943"/>
            </a:avLst>
          </a:prstGeom>
          <a:solidFill>
            <a:srgbClr val="DC3C3C">
              <a:alpha val="12000"/>
            </a:srgbClr>
          </a:solidFill>
          <a:ln/>
        </p:spPr>
        <p:txBody>
          <a:bodyPr wrap="none" lIns="0" tIns="0" rIns="0" bIns="0" rtlCol="0" anchor="ctr"/>
          <a:lstStyle/>
          <a:p>
            <a:pPr marL="0" indent="0" algn="ctr">
              <a:buNone/>
            </a:pPr>
            <a:r>
              <a:rPr lang="en-US" sz="900" b="1">
                <a:solidFill>
                  <a:srgbClr val="C03030"/>
                </a:solidFill>
                <a:latin typeface="Calibri" pitchFamily="34" charset="0"/>
                <a:ea typeface="Calibri" pitchFamily="34" charset="-122"/>
                <a:cs typeface="Calibri" pitchFamily="34" charset="-120"/>
              </a:rPr>
              <a:t>REACTIVE</a:t>
            </a:r>
            <a:endParaRPr lang="en-US" sz="900"/>
          </a:p>
        </p:txBody>
      </p:sp>
      <p:sp>
        <p:nvSpPr>
          <p:cNvPr id="26" name="Text 22"/>
          <p:cNvSpPr/>
          <p:nvPr/>
        </p:nvSpPr>
        <p:spPr>
          <a:xfrm>
            <a:off x="1402868" y="4150000"/>
            <a:ext cx="679965" cy="230000"/>
          </a:xfrm>
          <a:prstGeom prst="roundRect">
            <a:avLst>
              <a:gd name="adj" fmla="val 80943"/>
            </a:avLst>
          </a:prstGeom>
          <a:solidFill>
            <a:srgbClr val="0D1B3E">
              <a:alpha val="7000"/>
            </a:srgbClr>
          </a:solidFill>
          <a:ln/>
        </p:spPr>
        <p:txBody>
          <a:bodyPr wrap="none" lIns="0" tIns="0" rIns="0" bIns="0" rtlCol="0" anchor="ctr"/>
          <a:lstStyle/>
          <a:p>
            <a:pPr marL="0" indent="0" algn="ctr">
              <a:buNone/>
            </a:pPr>
            <a:r>
              <a:rPr lang="en-US" sz="900">
                <a:solidFill>
                  <a:srgbClr val="64748B"/>
                </a:solidFill>
                <a:latin typeface="Calibri" pitchFamily="34" charset="0"/>
                <a:ea typeface="Calibri" pitchFamily="34" charset="-122"/>
                <a:cs typeface="Calibri" pitchFamily="34" charset="-120"/>
              </a:rPr>
              <a:t>Staff Burnout</a:t>
            </a:r>
            <a:endParaRPr lang="en-US" sz="900"/>
          </a:p>
        </p:txBody>
      </p:sp>
      <p:sp>
        <p:nvSpPr>
          <p:cNvPr id="27" name="Text 23"/>
          <p:cNvSpPr/>
          <p:nvPr/>
        </p:nvSpPr>
        <p:spPr>
          <a:xfrm>
            <a:off x="2139833" y="4150000"/>
            <a:ext cx="793293" cy="230000"/>
          </a:xfrm>
          <a:prstGeom prst="roundRect">
            <a:avLst>
              <a:gd name="adj" fmla="val 80943"/>
            </a:avLst>
          </a:prstGeom>
          <a:solidFill>
            <a:srgbClr val="0D1B3E">
              <a:alpha val="7000"/>
            </a:srgbClr>
          </a:solidFill>
          <a:ln/>
        </p:spPr>
        <p:txBody>
          <a:bodyPr wrap="none" lIns="0" tIns="0" rIns="0" bIns="0" rtlCol="0" anchor="ctr"/>
          <a:lstStyle/>
          <a:p>
            <a:pPr marL="0" indent="0" algn="ctr">
              <a:buNone/>
            </a:pPr>
            <a:r>
              <a:rPr lang="en-US" sz="900">
                <a:solidFill>
                  <a:srgbClr val="64748B"/>
                </a:solidFill>
                <a:latin typeface="Calibri" pitchFamily="34" charset="0"/>
                <a:ea typeface="Calibri" pitchFamily="34" charset="-122"/>
                <a:cs typeface="Calibri" pitchFamily="34" charset="-120"/>
              </a:rPr>
              <a:t>Proposal Mismatch</a:t>
            </a:r>
            <a:endParaRPr lang="en-US" sz="900"/>
          </a:p>
        </p:txBody>
      </p:sp>
      <p:sp>
        <p:nvSpPr>
          <p:cNvPr id="28" name="Text 24"/>
          <p:cNvSpPr/>
          <p:nvPr/>
        </p:nvSpPr>
        <p:spPr>
          <a:xfrm>
            <a:off x="3229124" y="1196727"/>
            <a:ext cx="2685752" cy="3310830"/>
          </a:xfrm>
          <a:prstGeom prst="roundRect">
            <a:avLst>
              <a:gd name="adj" fmla="val 3736"/>
            </a:avLst>
          </a:prstGeom>
          <a:solidFill>
            <a:srgbClr val="F0F4F8"/>
          </a:solidFill>
          <a:ln/>
        </p:spPr>
        <p:txBody>
          <a:bodyPr wrap="square" rtlCol="0" anchor="t"/>
          <a:lstStyle/>
          <a:p>
            <a:pPr marL="0" indent="0">
              <a:buNone/>
            </a:pPr>
            <a:endParaRPr lang="en-US" dirty="0"/>
          </a:p>
        </p:txBody>
      </p:sp>
      <p:sp>
        <p:nvSpPr>
          <p:cNvPr id="29" name="Text 25"/>
          <p:cNvSpPr/>
          <p:nvPr/>
        </p:nvSpPr>
        <p:spPr>
          <a:xfrm>
            <a:off x="3229124" y="1196727"/>
            <a:ext cx="9525" cy="3310830"/>
          </a:xfrm>
          <a:custGeom>
            <a:avLst/>
            <a:gdLst/>
            <a:ahLst/>
            <a:cxnLst/>
            <a:rect l="l" t="t" r="r" b="b"/>
            <a:pathLst>
              <a:path w="9525" h="3310830">
                <a:moveTo>
                  <a:pt x="0" y="100330"/>
                </a:moveTo>
                <a:lnTo>
                  <a:pt x="1191" y="84919"/>
                </a:lnTo>
                <a:lnTo>
                  <a:pt x="2381" y="78601"/>
                </a:lnTo>
                <a:lnTo>
                  <a:pt x="3572" y="73797"/>
                </a:lnTo>
                <a:lnTo>
                  <a:pt x="4763" y="69785"/>
                </a:lnTo>
                <a:lnTo>
                  <a:pt x="5953" y="66284"/>
                </a:lnTo>
                <a:lnTo>
                  <a:pt x="7144" y="63149"/>
                </a:lnTo>
                <a:lnTo>
                  <a:pt x="8334" y="60293"/>
                </a:lnTo>
                <a:lnTo>
                  <a:pt x="9525" y="57662"/>
                </a:lnTo>
                <a:lnTo>
                  <a:pt x="9525" y="3253169"/>
                </a:lnTo>
                <a:lnTo>
                  <a:pt x="8334" y="3250537"/>
                </a:lnTo>
                <a:lnTo>
                  <a:pt x="7144" y="3247682"/>
                </a:lnTo>
                <a:lnTo>
                  <a:pt x="5953" y="3244546"/>
                </a:lnTo>
                <a:lnTo>
                  <a:pt x="4763" y="3241045"/>
                </a:lnTo>
                <a:lnTo>
                  <a:pt x="3572" y="3237033"/>
                </a:lnTo>
                <a:lnTo>
                  <a:pt x="2381" y="3232230"/>
                </a:lnTo>
                <a:lnTo>
                  <a:pt x="1191" y="3225912"/>
                </a:lnTo>
                <a:lnTo>
                  <a:pt x="0" y="3210501"/>
                </a:lnTo>
                <a:close/>
              </a:path>
            </a:pathLst>
          </a:custGeom>
          <a:solidFill>
            <a:srgbClr val="0D1B3E">
              <a:alpha val="9000"/>
            </a:srgbClr>
          </a:solidFill>
          <a:ln/>
        </p:spPr>
        <p:txBody>
          <a:bodyPr wrap="square" rtlCol="0" anchor="t"/>
          <a:lstStyle/>
          <a:p>
            <a:pPr marL="0" indent="0">
              <a:buNone/>
            </a:pPr>
            <a:endParaRPr lang="en-US" dirty="0"/>
          </a:p>
        </p:txBody>
      </p:sp>
      <p:sp>
        <p:nvSpPr>
          <p:cNvPr id="30" name="Text 26"/>
          <p:cNvSpPr/>
          <p:nvPr/>
        </p:nvSpPr>
        <p:spPr>
          <a:xfrm>
            <a:off x="5905351" y="1196727"/>
            <a:ext cx="9525" cy="3310830"/>
          </a:xfrm>
          <a:custGeom>
            <a:avLst/>
            <a:gdLst/>
            <a:ahLst/>
            <a:cxnLst/>
            <a:rect l="l" t="t" r="r" b="b"/>
            <a:pathLst>
              <a:path w="9525" h="3310830">
                <a:moveTo>
                  <a:pt x="0" y="57662"/>
                </a:moveTo>
                <a:lnTo>
                  <a:pt x="1191" y="60293"/>
                </a:lnTo>
                <a:lnTo>
                  <a:pt x="2381" y="63149"/>
                </a:lnTo>
                <a:lnTo>
                  <a:pt x="3572" y="66284"/>
                </a:lnTo>
                <a:lnTo>
                  <a:pt x="4763" y="69785"/>
                </a:lnTo>
                <a:lnTo>
                  <a:pt x="5953" y="73797"/>
                </a:lnTo>
                <a:lnTo>
                  <a:pt x="7144" y="78601"/>
                </a:lnTo>
                <a:lnTo>
                  <a:pt x="8334" y="84919"/>
                </a:lnTo>
                <a:lnTo>
                  <a:pt x="9525" y="100330"/>
                </a:lnTo>
                <a:lnTo>
                  <a:pt x="9525" y="3210501"/>
                </a:lnTo>
                <a:lnTo>
                  <a:pt x="8334" y="3225912"/>
                </a:lnTo>
                <a:lnTo>
                  <a:pt x="7144" y="3232230"/>
                </a:lnTo>
                <a:lnTo>
                  <a:pt x="5953" y="3237033"/>
                </a:lnTo>
                <a:lnTo>
                  <a:pt x="4763" y="3241045"/>
                </a:lnTo>
                <a:lnTo>
                  <a:pt x="3572" y="3244546"/>
                </a:lnTo>
                <a:lnTo>
                  <a:pt x="2381" y="3247682"/>
                </a:lnTo>
                <a:lnTo>
                  <a:pt x="1191" y="3250537"/>
                </a:lnTo>
                <a:lnTo>
                  <a:pt x="0" y="3253169"/>
                </a:lnTo>
                <a:close/>
              </a:path>
            </a:pathLst>
          </a:custGeom>
          <a:solidFill>
            <a:srgbClr val="0D1B3E">
              <a:alpha val="9000"/>
            </a:srgbClr>
          </a:solidFill>
          <a:ln/>
        </p:spPr>
        <p:txBody>
          <a:bodyPr wrap="square" rtlCol="0" anchor="t"/>
          <a:lstStyle/>
          <a:p>
            <a:pPr marL="0" indent="0">
              <a:buNone/>
            </a:pPr>
            <a:endParaRPr lang="en-US" dirty="0"/>
          </a:p>
        </p:txBody>
      </p:sp>
      <p:sp>
        <p:nvSpPr>
          <p:cNvPr id="31" name="Text 27"/>
          <p:cNvSpPr/>
          <p:nvPr/>
        </p:nvSpPr>
        <p:spPr>
          <a:xfrm>
            <a:off x="3229124" y="1196727"/>
            <a:ext cx="2685752" cy="19050"/>
          </a:xfrm>
          <a:custGeom>
            <a:avLst/>
            <a:gdLst/>
            <a:ahLst/>
            <a:cxnLst/>
            <a:rect l="l" t="t" r="r" b="b"/>
            <a:pathLst>
              <a:path w="2685752" h="19050">
                <a:moveTo>
                  <a:pt x="100330" y="0"/>
                </a:moveTo>
                <a:lnTo>
                  <a:pt x="78601" y="2381"/>
                </a:lnTo>
                <a:lnTo>
                  <a:pt x="69785" y="4763"/>
                </a:lnTo>
                <a:lnTo>
                  <a:pt x="63149" y="7144"/>
                </a:lnTo>
                <a:lnTo>
                  <a:pt x="57662" y="9525"/>
                </a:lnTo>
                <a:lnTo>
                  <a:pt x="52924" y="11906"/>
                </a:lnTo>
                <a:lnTo>
                  <a:pt x="48727" y="14288"/>
                </a:lnTo>
                <a:lnTo>
                  <a:pt x="44950" y="16669"/>
                </a:lnTo>
                <a:lnTo>
                  <a:pt x="41511" y="19050"/>
                </a:lnTo>
                <a:lnTo>
                  <a:pt x="2644242" y="19050"/>
                </a:lnTo>
                <a:lnTo>
                  <a:pt x="2640802" y="16669"/>
                </a:lnTo>
                <a:lnTo>
                  <a:pt x="2637025" y="14288"/>
                </a:lnTo>
                <a:lnTo>
                  <a:pt x="2632829" y="11906"/>
                </a:lnTo>
                <a:lnTo>
                  <a:pt x="2628091" y="9525"/>
                </a:lnTo>
                <a:lnTo>
                  <a:pt x="2622604" y="7144"/>
                </a:lnTo>
                <a:lnTo>
                  <a:pt x="2615967" y="4763"/>
                </a:lnTo>
                <a:lnTo>
                  <a:pt x="2607152" y="2381"/>
                </a:lnTo>
                <a:lnTo>
                  <a:pt x="2585423" y="0"/>
                </a:lnTo>
                <a:close/>
              </a:path>
            </a:pathLst>
          </a:custGeom>
          <a:solidFill>
            <a:srgbClr val="E87020"/>
          </a:solidFill>
          <a:ln/>
        </p:spPr>
        <p:txBody>
          <a:bodyPr wrap="none" rtlCol="0" anchor="t"/>
          <a:lstStyle/>
          <a:p>
            <a:pPr marL="0" indent="0">
              <a:buNone/>
            </a:pPr>
            <a:endParaRPr lang="en-US" dirty="0"/>
          </a:p>
        </p:txBody>
      </p:sp>
      <p:sp>
        <p:nvSpPr>
          <p:cNvPr id="32" name="Text 28"/>
          <p:cNvSpPr/>
          <p:nvPr/>
        </p:nvSpPr>
        <p:spPr>
          <a:xfrm>
            <a:off x="3238649" y="1215777"/>
            <a:ext cx="21580" cy="3282255"/>
          </a:xfrm>
          <a:prstGeom prst="roundRect">
            <a:avLst>
              <a:gd name="adj" fmla="val 464920"/>
            </a:avLst>
          </a:prstGeom>
          <a:gradFill rotWithShape="1">
            <a:gsLst>
              <a:gs pos="0">
                <a:srgbClr val="E87020"/>
              </a:gs>
              <a:gs pos="100000">
                <a:srgbClr val="000000">
                  <a:alpha val="0"/>
                </a:srgbClr>
              </a:gs>
            </a:gsLst>
            <a:lin ang="5400000" scaled="1"/>
          </a:gradFill>
          <a:ln/>
        </p:spPr>
        <p:txBody>
          <a:bodyPr wrap="square" rtlCol="0" anchor="t"/>
          <a:lstStyle/>
          <a:p>
            <a:pPr marL="0" indent="0">
              <a:buNone/>
            </a:pPr>
            <a:endParaRPr lang="en-US" dirty="0"/>
          </a:p>
        </p:txBody>
      </p:sp>
      <p:sp>
        <p:nvSpPr>
          <p:cNvPr id="33" name="Text 29"/>
          <p:cNvSpPr/>
          <p:nvPr/>
        </p:nvSpPr>
        <p:spPr>
          <a:xfrm>
            <a:off x="3382119" y="1373237"/>
            <a:ext cx="2617738" cy="150000"/>
          </a:xfrm>
          <a:prstGeom prst="rect">
            <a:avLst/>
          </a:prstGeom>
          <a:noFill/>
          <a:ln/>
        </p:spPr>
        <p:txBody>
          <a:bodyPr wrap="none" lIns="0" tIns="0" rIns="0" bIns="0" rtlCol="0" anchor="t"/>
          <a:lstStyle/>
          <a:p>
            <a:pPr marL="0" indent="0" algn="l">
              <a:lnSpc>
                <a:spcPts val="930"/>
              </a:lnSpc>
              <a:buNone/>
            </a:pPr>
            <a:r>
              <a:rPr lang="en-US" sz="806" b="1" kern="0" spc="74">
                <a:solidFill>
                  <a:srgbClr val="E87020"/>
                </a:solidFill>
                <a:latin typeface="Calibri Light" pitchFamily="34" charset="0"/>
                <a:ea typeface="Calibri Light" pitchFamily="34" charset="-122"/>
                <a:cs typeface="Calibri Light" pitchFamily="34" charset="-120"/>
              </a:rPr>
              <a:t>TRAP 2</a:t>
            </a:r>
            <a:endParaRPr lang="en-US" sz="806"/>
          </a:p>
        </p:txBody>
      </p:sp>
      <p:sp>
        <p:nvSpPr>
          <p:cNvPr id="34" name="Text 30"/>
          <p:cNvSpPr/>
          <p:nvPr/>
        </p:nvSpPr>
        <p:spPr>
          <a:xfrm>
            <a:off x="3382119" y="1577578"/>
            <a:ext cx="372070" cy="372070"/>
          </a:xfrm>
          <a:prstGeom prst="roundRect">
            <a:avLst>
              <a:gd name="adj" fmla="val 23211"/>
            </a:avLst>
          </a:prstGeom>
          <a:solidFill>
            <a:srgbClr val="E87020">
              <a:alpha val="12000"/>
            </a:srgbClr>
          </a:solidFill>
          <a:ln/>
        </p:spPr>
        <p:txBody>
          <a:bodyPr wrap="square" rtlCol="0" anchor="t"/>
          <a:lstStyle/>
          <a:p>
            <a:pPr marL="0" indent="0">
              <a:buNone/>
            </a:pPr>
            <a:endParaRPr lang="en-US" dirty="0"/>
          </a:p>
        </p:txBody>
      </p:sp>
      <p:pic>
        <p:nvPicPr>
          <p:cNvPr id="3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92847" y="1688306"/>
            <a:ext cx="150465" cy="150465"/>
          </a:xfrm>
          <a:prstGeom prst="rect">
            <a:avLst/>
          </a:prstGeom>
        </p:spPr>
      </p:pic>
      <p:sp>
        <p:nvSpPr>
          <p:cNvPr id="36" name="Text 31"/>
          <p:cNvSpPr/>
          <p:nvPr/>
        </p:nvSpPr>
        <p:spPr>
          <a:xfrm>
            <a:off x="3854500" y="1686669"/>
            <a:ext cx="1574244" cy="200000"/>
          </a:xfrm>
          <a:prstGeom prst="rect">
            <a:avLst/>
          </a:prstGeom>
          <a:noFill/>
          <a:ln/>
        </p:spPr>
        <p:txBody>
          <a:bodyPr wrap="none" lIns="0" tIns="0" rIns="0" bIns="0" rtlCol="0" anchor="ctr"/>
          <a:lstStyle/>
          <a:p>
            <a:pPr marL="0" indent="0" algn="l">
              <a:lnSpc>
                <a:spcPts val="1575"/>
              </a:lnSpc>
              <a:buNone/>
            </a:pPr>
            <a:r>
              <a:rPr lang="en-US" sz="1313" b="1">
                <a:solidFill>
                  <a:srgbClr val="0D1B3E"/>
                </a:solidFill>
                <a:latin typeface="Calibri Light" pitchFamily="34" charset="0"/>
                <a:ea typeface="Calibri Light" pitchFamily="34" charset="-122"/>
                <a:cs typeface="Calibri Light" pitchFamily="34" charset="-120"/>
              </a:rPr>
              <a:t>The Single-Funder Trap</a:t>
            </a:r>
            <a:endParaRPr lang="en-US" sz="1313"/>
          </a:p>
        </p:txBody>
      </p:sp>
      <p:sp>
        <p:nvSpPr>
          <p:cNvPr id="37" name="Text 32"/>
          <p:cNvSpPr/>
          <p:nvPr/>
        </p:nvSpPr>
        <p:spPr>
          <a:xfrm>
            <a:off x="3382119" y="2035969"/>
            <a:ext cx="2427357" cy="900000"/>
          </a:xfrm>
          <a:prstGeom prst="rect">
            <a:avLst/>
          </a:prstGeom>
          <a:noFill/>
          <a:ln/>
        </p:spPr>
        <p:txBody>
          <a:bodyPr wrap="square" lIns="0" tIns="0" rIns="0" bIns="0" rtlCol="0" anchor="t"/>
          <a:lstStyle/>
          <a:p>
            <a:pPr marL="0" indent="0" algn="l">
              <a:lnSpc>
                <a:spcPts val="1692"/>
              </a:lnSpc>
              <a:buNone/>
            </a:pPr>
            <a:r>
              <a:rPr lang="en-US" sz="1092">
                <a:solidFill>
                  <a:srgbClr val="64748B"/>
                </a:solidFill>
                <a:latin typeface="Calibri" pitchFamily="34" charset="0"/>
                <a:ea typeface="Calibri" pitchFamily="34" charset="-122"/>
                <a:cs typeface="Calibri" pitchFamily="34" charset="-120"/>
              </a:rPr>
              <a:t>Over-reliance on </a:t>
            </a:r>
            <a:r>
              <a:rPr lang="en-US" sz="1092" b="1">
                <a:solidFill>
                  <a:srgbClr val="0D1B3E"/>
                </a:solidFill>
                <a:latin typeface="Calibri" pitchFamily="34" charset="0"/>
                <a:ea typeface="Calibri" pitchFamily="34" charset="-122"/>
                <a:cs typeface="Calibri" pitchFamily="34" charset="-120"/>
              </a:rPr>
              <a:t>one federal award creating dangerous dependency</a:t>
            </a:r>
            <a:r>
              <a:rPr lang="en-US" sz="1092">
                <a:solidFill>
                  <a:srgbClr val="64748B"/>
                </a:solidFill>
                <a:latin typeface="Calibri" pitchFamily="34" charset="0"/>
                <a:ea typeface="Calibri" pitchFamily="34" charset="-122"/>
                <a:cs typeface="Calibri" pitchFamily="34" charset="-120"/>
              </a:rPr>
              <a:t> — one disruption away from existential crisis.</a:t>
            </a:r>
            <a:endParaRPr lang="en-US" sz="1092"/>
          </a:p>
        </p:txBody>
      </p:sp>
      <p:sp>
        <p:nvSpPr>
          <p:cNvPr id="38" name="Text 33"/>
          <p:cNvSpPr/>
          <p:nvPr/>
        </p:nvSpPr>
        <p:spPr>
          <a:xfrm>
            <a:off x="3381649" y="4150000"/>
            <a:ext cx="793346" cy="230000"/>
          </a:xfrm>
          <a:prstGeom prst="roundRect">
            <a:avLst>
              <a:gd name="adj" fmla="val 80943"/>
            </a:avLst>
          </a:prstGeom>
          <a:solidFill>
            <a:srgbClr val="E87020">
              <a:alpha val="12000"/>
            </a:srgbClr>
          </a:solidFill>
          <a:ln/>
        </p:spPr>
        <p:txBody>
          <a:bodyPr wrap="none" lIns="0" tIns="0" rIns="0" bIns="0" rtlCol="0" anchor="ctr"/>
          <a:lstStyle/>
          <a:p>
            <a:pPr marL="0" indent="0" algn="ctr">
              <a:buNone/>
            </a:pPr>
            <a:r>
              <a:rPr lang="en-US" sz="900" b="1">
                <a:solidFill>
                  <a:srgbClr val="B85A10"/>
                </a:solidFill>
                <a:latin typeface="Calibri" pitchFamily="34" charset="0"/>
                <a:ea typeface="Calibri" pitchFamily="34" charset="-122"/>
                <a:cs typeface="Calibri" pitchFamily="34" charset="-120"/>
              </a:rPr>
              <a:t>HIGH RISK</a:t>
            </a:r>
            <a:endParaRPr lang="en-US" sz="900"/>
          </a:p>
        </p:txBody>
      </p:sp>
      <p:sp>
        <p:nvSpPr>
          <p:cNvPr id="39" name="Text 34"/>
          <p:cNvSpPr/>
          <p:nvPr/>
        </p:nvSpPr>
        <p:spPr>
          <a:xfrm>
            <a:off x="4231995" y="4150000"/>
            <a:ext cx="680011" cy="230000"/>
          </a:xfrm>
          <a:prstGeom prst="roundRect">
            <a:avLst>
              <a:gd name="adj" fmla="val 80943"/>
            </a:avLst>
          </a:prstGeom>
          <a:solidFill>
            <a:srgbClr val="0D1B3E">
              <a:alpha val="7000"/>
            </a:srgbClr>
          </a:solidFill>
          <a:ln/>
        </p:spPr>
        <p:txBody>
          <a:bodyPr wrap="none" lIns="0" tIns="0" rIns="0" bIns="0" rtlCol="0" anchor="ctr"/>
          <a:lstStyle/>
          <a:p>
            <a:pPr marL="0" indent="0" algn="ctr">
              <a:buNone/>
            </a:pPr>
            <a:r>
              <a:rPr lang="en-US" sz="900">
                <a:solidFill>
                  <a:srgbClr val="64748B"/>
                </a:solidFill>
                <a:latin typeface="Calibri" pitchFamily="34" charset="0"/>
                <a:ea typeface="Calibri" pitchFamily="34" charset="-122"/>
                <a:cs typeface="Calibri" pitchFamily="34" charset="-120"/>
              </a:rPr>
              <a:t>OFA Dependency</a:t>
            </a:r>
            <a:endParaRPr lang="en-US" sz="900"/>
          </a:p>
        </p:txBody>
      </p:sp>
      <p:sp>
        <p:nvSpPr>
          <p:cNvPr id="40" name="Text 35"/>
          <p:cNvSpPr/>
          <p:nvPr/>
        </p:nvSpPr>
        <p:spPr>
          <a:xfrm>
            <a:off x="4969006" y="4150000"/>
            <a:ext cx="793346" cy="230000"/>
          </a:xfrm>
          <a:prstGeom prst="roundRect">
            <a:avLst>
              <a:gd name="adj" fmla="val 80943"/>
            </a:avLst>
          </a:prstGeom>
          <a:solidFill>
            <a:srgbClr val="0D1B3E">
              <a:alpha val="7000"/>
            </a:srgbClr>
          </a:solidFill>
          <a:ln/>
        </p:spPr>
        <p:txBody>
          <a:bodyPr wrap="none" lIns="0" tIns="0" rIns="0" bIns="0" rtlCol="0" anchor="ctr"/>
          <a:lstStyle/>
          <a:p>
            <a:pPr marL="0" indent="0" algn="ctr">
              <a:buNone/>
            </a:pPr>
            <a:r>
              <a:rPr lang="en-US" sz="900">
                <a:solidFill>
                  <a:srgbClr val="64748B"/>
                </a:solidFill>
                <a:latin typeface="Calibri" pitchFamily="34" charset="0"/>
                <a:ea typeface="Calibri" pitchFamily="34" charset="-122"/>
                <a:cs typeface="Calibri" pitchFamily="34" charset="-120"/>
              </a:rPr>
              <a:t>Zero Diversification</a:t>
            </a:r>
            <a:endParaRPr lang="en-US" sz="900"/>
          </a:p>
        </p:txBody>
      </p:sp>
      <p:sp>
        <p:nvSpPr>
          <p:cNvPr id="41" name="Text 36"/>
          <p:cNvSpPr/>
          <p:nvPr/>
        </p:nvSpPr>
        <p:spPr>
          <a:xfrm>
            <a:off x="6058346" y="1196727"/>
            <a:ext cx="2685604" cy="3310830"/>
          </a:xfrm>
          <a:prstGeom prst="roundRect">
            <a:avLst>
              <a:gd name="adj" fmla="val 3736"/>
            </a:avLst>
          </a:prstGeom>
          <a:solidFill>
            <a:srgbClr val="F0F4F8"/>
          </a:solidFill>
          <a:ln/>
        </p:spPr>
        <p:txBody>
          <a:bodyPr wrap="square" rtlCol="0" anchor="t"/>
          <a:lstStyle/>
          <a:p>
            <a:pPr marL="0" indent="0">
              <a:buNone/>
            </a:pPr>
            <a:endParaRPr lang="en-US" dirty="0"/>
          </a:p>
        </p:txBody>
      </p:sp>
      <p:sp>
        <p:nvSpPr>
          <p:cNvPr id="42" name="Text 37"/>
          <p:cNvSpPr/>
          <p:nvPr/>
        </p:nvSpPr>
        <p:spPr>
          <a:xfrm>
            <a:off x="6058346" y="1196727"/>
            <a:ext cx="9525" cy="3310830"/>
          </a:xfrm>
          <a:custGeom>
            <a:avLst/>
            <a:gdLst/>
            <a:ahLst/>
            <a:cxnLst/>
            <a:rect l="l" t="t" r="r" b="b"/>
            <a:pathLst>
              <a:path w="9525" h="3310830">
                <a:moveTo>
                  <a:pt x="0" y="100330"/>
                </a:moveTo>
                <a:lnTo>
                  <a:pt x="1191" y="84919"/>
                </a:lnTo>
                <a:lnTo>
                  <a:pt x="2381" y="78601"/>
                </a:lnTo>
                <a:lnTo>
                  <a:pt x="3572" y="73797"/>
                </a:lnTo>
                <a:lnTo>
                  <a:pt x="4763" y="69785"/>
                </a:lnTo>
                <a:lnTo>
                  <a:pt x="5953" y="66284"/>
                </a:lnTo>
                <a:lnTo>
                  <a:pt x="7144" y="63149"/>
                </a:lnTo>
                <a:lnTo>
                  <a:pt x="8334" y="60293"/>
                </a:lnTo>
                <a:lnTo>
                  <a:pt x="9525" y="57662"/>
                </a:lnTo>
                <a:lnTo>
                  <a:pt x="9525" y="3253169"/>
                </a:lnTo>
                <a:lnTo>
                  <a:pt x="8334" y="3250537"/>
                </a:lnTo>
                <a:lnTo>
                  <a:pt x="7144" y="3247682"/>
                </a:lnTo>
                <a:lnTo>
                  <a:pt x="5953" y="3244546"/>
                </a:lnTo>
                <a:lnTo>
                  <a:pt x="4763" y="3241045"/>
                </a:lnTo>
                <a:lnTo>
                  <a:pt x="3572" y="3237033"/>
                </a:lnTo>
                <a:lnTo>
                  <a:pt x="2381" y="3232230"/>
                </a:lnTo>
                <a:lnTo>
                  <a:pt x="1191" y="3225912"/>
                </a:lnTo>
                <a:lnTo>
                  <a:pt x="0" y="3210501"/>
                </a:lnTo>
                <a:close/>
              </a:path>
            </a:pathLst>
          </a:custGeom>
          <a:solidFill>
            <a:srgbClr val="0D1B3E">
              <a:alpha val="9000"/>
            </a:srgbClr>
          </a:solidFill>
          <a:ln/>
        </p:spPr>
        <p:txBody>
          <a:bodyPr wrap="square" rtlCol="0" anchor="t"/>
          <a:lstStyle/>
          <a:p>
            <a:pPr marL="0" indent="0">
              <a:buNone/>
            </a:pPr>
            <a:endParaRPr lang="en-US" dirty="0"/>
          </a:p>
        </p:txBody>
      </p:sp>
      <p:sp>
        <p:nvSpPr>
          <p:cNvPr id="43" name="Text 38"/>
          <p:cNvSpPr/>
          <p:nvPr/>
        </p:nvSpPr>
        <p:spPr>
          <a:xfrm>
            <a:off x="8734425" y="1196727"/>
            <a:ext cx="9525" cy="3310830"/>
          </a:xfrm>
          <a:custGeom>
            <a:avLst/>
            <a:gdLst/>
            <a:ahLst/>
            <a:cxnLst/>
            <a:rect l="l" t="t" r="r" b="b"/>
            <a:pathLst>
              <a:path w="9525" h="3310830">
                <a:moveTo>
                  <a:pt x="0" y="57662"/>
                </a:moveTo>
                <a:lnTo>
                  <a:pt x="1191" y="60293"/>
                </a:lnTo>
                <a:lnTo>
                  <a:pt x="2381" y="63149"/>
                </a:lnTo>
                <a:lnTo>
                  <a:pt x="3572" y="66284"/>
                </a:lnTo>
                <a:lnTo>
                  <a:pt x="4763" y="69785"/>
                </a:lnTo>
                <a:lnTo>
                  <a:pt x="5953" y="73797"/>
                </a:lnTo>
                <a:lnTo>
                  <a:pt x="7144" y="78601"/>
                </a:lnTo>
                <a:lnTo>
                  <a:pt x="8334" y="84919"/>
                </a:lnTo>
                <a:lnTo>
                  <a:pt x="9525" y="100330"/>
                </a:lnTo>
                <a:lnTo>
                  <a:pt x="9525" y="3210501"/>
                </a:lnTo>
                <a:lnTo>
                  <a:pt x="8334" y="3225912"/>
                </a:lnTo>
                <a:lnTo>
                  <a:pt x="7144" y="3232230"/>
                </a:lnTo>
                <a:lnTo>
                  <a:pt x="5953" y="3237033"/>
                </a:lnTo>
                <a:lnTo>
                  <a:pt x="4763" y="3241045"/>
                </a:lnTo>
                <a:lnTo>
                  <a:pt x="3572" y="3244546"/>
                </a:lnTo>
                <a:lnTo>
                  <a:pt x="2381" y="3247682"/>
                </a:lnTo>
                <a:lnTo>
                  <a:pt x="1191" y="3250537"/>
                </a:lnTo>
                <a:lnTo>
                  <a:pt x="0" y="3253169"/>
                </a:lnTo>
                <a:close/>
              </a:path>
            </a:pathLst>
          </a:custGeom>
          <a:solidFill>
            <a:srgbClr val="0D1B3E">
              <a:alpha val="9000"/>
            </a:srgbClr>
          </a:solidFill>
          <a:ln/>
        </p:spPr>
        <p:txBody>
          <a:bodyPr wrap="square" rtlCol="0" anchor="t"/>
          <a:lstStyle/>
          <a:p>
            <a:pPr marL="0" indent="0">
              <a:buNone/>
            </a:pPr>
            <a:endParaRPr lang="en-US" dirty="0"/>
          </a:p>
        </p:txBody>
      </p:sp>
      <p:sp>
        <p:nvSpPr>
          <p:cNvPr id="44" name="Text 39"/>
          <p:cNvSpPr/>
          <p:nvPr/>
        </p:nvSpPr>
        <p:spPr>
          <a:xfrm>
            <a:off x="6058346" y="1196727"/>
            <a:ext cx="2685604" cy="19050"/>
          </a:xfrm>
          <a:custGeom>
            <a:avLst/>
            <a:gdLst/>
            <a:ahLst/>
            <a:cxnLst/>
            <a:rect l="l" t="t" r="r" b="b"/>
            <a:pathLst>
              <a:path w="2685604" h="19050">
                <a:moveTo>
                  <a:pt x="100330" y="0"/>
                </a:moveTo>
                <a:lnTo>
                  <a:pt x="78601" y="2381"/>
                </a:lnTo>
                <a:lnTo>
                  <a:pt x="69785" y="4763"/>
                </a:lnTo>
                <a:lnTo>
                  <a:pt x="63149" y="7144"/>
                </a:lnTo>
                <a:lnTo>
                  <a:pt x="57662" y="9525"/>
                </a:lnTo>
                <a:lnTo>
                  <a:pt x="52924" y="11906"/>
                </a:lnTo>
                <a:lnTo>
                  <a:pt x="48727" y="14288"/>
                </a:lnTo>
                <a:lnTo>
                  <a:pt x="44950" y="16669"/>
                </a:lnTo>
                <a:lnTo>
                  <a:pt x="41511" y="19050"/>
                </a:lnTo>
                <a:lnTo>
                  <a:pt x="2644093" y="19050"/>
                </a:lnTo>
                <a:lnTo>
                  <a:pt x="2640653" y="16669"/>
                </a:lnTo>
                <a:lnTo>
                  <a:pt x="2636876" y="14288"/>
                </a:lnTo>
                <a:lnTo>
                  <a:pt x="2632680" y="11906"/>
                </a:lnTo>
                <a:lnTo>
                  <a:pt x="2627942" y="9525"/>
                </a:lnTo>
                <a:lnTo>
                  <a:pt x="2622455" y="7144"/>
                </a:lnTo>
                <a:lnTo>
                  <a:pt x="2615818" y="4763"/>
                </a:lnTo>
                <a:lnTo>
                  <a:pt x="2607003" y="2381"/>
                </a:lnTo>
                <a:lnTo>
                  <a:pt x="2585274" y="0"/>
                </a:lnTo>
                <a:close/>
              </a:path>
            </a:pathLst>
          </a:custGeom>
          <a:solidFill>
            <a:srgbClr val="C0A030"/>
          </a:solidFill>
          <a:ln/>
        </p:spPr>
        <p:txBody>
          <a:bodyPr wrap="none" rtlCol="0" anchor="t"/>
          <a:lstStyle/>
          <a:p>
            <a:pPr marL="0" indent="0">
              <a:buNone/>
            </a:pPr>
            <a:endParaRPr lang="en-US" dirty="0"/>
          </a:p>
        </p:txBody>
      </p:sp>
      <p:sp>
        <p:nvSpPr>
          <p:cNvPr id="45" name="Text 40"/>
          <p:cNvSpPr/>
          <p:nvPr/>
        </p:nvSpPr>
        <p:spPr>
          <a:xfrm>
            <a:off x="6067871" y="1215777"/>
            <a:ext cx="21580" cy="3282255"/>
          </a:xfrm>
          <a:prstGeom prst="roundRect">
            <a:avLst>
              <a:gd name="adj" fmla="val 464920"/>
            </a:avLst>
          </a:prstGeom>
          <a:gradFill rotWithShape="1">
            <a:gsLst>
              <a:gs pos="0">
                <a:srgbClr val="C9A830"/>
              </a:gs>
              <a:gs pos="100000">
                <a:srgbClr val="000000">
                  <a:alpha val="0"/>
                </a:srgbClr>
              </a:gs>
            </a:gsLst>
            <a:lin ang="5400000" scaled="1"/>
          </a:gradFill>
          <a:ln/>
        </p:spPr>
        <p:txBody>
          <a:bodyPr wrap="square" rtlCol="0" anchor="t"/>
          <a:lstStyle/>
          <a:p>
            <a:pPr marL="0" indent="0">
              <a:buNone/>
            </a:pPr>
            <a:endParaRPr lang="en-US" dirty="0"/>
          </a:p>
        </p:txBody>
      </p:sp>
      <p:sp>
        <p:nvSpPr>
          <p:cNvPr id="46" name="Text 41"/>
          <p:cNvSpPr/>
          <p:nvPr/>
        </p:nvSpPr>
        <p:spPr>
          <a:xfrm>
            <a:off x="6211342" y="1373237"/>
            <a:ext cx="2617574" cy="150000"/>
          </a:xfrm>
          <a:prstGeom prst="rect">
            <a:avLst/>
          </a:prstGeom>
          <a:noFill/>
          <a:ln/>
        </p:spPr>
        <p:txBody>
          <a:bodyPr wrap="none" lIns="0" tIns="0" rIns="0" bIns="0" rtlCol="0" anchor="t"/>
          <a:lstStyle/>
          <a:p>
            <a:pPr marL="0" indent="0" algn="l">
              <a:lnSpc>
                <a:spcPts val="930"/>
              </a:lnSpc>
              <a:buNone/>
            </a:pPr>
            <a:r>
              <a:rPr lang="en-US" sz="806" b="1" kern="0" spc="74">
                <a:solidFill>
                  <a:srgbClr val="C9A830"/>
                </a:solidFill>
                <a:latin typeface="Calibri Light" pitchFamily="34" charset="0"/>
                <a:ea typeface="Calibri Light" pitchFamily="34" charset="-122"/>
                <a:cs typeface="Calibri Light" pitchFamily="34" charset="-120"/>
              </a:rPr>
              <a:t>TRAP 3</a:t>
            </a:r>
            <a:endParaRPr lang="en-US" sz="806"/>
          </a:p>
        </p:txBody>
      </p:sp>
      <p:sp>
        <p:nvSpPr>
          <p:cNvPr id="47" name="Text 42"/>
          <p:cNvSpPr/>
          <p:nvPr/>
        </p:nvSpPr>
        <p:spPr>
          <a:xfrm>
            <a:off x="6211342" y="1577578"/>
            <a:ext cx="372070" cy="372070"/>
          </a:xfrm>
          <a:prstGeom prst="roundRect">
            <a:avLst>
              <a:gd name="adj" fmla="val 23211"/>
            </a:avLst>
          </a:prstGeom>
          <a:solidFill>
            <a:srgbClr val="C0A030">
              <a:alpha val="12000"/>
            </a:srgbClr>
          </a:solidFill>
          <a:ln/>
        </p:spPr>
        <p:txBody>
          <a:bodyPr wrap="square" rtlCol="0" anchor="t"/>
          <a:lstStyle/>
          <a:p>
            <a:pPr marL="0" indent="0">
              <a:buNone/>
            </a:pPr>
            <a:endParaRPr lang="en-US" dirty="0"/>
          </a:p>
        </p:txBody>
      </p:sp>
      <p:pic>
        <p:nvPicPr>
          <p:cNvPr id="4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22070" y="1688306"/>
            <a:ext cx="150465" cy="150465"/>
          </a:xfrm>
          <a:prstGeom prst="rect">
            <a:avLst/>
          </a:prstGeom>
        </p:spPr>
      </p:pic>
      <p:sp>
        <p:nvSpPr>
          <p:cNvPr id="49" name="Text 43"/>
          <p:cNvSpPr/>
          <p:nvPr/>
        </p:nvSpPr>
        <p:spPr>
          <a:xfrm>
            <a:off x="6683722" y="1686669"/>
            <a:ext cx="1527259" cy="200000"/>
          </a:xfrm>
          <a:prstGeom prst="rect">
            <a:avLst/>
          </a:prstGeom>
          <a:noFill/>
          <a:ln/>
        </p:spPr>
        <p:txBody>
          <a:bodyPr wrap="none" lIns="0" tIns="0" rIns="0" bIns="0" rtlCol="0" anchor="ctr"/>
          <a:lstStyle/>
          <a:p>
            <a:pPr marL="0" indent="0" algn="l">
              <a:lnSpc>
                <a:spcPts val="1575"/>
              </a:lnSpc>
              <a:buNone/>
            </a:pPr>
            <a:r>
              <a:rPr lang="en-US" sz="1313" b="1">
                <a:solidFill>
                  <a:srgbClr val="0D1B3E"/>
                </a:solidFill>
                <a:latin typeface="Calibri Light" pitchFamily="34" charset="0"/>
                <a:ea typeface="Calibri Light" pitchFamily="34" charset="-122"/>
                <a:cs typeface="Calibri Light" pitchFamily="34" charset="-120"/>
              </a:rPr>
              <a:t>The Misalignment Trap</a:t>
            </a:r>
            <a:endParaRPr lang="en-US" sz="1313"/>
          </a:p>
        </p:txBody>
      </p:sp>
      <p:sp>
        <p:nvSpPr>
          <p:cNvPr id="50" name="Text 44"/>
          <p:cNvSpPr/>
          <p:nvPr/>
        </p:nvSpPr>
        <p:spPr>
          <a:xfrm>
            <a:off x="6211342" y="2035969"/>
            <a:ext cx="2427205" cy="900000"/>
          </a:xfrm>
          <a:prstGeom prst="rect">
            <a:avLst/>
          </a:prstGeom>
          <a:noFill/>
          <a:ln/>
        </p:spPr>
        <p:txBody>
          <a:bodyPr wrap="square" lIns="0" tIns="0" rIns="0" bIns="0" rtlCol="0" anchor="t"/>
          <a:lstStyle/>
          <a:p>
            <a:pPr marL="0" indent="0" algn="l">
              <a:lnSpc>
                <a:spcPts val="1692"/>
              </a:lnSpc>
              <a:buNone/>
            </a:pPr>
            <a:r>
              <a:rPr lang="en-US" sz="1092">
                <a:solidFill>
                  <a:srgbClr val="64748B"/>
                </a:solidFill>
                <a:latin typeface="Calibri" pitchFamily="34" charset="0"/>
                <a:ea typeface="Calibri" pitchFamily="34" charset="-122"/>
                <a:cs typeface="Calibri" pitchFamily="34" charset="-120"/>
              </a:rPr>
              <a:t>Accepting funds that </a:t>
            </a:r>
            <a:r>
              <a:rPr lang="en-US" sz="1092" b="1">
                <a:solidFill>
                  <a:srgbClr val="0D1B3E"/>
                </a:solidFill>
                <a:latin typeface="Calibri" pitchFamily="34" charset="0"/>
                <a:ea typeface="Calibri" pitchFamily="34" charset="-122"/>
                <a:cs typeface="Calibri" pitchFamily="34" charset="-120"/>
              </a:rPr>
              <a:t>don’t fit your model, population, or evidence base</a:t>
            </a:r>
            <a:r>
              <a:rPr lang="en-US" sz="1092">
                <a:solidFill>
                  <a:srgbClr val="64748B"/>
                </a:solidFill>
                <a:latin typeface="Calibri" pitchFamily="34" charset="0"/>
                <a:ea typeface="Calibri" pitchFamily="34" charset="-122"/>
                <a:cs typeface="Calibri" pitchFamily="34" charset="-120"/>
              </a:rPr>
              <a:t> — mission drift sets in before you notice.</a:t>
            </a:r>
            <a:endParaRPr lang="en-US" sz="1092"/>
          </a:p>
        </p:txBody>
      </p:sp>
      <p:sp>
        <p:nvSpPr>
          <p:cNvPr id="51" name="Text 45"/>
          <p:cNvSpPr/>
          <p:nvPr/>
        </p:nvSpPr>
        <p:spPr>
          <a:xfrm>
            <a:off x="6210871" y="4150000"/>
            <a:ext cx="793293" cy="230000"/>
          </a:xfrm>
          <a:prstGeom prst="roundRect">
            <a:avLst>
              <a:gd name="adj" fmla="val 80943"/>
            </a:avLst>
          </a:prstGeom>
          <a:solidFill>
            <a:srgbClr val="C0A030">
              <a:alpha val="12000"/>
            </a:srgbClr>
          </a:solidFill>
          <a:ln/>
        </p:spPr>
        <p:txBody>
          <a:bodyPr wrap="none" lIns="0" tIns="0" rIns="0" bIns="0" rtlCol="0" anchor="ctr"/>
          <a:lstStyle/>
          <a:p>
            <a:pPr marL="0" indent="0" algn="ctr">
              <a:buNone/>
            </a:pPr>
            <a:r>
              <a:rPr lang="en-US" sz="900" b="1">
                <a:solidFill>
                  <a:srgbClr val="9A7C10"/>
                </a:solidFill>
                <a:latin typeface="Calibri" pitchFamily="34" charset="0"/>
                <a:ea typeface="Calibri" pitchFamily="34" charset="-122"/>
                <a:cs typeface="Calibri" pitchFamily="34" charset="-120"/>
              </a:rPr>
              <a:t>MISSION DRIFT</a:t>
            </a:r>
            <a:endParaRPr lang="en-US" sz="900"/>
          </a:p>
        </p:txBody>
      </p:sp>
      <p:sp>
        <p:nvSpPr>
          <p:cNvPr id="52" name="Text 46"/>
          <p:cNvSpPr/>
          <p:nvPr/>
        </p:nvSpPr>
        <p:spPr>
          <a:xfrm>
            <a:off x="7061164" y="4150000"/>
            <a:ext cx="679965" cy="230000"/>
          </a:xfrm>
          <a:prstGeom prst="roundRect">
            <a:avLst>
              <a:gd name="adj" fmla="val 80943"/>
            </a:avLst>
          </a:prstGeom>
          <a:solidFill>
            <a:srgbClr val="0D1B3E">
              <a:alpha val="7000"/>
            </a:srgbClr>
          </a:solidFill>
          <a:ln/>
        </p:spPr>
        <p:txBody>
          <a:bodyPr wrap="none" lIns="0" tIns="0" rIns="0" bIns="0" rtlCol="0" anchor="ctr"/>
          <a:lstStyle/>
          <a:p>
            <a:pPr marL="0" indent="0" algn="ctr">
              <a:buNone/>
            </a:pPr>
            <a:r>
              <a:rPr lang="en-US" sz="900">
                <a:solidFill>
                  <a:srgbClr val="64748B"/>
                </a:solidFill>
                <a:latin typeface="Calibri" pitchFamily="34" charset="0"/>
                <a:ea typeface="Calibri" pitchFamily="34" charset="-122"/>
                <a:cs typeface="Calibri" pitchFamily="34" charset="-120"/>
              </a:rPr>
              <a:t>Evidence Gaps</a:t>
            </a:r>
            <a:endParaRPr lang="en-US" sz="900"/>
          </a:p>
        </p:txBody>
      </p:sp>
      <p:sp>
        <p:nvSpPr>
          <p:cNvPr id="53" name="Text 47"/>
          <p:cNvSpPr/>
          <p:nvPr/>
        </p:nvSpPr>
        <p:spPr>
          <a:xfrm>
            <a:off x="7798129" y="4150000"/>
            <a:ext cx="793293" cy="230000"/>
          </a:xfrm>
          <a:prstGeom prst="roundRect">
            <a:avLst>
              <a:gd name="adj" fmla="val 80943"/>
            </a:avLst>
          </a:prstGeom>
          <a:solidFill>
            <a:srgbClr val="0D1B3E">
              <a:alpha val="7000"/>
            </a:srgbClr>
          </a:solidFill>
          <a:ln/>
        </p:spPr>
        <p:txBody>
          <a:bodyPr wrap="none" lIns="0" tIns="0" rIns="0" bIns="0" rtlCol="0" anchor="ctr"/>
          <a:lstStyle/>
          <a:p>
            <a:pPr marL="0" indent="0" algn="ctr">
              <a:buNone/>
            </a:pPr>
            <a:r>
              <a:rPr lang="en-US" sz="900">
                <a:solidFill>
                  <a:srgbClr val="64748B"/>
                </a:solidFill>
                <a:latin typeface="Calibri" pitchFamily="34" charset="0"/>
                <a:ea typeface="Calibri" pitchFamily="34" charset="-122"/>
                <a:cs typeface="Calibri" pitchFamily="34" charset="-120"/>
              </a:rPr>
              <a:t>Model Mismatch</a:t>
            </a:r>
            <a:endParaRPr lang="en-US" sz="900"/>
          </a:p>
        </p:txBody>
      </p:sp>
      <p:sp>
        <p:nvSpPr>
          <p:cNvPr id="54" name="Text 48"/>
          <p:cNvSpPr/>
          <p:nvPr/>
        </p:nvSpPr>
        <p:spPr>
          <a:xfrm>
            <a:off x="412766" y="4629447"/>
            <a:ext cx="8501545" cy="321022"/>
          </a:xfrm>
          <a:prstGeom prst="roundRect">
            <a:avLst>
              <a:gd name="adj" fmla="val 17803"/>
            </a:avLst>
          </a:prstGeom>
          <a:solidFill>
            <a:srgbClr val="E8A020">
              <a:alpha val="10000"/>
            </a:srgbClr>
          </a:solidFill>
          <a:ln w="9525">
            <a:solidFill>
              <a:srgbClr val="E8A020">
                <a:alpha val="50000"/>
              </a:srgbClr>
            </a:solidFill>
          </a:ln>
        </p:spPr>
        <p:txBody>
          <a:bodyPr wrap="square" rtlCol="0" anchor="t"/>
          <a:lstStyle/>
          <a:p>
            <a:pPr marL="0" indent="0">
              <a:buNone/>
            </a:pPr>
            <a:endParaRPr lang="en-US" dirty="0"/>
          </a:p>
        </p:txBody>
      </p:sp>
      <p:pic>
        <p:nvPicPr>
          <p:cNvPr id="5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4823" y="4716000"/>
            <a:ext cx="132588" cy="132588"/>
          </a:xfrm>
          <a:prstGeom prst="rect">
            <a:avLst/>
          </a:prstGeom>
        </p:spPr>
      </p:pic>
      <p:sp>
        <p:nvSpPr>
          <p:cNvPr id="56" name="Text 49"/>
          <p:cNvSpPr/>
          <p:nvPr/>
        </p:nvSpPr>
        <p:spPr>
          <a:xfrm>
            <a:off x="735509" y="4717554"/>
            <a:ext cx="523711" cy="160000"/>
          </a:xfrm>
          <a:prstGeom prst="rect">
            <a:avLst/>
          </a:prstGeom>
          <a:noFill/>
          <a:ln/>
        </p:spPr>
        <p:txBody>
          <a:bodyPr wrap="none" lIns="0" tIns="0" rIns="0" bIns="0" rtlCol="0" anchor="ctr"/>
          <a:lstStyle/>
          <a:p>
            <a:pPr marL="0" indent="0" algn="l">
              <a:lnSpc>
                <a:spcPts val="1020"/>
              </a:lnSpc>
              <a:buNone/>
            </a:pPr>
            <a:r>
              <a:rPr lang="en-US" sz="884" b="1" dirty="0">
                <a:solidFill>
                  <a:srgbClr val="B87010"/>
                </a:solidFill>
                <a:latin typeface="Calibri" pitchFamily="34" charset="0"/>
                <a:ea typeface="Calibri" pitchFamily="34" charset="-122"/>
                <a:cs typeface="Calibri" pitchFamily="34" charset="-120"/>
              </a:rPr>
              <a:t>DEBRIEF:</a:t>
            </a:r>
            <a:endParaRPr lang="en-US" sz="884" dirty="0"/>
          </a:p>
        </p:txBody>
      </p:sp>
      <p:sp>
        <p:nvSpPr>
          <p:cNvPr id="57" name="Text 50"/>
          <p:cNvSpPr/>
          <p:nvPr/>
        </p:nvSpPr>
        <p:spPr>
          <a:xfrm>
            <a:off x="1270838" y="4677554"/>
            <a:ext cx="2500000" cy="200000"/>
          </a:xfrm>
          <a:prstGeom prst="rect">
            <a:avLst/>
          </a:prstGeom>
          <a:noFill/>
          <a:ln/>
        </p:spPr>
        <p:txBody>
          <a:bodyPr wrap="none" lIns="0" tIns="0" rIns="0" bIns="0" rtlCol="0" anchor="ctr"/>
          <a:lstStyle/>
          <a:p>
            <a:pPr marL="0" indent="0" algn="l">
              <a:lnSpc>
                <a:spcPts val="1638"/>
              </a:lnSpc>
              <a:buNone/>
            </a:pPr>
            <a:r>
              <a:rPr lang="en-US" sz="1092" i="1" dirty="0">
                <a:solidFill>
                  <a:srgbClr val="0D1B3E"/>
                </a:solidFill>
                <a:latin typeface="Calibri" pitchFamily="34" charset="0"/>
                <a:ea typeface="Calibri" pitchFamily="34" charset="-122"/>
                <a:cs typeface="Calibri" pitchFamily="34" charset="-120"/>
              </a:rPr>
              <a:t>Which trap is hardest to escape? Why?</a:t>
            </a:r>
            <a:endParaRPr lang="en-US" sz="1092" dirty="0"/>
          </a:p>
        </p:txBody>
      </p:sp>
      <p:sp>
        <p:nvSpPr>
          <p:cNvPr id="58" name="Text 51"/>
          <p:cNvSpPr/>
          <p:nvPr/>
        </p:nvSpPr>
        <p:spPr>
          <a:xfrm>
            <a:off x="7191375" y="4692791"/>
            <a:ext cx="1687348" cy="200000"/>
          </a:xfrm>
          <a:prstGeom prst="rect">
            <a:avLst/>
          </a:prstGeom>
          <a:noFill/>
          <a:ln/>
        </p:spPr>
        <p:txBody>
          <a:bodyPr wrap="none" lIns="0" tIns="0" rIns="0" bIns="0" rtlCol="0" anchor="ctr"/>
          <a:lstStyle/>
          <a:p>
            <a:pPr marL="0" indent="0" algn="l">
              <a:lnSpc>
                <a:spcPts val="1095"/>
              </a:lnSpc>
              <a:buNone/>
            </a:pPr>
            <a:r>
              <a:rPr lang="en-US" sz="949" dirty="0">
                <a:solidFill>
                  <a:srgbClr val="64748B"/>
                </a:solidFill>
                <a:latin typeface="Calibri" pitchFamily="34" charset="0"/>
                <a:ea typeface="Calibri" pitchFamily="34" charset="-122"/>
                <a:cs typeface="Calibri" pitchFamily="34" charset="-120"/>
              </a:rPr>
              <a:t>Turn &amp; Talk → Large Group Share</a:t>
            </a:r>
            <a:endParaRPr lang="en-US" sz="949" dirty="0"/>
          </a:p>
        </p:txBody>
      </p:sp>
      <p:pic>
        <p:nvPicPr>
          <p:cNvPr id="5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47169" y="4715926"/>
            <a:ext cx="132588" cy="1325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4000"/>
                </a:srgbClr>
              </a:gs>
              <a:gs pos="100000">
                <a:srgbClr val="000000">
                  <a:alpha val="0"/>
                </a:srgbClr>
              </a:gs>
            </a:gsLst>
            <a:lin ang="5400000" scaled="1"/>
          </a:gradFill>
          <a:ln/>
        </p:spPr>
        <p:txBody>
          <a:bodyPr wrap="square" rtlCol="0" anchor="t"/>
          <a:lstStyle/>
          <a:p>
            <a:pPr marL="0" indent="0">
              <a:buNone/>
            </a:pPr>
            <a:endParaRPr lang="en-US"/>
          </a:p>
        </p:txBody>
      </p:sp>
      <p:sp>
        <p:nvSpPr>
          <p:cNvPr id="3" name="Text 1"/>
          <p:cNvSpPr/>
          <p:nvPr/>
        </p:nvSpPr>
        <p:spPr>
          <a:xfrm>
            <a:off x="0" y="0"/>
            <a:ext cx="9144000" cy="5143500"/>
          </a:xfrm>
          <a:prstGeom prst="rect">
            <a:avLst/>
          </a:prstGeom>
          <a:gradFill rotWithShape="1">
            <a:gsLst>
              <a:gs pos="0">
                <a:srgbClr val="E8A020">
                  <a:alpha val="4000"/>
                </a:srgbClr>
              </a:gs>
              <a:gs pos="100000">
                <a:srgbClr val="000000">
                  <a:alpha val="0"/>
                </a:srgbClr>
              </a:gs>
            </a:gsLst>
            <a:lin ang="0" scaled="1"/>
          </a:gradFill>
          <a:ln/>
        </p:spPr>
        <p:txBody>
          <a:bodyPr wrap="square" rtlCol="0" anchor="t"/>
          <a:lstStyle/>
          <a:p>
            <a:pPr marL="0" indent="0">
              <a:buNone/>
            </a:pPr>
            <a:endParaRPr lang="en-US"/>
          </a:p>
        </p:txBody>
      </p:sp>
      <p:sp>
        <p:nvSpPr>
          <p:cNvPr id="38" name="Text 28"/>
          <p:cNvSpPr/>
          <p:nvPr/>
        </p:nvSpPr>
        <p:spPr>
          <a:xfrm>
            <a:off x="350000" y="600000"/>
            <a:ext cx="4250000" cy="3390000"/>
          </a:xfrm>
          <a:custGeom>
            <a:avLst/>
            <a:gdLst/>
            <a:ahLst/>
            <a:cxnLst/>
            <a:rect l="l" t="t" r="r" b="b"/>
            <a:pathLst>
              <a:path w="4250000" h="3390000">
                <a:moveTo>
                  <a:pt x="89197" y="0"/>
                </a:moveTo>
                <a:lnTo>
                  <a:pt x="71795" y="1592"/>
                </a:lnTo>
                <a:lnTo>
                  <a:pt x="55062" y="6312"/>
                </a:lnTo>
                <a:lnTo>
                  <a:pt x="39642" y="13974"/>
                </a:lnTo>
                <a:lnTo>
                  <a:pt x="26125" y="24287"/>
                </a:lnTo>
                <a:lnTo>
                  <a:pt x="15032" y="36853"/>
                </a:lnTo>
                <a:lnTo>
                  <a:pt x="6790" y="51189"/>
                </a:lnTo>
                <a:lnTo>
                  <a:pt x="1713" y="66746"/>
                </a:lnTo>
                <a:lnTo>
                  <a:pt x="0" y="82924"/>
                </a:lnTo>
                <a:lnTo>
                  <a:pt x="0" y="3617075"/>
                </a:lnTo>
                <a:lnTo>
                  <a:pt x="1713" y="3633253"/>
                </a:lnTo>
                <a:lnTo>
                  <a:pt x="6790" y="3648810"/>
                </a:lnTo>
                <a:lnTo>
                  <a:pt x="15032" y="3663146"/>
                </a:lnTo>
                <a:lnTo>
                  <a:pt x="26125" y="3675712"/>
                </a:lnTo>
                <a:lnTo>
                  <a:pt x="39642" y="3686025"/>
                </a:lnTo>
                <a:lnTo>
                  <a:pt x="55062" y="3693687"/>
                </a:lnTo>
                <a:lnTo>
                  <a:pt x="71795" y="3698407"/>
                </a:lnTo>
                <a:lnTo>
                  <a:pt x="89197" y="3700000"/>
                </a:lnTo>
                <a:lnTo>
                  <a:pt x="4250000" y="3700000"/>
                </a:lnTo>
                <a:lnTo>
                  <a:pt x="4250000" y="0"/>
                </a:lnTo>
                <a:close/>
              </a:path>
            </a:pathLst>
          </a:custGeom>
          <a:gradFill rotWithShape="1">
            <a:gsLst>
              <a:gs pos="0">
                <a:srgbClr val="F0F4F8"/>
              </a:gs>
              <a:gs pos="50000">
                <a:srgbClr val="E8ECF2"/>
              </a:gs>
              <a:gs pos="100000">
                <a:srgbClr val="F0F4F8"/>
              </a:gs>
            </a:gsLst>
            <a:lin ang="2700000" scaled="1"/>
          </a:gradFill>
          <a:ln/>
        </p:spPr>
        <p:txBody>
          <a:bodyPr wrap="square" rtlCol="0" anchor="t"/>
          <a:lstStyle/>
          <a:p>
            <a:pPr marL="0" indent="0">
              <a:buNone/>
            </a:pPr>
            <a:endParaRPr lang="en-US"/>
          </a:p>
        </p:txBody>
      </p:sp>
      <p:sp>
        <p:nvSpPr>
          <p:cNvPr id="40" name="Text 30"/>
          <p:cNvSpPr/>
          <p:nvPr/>
        </p:nvSpPr>
        <p:spPr>
          <a:xfrm>
            <a:off x="4630000" y="600000"/>
            <a:ext cx="4250000" cy="3390000"/>
          </a:xfrm>
          <a:custGeom>
            <a:avLst/>
            <a:gdLst/>
            <a:ahLst/>
            <a:cxnLst/>
            <a:rect l="l" t="t" r="r" b="b"/>
            <a:pathLst>
              <a:path w="4250000" h="3390000">
                <a:moveTo>
                  <a:pt x="0" y="0"/>
                </a:moveTo>
                <a:lnTo>
                  <a:pt x="0" y="3390000"/>
                </a:lnTo>
                <a:lnTo>
                  <a:pt x="4163640" y="3390000"/>
                </a:lnTo>
                <a:lnTo>
                  <a:pt x="4250000" y="3303640"/>
                </a:lnTo>
                <a:lnTo>
                  <a:pt x="4250000" y="86360"/>
                </a:lnTo>
                <a:lnTo>
                  <a:pt x="4163640" y="0"/>
                </a:lnTo>
                <a:close/>
              </a:path>
            </a:pathLst>
          </a:custGeom>
          <a:gradFill rotWithShape="1">
            <a:gsLst>
              <a:gs pos="0">
                <a:srgbClr val="FFFBF0"/>
              </a:gs>
              <a:gs pos="50000">
                <a:srgbClr val="FFF8E8"/>
              </a:gs>
              <a:gs pos="100000">
                <a:srgbClr val="FFFBF0"/>
              </a:gs>
            </a:gsLst>
            <a:lin ang="2700000" scaled="1"/>
          </a:gradFill>
          <a:ln/>
        </p:spPr>
        <p:txBody>
          <a:bodyPr wrap="square" rtlCol="0" anchor="t"/>
          <a:lstStyle/>
          <a:p>
            <a:pPr marL="0" indent="0">
              <a:buNone/>
            </a:pPr>
            <a:endParaRPr lang="en-US"/>
          </a:p>
        </p:txBody>
      </p:sp>
      <p:sp>
        <p:nvSpPr>
          <p:cNvPr id="5" name="Text 3"/>
          <p:cNvSpPr/>
          <p:nvPr/>
        </p:nvSpPr>
        <p:spPr>
          <a:xfrm>
            <a:off x="360000" y="600000"/>
            <a:ext cx="4240000" cy="3390000"/>
          </a:xfrm>
          <a:prstGeom prst="roundRect">
            <a:avLst>
              <a:gd name="adj" fmla="val 2252"/>
            </a:avLst>
          </a:prstGeom>
          <a:gradFill rotWithShape="1">
            <a:gsLst>
              <a:gs pos="0">
                <a:srgbClr val="A03C3C">
                  <a:alpha val="4000"/>
                </a:srgbClr>
              </a:gs>
              <a:gs pos="70000">
                <a:srgbClr val="000000">
                  <a:alpha val="0"/>
                </a:srgbClr>
              </a:gs>
            </a:gsLst>
            <a:path path="circle">
              <a:fillToRect l="70000" t="60000" r="30000" b="40000"/>
            </a:path>
          </a:gradFill>
          <a:ln/>
        </p:spPr>
        <p:txBody>
          <a:bodyPr wrap="square" rtlCol="0" anchor="t"/>
          <a:lstStyle/>
          <a:p>
            <a:pPr marL="0" indent="0">
              <a:buNone/>
            </a:pPr>
            <a:endParaRPr lang="en-US" dirty="0"/>
          </a:p>
        </p:txBody>
      </p:sp>
      <p:sp>
        <p:nvSpPr>
          <p:cNvPr id="4" name="Text 2"/>
          <p:cNvSpPr/>
          <p:nvPr/>
        </p:nvSpPr>
        <p:spPr>
          <a:xfrm>
            <a:off x="360000" y="600000"/>
            <a:ext cx="4240000" cy="28000"/>
          </a:xfrm>
          <a:custGeom>
            <a:avLst/>
            <a:gdLst/>
            <a:ahLst/>
            <a:cxnLst/>
            <a:rect l="l" t="t" r="r" b="b"/>
            <a:pathLst>
              <a:path w="4105275" h="21580">
                <a:moveTo>
                  <a:pt x="86360" y="0"/>
                </a:moveTo>
                <a:lnTo>
                  <a:pt x="4018915" y="0"/>
                </a:lnTo>
                <a:lnTo>
                  <a:pt x="4040331" y="2698"/>
                </a:lnTo>
                <a:lnTo>
                  <a:pt x="4048960" y="5395"/>
                </a:lnTo>
                <a:lnTo>
                  <a:pt x="4055415" y="8093"/>
                </a:lnTo>
                <a:lnTo>
                  <a:pt x="4060715" y="10790"/>
                </a:lnTo>
                <a:lnTo>
                  <a:pt x="4065258" y="13488"/>
                </a:lnTo>
                <a:lnTo>
                  <a:pt x="4069249" y="16185"/>
                </a:lnTo>
                <a:lnTo>
                  <a:pt x="4072812" y="18883"/>
                </a:lnTo>
                <a:lnTo>
                  <a:pt x="4076025" y="21580"/>
                </a:lnTo>
                <a:lnTo>
                  <a:pt x="29250" y="21580"/>
                </a:lnTo>
                <a:lnTo>
                  <a:pt x="32463" y="18883"/>
                </a:lnTo>
                <a:lnTo>
                  <a:pt x="36026" y="16185"/>
                </a:lnTo>
                <a:lnTo>
                  <a:pt x="40017" y="13488"/>
                </a:lnTo>
                <a:lnTo>
                  <a:pt x="44560" y="10790"/>
                </a:lnTo>
                <a:lnTo>
                  <a:pt x="49860" y="8093"/>
                </a:lnTo>
                <a:lnTo>
                  <a:pt x="56315" y="5395"/>
                </a:lnTo>
                <a:lnTo>
                  <a:pt x="64944" y="2698"/>
                </a:lnTo>
                <a:close/>
              </a:path>
            </a:pathLst>
          </a:custGeom>
          <a:solidFill>
            <a:srgbClr val="B45050">
              <a:alpha val="55000"/>
            </a:srgbClr>
          </a:solidFill>
          <a:ln/>
        </p:spPr>
        <p:txBody>
          <a:bodyPr wrap="none" rtlCol="0" anchor="t"/>
          <a:lstStyle/>
          <a:p>
            <a:pPr marL="0" indent="0">
              <a:buNone/>
            </a:pPr>
            <a:endParaRPr lang="en-US"/>
          </a:p>
        </p:txBody>
      </p:sp>
      <p:sp>
        <p:nvSpPr>
          <p:cNvPr id="6" name="Text 4"/>
          <p:cNvSpPr/>
          <p:nvPr/>
        </p:nvSpPr>
        <p:spPr>
          <a:xfrm>
            <a:off x="4630000" y="600000"/>
            <a:ext cx="4250000" cy="28000"/>
          </a:xfrm>
          <a:prstGeom prst="rect">
            <a:avLst/>
          </a:prstGeom>
          <a:solidFill>
            <a:srgbClr val="E8A020"/>
          </a:solidFill>
          <a:ln/>
        </p:spPr>
        <p:txBody>
          <a:bodyPr wrap="none" rtlCol="0" anchor="t"/>
          <a:lstStyle/>
          <a:p>
            <a:pPr marL="0" indent="0">
              <a:buNone/>
            </a:pPr>
            <a:endParaRPr lang="en-US"/>
          </a:p>
        </p:txBody>
      </p:sp>
      <p:sp>
        <p:nvSpPr>
          <p:cNvPr id="7" name="Text 5"/>
          <p:cNvSpPr/>
          <p:nvPr/>
        </p:nvSpPr>
        <p:spPr>
          <a:xfrm>
            <a:off x="4624000" y="2848500"/>
            <a:ext cx="4264001" cy="3390000"/>
          </a:xfrm>
          <a:prstGeom prst="rect">
            <a:avLst/>
          </a:prstGeom>
          <a:gradFill rotWithShape="1">
            <a:gsLst>
              <a:gs pos="0">
                <a:srgbClr val="E8A020">
                  <a:alpha val="6000"/>
                </a:srgbClr>
              </a:gs>
              <a:gs pos="70000">
                <a:srgbClr val="000000">
                  <a:alpha val="0"/>
                </a:srgbClr>
              </a:gs>
            </a:gsLst>
            <a:path path="circle">
              <a:fillToRect l="30000" t="60000" r="70000" b="40000"/>
            </a:path>
          </a:gradFill>
          <a:ln/>
        </p:spPr>
        <p:txBody>
          <a:bodyPr wrap="square" rtlCol="0" anchor="t"/>
          <a:lstStyle/>
          <a:p>
            <a:pPr marL="0" indent="0">
              <a:buNone/>
            </a:pPr>
            <a:endParaRPr lang="en-US"/>
          </a:p>
        </p:txBody>
      </p:sp>
      <p:sp>
        <p:nvSpPr>
          <p:cNvPr id="39" name="Text 29"/>
          <p:cNvSpPr/>
          <p:nvPr/>
        </p:nvSpPr>
        <p:spPr>
          <a:xfrm>
            <a:off x="509637" y="808061"/>
            <a:ext cx="80000" cy="80000"/>
          </a:xfrm>
          <a:prstGeom prst="ellipse">
            <a:avLst/>
          </a:prstGeom>
          <a:solidFill>
            <a:srgbClr val="B06060"/>
          </a:solidFill>
          <a:ln/>
        </p:spPr>
        <p:txBody>
          <a:bodyPr wrap="none" rtlCol="0" anchor="t"/>
          <a:lstStyle/>
          <a:p>
            <a:pPr marL="0" indent="0">
              <a:buNone/>
            </a:pPr>
            <a:endParaRPr lang="en-US"/>
          </a:p>
        </p:txBody>
      </p:sp>
      <p:sp>
        <p:nvSpPr>
          <p:cNvPr id="41" name="Text 31"/>
          <p:cNvSpPr/>
          <p:nvPr/>
        </p:nvSpPr>
        <p:spPr>
          <a:xfrm>
            <a:off x="4789638" y="835938"/>
            <a:ext cx="80000" cy="80000"/>
          </a:xfrm>
          <a:prstGeom prst="ellipse">
            <a:avLst/>
          </a:prstGeom>
          <a:solidFill>
            <a:srgbClr val="E8A020"/>
          </a:solidFill>
          <a:ln/>
        </p:spPr>
        <p:txBody>
          <a:bodyPr wrap="none" rtlCol="0" anchor="t"/>
          <a:lstStyle/>
          <a:p>
            <a:pPr marL="0" indent="0">
              <a:buNone/>
            </a:pPr>
            <a:endParaRPr lang="en-US"/>
          </a:p>
        </p:txBody>
      </p:sp>
      <p:sp>
        <p:nvSpPr>
          <p:cNvPr id="36" name="Text 26"/>
          <p:cNvSpPr/>
          <p:nvPr/>
        </p:nvSpPr>
        <p:spPr>
          <a:xfrm>
            <a:off x="457200" y="130000"/>
            <a:ext cx="38000" cy="340000"/>
          </a:xfrm>
          <a:prstGeom prst="roundRect">
            <a:avLst>
              <a:gd name="adj" fmla="val 47892"/>
            </a:avLst>
          </a:prstGeom>
          <a:solidFill>
            <a:srgbClr val="E8A020"/>
          </a:solidFill>
          <a:ln/>
        </p:spPr>
        <p:txBody>
          <a:bodyPr wrap="none" rtlCol="0" anchor="t"/>
          <a:lstStyle/>
          <a:p>
            <a:pPr marL="0" indent="0">
              <a:buNone/>
            </a:pPr>
            <a:endParaRPr lang="en-US"/>
          </a:p>
        </p:txBody>
      </p:sp>
      <p:sp>
        <p:nvSpPr>
          <p:cNvPr id="37" name="Text 27"/>
          <p:cNvSpPr/>
          <p:nvPr/>
        </p:nvSpPr>
        <p:spPr>
          <a:xfrm>
            <a:off x="560000" y="48093"/>
            <a:ext cx="3500000" cy="450000"/>
          </a:xfrm>
          <a:prstGeom prst="rect">
            <a:avLst/>
          </a:prstGeom>
          <a:noFill/>
          <a:ln/>
        </p:spPr>
        <p:txBody>
          <a:bodyPr wrap="none" lIns="0" tIns="0" rIns="0" bIns="0" rtlCol="0" anchor="ctr"/>
          <a:lstStyle/>
          <a:p>
            <a:pPr marL="0" indent="0" algn="l">
              <a:lnSpc>
                <a:spcPts val="3800"/>
              </a:lnSpc>
              <a:buNone/>
            </a:pPr>
            <a:r>
              <a:rPr lang="en-US" sz="2600" kern="0" spc="36" dirty="0">
                <a:solidFill>
                  <a:srgbClr val="0D1B3E"/>
                </a:solidFill>
                <a:latin typeface="Calibri Light" pitchFamily="34" charset="0"/>
                <a:ea typeface="Calibri Light" pitchFamily="34" charset="-122"/>
                <a:cs typeface="Calibri Light" pitchFamily="34" charset="-120"/>
              </a:rPr>
              <a:t>The Fundamental Shift</a:t>
            </a:r>
            <a:endParaRPr lang="en-US" sz="2600" dirty="0"/>
          </a:p>
        </p:txBody>
      </p:sp>
      <p:sp>
        <p:nvSpPr>
          <p:cNvPr id="46" name="Text 35"/>
          <p:cNvSpPr/>
          <p:nvPr/>
        </p:nvSpPr>
        <p:spPr>
          <a:xfrm>
            <a:off x="4606000" y="600000"/>
            <a:ext cx="18000" cy="1400000"/>
          </a:xfrm>
          <a:prstGeom prst="rect">
            <a:avLst/>
          </a:prstGeom>
          <a:gradFill rotWithShape="1">
            <a:gsLst>
              <a:gs pos="0">
                <a:srgbClr val="000000">
                  <a:alpha val="0"/>
                </a:srgbClr>
              </a:gs>
              <a:gs pos="100000">
                <a:srgbClr val="E8A020">
                  <a:alpha val="35000"/>
                </a:srgbClr>
              </a:gs>
            </a:gsLst>
            <a:lin ang="5400000" scaled="1"/>
          </a:gradFill>
          <a:ln/>
        </p:spPr>
        <p:txBody>
          <a:bodyPr wrap="square" rtlCol="0" anchor="t"/>
          <a:lstStyle/>
          <a:p>
            <a:pPr marL="0" indent="0">
              <a:buNone/>
            </a:pPr>
            <a:endParaRPr lang="en-US"/>
          </a:p>
        </p:txBody>
      </p:sp>
      <p:sp>
        <p:nvSpPr>
          <p:cNvPr id="8" name="Text 6"/>
          <p:cNvSpPr/>
          <p:nvPr/>
        </p:nvSpPr>
        <p:spPr>
          <a:xfrm>
            <a:off x="687500" y="673061"/>
            <a:ext cx="2265424" cy="350000"/>
          </a:xfrm>
          <a:prstGeom prst="rect">
            <a:avLst/>
          </a:prstGeom>
          <a:noFill/>
          <a:ln/>
        </p:spPr>
        <p:txBody>
          <a:bodyPr wrap="square" lIns="0" tIns="0" rIns="0" bIns="0" rtlCol="0" anchor="t"/>
          <a:lstStyle/>
          <a:p>
            <a:pPr marL="0" indent="0" algn="l">
              <a:lnSpc>
                <a:spcPts val="2700"/>
              </a:lnSpc>
              <a:buNone/>
            </a:pPr>
            <a:r>
              <a:rPr lang="en-US" dirty="0">
                <a:solidFill>
                  <a:srgbClr val="0D1B3E"/>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“We apply for grants.”</a:t>
            </a:r>
            <a:endParaRPr lang="en-US" dirty="0">
              <a:effectLst>
                <a:outerShdw blurRad="38100" dist="38100" dir="2700000" algn="tl">
                  <a:srgbClr val="000000">
                    <a:alpha val="43137"/>
                  </a:srgbClr>
                </a:outerShdw>
              </a:effectLst>
            </a:endParaRPr>
          </a:p>
        </p:txBody>
      </p:sp>
      <p:sp>
        <p:nvSpPr>
          <p:cNvPr id="9" name="Text 7"/>
          <p:cNvSpPr/>
          <p:nvPr/>
        </p:nvSpPr>
        <p:spPr>
          <a:xfrm>
            <a:off x="510000" y="1187476"/>
            <a:ext cx="3600000" cy="10000"/>
          </a:xfrm>
          <a:prstGeom prst="rect">
            <a:avLst/>
          </a:prstGeom>
          <a:solidFill>
            <a:srgbClr val="B45050">
              <a:alpha val="25000"/>
            </a:srgbClr>
          </a:solidFill>
          <a:ln/>
        </p:spPr>
        <p:txBody>
          <a:bodyPr wrap="none" rtlCol="0" anchor="t"/>
          <a:lstStyle/>
          <a:p>
            <a:pPr marL="0" indent="0">
              <a:buNone/>
            </a:pPr>
            <a:endParaRPr lang="en-US"/>
          </a:p>
        </p:txBody>
      </p:sp>
      <p:sp>
        <p:nvSpPr>
          <p:cNvPr id="10" name="Text 8"/>
          <p:cNvSpPr/>
          <p:nvPr/>
        </p:nvSpPr>
        <p:spPr>
          <a:xfrm>
            <a:off x="610000" y="1336006"/>
            <a:ext cx="1500000" cy="300000"/>
          </a:xfrm>
          <a:prstGeom prst="roundRect">
            <a:avLst>
              <a:gd name="adj" fmla="val 56997"/>
            </a:avLst>
          </a:prstGeom>
          <a:solidFill>
            <a:srgbClr val="B45050">
              <a:alpha val="10000"/>
            </a:srgbClr>
          </a:solidFill>
          <a:ln w="9525">
            <a:solidFill>
              <a:srgbClr val="B45050">
                <a:alpha val="25000"/>
              </a:srgbClr>
            </a:solidFill>
          </a:ln>
        </p:spPr>
        <p:txBody>
          <a:bodyPr wrap="none" lIns="0" tIns="0" rIns="0" bIns="0" rtlCol="0" anchor="ctr"/>
          <a:lstStyle/>
          <a:p>
            <a:pPr marL="0" indent="0" algn="ctr">
              <a:buNone/>
            </a:pPr>
            <a:r>
              <a:rPr lang="en-US" sz="1100" b="1" dirty="0">
                <a:solidFill>
                  <a:srgbClr val="8B3A3A"/>
                </a:solidFill>
                <a:latin typeface="Calibri" pitchFamily="34" charset="0"/>
                <a:ea typeface="Calibri" pitchFamily="34" charset="-122"/>
                <a:cs typeface="Calibri" pitchFamily="34" charset="-120"/>
              </a:rPr>
              <a:t>Transaction-based</a:t>
            </a:r>
            <a:endParaRPr lang="en-US" sz="1100" dirty="0"/>
          </a:p>
        </p:txBody>
      </p:sp>
      <p:sp>
        <p:nvSpPr>
          <p:cNvPr id="11" name="Text 9"/>
          <p:cNvSpPr/>
          <p:nvPr/>
        </p:nvSpPr>
        <p:spPr>
          <a:xfrm>
            <a:off x="2170000" y="1336006"/>
            <a:ext cx="1120000" cy="300000"/>
          </a:xfrm>
          <a:prstGeom prst="roundRect">
            <a:avLst>
              <a:gd name="adj" fmla="val 56997"/>
            </a:avLst>
          </a:prstGeom>
          <a:solidFill>
            <a:srgbClr val="B45050">
              <a:alpha val="10000"/>
            </a:srgbClr>
          </a:solidFill>
          <a:ln w="9525">
            <a:solidFill>
              <a:srgbClr val="B45050">
                <a:alpha val="25000"/>
              </a:srgbClr>
            </a:solidFill>
          </a:ln>
        </p:spPr>
        <p:txBody>
          <a:bodyPr wrap="none" lIns="0" tIns="0" rIns="0" bIns="0" rtlCol="0" anchor="ctr"/>
          <a:lstStyle/>
          <a:p>
            <a:pPr marL="0" indent="0" algn="ctr">
              <a:buNone/>
            </a:pPr>
            <a:r>
              <a:rPr lang="en-US" sz="1100" b="1">
                <a:solidFill>
                  <a:srgbClr val="8B3A3A"/>
                </a:solidFill>
                <a:latin typeface="Calibri" pitchFamily="34" charset="0"/>
                <a:ea typeface="Calibri" pitchFamily="34" charset="-122"/>
                <a:cs typeface="Calibri" pitchFamily="34" charset="-120"/>
              </a:rPr>
              <a:t>Event-driven</a:t>
            </a:r>
            <a:endParaRPr lang="en-US" sz="1100"/>
          </a:p>
        </p:txBody>
      </p:sp>
      <p:sp>
        <p:nvSpPr>
          <p:cNvPr id="12" name="Text 10"/>
          <p:cNvSpPr/>
          <p:nvPr/>
        </p:nvSpPr>
        <p:spPr>
          <a:xfrm>
            <a:off x="3350000" y="1336006"/>
            <a:ext cx="850000" cy="300000"/>
          </a:xfrm>
          <a:prstGeom prst="roundRect">
            <a:avLst>
              <a:gd name="adj" fmla="val 56997"/>
            </a:avLst>
          </a:prstGeom>
          <a:solidFill>
            <a:srgbClr val="B45050">
              <a:alpha val="10000"/>
            </a:srgbClr>
          </a:solidFill>
          <a:ln w="9525">
            <a:solidFill>
              <a:srgbClr val="B45050">
                <a:alpha val="25000"/>
              </a:srgbClr>
            </a:solidFill>
          </a:ln>
        </p:spPr>
        <p:txBody>
          <a:bodyPr wrap="none" lIns="0" tIns="0" rIns="0" bIns="0" rtlCol="0" anchor="ctr"/>
          <a:lstStyle/>
          <a:p>
            <a:pPr marL="0" indent="0" algn="ctr">
              <a:buNone/>
            </a:pPr>
            <a:r>
              <a:rPr lang="en-US" sz="1100" b="1">
                <a:solidFill>
                  <a:srgbClr val="8B3A3A"/>
                </a:solidFill>
                <a:latin typeface="Calibri" pitchFamily="34" charset="0"/>
                <a:ea typeface="Calibri" pitchFamily="34" charset="-122"/>
                <a:cs typeface="Calibri" pitchFamily="34" charset="-120"/>
              </a:rPr>
              <a:t>Reactive</a:t>
            </a:r>
            <a:endParaRPr lang="en-US" sz="1100"/>
          </a:p>
        </p:txBody>
      </p:sp>
      <p:sp>
        <p:nvSpPr>
          <p:cNvPr id="13" name="Text 11"/>
          <p:cNvSpPr/>
          <p:nvPr/>
        </p:nvSpPr>
        <p:spPr>
          <a:xfrm>
            <a:off x="610000" y="1732917"/>
            <a:ext cx="1500000" cy="300000"/>
          </a:xfrm>
          <a:prstGeom prst="roundRect">
            <a:avLst>
              <a:gd name="adj" fmla="val 56997"/>
            </a:avLst>
          </a:prstGeom>
          <a:solidFill>
            <a:srgbClr val="B45050">
              <a:alpha val="10000"/>
            </a:srgbClr>
          </a:solidFill>
          <a:ln w="9525">
            <a:solidFill>
              <a:srgbClr val="B45050">
                <a:alpha val="25000"/>
              </a:srgbClr>
            </a:solidFill>
          </a:ln>
        </p:spPr>
        <p:txBody>
          <a:bodyPr wrap="none" lIns="0" tIns="0" rIns="0" bIns="0" rtlCol="0" anchor="ctr"/>
          <a:lstStyle/>
          <a:p>
            <a:pPr marL="0" indent="0" algn="ctr">
              <a:buNone/>
            </a:pPr>
            <a:r>
              <a:rPr lang="en-US" sz="1100" b="1">
                <a:solidFill>
                  <a:srgbClr val="8B3A3A"/>
                </a:solidFill>
                <a:latin typeface="Calibri" pitchFamily="34" charset="0"/>
                <a:ea typeface="Calibri" pitchFamily="34" charset="-122"/>
                <a:cs typeface="Calibri" pitchFamily="34" charset="-120"/>
              </a:rPr>
              <a:t>Funder-controlled</a:t>
            </a:r>
            <a:endParaRPr lang="en-US" sz="1100"/>
          </a:p>
        </p:txBody>
      </p:sp>
      <p:sp>
        <p:nvSpPr>
          <p:cNvPr id="14" name="Text 12"/>
          <p:cNvSpPr/>
          <p:nvPr/>
        </p:nvSpPr>
        <p:spPr>
          <a:xfrm>
            <a:off x="780000" y="2180000"/>
            <a:ext cx="3600000" cy="270000"/>
          </a:xfrm>
          <a:prstGeom prst="rect">
            <a:avLst/>
          </a:prstGeom>
          <a:noFill/>
          <a:ln/>
        </p:spPr>
        <p:txBody>
          <a:bodyPr wrap="square" lIns="0" tIns="0" rIns="0" bIns="0" rtlCol="0" anchor="t"/>
          <a:lstStyle/>
          <a:p>
            <a:pPr marL="0" indent="0" algn="l">
              <a:lnSpc>
                <a:spcPts val="1610"/>
              </a:lnSpc>
              <a:buNone/>
            </a:pPr>
            <a:r>
              <a:rPr lang="en-US" sz="1350" dirty="0">
                <a:solidFill>
                  <a:srgbClr val="0D1B3E"/>
                </a:solidFill>
                <a:latin typeface="Calibri" pitchFamily="34" charset="0"/>
                <a:ea typeface="Calibri" pitchFamily="34" charset="-122"/>
                <a:cs typeface="Calibri" pitchFamily="34" charset="-120"/>
              </a:rPr>
              <a:t>Responds to RFPs when they appear — often with days to spare</a:t>
            </a:r>
            <a:endParaRPr lang="en-US" sz="1350" dirty="0"/>
          </a:p>
        </p:txBody>
      </p:sp>
      <p:pic>
        <p:nvPicPr>
          <p:cNvPr id="1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0000" y="2195000"/>
            <a:ext cx="195000" cy="195000"/>
          </a:xfrm>
          <a:prstGeom prst="rect">
            <a:avLst/>
          </a:prstGeom>
        </p:spPr>
      </p:pic>
      <p:sp>
        <p:nvSpPr>
          <p:cNvPr id="16" name="Text 13"/>
          <p:cNvSpPr/>
          <p:nvPr/>
        </p:nvSpPr>
        <p:spPr>
          <a:xfrm>
            <a:off x="770000" y="2704968"/>
            <a:ext cx="3600000" cy="270000"/>
          </a:xfrm>
          <a:prstGeom prst="rect">
            <a:avLst/>
          </a:prstGeom>
          <a:noFill/>
          <a:ln/>
        </p:spPr>
        <p:txBody>
          <a:bodyPr wrap="square" lIns="0" tIns="0" rIns="0" bIns="0" rtlCol="0" anchor="t"/>
          <a:lstStyle/>
          <a:p>
            <a:pPr marL="0" indent="0" algn="l">
              <a:lnSpc>
                <a:spcPts val="1610"/>
              </a:lnSpc>
              <a:buNone/>
            </a:pPr>
            <a:r>
              <a:rPr lang="en-US" sz="1350" dirty="0">
                <a:solidFill>
                  <a:srgbClr val="0D1B3E"/>
                </a:solidFill>
                <a:latin typeface="Calibri" pitchFamily="34" charset="0"/>
                <a:ea typeface="Calibri" pitchFamily="34" charset="-122"/>
                <a:cs typeface="Calibri" pitchFamily="34" charset="-120"/>
              </a:rPr>
              <a:t>Funder priorities shape program scope and design</a:t>
            </a:r>
            <a:endParaRPr lang="en-US" sz="1350"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000" y="2699968"/>
            <a:ext cx="195000" cy="195000"/>
          </a:xfrm>
          <a:prstGeom prst="rect">
            <a:avLst/>
          </a:prstGeom>
        </p:spPr>
      </p:pic>
      <p:sp>
        <p:nvSpPr>
          <p:cNvPr id="18" name="Text 14"/>
          <p:cNvSpPr/>
          <p:nvPr/>
        </p:nvSpPr>
        <p:spPr>
          <a:xfrm>
            <a:off x="770000" y="3098424"/>
            <a:ext cx="3600000" cy="270000"/>
          </a:xfrm>
          <a:prstGeom prst="rect">
            <a:avLst/>
          </a:prstGeom>
          <a:noFill/>
          <a:ln/>
        </p:spPr>
        <p:txBody>
          <a:bodyPr wrap="square" lIns="0" tIns="0" rIns="0" bIns="0" rtlCol="0" anchor="t"/>
          <a:lstStyle/>
          <a:p>
            <a:pPr marL="0" indent="0" algn="l">
              <a:lnSpc>
                <a:spcPts val="1610"/>
              </a:lnSpc>
              <a:buNone/>
            </a:pPr>
            <a:r>
              <a:rPr lang="en-US" sz="1350">
                <a:solidFill>
                  <a:srgbClr val="0D1B3E"/>
                </a:solidFill>
                <a:latin typeface="Calibri" pitchFamily="34" charset="0"/>
                <a:ea typeface="Calibri" pitchFamily="34" charset="-122"/>
                <a:cs typeface="Calibri" pitchFamily="34" charset="-120"/>
              </a:rPr>
              <a:t>No structured learning after each grant cycle</a:t>
            </a:r>
            <a:endParaRPr lang="en-US" sz="1350"/>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0000" y="3093424"/>
            <a:ext cx="195000" cy="195000"/>
          </a:xfrm>
          <a:prstGeom prst="rect">
            <a:avLst/>
          </a:prstGeom>
        </p:spPr>
      </p:pic>
      <p:sp>
        <p:nvSpPr>
          <p:cNvPr id="20" name="Text 15"/>
          <p:cNvSpPr/>
          <p:nvPr/>
        </p:nvSpPr>
        <p:spPr>
          <a:xfrm>
            <a:off x="770000" y="3419394"/>
            <a:ext cx="3600000" cy="270000"/>
          </a:xfrm>
          <a:prstGeom prst="rect">
            <a:avLst/>
          </a:prstGeom>
          <a:noFill/>
          <a:ln/>
        </p:spPr>
        <p:txBody>
          <a:bodyPr wrap="square" lIns="0" tIns="0" rIns="0" bIns="0" rtlCol="0" anchor="t"/>
          <a:lstStyle/>
          <a:p>
            <a:pPr marL="0" indent="0" algn="l">
              <a:lnSpc>
                <a:spcPts val="1610"/>
              </a:lnSpc>
              <a:buNone/>
            </a:pPr>
            <a:r>
              <a:rPr lang="en-US" sz="1350" dirty="0">
                <a:solidFill>
                  <a:srgbClr val="0D1B3E"/>
                </a:solidFill>
                <a:latin typeface="Calibri" pitchFamily="34" charset="0"/>
                <a:ea typeface="Calibri" pitchFamily="34" charset="-122"/>
                <a:cs typeface="Calibri" pitchFamily="34" charset="-120"/>
              </a:rPr>
              <a:t>Funding is something that happens </a:t>
            </a:r>
            <a:r>
              <a:rPr lang="en-US" sz="1350" i="1" dirty="0">
                <a:solidFill>
                  <a:srgbClr val="0D1B3E"/>
                </a:solidFill>
                <a:latin typeface="Calibri" pitchFamily="34" charset="0"/>
                <a:ea typeface="Calibri" pitchFamily="34" charset="-122"/>
                <a:cs typeface="Calibri" pitchFamily="34" charset="-120"/>
              </a:rPr>
              <a:t>to</a:t>
            </a:r>
            <a:r>
              <a:rPr lang="en-US" sz="1350" dirty="0">
                <a:solidFill>
                  <a:srgbClr val="0D1B3E"/>
                </a:solidFill>
                <a:latin typeface="Calibri" pitchFamily="34" charset="0"/>
                <a:ea typeface="Calibri" pitchFamily="34" charset="-122"/>
                <a:cs typeface="Calibri" pitchFamily="34" charset="-120"/>
              </a:rPr>
              <a:t> the program</a:t>
            </a:r>
            <a:endParaRPr lang="en-US" sz="1350"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0000" y="3414394"/>
            <a:ext cx="195000" cy="195000"/>
          </a:xfrm>
          <a:prstGeom prst="rect">
            <a:avLst/>
          </a:prstGeom>
        </p:spPr>
      </p:pic>
      <p:sp>
        <p:nvSpPr>
          <p:cNvPr id="22" name="Text 16"/>
          <p:cNvSpPr/>
          <p:nvPr/>
        </p:nvSpPr>
        <p:spPr>
          <a:xfrm>
            <a:off x="4905029" y="717211"/>
            <a:ext cx="4250000" cy="394000"/>
          </a:xfrm>
          <a:prstGeom prst="rect">
            <a:avLst/>
          </a:prstGeom>
          <a:noFill/>
          <a:ln/>
        </p:spPr>
        <p:txBody>
          <a:bodyPr wrap="square" lIns="0" tIns="0" rIns="0" bIns="0" rtlCol="0" anchor="t"/>
          <a:lstStyle/>
          <a:p>
            <a:pPr marL="0" indent="0" algn="l">
              <a:lnSpc>
                <a:spcPts val="2450"/>
              </a:lnSpc>
              <a:buNone/>
            </a:pPr>
            <a:r>
              <a:rPr lang="en-US" sz="1750" dirty="0">
                <a:solidFill>
                  <a:srgbClr val="0D1B3E"/>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“We manage a Funding Intelligence system.”</a:t>
            </a:r>
            <a:endParaRPr lang="en-US" sz="1750" dirty="0">
              <a:effectLst>
                <a:outerShdw blurRad="38100" dist="38100" dir="2700000" algn="tl">
                  <a:srgbClr val="000000">
                    <a:alpha val="43137"/>
                  </a:srgbClr>
                </a:outerShdw>
              </a:effectLst>
            </a:endParaRPr>
          </a:p>
        </p:txBody>
      </p:sp>
      <p:sp>
        <p:nvSpPr>
          <p:cNvPr id="23" name="Text 17"/>
          <p:cNvSpPr/>
          <p:nvPr/>
        </p:nvSpPr>
        <p:spPr>
          <a:xfrm>
            <a:off x="5050000" y="1215034"/>
            <a:ext cx="3600000" cy="10000"/>
          </a:xfrm>
          <a:prstGeom prst="rect">
            <a:avLst/>
          </a:prstGeom>
          <a:solidFill>
            <a:srgbClr val="E8A020">
              <a:alpha val="30000"/>
            </a:srgbClr>
          </a:solidFill>
          <a:ln/>
        </p:spPr>
        <p:txBody>
          <a:bodyPr wrap="none" rtlCol="0" anchor="t"/>
          <a:lstStyle/>
          <a:p>
            <a:pPr marL="0" indent="0">
              <a:buNone/>
            </a:pPr>
            <a:endParaRPr lang="en-US"/>
          </a:p>
        </p:txBody>
      </p:sp>
      <p:sp>
        <p:nvSpPr>
          <p:cNvPr id="24" name="Text 18"/>
          <p:cNvSpPr/>
          <p:nvPr/>
        </p:nvSpPr>
        <p:spPr>
          <a:xfrm>
            <a:off x="4890000" y="1364250"/>
            <a:ext cx="1550000" cy="300000"/>
          </a:xfrm>
          <a:prstGeom prst="roundRect">
            <a:avLst>
              <a:gd name="adj" fmla="val 56997"/>
            </a:avLst>
          </a:prstGeom>
          <a:solidFill>
            <a:srgbClr val="E8A020">
              <a:alpha val="12000"/>
            </a:srgbClr>
          </a:solidFill>
          <a:ln w="9525">
            <a:solidFill>
              <a:srgbClr val="E8A020">
                <a:alpha val="30000"/>
              </a:srgbClr>
            </a:solidFill>
          </a:ln>
        </p:spPr>
        <p:txBody>
          <a:bodyPr wrap="none" lIns="0" tIns="0" rIns="0" bIns="0" rtlCol="0" anchor="ctr"/>
          <a:lstStyle/>
          <a:p>
            <a:pPr marL="0" indent="0" algn="ctr">
              <a:buNone/>
            </a:pPr>
            <a:r>
              <a:rPr lang="en-US" sz="1100" b="1">
                <a:solidFill>
                  <a:srgbClr val="B07010"/>
                </a:solidFill>
                <a:latin typeface="Calibri" pitchFamily="34" charset="0"/>
                <a:ea typeface="Calibri" pitchFamily="34" charset="-122"/>
                <a:cs typeface="Calibri" pitchFamily="34" charset="-120"/>
              </a:rPr>
              <a:t>Relationship-based</a:t>
            </a:r>
            <a:endParaRPr lang="en-US" sz="1100"/>
          </a:p>
        </p:txBody>
      </p:sp>
      <p:sp>
        <p:nvSpPr>
          <p:cNvPr id="25" name="Text 19"/>
          <p:cNvSpPr/>
          <p:nvPr/>
        </p:nvSpPr>
        <p:spPr>
          <a:xfrm>
            <a:off x="6500000" y="1387207"/>
            <a:ext cx="1050000" cy="300000"/>
          </a:xfrm>
          <a:prstGeom prst="roundRect">
            <a:avLst>
              <a:gd name="adj" fmla="val 56997"/>
            </a:avLst>
          </a:prstGeom>
          <a:solidFill>
            <a:srgbClr val="E8A020">
              <a:alpha val="12000"/>
            </a:srgbClr>
          </a:solidFill>
          <a:ln w="9525">
            <a:solidFill>
              <a:srgbClr val="E8A020">
                <a:alpha val="30000"/>
              </a:srgbClr>
            </a:solidFill>
          </a:ln>
        </p:spPr>
        <p:txBody>
          <a:bodyPr wrap="none" lIns="0" tIns="0" rIns="0" bIns="0" rtlCol="0" anchor="ctr"/>
          <a:lstStyle/>
          <a:p>
            <a:pPr marL="0" indent="0" algn="ctr">
              <a:buNone/>
            </a:pPr>
            <a:r>
              <a:rPr lang="en-US" sz="1100" b="1">
                <a:solidFill>
                  <a:srgbClr val="B07010"/>
                </a:solidFill>
                <a:latin typeface="Calibri" pitchFamily="34" charset="0"/>
                <a:ea typeface="Calibri" pitchFamily="34" charset="-122"/>
                <a:cs typeface="Calibri" pitchFamily="34" charset="-120"/>
              </a:rPr>
              <a:t>Continuous</a:t>
            </a:r>
            <a:endParaRPr lang="en-US" sz="1100"/>
          </a:p>
        </p:txBody>
      </p:sp>
      <p:sp>
        <p:nvSpPr>
          <p:cNvPr id="26" name="Text 20"/>
          <p:cNvSpPr/>
          <p:nvPr/>
        </p:nvSpPr>
        <p:spPr>
          <a:xfrm>
            <a:off x="7644000" y="1393624"/>
            <a:ext cx="900000" cy="300000"/>
          </a:xfrm>
          <a:prstGeom prst="roundRect">
            <a:avLst>
              <a:gd name="adj" fmla="val 56997"/>
            </a:avLst>
          </a:prstGeom>
          <a:solidFill>
            <a:srgbClr val="E8A020">
              <a:alpha val="12000"/>
            </a:srgbClr>
          </a:solidFill>
          <a:ln w="9525">
            <a:solidFill>
              <a:srgbClr val="E8A020">
                <a:alpha val="30000"/>
              </a:srgbClr>
            </a:solidFill>
          </a:ln>
        </p:spPr>
        <p:txBody>
          <a:bodyPr wrap="none" lIns="0" tIns="0" rIns="0" bIns="0" rtlCol="0" anchor="ctr"/>
          <a:lstStyle/>
          <a:p>
            <a:pPr marL="0" indent="0" algn="ctr">
              <a:buNone/>
            </a:pPr>
            <a:r>
              <a:rPr lang="en-US" sz="1100" b="1">
                <a:solidFill>
                  <a:srgbClr val="B07010"/>
                </a:solidFill>
                <a:latin typeface="Calibri" pitchFamily="34" charset="0"/>
                <a:ea typeface="Calibri" pitchFamily="34" charset="-122"/>
                <a:cs typeface="Calibri" pitchFamily="34" charset="-120"/>
              </a:rPr>
              <a:t>Proactive</a:t>
            </a:r>
            <a:endParaRPr lang="en-US" sz="1100"/>
          </a:p>
        </p:txBody>
      </p:sp>
      <p:sp>
        <p:nvSpPr>
          <p:cNvPr id="27" name="Text 21"/>
          <p:cNvSpPr/>
          <p:nvPr/>
        </p:nvSpPr>
        <p:spPr>
          <a:xfrm>
            <a:off x="4890000" y="1754250"/>
            <a:ext cx="1520000" cy="300000"/>
          </a:xfrm>
          <a:prstGeom prst="roundRect">
            <a:avLst>
              <a:gd name="adj" fmla="val 56997"/>
            </a:avLst>
          </a:prstGeom>
          <a:solidFill>
            <a:srgbClr val="E8A020">
              <a:alpha val="12000"/>
            </a:srgbClr>
          </a:solidFill>
          <a:ln w="9525">
            <a:solidFill>
              <a:srgbClr val="E8A020">
                <a:alpha val="30000"/>
              </a:srgbClr>
            </a:solidFill>
          </a:ln>
        </p:spPr>
        <p:txBody>
          <a:bodyPr wrap="none" lIns="0" tIns="0" rIns="0" bIns="0" rtlCol="0" anchor="ctr"/>
          <a:lstStyle/>
          <a:p>
            <a:pPr marL="0" indent="0" algn="ctr">
              <a:buNone/>
            </a:pPr>
            <a:r>
              <a:rPr lang="en-US" sz="1100" b="1">
                <a:solidFill>
                  <a:srgbClr val="B07010"/>
                </a:solidFill>
                <a:latin typeface="Calibri" pitchFamily="34" charset="0"/>
                <a:ea typeface="Calibri" pitchFamily="34" charset="-122"/>
                <a:cs typeface="Calibri" pitchFamily="34" charset="-120"/>
              </a:rPr>
              <a:t>Mission-controlled</a:t>
            </a:r>
            <a:endParaRPr lang="en-US" sz="1100"/>
          </a:p>
        </p:txBody>
      </p:sp>
      <p:sp>
        <p:nvSpPr>
          <p:cNvPr id="28" name="Text 22"/>
          <p:cNvSpPr/>
          <p:nvPr/>
        </p:nvSpPr>
        <p:spPr>
          <a:xfrm>
            <a:off x="5050000" y="2200000"/>
            <a:ext cx="3800000" cy="270000"/>
          </a:xfrm>
          <a:prstGeom prst="rect">
            <a:avLst/>
          </a:prstGeom>
          <a:noFill/>
          <a:ln/>
        </p:spPr>
        <p:txBody>
          <a:bodyPr wrap="square" lIns="0" tIns="0" rIns="0" bIns="0" rtlCol="0" anchor="t"/>
          <a:lstStyle/>
          <a:p>
            <a:pPr marL="0" indent="0" algn="l">
              <a:lnSpc>
                <a:spcPts val="1610"/>
              </a:lnSpc>
              <a:buNone/>
            </a:pPr>
            <a:r>
              <a:rPr lang="en-US" sz="1350" dirty="0">
                <a:solidFill>
                  <a:srgbClr val="0D1B3E"/>
                </a:solidFill>
                <a:latin typeface="Calibri" pitchFamily="34" charset="0"/>
                <a:ea typeface="Calibri" pitchFamily="34" charset="-122"/>
                <a:cs typeface="Calibri" pitchFamily="34" charset="-120"/>
              </a:rPr>
              <a:t>Identifies opportunities 6–12 months before deadlines</a:t>
            </a:r>
            <a:endParaRPr lang="en-US" sz="1350" dirty="0"/>
          </a:p>
        </p:txBody>
      </p:sp>
      <p:pic>
        <p:nvPicPr>
          <p:cNvPr id="2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60000" y="2195000"/>
            <a:ext cx="195000" cy="195000"/>
          </a:xfrm>
          <a:prstGeom prst="rect">
            <a:avLst/>
          </a:prstGeom>
        </p:spPr>
      </p:pic>
      <p:sp>
        <p:nvSpPr>
          <p:cNvPr id="30" name="Text 23"/>
          <p:cNvSpPr/>
          <p:nvPr/>
        </p:nvSpPr>
        <p:spPr>
          <a:xfrm>
            <a:off x="5050000" y="2649210"/>
            <a:ext cx="3800000" cy="410539"/>
          </a:xfrm>
          <a:prstGeom prst="rect">
            <a:avLst/>
          </a:prstGeom>
          <a:noFill/>
          <a:ln/>
        </p:spPr>
        <p:txBody>
          <a:bodyPr wrap="square" lIns="0" tIns="0" rIns="0" bIns="0" rtlCol="0" anchor="t"/>
          <a:lstStyle/>
          <a:p>
            <a:pPr marL="0" indent="0" algn="l">
              <a:lnSpc>
                <a:spcPts val="1610"/>
              </a:lnSpc>
              <a:buNone/>
            </a:pPr>
            <a:r>
              <a:rPr lang="en-US" sz="1350" dirty="0">
                <a:solidFill>
                  <a:srgbClr val="0D1B3E"/>
                </a:solidFill>
                <a:latin typeface="Calibri" pitchFamily="34" charset="0"/>
                <a:ea typeface="Calibri" pitchFamily="34" charset="-122"/>
                <a:cs typeface="Calibri" pitchFamily="34" charset="-120"/>
              </a:rPr>
              <a:t>Mission and theory of change drive every funding decision</a:t>
            </a:r>
            <a:endParaRPr lang="en-US" sz="1350" dirty="0"/>
          </a:p>
        </p:txBody>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60000" y="2644211"/>
            <a:ext cx="195000" cy="195000"/>
          </a:xfrm>
          <a:prstGeom prst="rect">
            <a:avLst/>
          </a:prstGeom>
        </p:spPr>
      </p:pic>
      <p:sp>
        <p:nvSpPr>
          <p:cNvPr id="32" name="Text 24"/>
          <p:cNvSpPr/>
          <p:nvPr/>
        </p:nvSpPr>
        <p:spPr>
          <a:xfrm>
            <a:off x="5050000" y="3120727"/>
            <a:ext cx="3800000" cy="270000"/>
          </a:xfrm>
          <a:prstGeom prst="rect">
            <a:avLst/>
          </a:prstGeom>
          <a:noFill/>
          <a:ln/>
        </p:spPr>
        <p:txBody>
          <a:bodyPr wrap="square" lIns="0" tIns="0" rIns="0" bIns="0" rtlCol="0" anchor="t"/>
          <a:lstStyle/>
          <a:p>
            <a:pPr marL="0" indent="0" algn="l">
              <a:lnSpc>
                <a:spcPts val="1610"/>
              </a:lnSpc>
              <a:buNone/>
            </a:pPr>
            <a:r>
              <a:rPr lang="en-US" sz="1350">
                <a:solidFill>
                  <a:srgbClr val="0D1B3E"/>
                </a:solidFill>
                <a:latin typeface="Calibri" pitchFamily="34" charset="0"/>
                <a:ea typeface="Calibri" pitchFamily="34" charset="-122"/>
                <a:cs typeface="Calibri" pitchFamily="34" charset="-120"/>
              </a:rPr>
              <a:t>Every cycle — win or lose — produces intelligence</a:t>
            </a:r>
            <a:endParaRPr lang="en-US" sz="1350"/>
          </a:p>
        </p:txBody>
      </p:sp>
      <p:pic>
        <p:nvPicPr>
          <p:cNvPr id="3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60000" y="3115727"/>
            <a:ext cx="195000" cy="195000"/>
          </a:xfrm>
          <a:prstGeom prst="rect">
            <a:avLst/>
          </a:prstGeom>
        </p:spPr>
      </p:pic>
      <p:sp>
        <p:nvSpPr>
          <p:cNvPr id="34" name="Text 25"/>
          <p:cNvSpPr/>
          <p:nvPr/>
        </p:nvSpPr>
        <p:spPr>
          <a:xfrm>
            <a:off x="5050000" y="3441695"/>
            <a:ext cx="3800000" cy="270000"/>
          </a:xfrm>
          <a:prstGeom prst="rect">
            <a:avLst/>
          </a:prstGeom>
          <a:noFill/>
          <a:ln/>
        </p:spPr>
        <p:txBody>
          <a:bodyPr wrap="square" lIns="0" tIns="0" rIns="0" bIns="0" rtlCol="0" anchor="t"/>
          <a:lstStyle/>
          <a:p>
            <a:pPr marL="0" indent="0" algn="l">
              <a:lnSpc>
                <a:spcPts val="1610"/>
              </a:lnSpc>
              <a:buNone/>
            </a:pPr>
            <a:r>
              <a:rPr lang="en-US" sz="1350">
                <a:solidFill>
                  <a:srgbClr val="0D1B3E"/>
                </a:solidFill>
                <a:latin typeface="Calibri" pitchFamily="34" charset="0"/>
                <a:ea typeface="Calibri" pitchFamily="34" charset="-122"/>
                <a:cs typeface="Calibri" pitchFamily="34" charset="-120"/>
              </a:rPr>
              <a:t>Funding is something the program </a:t>
            </a:r>
            <a:r>
              <a:rPr lang="en-US" sz="1350" i="1">
                <a:solidFill>
                  <a:srgbClr val="0D1B3E"/>
                </a:solidFill>
                <a:latin typeface="Calibri" pitchFamily="34" charset="0"/>
                <a:ea typeface="Calibri" pitchFamily="34" charset="-122"/>
                <a:cs typeface="Calibri" pitchFamily="34" charset="-120"/>
              </a:rPr>
              <a:t>actively steers</a:t>
            </a:r>
            <a:endParaRPr lang="en-US" sz="1350"/>
          </a:p>
        </p:txBody>
      </p:sp>
      <p:pic>
        <p:nvPicPr>
          <p:cNvPr id="3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860000" y="3436695"/>
            <a:ext cx="195000" cy="195000"/>
          </a:xfrm>
          <a:prstGeom prst="rect">
            <a:avLst/>
          </a:prstGeom>
        </p:spPr>
      </p:pic>
      <p:sp>
        <p:nvSpPr>
          <p:cNvPr id="47" name="Text 36"/>
          <p:cNvSpPr/>
          <p:nvPr/>
        </p:nvSpPr>
        <p:spPr>
          <a:xfrm>
            <a:off x="4395000" y="2318943"/>
            <a:ext cx="440000" cy="440000"/>
          </a:xfrm>
          <a:prstGeom prst="ellipse">
            <a:avLst/>
          </a:prstGeom>
          <a:solidFill>
            <a:srgbClr val="FFFFFF"/>
          </a:solidFill>
          <a:ln w="9525">
            <a:solidFill>
              <a:srgbClr val="E8A020"/>
            </a:solidFill>
          </a:ln>
          <a:effectLst>
            <a:outerShdw blurRad="143510" dist="50800" dir="16200000" algn="bl" rotWithShape="0">
              <a:srgbClr val="E8A020">
                <a:alpha val="20000"/>
              </a:srgbClr>
            </a:outerShdw>
          </a:effectLst>
        </p:spPr>
        <p:txBody>
          <a:bodyPr wrap="square" rtlCol="0" anchor="t"/>
          <a:lstStyle/>
          <a:p>
            <a:pPr marL="0" indent="0">
              <a:buNone/>
            </a:pPr>
            <a:endParaRPr lang="en-US"/>
          </a:p>
        </p:txBody>
      </p:sp>
      <p:pic>
        <p:nvPicPr>
          <p:cNvPr id="48" name="Image 9"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517500" y="2441443"/>
            <a:ext cx="195000" cy="195000"/>
          </a:xfrm>
          <a:prstGeom prst="rect">
            <a:avLst/>
          </a:prstGeom>
        </p:spPr>
      </p:pic>
      <p:sp>
        <p:nvSpPr>
          <p:cNvPr id="49" name="Text 37"/>
          <p:cNvSpPr/>
          <p:nvPr/>
        </p:nvSpPr>
        <p:spPr>
          <a:xfrm>
            <a:off x="4606000" y="2480000"/>
            <a:ext cx="18000" cy="1510000"/>
          </a:xfrm>
          <a:prstGeom prst="rect">
            <a:avLst/>
          </a:prstGeom>
          <a:gradFill rotWithShape="1">
            <a:gsLst>
              <a:gs pos="0">
                <a:srgbClr val="E8A020">
                  <a:alpha val="35000"/>
                </a:srgbClr>
              </a:gs>
              <a:gs pos="100000">
                <a:srgbClr val="000000">
                  <a:alpha val="0"/>
                </a:srgbClr>
              </a:gs>
            </a:gsLst>
            <a:lin ang="5400000" scaled="1"/>
          </a:gradFill>
          <a:ln/>
        </p:spPr>
        <p:txBody>
          <a:bodyPr wrap="square" rtlCol="0" anchor="t"/>
          <a:lstStyle/>
          <a:p>
            <a:pPr marL="0" indent="0">
              <a:buNone/>
            </a:pPr>
            <a:endParaRPr lang="en-US"/>
          </a:p>
        </p:txBody>
      </p:sp>
      <p:sp>
        <p:nvSpPr>
          <p:cNvPr id="42" name="Text 32"/>
          <p:cNvSpPr/>
          <p:nvPr/>
        </p:nvSpPr>
        <p:spPr>
          <a:xfrm>
            <a:off x="391227" y="4487289"/>
            <a:ext cx="8530000" cy="550000"/>
          </a:xfrm>
          <a:prstGeom prst="rect">
            <a:avLst/>
          </a:prstGeom>
          <a:solidFill>
            <a:srgbClr val="E8A020"/>
          </a:solidFill>
          <a:ln/>
        </p:spPr>
        <p:txBody>
          <a:bodyPr wrap="square" rtlCol="0" anchor="t"/>
          <a:lstStyle/>
          <a:p>
            <a:pPr marL="0" indent="0">
              <a:buNone/>
            </a:pPr>
            <a:endParaRPr lang="en-US"/>
          </a:p>
        </p:txBody>
      </p:sp>
      <p:sp>
        <p:nvSpPr>
          <p:cNvPr id="43" name="Text 33"/>
          <p:cNvSpPr/>
          <p:nvPr/>
        </p:nvSpPr>
        <p:spPr>
          <a:xfrm>
            <a:off x="249638" y="4468169"/>
            <a:ext cx="38000" cy="550000"/>
          </a:xfrm>
          <a:prstGeom prst="rect">
            <a:avLst/>
          </a:prstGeom>
          <a:solidFill>
            <a:srgbClr val="C07010"/>
          </a:solidFill>
          <a:ln/>
        </p:spPr>
        <p:txBody>
          <a:bodyPr wrap="square" rtlCol="0" anchor="t"/>
          <a:lstStyle/>
          <a:p>
            <a:pPr marL="0" indent="0">
              <a:buNone/>
            </a:pPr>
            <a:endParaRPr lang="en-US"/>
          </a:p>
        </p:txBody>
      </p:sp>
      <p:pic>
        <p:nvPicPr>
          <p:cNvPr id="44" name="Image 8" descr="preencoded.png"/>
          <p:cNvPicPr>
            <a:picLocks noChangeAspect="1"/>
          </p:cNvPicPr>
          <p:nvPr/>
        </p:nvPicPr>
        <p:blipFill>
          <a:blip>
            <a:alphaModFix amt="85000"/>
            <a:extLst>
              <a:ext uri="{96DAC541-7B7A-43D3-8B79-37D633B846F1}">
                <asvg:svgBlip xmlns:asvg="http://schemas.microsoft.com/office/drawing/2016/SVG/main" r:embed="rId12"/>
              </a:ext>
            </a:extLst>
          </a:blip>
          <a:stretch>
            <a:fillRect/>
          </a:stretch>
        </p:blipFill>
        <p:spPr>
          <a:xfrm>
            <a:off x="590000" y="4227500"/>
            <a:ext cx="195000" cy="195000"/>
          </a:xfrm>
          <a:prstGeom prst="rect">
            <a:avLst/>
          </a:prstGeom>
        </p:spPr>
      </p:pic>
      <p:sp>
        <p:nvSpPr>
          <p:cNvPr id="45" name="Text 34"/>
          <p:cNvSpPr/>
          <p:nvPr/>
        </p:nvSpPr>
        <p:spPr>
          <a:xfrm>
            <a:off x="523112" y="4522927"/>
            <a:ext cx="7900000" cy="470000"/>
          </a:xfrm>
          <a:prstGeom prst="rect">
            <a:avLst/>
          </a:prstGeom>
          <a:noFill/>
          <a:ln/>
        </p:spPr>
        <p:txBody>
          <a:bodyPr wrap="square" lIns="0" tIns="0" rIns="0" bIns="0" rtlCol="0" anchor="ctr"/>
          <a:lstStyle/>
          <a:p>
            <a:pPr marL="0" indent="0" algn="ctr">
              <a:lnSpc>
                <a:spcPts val="1960"/>
              </a:lnSpc>
              <a:buNone/>
            </a:pPr>
            <a:r>
              <a:rPr lang="en-US" sz="1600" kern="0" spc="10" dirty="0">
                <a:solidFill>
                  <a:srgbClr val="FFFFFF"/>
                </a:solidFill>
                <a:latin typeface="Calibri Light" pitchFamily="34" charset="0"/>
                <a:ea typeface="Calibri Light" pitchFamily="34" charset="-122"/>
                <a:cs typeface="Calibri Light" pitchFamily="34" charset="-120"/>
              </a:rPr>
              <a:t>The difference between programs that </a:t>
            </a:r>
            <a:r>
              <a:rPr lang="en-US" sz="1600" b="1" kern="0" spc="10" dirty="0">
                <a:solidFill>
                  <a:srgbClr val="FFFFFF"/>
                </a:solidFill>
                <a:latin typeface="Calibri Light" pitchFamily="34" charset="0"/>
                <a:ea typeface="Calibri Light" pitchFamily="34" charset="-122"/>
                <a:cs typeface="Calibri Light" pitchFamily="34" charset="-120"/>
              </a:rPr>
              <a:t>survive</a:t>
            </a:r>
            <a:r>
              <a:rPr lang="en-US" sz="1600" kern="0" spc="10" dirty="0">
                <a:solidFill>
                  <a:srgbClr val="FFFFFF"/>
                </a:solidFill>
                <a:latin typeface="Calibri Light" pitchFamily="34" charset="0"/>
                <a:ea typeface="Calibri Light" pitchFamily="34" charset="-122"/>
                <a:cs typeface="Calibri Light" pitchFamily="34" charset="-120"/>
              </a:rPr>
              <a:t> and programs that </a:t>
            </a:r>
            <a:r>
              <a:rPr lang="en-US" sz="1600" b="1" kern="0" spc="10" dirty="0">
                <a:solidFill>
                  <a:srgbClr val="FFFFFF"/>
                </a:solidFill>
                <a:latin typeface="Calibri Light" pitchFamily="34" charset="0"/>
                <a:ea typeface="Calibri Light" pitchFamily="34" charset="-122"/>
                <a:cs typeface="Calibri Light" pitchFamily="34" charset="-120"/>
              </a:rPr>
              <a:t>thrive</a:t>
            </a:r>
            <a:r>
              <a:rPr lang="en-US" sz="1600" kern="0" spc="10" dirty="0">
                <a:solidFill>
                  <a:srgbClr val="FFFFFF"/>
                </a:solidFill>
                <a:latin typeface="Calibri Light" pitchFamily="34" charset="0"/>
                <a:ea typeface="Calibri Light" pitchFamily="34" charset="-122"/>
                <a:cs typeface="Calibri Light" pitchFamily="34" charset="-120"/>
              </a:rPr>
              <a:t> is not talent — it is </a:t>
            </a:r>
            <a:r>
              <a:rPr lang="en-US" sz="1600" b="1" kern="0" spc="10" dirty="0">
                <a:solidFill>
                  <a:srgbClr val="FFFFFF"/>
                </a:solidFill>
                <a:latin typeface="Calibri Light" pitchFamily="34" charset="0"/>
                <a:ea typeface="Calibri Light" pitchFamily="34" charset="-122"/>
                <a:cs typeface="Calibri Light" pitchFamily="34" charset="-120"/>
              </a:rPr>
              <a:t>a system for funding intelligence.</a:t>
            </a:r>
            <a:endParaRPr lang="en-US" sz="1600" dirty="0"/>
          </a:p>
        </p:txBody>
      </p:sp>
      <p:sp>
        <p:nvSpPr>
          <p:cNvPr id="50" name="Quote Text"/>
          <p:cNvSpPr/>
          <p:nvPr/>
        </p:nvSpPr>
        <p:spPr>
          <a:xfrm>
            <a:off x="600000" y="3786289"/>
            <a:ext cx="7944000" cy="380000"/>
          </a:xfrm>
          <a:prstGeom prst="rect">
            <a:avLst/>
          </a:prstGeom>
          <a:noFill/>
          <a:ln/>
        </p:spPr>
        <p:txBody>
          <a:bodyPr wrap="square" lIns="0" tIns="0" rIns="0" bIns="0" rtlCol="0" anchor="ctr"/>
          <a:lstStyle/>
          <a:p>
            <a:pPr marL="0" indent="0" algn="ctr">
              <a:lnSpc>
                <a:spcPts val="1750"/>
              </a:lnSpc>
              <a:buNone/>
            </a:pPr>
            <a:r>
              <a:rPr lang="en-US" sz="1100" i="1" kern="0" spc="10" dirty="0">
                <a:solidFill>
                  <a:srgbClr val="4A5568"/>
                </a:solidFill>
                <a:latin typeface="Calibri Light" pitchFamily="34" charset="0"/>
                <a:ea typeface="Calibri Light" pitchFamily="34" charset="-122"/>
                <a:cs typeface="Calibri Light" pitchFamily="34" charset="-120"/>
              </a:rPr>
              <a:t>The Funding Surveillance and Response System is a continuous, intelligence-driven process that keeps Responsible Fatherhood programs ahead of the funding landscape — not chasing behind it.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7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E8A020">
                  <a:alpha val="7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6143030" y="0"/>
            <a:ext cx="3000970" cy="2715220"/>
          </a:xfrm>
          <a:prstGeom prst="rect">
            <a:avLst/>
          </a:prstGeom>
          <a:gradFill rotWithShape="1">
            <a:gsLst>
              <a:gs pos="0">
                <a:srgbClr val="E8A020">
                  <a:alpha val="10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0" y="0"/>
            <a:ext cx="35421" cy="5143500"/>
          </a:xfrm>
          <a:prstGeom prst="rect">
            <a:avLst/>
          </a:prstGeom>
          <a:gradFill rotWithShape="1">
            <a:gsLst>
              <a:gs pos="0">
                <a:srgbClr val="000000">
                  <a:alpha val="0"/>
                </a:srgbClr>
              </a:gs>
              <a:gs pos="25000">
                <a:srgbClr val="E8A020"/>
              </a:gs>
              <a:gs pos="75000">
                <a:srgbClr val="E8A020"/>
              </a:gs>
              <a:gs pos="100000">
                <a:srgbClr val="000000">
                  <a:alpha val="0"/>
                </a:srgbClr>
              </a:gs>
            </a:gsLst>
            <a:lin ang="5400000" scaled="1"/>
          </a:gradFill>
          <a:ln/>
        </p:spPr>
        <p:txBody>
          <a:bodyPr wrap="square" rtlCol="0" anchor="t"/>
          <a:lstStyle/>
          <a:p>
            <a:pPr marL="0" indent="0">
              <a:buNone/>
            </a:pPr>
            <a:endParaRPr lang="en-US" dirty="0"/>
          </a:p>
        </p:txBody>
      </p:sp>
      <p:sp>
        <p:nvSpPr>
          <p:cNvPr id="6" name="Text 4"/>
          <p:cNvSpPr/>
          <p:nvPr/>
        </p:nvSpPr>
        <p:spPr>
          <a:xfrm>
            <a:off x="514351" y="137300"/>
            <a:ext cx="1671288" cy="238491"/>
          </a:xfrm>
          <a:prstGeom prst="rect">
            <a:avLst/>
          </a:prstGeom>
          <a:noFill/>
          <a:ln/>
        </p:spPr>
        <p:txBody>
          <a:bodyPr wrap="none" lIns="0" tIns="0" rIns="0" bIns="0" rtlCol="0" anchor="ctr"/>
          <a:lstStyle/>
          <a:p>
            <a:pPr marL="0" indent="0" algn="l">
              <a:lnSpc>
                <a:spcPts val="1209"/>
              </a:lnSpc>
              <a:buNone/>
            </a:pPr>
            <a:r>
              <a:rPr lang="en-US" sz="1000" b="1" kern="0" spc="170" dirty="0">
                <a:solidFill>
                  <a:srgbClr val="E8A020"/>
                </a:solidFill>
                <a:latin typeface="Calibri" pitchFamily="34" charset="0"/>
                <a:ea typeface="Calibri" pitchFamily="34" charset="-122"/>
                <a:cs typeface="Calibri" pitchFamily="34" charset="-120"/>
              </a:rPr>
              <a:t>STRATEGIC PRINCIPLES</a:t>
            </a:r>
            <a:endParaRPr lang="en-US" sz="1000" dirty="0"/>
          </a:p>
        </p:txBody>
      </p:sp>
      <p:sp>
        <p:nvSpPr>
          <p:cNvPr id="7" name="Text 5"/>
          <p:cNvSpPr/>
          <p:nvPr/>
        </p:nvSpPr>
        <p:spPr>
          <a:xfrm>
            <a:off x="514350" y="418951"/>
            <a:ext cx="8744522" cy="278904"/>
          </a:xfrm>
          <a:prstGeom prst="rect">
            <a:avLst/>
          </a:prstGeom>
          <a:noFill/>
          <a:ln/>
        </p:spPr>
        <p:txBody>
          <a:bodyPr wrap="none" lIns="0" tIns="0" rIns="0" bIns="0" rtlCol="0" anchor="t"/>
          <a:lstStyle/>
          <a:p>
            <a:pPr marL="0" indent="0" algn="l">
              <a:lnSpc>
                <a:spcPts val="2197"/>
              </a:lnSpc>
              <a:buNone/>
            </a:pPr>
            <a:r>
              <a:rPr lang="en-US" sz="1910" kern="0" spc="-20" dirty="0">
                <a:solidFill>
                  <a:srgbClr val="0D1B3E"/>
                </a:solidFill>
                <a:latin typeface="Calibri Light" pitchFamily="34" charset="0"/>
                <a:ea typeface="Calibri Light" pitchFamily="34" charset="-122"/>
                <a:cs typeface="Calibri Light" pitchFamily="34" charset="-120"/>
              </a:rPr>
              <a:t>Five Principles That Guide </a:t>
            </a:r>
            <a:r>
              <a:rPr lang="en-US" sz="1910" b="1" kern="0" spc="-20" dirty="0">
                <a:solidFill>
                  <a:srgbClr val="E8A020"/>
                </a:solidFill>
                <a:latin typeface="Calibri Light" pitchFamily="34" charset="0"/>
                <a:ea typeface="Calibri Light" pitchFamily="34" charset="-122"/>
                <a:cs typeface="Calibri Light" pitchFamily="34" charset="-120"/>
              </a:rPr>
              <a:t>Proactive Programs</a:t>
            </a:r>
            <a:endParaRPr lang="en-US" sz="1910" dirty="0"/>
          </a:p>
        </p:txBody>
      </p:sp>
      <p:sp>
        <p:nvSpPr>
          <p:cNvPr id="8" name="Text 6"/>
          <p:cNvSpPr/>
          <p:nvPr/>
        </p:nvSpPr>
        <p:spPr>
          <a:xfrm>
            <a:off x="514350" y="768846"/>
            <a:ext cx="514350" cy="13841"/>
          </a:xfrm>
          <a:prstGeom prst="roundRect">
            <a:avLst>
              <a:gd name="adj" fmla="val 100932"/>
            </a:avLst>
          </a:prstGeom>
          <a:solidFill>
            <a:srgbClr val="E8A020"/>
          </a:solidFill>
          <a:ln/>
        </p:spPr>
        <p:txBody>
          <a:bodyPr wrap="none" rtlCol="0" anchor="t"/>
          <a:lstStyle/>
          <a:p>
            <a:pPr marL="0" indent="0">
              <a:buNone/>
            </a:pPr>
            <a:endParaRPr lang="en-US" dirty="0"/>
          </a:p>
        </p:txBody>
      </p:sp>
      <p:sp>
        <p:nvSpPr>
          <p:cNvPr id="9" name="Text 7"/>
          <p:cNvSpPr/>
          <p:nvPr/>
        </p:nvSpPr>
        <p:spPr>
          <a:xfrm>
            <a:off x="514350" y="910828"/>
            <a:ext cx="8172450" cy="490984"/>
          </a:xfrm>
          <a:prstGeom prst="roundRect">
            <a:avLst>
              <a:gd name="adj" fmla="val 8795"/>
            </a:avLst>
          </a:prstGeom>
          <a:solidFill>
            <a:srgbClr val="F0F4F8"/>
          </a:solidFill>
          <a:ln/>
        </p:spPr>
        <p:txBody>
          <a:bodyPr wrap="square" rtlCol="0" anchor="t"/>
          <a:lstStyle/>
          <a:p>
            <a:pPr marL="0" indent="0">
              <a:buNone/>
            </a:pPr>
            <a:endParaRPr lang="en-US" dirty="0"/>
          </a:p>
        </p:txBody>
      </p:sp>
      <p:sp>
        <p:nvSpPr>
          <p:cNvPr id="10" name="Text 8"/>
          <p:cNvSpPr/>
          <p:nvPr/>
        </p:nvSpPr>
        <p:spPr>
          <a:xfrm>
            <a:off x="533400" y="920353"/>
            <a:ext cx="342900" cy="519127"/>
          </a:xfrm>
          <a:prstGeom prst="rect">
            <a:avLst/>
          </a:prstGeom>
          <a:solidFill>
            <a:srgbClr val="E8A020">
              <a:alpha val="13000"/>
            </a:srgbClr>
          </a:solidFill>
          <a:ln/>
        </p:spPr>
        <p:txBody>
          <a:bodyPr wrap="none" lIns="0" tIns="0" rIns="0" bIns="0" rtlCol="0" anchor="ctr"/>
          <a:lstStyle/>
          <a:p>
            <a:pPr marL="0" indent="0" algn="ctr">
              <a:buNone/>
            </a:pPr>
            <a:r>
              <a:rPr lang="en-US" sz="1469">
                <a:latin typeface="Calibri Light" pitchFamily="34" charset="0"/>
                <a:ea typeface="Calibri Light" pitchFamily="34" charset="-122"/>
                <a:cs typeface="Calibri Light" pitchFamily="34" charset="-120"/>
              </a:rPr>
              <a:t>1</a:t>
            </a:r>
            <a:endParaRPr lang="en-US" sz="1469"/>
          </a:p>
        </p:txBody>
      </p:sp>
      <p:sp>
        <p:nvSpPr>
          <p:cNvPr id="11" name="Text 9"/>
          <p:cNvSpPr/>
          <p:nvPr/>
        </p:nvSpPr>
        <p:spPr>
          <a:xfrm>
            <a:off x="866775" y="920353"/>
            <a:ext cx="9525" cy="471934"/>
          </a:xfrm>
          <a:prstGeom prst="rect">
            <a:avLst/>
          </a:prstGeom>
          <a:solidFill>
            <a:srgbClr val="E8A020">
              <a:alpha val="22000"/>
            </a:srgbClr>
          </a:solidFill>
          <a:ln/>
        </p:spPr>
        <p:txBody>
          <a:bodyPr wrap="square" rtlCol="0" anchor="t"/>
          <a:lstStyle/>
          <a:p>
            <a:pPr marL="0" indent="0">
              <a:buNone/>
            </a:pPr>
            <a:endParaRPr lang="en-US" dirty="0"/>
          </a:p>
        </p:txBody>
      </p:sp>
      <p:sp>
        <p:nvSpPr>
          <p:cNvPr id="12" name="Text 10"/>
          <p:cNvSpPr/>
          <p:nvPr/>
        </p:nvSpPr>
        <p:spPr>
          <a:xfrm>
            <a:off x="1266825" y="920353"/>
            <a:ext cx="9525" cy="471934"/>
          </a:xfrm>
          <a:prstGeom prst="rect">
            <a:avLst/>
          </a:prstGeom>
          <a:solidFill>
            <a:srgbClr val="0D1B3E">
              <a:alpha val="7000"/>
            </a:srgbClr>
          </a:solidFill>
          <a:ln/>
        </p:spPr>
        <p:txBody>
          <a:bodyPr wrap="square" rtlCol="0" anchor="t"/>
          <a:lstStyle/>
          <a:p>
            <a:pPr marL="0" indent="0">
              <a:buNone/>
            </a:pPr>
            <a:endParaRPr lang="en-US"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2060" y="1086743"/>
            <a:ext cx="139005" cy="139005"/>
          </a:xfrm>
          <a:prstGeom prst="rect">
            <a:avLst/>
          </a:prstGeom>
        </p:spPr>
      </p:pic>
      <p:sp>
        <p:nvSpPr>
          <p:cNvPr id="14" name="Text 11"/>
          <p:cNvSpPr/>
          <p:nvPr/>
        </p:nvSpPr>
        <p:spPr>
          <a:xfrm>
            <a:off x="1404491" y="960171"/>
            <a:ext cx="7112913" cy="159990"/>
          </a:xfrm>
          <a:prstGeom prst="rect">
            <a:avLst/>
          </a:prstGeom>
          <a:noFill/>
          <a:ln/>
        </p:spPr>
        <p:txBody>
          <a:bodyPr wrap="none" lIns="0" tIns="0" rIns="0" bIns="0" rtlCol="0" anchor="t"/>
          <a:lstStyle/>
          <a:p>
            <a:pPr marL="0" indent="0" algn="l">
              <a:lnSpc>
                <a:spcPts val="1638"/>
              </a:lnSpc>
              <a:buNone/>
            </a:pPr>
            <a:r>
              <a:rPr lang="en-US" sz="1430" b="1" kern="0" spc="10">
                <a:solidFill>
                  <a:srgbClr val="E8A020"/>
                </a:solidFill>
                <a:latin typeface="Calibri" pitchFamily="34" charset="0"/>
                <a:ea typeface="Calibri" pitchFamily="34" charset="-122"/>
                <a:cs typeface="Calibri" pitchFamily="34" charset="-120"/>
              </a:rPr>
              <a:t>Mission-First Funding</a:t>
            </a:r>
            <a:endParaRPr lang="en-US" sz="1430" b="1"/>
          </a:p>
        </p:txBody>
      </p:sp>
      <p:sp>
        <p:nvSpPr>
          <p:cNvPr id="15" name="Text 12"/>
          <p:cNvSpPr/>
          <p:nvPr/>
        </p:nvSpPr>
        <p:spPr>
          <a:xfrm>
            <a:off x="1404491" y="1183393"/>
            <a:ext cx="4738539" cy="197941"/>
          </a:xfrm>
          <a:prstGeom prst="rect">
            <a:avLst/>
          </a:prstGeom>
          <a:noFill/>
          <a:ln/>
        </p:spPr>
        <p:txBody>
          <a:bodyPr wrap="none" lIns="0" tIns="0" rIns="0" bIns="0" rtlCol="0" anchor="ctr"/>
          <a:lstStyle/>
          <a:p>
            <a:pPr marL="0" indent="0" algn="l">
              <a:lnSpc>
                <a:spcPts val="1439"/>
              </a:lnSpc>
              <a:buNone/>
            </a:pPr>
            <a:r>
              <a:rPr lang="en-US" sz="1365" dirty="0">
                <a:solidFill>
                  <a:srgbClr val="64748B"/>
                </a:solidFill>
                <a:latin typeface="Calibri" pitchFamily="34" charset="0"/>
                <a:ea typeface="Calibri" pitchFamily="34" charset="-122"/>
                <a:cs typeface="Calibri" pitchFamily="34" charset="-120"/>
              </a:rPr>
              <a:t>Every funding decision flows from your theory of change — not from what is available</a:t>
            </a:r>
            <a:endParaRPr lang="en-US" sz="1365" dirty="0"/>
          </a:p>
        </p:txBody>
      </p:sp>
      <p:sp>
        <p:nvSpPr>
          <p:cNvPr id="16" name="Text 13"/>
          <p:cNvSpPr/>
          <p:nvPr/>
        </p:nvSpPr>
        <p:spPr>
          <a:xfrm>
            <a:off x="7735466" y="1064270"/>
            <a:ext cx="573974" cy="184100"/>
          </a:xfrm>
          <a:prstGeom prst="roundRect">
            <a:avLst>
              <a:gd name="adj" fmla="val 77952"/>
            </a:avLst>
          </a:prstGeom>
          <a:solidFill>
            <a:srgbClr val="E8A020">
              <a:alpha val="13000"/>
            </a:srgbClr>
          </a:solidFill>
          <a:ln w="9525">
            <a:solidFill>
              <a:srgbClr val="E8A020">
                <a:alpha val="35000"/>
              </a:srgbClr>
            </a:solidFill>
          </a:ln>
        </p:spPr>
        <p:txBody>
          <a:bodyPr wrap="none" lIns="86360" tIns="29210" rIns="86360" bIns="29210" rtlCol="0" anchor="t"/>
          <a:lstStyle/>
          <a:p>
            <a:pPr marL="0" indent="0" algn="l">
              <a:buNone/>
            </a:pPr>
            <a:r>
              <a:rPr lang="en-US" sz="728" b="1" kern="0" spc="80">
                <a:solidFill>
                  <a:srgbClr val="E8A020"/>
                </a:solidFill>
                <a:latin typeface="Calibri" pitchFamily="34" charset="0"/>
                <a:ea typeface="Calibri" pitchFamily="34" charset="-122"/>
                <a:cs typeface="Calibri" pitchFamily="34" charset="-120"/>
              </a:rPr>
              <a:t>MISSION</a:t>
            </a:r>
            <a:endParaRPr lang="en-US" sz="728"/>
          </a:p>
        </p:txBody>
      </p:sp>
      <p:sp>
        <p:nvSpPr>
          <p:cNvPr id="17" name="Text 14"/>
          <p:cNvSpPr/>
          <p:nvPr/>
        </p:nvSpPr>
        <p:spPr>
          <a:xfrm>
            <a:off x="514350" y="1472803"/>
            <a:ext cx="8172450" cy="490984"/>
          </a:xfrm>
          <a:prstGeom prst="roundRect">
            <a:avLst>
              <a:gd name="adj" fmla="val 8795"/>
            </a:avLst>
          </a:prstGeom>
          <a:solidFill>
            <a:srgbClr val="F0F4F8"/>
          </a:solidFill>
          <a:ln/>
        </p:spPr>
        <p:txBody>
          <a:bodyPr wrap="square" rtlCol="0" anchor="t"/>
          <a:lstStyle/>
          <a:p>
            <a:pPr marL="0" indent="0">
              <a:buNone/>
            </a:pPr>
            <a:endParaRPr lang="en-US" dirty="0"/>
          </a:p>
        </p:txBody>
      </p:sp>
      <p:sp>
        <p:nvSpPr>
          <p:cNvPr id="18" name="Text 15"/>
          <p:cNvSpPr/>
          <p:nvPr/>
        </p:nvSpPr>
        <p:spPr>
          <a:xfrm>
            <a:off x="533400" y="1482328"/>
            <a:ext cx="342900" cy="519127"/>
          </a:xfrm>
          <a:prstGeom prst="rect">
            <a:avLst/>
          </a:prstGeom>
          <a:solidFill>
            <a:srgbClr val="E8A020">
              <a:alpha val="13000"/>
            </a:srgbClr>
          </a:solidFill>
          <a:ln/>
        </p:spPr>
        <p:txBody>
          <a:bodyPr wrap="none" lIns="0" tIns="0" rIns="0" bIns="0" rtlCol="0" anchor="ctr"/>
          <a:lstStyle/>
          <a:p>
            <a:pPr marL="0" indent="0" algn="ctr">
              <a:buNone/>
            </a:pPr>
            <a:r>
              <a:rPr lang="en-US" sz="1469">
                <a:latin typeface="Calibri Light" pitchFamily="34" charset="0"/>
                <a:ea typeface="Calibri Light" pitchFamily="34" charset="-122"/>
                <a:cs typeface="Calibri Light" pitchFamily="34" charset="-120"/>
              </a:rPr>
              <a:t>2</a:t>
            </a:r>
            <a:endParaRPr lang="en-US" sz="1469"/>
          </a:p>
        </p:txBody>
      </p:sp>
      <p:sp>
        <p:nvSpPr>
          <p:cNvPr id="19" name="Text 16"/>
          <p:cNvSpPr/>
          <p:nvPr/>
        </p:nvSpPr>
        <p:spPr>
          <a:xfrm>
            <a:off x="866775" y="1482328"/>
            <a:ext cx="9525" cy="471934"/>
          </a:xfrm>
          <a:prstGeom prst="rect">
            <a:avLst/>
          </a:prstGeom>
          <a:solidFill>
            <a:srgbClr val="E8A020">
              <a:alpha val="22000"/>
            </a:srgbClr>
          </a:solidFill>
          <a:ln/>
        </p:spPr>
        <p:txBody>
          <a:bodyPr wrap="square" rtlCol="0" anchor="t"/>
          <a:lstStyle/>
          <a:p>
            <a:pPr marL="0" indent="0">
              <a:buNone/>
            </a:pPr>
            <a:endParaRPr lang="en-US" dirty="0"/>
          </a:p>
        </p:txBody>
      </p:sp>
      <p:sp>
        <p:nvSpPr>
          <p:cNvPr id="20" name="Text 17"/>
          <p:cNvSpPr/>
          <p:nvPr/>
        </p:nvSpPr>
        <p:spPr>
          <a:xfrm>
            <a:off x="1266825" y="1482328"/>
            <a:ext cx="9525" cy="471934"/>
          </a:xfrm>
          <a:prstGeom prst="rect">
            <a:avLst/>
          </a:prstGeom>
          <a:solidFill>
            <a:srgbClr val="0D1B3E">
              <a:alpha val="7000"/>
            </a:srgbClr>
          </a:solidFill>
          <a:ln/>
        </p:spPr>
        <p:txBody>
          <a:bodyPr wrap="square" rtlCol="0" anchor="t"/>
          <a:lstStyle/>
          <a:p>
            <a:pPr marL="0" indent="0">
              <a:buNone/>
            </a:pPr>
            <a:endParaRPr lang="en-US" dirty="0"/>
          </a:p>
        </p:txBody>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2060" y="1648718"/>
            <a:ext cx="139005" cy="139005"/>
          </a:xfrm>
          <a:prstGeom prst="rect">
            <a:avLst/>
          </a:prstGeom>
        </p:spPr>
      </p:pic>
      <p:sp>
        <p:nvSpPr>
          <p:cNvPr id="22" name="Text 18"/>
          <p:cNvSpPr/>
          <p:nvPr/>
        </p:nvSpPr>
        <p:spPr>
          <a:xfrm>
            <a:off x="1404491" y="1522146"/>
            <a:ext cx="6811357" cy="159990"/>
          </a:xfrm>
          <a:prstGeom prst="rect">
            <a:avLst/>
          </a:prstGeom>
          <a:noFill/>
          <a:ln/>
        </p:spPr>
        <p:txBody>
          <a:bodyPr wrap="none" lIns="0" tIns="0" rIns="0" bIns="0" rtlCol="0" anchor="t"/>
          <a:lstStyle/>
          <a:p>
            <a:pPr marL="0" indent="0" algn="l">
              <a:lnSpc>
                <a:spcPts val="1638"/>
              </a:lnSpc>
              <a:buNone/>
            </a:pPr>
            <a:r>
              <a:rPr lang="en-US" sz="1430" b="1" kern="0" spc="10">
                <a:solidFill>
                  <a:srgbClr val="E8A020"/>
                </a:solidFill>
                <a:latin typeface="Calibri" pitchFamily="34" charset="0"/>
                <a:ea typeface="Calibri" pitchFamily="34" charset="-122"/>
                <a:cs typeface="Calibri" pitchFamily="34" charset="-120"/>
              </a:rPr>
              <a:t>Relationship Before Application</a:t>
            </a:r>
            <a:endParaRPr lang="en-US" sz="1430" b="1"/>
          </a:p>
        </p:txBody>
      </p:sp>
      <p:sp>
        <p:nvSpPr>
          <p:cNvPr id="23" name="Text 19"/>
          <p:cNvSpPr/>
          <p:nvPr/>
        </p:nvSpPr>
        <p:spPr>
          <a:xfrm>
            <a:off x="1404492" y="1745368"/>
            <a:ext cx="4537646" cy="197941"/>
          </a:xfrm>
          <a:prstGeom prst="rect">
            <a:avLst/>
          </a:prstGeom>
          <a:noFill/>
          <a:ln/>
        </p:spPr>
        <p:txBody>
          <a:bodyPr wrap="none" lIns="0" tIns="0" rIns="0" bIns="0" rtlCol="0" anchor="ctr"/>
          <a:lstStyle/>
          <a:p>
            <a:pPr marL="0" indent="0" algn="l">
              <a:lnSpc>
                <a:spcPts val="1439"/>
              </a:lnSpc>
              <a:buNone/>
            </a:pPr>
            <a:r>
              <a:rPr lang="en-US" sz="1365">
                <a:solidFill>
                  <a:srgbClr val="64748B"/>
                </a:solidFill>
                <a:latin typeface="Calibri" pitchFamily="34" charset="0"/>
                <a:ea typeface="Calibri" pitchFamily="34" charset="-122"/>
                <a:cs typeface="Calibri" pitchFamily="34" charset="-120"/>
              </a:rPr>
              <a:t>Know funders deeply before RFPs drop — e.g., meeting your OFA program officer at IFC before renewal</a:t>
            </a:r>
            <a:endParaRPr lang="en-US" sz="1365"/>
          </a:p>
        </p:txBody>
      </p:sp>
      <p:sp>
        <p:nvSpPr>
          <p:cNvPr id="24" name="Text 20"/>
          <p:cNvSpPr/>
          <p:nvPr/>
        </p:nvSpPr>
        <p:spPr>
          <a:xfrm>
            <a:off x="7740104" y="1503574"/>
            <a:ext cx="853598" cy="184100"/>
          </a:xfrm>
          <a:prstGeom prst="roundRect">
            <a:avLst>
              <a:gd name="adj" fmla="val 77952"/>
            </a:avLst>
          </a:prstGeom>
          <a:solidFill>
            <a:srgbClr val="E8A020">
              <a:alpha val="13000"/>
            </a:srgbClr>
          </a:solidFill>
          <a:ln w="9525">
            <a:solidFill>
              <a:srgbClr val="E8A020">
                <a:alpha val="35000"/>
              </a:srgbClr>
            </a:solidFill>
          </a:ln>
        </p:spPr>
        <p:txBody>
          <a:bodyPr wrap="none" lIns="86360" tIns="29210" rIns="86360" bIns="29210" rtlCol="0" anchor="t"/>
          <a:lstStyle/>
          <a:p>
            <a:pPr marL="0" indent="0" algn="l">
              <a:buNone/>
            </a:pPr>
            <a:r>
              <a:rPr lang="en-US" sz="728" b="1" kern="0" spc="80">
                <a:solidFill>
                  <a:srgbClr val="E8A020"/>
                </a:solidFill>
                <a:latin typeface="Calibri" pitchFamily="34" charset="0"/>
                <a:ea typeface="Calibri" pitchFamily="34" charset="-122"/>
                <a:cs typeface="Calibri" pitchFamily="34" charset="-120"/>
              </a:rPr>
              <a:t>RELATIONSHIP</a:t>
            </a:r>
            <a:endParaRPr lang="en-US" sz="728"/>
          </a:p>
        </p:txBody>
      </p:sp>
      <p:sp>
        <p:nvSpPr>
          <p:cNvPr id="25" name="Text 21"/>
          <p:cNvSpPr/>
          <p:nvPr/>
        </p:nvSpPr>
        <p:spPr>
          <a:xfrm>
            <a:off x="514350" y="2034778"/>
            <a:ext cx="8172450" cy="490984"/>
          </a:xfrm>
          <a:prstGeom prst="roundRect">
            <a:avLst>
              <a:gd name="adj" fmla="val 8795"/>
            </a:avLst>
          </a:prstGeom>
          <a:solidFill>
            <a:srgbClr val="F0F4F8"/>
          </a:solidFill>
          <a:ln/>
        </p:spPr>
        <p:txBody>
          <a:bodyPr wrap="square" rtlCol="0" anchor="t"/>
          <a:lstStyle/>
          <a:p>
            <a:pPr marL="0" indent="0">
              <a:buNone/>
            </a:pPr>
            <a:endParaRPr lang="en-US" dirty="0"/>
          </a:p>
        </p:txBody>
      </p:sp>
      <p:sp>
        <p:nvSpPr>
          <p:cNvPr id="26" name="Text 22"/>
          <p:cNvSpPr/>
          <p:nvPr/>
        </p:nvSpPr>
        <p:spPr>
          <a:xfrm>
            <a:off x="533400" y="2044303"/>
            <a:ext cx="342900" cy="519127"/>
          </a:xfrm>
          <a:prstGeom prst="rect">
            <a:avLst/>
          </a:prstGeom>
          <a:solidFill>
            <a:srgbClr val="E8A020">
              <a:alpha val="13000"/>
            </a:srgbClr>
          </a:solidFill>
          <a:ln/>
        </p:spPr>
        <p:txBody>
          <a:bodyPr wrap="none" lIns="0" tIns="0" rIns="0" bIns="0" rtlCol="0" anchor="ctr"/>
          <a:lstStyle/>
          <a:p>
            <a:pPr marL="0" indent="0" algn="ctr">
              <a:buNone/>
            </a:pPr>
            <a:r>
              <a:rPr lang="en-US" sz="1469">
                <a:latin typeface="Calibri Light" pitchFamily="34" charset="0"/>
                <a:ea typeface="Calibri Light" pitchFamily="34" charset="-122"/>
                <a:cs typeface="Calibri Light" pitchFamily="34" charset="-120"/>
              </a:rPr>
              <a:t>3</a:t>
            </a:r>
            <a:endParaRPr lang="en-US" sz="1469"/>
          </a:p>
        </p:txBody>
      </p:sp>
      <p:sp>
        <p:nvSpPr>
          <p:cNvPr id="27" name="Text 23"/>
          <p:cNvSpPr/>
          <p:nvPr/>
        </p:nvSpPr>
        <p:spPr>
          <a:xfrm>
            <a:off x="866775" y="2044303"/>
            <a:ext cx="9525" cy="471934"/>
          </a:xfrm>
          <a:prstGeom prst="rect">
            <a:avLst/>
          </a:prstGeom>
          <a:solidFill>
            <a:srgbClr val="E8A020">
              <a:alpha val="22000"/>
            </a:srgbClr>
          </a:solidFill>
          <a:ln/>
        </p:spPr>
        <p:txBody>
          <a:bodyPr wrap="square" rtlCol="0" anchor="t"/>
          <a:lstStyle/>
          <a:p>
            <a:pPr marL="0" indent="0">
              <a:buNone/>
            </a:pPr>
            <a:endParaRPr lang="en-US" dirty="0"/>
          </a:p>
        </p:txBody>
      </p:sp>
      <p:sp>
        <p:nvSpPr>
          <p:cNvPr id="28" name="Text 24"/>
          <p:cNvSpPr/>
          <p:nvPr/>
        </p:nvSpPr>
        <p:spPr>
          <a:xfrm>
            <a:off x="1266825" y="2044303"/>
            <a:ext cx="9525" cy="471934"/>
          </a:xfrm>
          <a:prstGeom prst="rect">
            <a:avLst/>
          </a:prstGeom>
          <a:solidFill>
            <a:srgbClr val="0D1B3E">
              <a:alpha val="7000"/>
            </a:srgbClr>
          </a:solidFill>
          <a:ln/>
        </p:spPr>
        <p:txBody>
          <a:bodyPr wrap="square" rtlCol="0" anchor="t"/>
          <a:lstStyle/>
          <a:p>
            <a:pPr marL="0" indent="0">
              <a:buNone/>
            </a:pPr>
            <a:endParaRPr lang="en-US" dirty="0"/>
          </a:p>
        </p:txBody>
      </p:sp>
      <p:pic>
        <p:nvPicPr>
          <p:cNvPr id="2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2060" y="2210693"/>
            <a:ext cx="139005" cy="139005"/>
          </a:xfrm>
          <a:prstGeom prst="rect">
            <a:avLst/>
          </a:prstGeom>
        </p:spPr>
      </p:pic>
      <p:sp>
        <p:nvSpPr>
          <p:cNvPr id="30" name="Text 25"/>
          <p:cNvSpPr/>
          <p:nvPr/>
        </p:nvSpPr>
        <p:spPr>
          <a:xfrm>
            <a:off x="1404491" y="2084121"/>
            <a:ext cx="6814140" cy="159990"/>
          </a:xfrm>
          <a:prstGeom prst="rect">
            <a:avLst/>
          </a:prstGeom>
          <a:noFill/>
          <a:ln/>
        </p:spPr>
        <p:txBody>
          <a:bodyPr wrap="none" lIns="0" tIns="0" rIns="0" bIns="0" rtlCol="0" anchor="t"/>
          <a:lstStyle/>
          <a:p>
            <a:pPr marL="0" indent="0" algn="l">
              <a:lnSpc>
                <a:spcPts val="1638"/>
              </a:lnSpc>
              <a:buNone/>
            </a:pPr>
            <a:r>
              <a:rPr lang="en-US" sz="1430" b="1" kern="0" spc="10">
                <a:solidFill>
                  <a:srgbClr val="E8A020"/>
                </a:solidFill>
                <a:latin typeface="Calibri" pitchFamily="34" charset="0"/>
                <a:ea typeface="Calibri" pitchFamily="34" charset="-122"/>
                <a:cs typeface="Calibri" pitchFamily="34" charset="-120"/>
              </a:rPr>
              <a:t>Intelligence Over Instinct</a:t>
            </a:r>
            <a:endParaRPr lang="en-US" sz="1430" b="1"/>
          </a:p>
        </p:txBody>
      </p:sp>
      <p:sp>
        <p:nvSpPr>
          <p:cNvPr id="31" name="Text 26"/>
          <p:cNvSpPr/>
          <p:nvPr/>
        </p:nvSpPr>
        <p:spPr>
          <a:xfrm>
            <a:off x="1404491" y="2307343"/>
            <a:ext cx="4539500" cy="197941"/>
          </a:xfrm>
          <a:prstGeom prst="rect">
            <a:avLst/>
          </a:prstGeom>
          <a:noFill/>
          <a:ln/>
        </p:spPr>
        <p:txBody>
          <a:bodyPr wrap="none" lIns="0" tIns="0" rIns="0" bIns="0" rtlCol="0" anchor="ctr"/>
          <a:lstStyle/>
          <a:p>
            <a:pPr marL="0" indent="0" algn="l">
              <a:lnSpc>
                <a:spcPts val="1439"/>
              </a:lnSpc>
              <a:buNone/>
            </a:pPr>
            <a:r>
              <a:rPr lang="en-US" sz="1365">
                <a:solidFill>
                  <a:srgbClr val="64748B"/>
                </a:solidFill>
                <a:latin typeface="Calibri" pitchFamily="34" charset="0"/>
                <a:ea typeface="Calibri" pitchFamily="34" charset="-122"/>
                <a:cs typeface="Calibri" pitchFamily="34" charset="-120"/>
              </a:rPr>
              <a:t>Data-driven opportunity scoring replaces gut-feel — use your enrollment and outcome data to decide</a:t>
            </a:r>
            <a:endParaRPr lang="en-US" sz="1365"/>
          </a:p>
        </p:txBody>
      </p:sp>
      <p:sp>
        <p:nvSpPr>
          <p:cNvPr id="32" name="Text 27"/>
          <p:cNvSpPr/>
          <p:nvPr/>
        </p:nvSpPr>
        <p:spPr>
          <a:xfrm>
            <a:off x="7737058" y="2076701"/>
            <a:ext cx="851017" cy="184100"/>
          </a:xfrm>
          <a:prstGeom prst="roundRect">
            <a:avLst>
              <a:gd name="adj" fmla="val 77952"/>
            </a:avLst>
          </a:prstGeom>
          <a:solidFill>
            <a:srgbClr val="E8A020">
              <a:alpha val="13000"/>
            </a:srgbClr>
          </a:solidFill>
          <a:ln w="9525">
            <a:solidFill>
              <a:srgbClr val="E8A020">
                <a:alpha val="35000"/>
              </a:srgbClr>
            </a:solidFill>
          </a:ln>
        </p:spPr>
        <p:txBody>
          <a:bodyPr wrap="none" lIns="86360" tIns="29210" rIns="86360" bIns="29210" rtlCol="0" anchor="t"/>
          <a:lstStyle/>
          <a:p>
            <a:pPr marL="0" indent="0" algn="l">
              <a:buNone/>
            </a:pPr>
            <a:r>
              <a:rPr lang="en-US" sz="728" b="1" kern="0" spc="80">
                <a:solidFill>
                  <a:srgbClr val="E8A020"/>
                </a:solidFill>
                <a:latin typeface="Calibri" pitchFamily="34" charset="0"/>
                <a:ea typeface="Calibri" pitchFamily="34" charset="-122"/>
                <a:cs typeface="Calibri" pitchFamily="34" charset="-120"/>
              </a:rPr>
              <a:t>INTELLIGENCE</a:t>
            </a:r>
            <a:endParaRPr lang="en-US" sz="728"/>
          </a:p>
        </p:txBody>
      </p:sp>
      <p:sp>
        <p:nvSpPr>
          <p:cNvPr id="33" name="Text 28"/>
          <p:cNvSpPr/>
          <p:nvPr/>
        </p:nvSpPr>
        <p:spPr>
          <a:xfrm>
            <a:off x="514350" y="2596753"/>
            <a:ext cx="8172450" cy="490984"/>
          </a:xfrm>
          <a:prstGeom prst="roundRect">
            <a:avLst>
              <a:gd name="adj" fmla="val 8795"/>
            </a:avLst>
          </a:prstGeom>
          <a:solidFill>
            <a:srgbClr val="F0F4F8"/>
          </a:solidFill>
          <a:ln/>
        </p:spPr>
        <p:txBody>
          <a:bodyPr wrap="square" rtlCol="0" anchor="t"/>
          <a:lstStyle/>
          <a:p>
            <a:pPr marL="0" indent="0">
              <a:buNone/>
            </a:pPr>
            <a:endParaRPr lang="en-US" dirty="0"/>
          </a:p>
        </p:txBody>
      </p:sp>
      <p:sp>
        <p:nvSpPr>
          <p:cNvPr id="34" name="Text 29"/>
          <p:cNvSpPr/>
          <p:nvPr/>
        </p:nvSpPr>
        <p:spPr>
          <a:xfrm>
            <a:off x="533400" y="2606278"/>
            <a:ext cx="342900" cy="519127"/>
          </a:xfrm>
          <a:prstGeom prst="rect">
            <a:avLst/>
          </a:prstGeom>
          <a:solidFill>
            <a:srgbClr val="E8A020">
              <a:alpha val="13000"/>
            </a:srgbClr>
          </a:solidFill>
          <a:ln/>
        </p:spPr>
        <p:txBody>
          <a:bodyPr wrap="none" lIns="0" tIns="0" rIns="0" bIns="0" rtlCol="0" anchor="ctr"/>
          <a:lstStyle/>
          <a:p>
            <a:pPr marL="0" indent="0" algn="ctr">
              <a:buNone/>
            </a:pPr>
            <a:r>
              <a:rPr lang="en-US" sz="1469">
                <a:latin typeface="Calibri Light" pitchFamily="34" charset="0"/>
                <a:ea typeface="Calibri Light" pitchFamily="34" charset="-122"/>
                <a:cs typeface="Calibri Light" pitchFamily="34" charset="-120"/>
              </a:rPr>
              <a:t>4</a:t>
            </a:r>
            <a:endParaRPr lang="en-US" sz="1469"/>
          </a:p>
        </p:txBody>
      </p:sp>
      <p:sp>
        <p:nvSpPr>
          <p:cNvPr id="35" name="Text 30"/>
          <p:cNvSpPr/>
          <p:nvPr/>
        </p:nvSpPr>
        <p:spPr>
          <a:xfrm>
            <a:off x="866775" y="2606278"/>
            <a:ext cx="9525" cy="471934"/>
          </a:xfrm>
          <a:prstGeom prst="rect">
            <a:avLst/>
          </a:prstGeom>
          <a:solidFill>
            <a:srgbClr val="E8A020">
              <a:alpha val="22000"/>
            </a:srgbClr>
          </a:solidFill>
          <a:ln/>
        </p:spPr>
        <p:txBody>
          <a:bodyPr wrap="square" rtlCol="0" anchor="t"/>
          <a:lstStyle/>
          <a:p>
            <a:pPr marL="0" indent="0">
              <a:buNone/>
            </a:pPr>
            <a:endParaRPr lang="en-US" dirty="0"/>
          </a:p>
        </p:txBody>
      </p:sp>
      <p:sp>
        <p:nvSpPr>
          <p:cNvPr id="36" name="Text 31"/>
          <p:cNvSpPr/>
          <p:nvPr/>
        </p:nvSpPr>
        <p:spPr>
          <a:xfrm>
            <a:off x="1266825" y="2606278"/>
            <a:ext cx="9525" cy="471934"/>
          </a:xfrm>
          <a:prstGeom prst="rect">
            <a:avLst/>
          </a:prstGeom>
          <a:solidFill>
            <a:srgbClr val="0D1B3E">
              <a:alpha val="7000"/>
            </a:srgbClr>
          </a:solidFill>
          <a:ln/>
        </p:spPr>
        <p:txBody>
          <a:bodyPr wrap="square" rtlCol="0" anchor="t"/>
          <a:lstStyle/>
          <a:p>
            <a:pPr marL="0" indent="0">
              <a:buNone/>
            </a:pPr>
            <a:endParaRPr lang="en-US" dirty="0"/>
          </a:p>
        </p:txBody>
      </p:sp>
      <p:pic>
        <p:nvPicPr>
          <p:cNvPr id="3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2060" y="2772668"/>
            <a:ext cx="139005" cy="139005"/>
          </a:xfrm>
          <a:prstGeom prst="rect">
            <a:avLst/>
          </a:prstGeom>
        </p:spPr>
      </p:pic>
      <p:sp>
        <p:nvSpPr>
          <p:cNvPr id="38" name="Text 32"/>
          <p:cNvSpPr/>
          <p:nvPr/>
        </p:nvSpPr>
        <p:spPr>
          <a:xfrm>
            <a:off x="1404491" y="2646096"/>
            <a:ext cx="6677933" cy="159990"/>
          </a:xfrm>
          <a:prstGeom prst="rect">
            <a:avLst/>
          </a:prstGeom>
          <a:noFill/>
          <a:ln/>
        </p:spPr>
        <p:txBody>
          <a:bodyPr wrap="none" lIns="0" tIns="0" rIns="0" bIns="0" rtlCol="0" anchor="t"/>
          <a:lstStyle/>
          <a:p>
            <a:pPr marL="0" indent="0" algn="l">
              <a:lnSpc>
                <a:spcPts val="1638"/>
              </a:lnSpc>
              <a:buNone/>
            </a:pPr>
            <a:r>
              <a:rPr lang="en-US" sz="1430" b="1" kern="0" spc="10">
                <a:solidFill>
                  <a:srgbClr val="E8A020"/>
                </a:solidFill>
                <a:latin typeface="Calibri" pitchFamily="34" charset="0"/>
                <a:ea typeface="Calibri" pitchFamily="34" charset="-122"/>
                <a:cs typeface="Calibri" pitchFamily="34" charset="-120"/>
              </a:rPr>
              <a:t>Portfolio Diversification</a:t>
            </a:r>
            <a:endParaRPr lang="en-US" sz="1430" b="1"/>
          </a:p>
        </p:txBody>
      </p:sp>
      <p:sp>
        <p:nvSpPr>
          <p:cNvPr id="39" name="Text 33"/>
          <p:cNvSpPr/>
          <p:nvPr/>
        </p:nvSpPr>
        <p:spPr>
          <a:xfrm>
            <a:off x="1404492" y="2869318"/>
            <a:ext cx="4448760" cy="197941"/>
          </a:xfrm>
          <a:prstGeom prst="rect">
            <a:avLst/>
          </a:prstGeom>
          <a:noFill/>
          <a:ln/>
        </p:spPr>
        <p:txBody>
          <a:bodyPr wrap="none" lIns="0" tIns="0" rIns="0" bIns="0" rtlCol="0" anchor="ctr"/>
          <a:lstStyle/>
          <a:p>
            <a:pPr marL="0" indent="0" algn="l">
              <a:lnSpc>
                <a:spcPts val="1439"/>
              </a:lnSpc>
              <a:buNone/>
            </a:pPr>
            <a:r>
              <a:rPr lang="en-US" sz="1365">
                <a:solidFill>
                  <a:srgbClr val="64748B"/>
                </a:solidFill>
                <a:latin typeface="Calibri" pitchFamily="34" charset="0"/>
                <a:ea typeface="Calibri" pitchFamily="34" charset="-122"/>
                <a:cs typeface="Calibri" pitchFamily="34" charset="-120"/>
              </a:rPr>
              <a:t>Balance federal, foundation, corporate, and local funding streams</a:t>
            </a:r>
            <a:endParaRPr lang="en-US" sz="1365"/>
          </a:p>
        </p:txBody>
      </p:sp>
      <p:sp>
        <p:nvSpPr>
          <p:cNvPr id="40" name="Text 34"/>
          <p:cNvSpPr/>
          <p:nvPr/>
        </p:nvSpPr>
        <p:spPr>
          <a:xfrm>
            <a:off x="7724748" y="2621951"/>
            <a:ext cx="977319" cy="184100"/>
          </a:xfrm>
          <a:prstGeom prst="roundRect">
            <a:avLst>
              <a:gd name="adj" fmla="val 77952"/>
            </a:avLst>
          </a:prstGeom>
          <a:solidFill>
            <a:srgbClr val="E8A020">
              <a:alpha val="13000"/>
            </a:srgbClr>
          </a:solidFill>
          <a:ln w="9525">
            <a:solidFill>
              <a:srgbClr val="E8A020">
                <a:alpha val="35000"/>
              </a:srgbClr>
            </a:solidFill>
          </a:ln>
        </p:spPr>
        <p:txBody>
          <a:bodyPr wrap="none" lIns="86360" tIns="29210" rIns="86360" bIns="29210" rtlCol="0" anchor="t"/>
          <a:lstStyle/>
          <a:p>
            <a:pPr marL="0" indent="0" algn="l">
              <a:buNone/>
            </a:pPr>
            <a:r>
              <a:rPr lang="en-US" sz="728" b="1" kern="0" spc="80" dirty="0">
                <a:solidFill>
                  <a:srgbClr val="E8A020"/>
                </a:solidFill>
                <a:latin typeface="Calibri" pitchFamily="34" charset="0"/>
                <a:ea typeface="Calibri" pitchFamily="34" charset="-122"/>
                <a:cs typeface="Calibri" pitchFamily="34" charset="-120"/>
              </a:rPr>
              <a:t>DIVERSIFICATION</a:t>
            </a:r>
            <a:endParaRPr lang="en-US" sz="728" dirty="0"/>
          </a:p>
        </p:txBody>
      </p:sp>
      <p:sp>
        <p:nvSpPr>
          <p:cNvPr id="41" name="Text 35"/>
          <p:cNvSpPr/>
          <p:nvPr/>
        </p:nvSpPr>
        <p:spPr>
          <a:xfrm>
            <a:off x="514350" y="3158728"/>
            <a:ext cx="8172450" cy="490984"/>
          </a:xfrm>
          <a:prstGeom prst="roundRect">
            <a:avLst>
              <a:gd name="adj" fmla="val 8795"/>
            </a:avLst>
          </a:prstGeom>
          <a:solidFill>
            <a:srgbClr val="F0F4F8"/>
          </a:solidFill>
          <a:ln/>
        </p:spPr>
        <p:txBody>
          <a:bodyPr wrap="square" rtlCol="0" anchor="t"/>
          <a:lstStyle/>
          <a:p>
            <a:pPr marL="0" indent="0">
              <a:buNone/>
            </a:pPr>
            <a:endParaRPr lang="en-US" dirty="0"/>
          </a:p>
        </p:txBody>
      </p:sp>
      <p:sp>
        <p:nvSpPr>
          <p:cNvPr id="42" name="Text 36"/>
          <p:cNvSpPr/>
          <p:nvPr/>
        </p:nvSpPr>
        <p:spPr>
          <a:xfrm>
            <a:off x="533400" y="3168253"/>
            <a:ext cx="342900" cy="519127"/>
          </a:xfrm>
          <a:prstGeom prst="rect">
            <a:avLst/>
          </a:prstGeom>
          <a:solidFill>
            <a:srgbClr val="E8A020">
              <a:alpha val="13000"/>
            </a:srgbClr>
          </a:solidFill>
          <a:ln/>
        </p:spPr>
        <p:txBody>
          <a:bodyPr wrap="none" lIns="0" tIns="0" rIns="0" bIns="0" rtlCol="0" anchor="ctr"/>
          <a:lstStyle/>
          <a:p>
            <a:pPr marL="0" indent="0" algn="ctr">
              <a:buNone/>
            </a:pPr>
            <a:r>
              <a:rPr lang="en-US" sz="1469">
                <a:latin typeface="Calibri Light" pitchFamily="34" charset="0"/>
                <a:ea typeface="Calibri Light" pitchFamily="34" charset="-122"/>
                <a:cs typeface="Calibri Light" pitchFamily="34" charset="-120"/>
              </a:rPr>
              <a:t>5</a:t>
            </a:r>
            <a:endParaRPr lang="en-US" sz="1469"/>
          </a:p>
        </p:txBody>
      </p:sp>
      <p:sp>
        <p:nvSpPr>
          <p:cNvPr id="43" name="Text 37"/>
          <p:cNvSpPr/>
          <p:nvPr/>
        </p:nvSpPr>
        <p:spPr>
          <a:xfrm>
            <a:off x="866775" y="3168253"/>
            <a:ext cx="9525" cy="471934"/>
          </a:xfrm>
          <a:prstGeom prst="rect">
            <a:avLst/>
          </a:prstGeom>
          <a:solidFill>
            <a:srgbClr val="E8A020">
              <a:alpha val="22000"/>
            </a:srgbClr>
          </a:solidFill>
          <a:ln/>
        </p:spPr>
        <p:txBody>
          <a:bodyPr wrap="square" rtlCol="0" anchor="t"/>
          <a:lstStyle/>
          <a:p>
            <a:pPr marL="0" indent="0">
              <a:buNone/>
            </a:pPr>
            <a:endParaRPr lang="en-US" dirty="0"/>
          </a:p>
        </p:txBody>
      </p:sp>
      <p:sp>
        <p:nvSpPr>
          <p:cNvPr id="44" name="Text 38"/>
          <p:cNvSpPr/>
          <p:nvPr/>
        </p:nvSpPr>
        <p:spPr>
          <a:xfrm>
            <a:off x="1266825" y="3168253"/>
            <a:ext cx="9525" cy="471934"/>
          </a:xfrm>
          <a:prstGeom prst="rect">
            <a:avLst/>
          </a:prstGeom>
          <a:solidFill>
            <a:srgbClr val="0D1B3E">
              <a:alpha val="7000"/>
            </a:srgbClr>
          </a:solidFill>
          <a:ln/>
        </p:spPr>
        <p:txBody>
          <a:bodyPr wrap="square" rtlCol="0" anchor="t"/>
          <a:lstStyle/>
          <a:p>
            <a:pPr marL="0" indent="0">
              <a:buNone/>
            </a:pPr>
            <a:endParaRPr lang="en-US" dirty="0"/>
          </a:p>
        </p:txBody>
      </p:sp>
      <p:pic>
        <p:nvPicPr>
          <p:cNvPr id="4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02060" y="3334643"/>
            <a:ext cx="139005" cy="139005"/>
          </a:xfrm>
          <a:prstGeom prst="rect">
            <a:avLst/>
          </a:prstGeom>
        </p:spPr>
      </p:pic>
      <p:sp>
        <p:nvSpPr>
          <p:cNvPr id="46" name="Text 39"/>
          <p:cNvSpPr/>
          <p:nvPr/>
        </p:nvSpPr>
        <p:spPr>
          <a:xfrm>
            <a:off x="1404491" y="3208071"/>
            <a:ext cx="7023690" cy="159990"/>
          </a:xfrm>
          <a:prstGeom prst="rect">
            <a:avLst/>
          </a:prstGeom>
          <a:noFill/>
          <a:ln/>
        </p:spPr>
        <p:txBody>
          <a:bodyPr wrap="none" lIns="0" tIns="0" rIns="0" bIns="0" rtlCol="0" anchor="t"/>
          <a:lstStyle/>
          <a:p>
            <a:pPr marL="0" indent="0" algn="l">
              <a:lnSpc>
                <a:spcPts val="1638"/>
              </a:lnSpc>
              <a:buNone/>
            </a:pPr>
            <a:r>
              <a:rPr lang="en-US" sz="1430" b="1" kern="0" spc="10">
                <a:solidFill>
                  <a:srgbClr val="E8A020"/>
                </a:solidFill>
                <a:latin typeface="Calibri" pitchFamily="34" charset="0"/>
                <a:ea typeface="Calibri" pitchFamily="34" charset="-122"/>
                <a:cs typeface="Calibri" pitchFamily="34" charset="-120"/>
              </a:rPr>
              <a:t>Continuous Learning</a:t>
            </a:r>
            <a:endParaRPr lang="en-US" sz="1430" b="1"/>
          </a:p>
        </p:txBody>
      </p:sp>
      <p:sp>
        <p:nvSpPr>
          <p:cNvPr id="47" name="Text 40"/>
          <p:cNvSpPr/>
          <p:nvPr/>
        </p:nvSpPr>
        <p:spPr>
          <a:xfrm>
            <a:off x="1404491" y="3431293"/>
            <a:ext cx="4679100" cy="197941"/>
          </a:xfrm>
          <a:prstGeom prst="rect">
            <a:avLst/>
          </a:prstGeom>
          <a:noFill/>
          <a:ln/>
        </p:spPr>
        <p:txBody>
          <a:bodyPr wrap="none" lIns="0" tIns="0" rIns="0" bIns="0" rtlCol="0" anchor="ctr"/>
          <a:lstStyle/>
          <a:p>
            <a:pPr marL="0" indent="0" algn="l">
              <a:lnSpc>
                <a:spcPts val="1439"/>
              </a:lnSpc>
              <a:buNone/>
            </a:pPr>
            <a:r>
              <a:rPr lang="en-US" sz="1365">
                <a:solidFill>
                  <a:srgbClr val="64748B"/>
                </a:solidFill>
                <a:latin typeface="Calibri" pitchFamily="34" charset="0"/>
                <a:ea typeface="Calibri" pitchFamily="34" charset="-122"/>
                <a:cs typeface="Calibri" pitchFamily="34" charset="-120"/>
              </a:rPr>
              <a:t>Every grant cycle — win or lose — produces intelligence for the next one</a:t>
            </a:r>
            <a:endParaRPr lang="en-US" sz="1365"/>
          </a:p>
        </p:txBody>
      </p:sp>
      <p:sp>
        <p:nvSpPr>
          <p:cNvPr id="48" name="Text 41"/>
          <p:cNvSpPr/>
          <p:nvPr/>
        </p:nvSpPr>
        <p:spPr>
          <a:xfrm>
            <a:off x="7754714" y="3172780"/>
            <a:ext cx="656707" cy="184100"/>
          </a:xfrm>
          <a:prstGeom prst="roundRect">
            <a:avLst>
              <a:gd name="adj" fmla="val 77952"/>
            </a:avLst>
          </a:prstGeom>
          <a:solidFill>
            <a:srgbClr val="E8A020">
              <a:alpha val="13000"/>
            </a:srgbClr>
          </a:solidFill>
          <a:ln w="9525">
            <a:solidFill>
              <a:srgbClr val="E8A020">
                <a:alpha val="35000"/>
              </a:srgbClr>
            </a:solidFill>
          </a:ln>
        </p:spPr>
        <p:txBody>
          <a:bodyPr wrap="none" lIns="86360" tIns="29210" rIns="86360" bIns="29210" rtlCol="0" anchor="t"/>
          <a:lstStyle/>
          <a:p>
            <a:pPr marL="0" indent="0" algn="l">
              <a:buNone/>
            </a:pPr>
            <a:r>
              <a:rPr lang="en-US" sz="728" b="1" kern="0" spc="80">
                <a:solidFill>
                  <a:srgbClr val="E8A020"/>
                </a:solidFill>
                <a:latin typeface="Calibri" pitchFamily="34" charset="0"/>
                <a:ea typeface="Calibri" pitchFamily="34" charset="-122"/>
                <a:cs typeface="Calibri" pitchFamily="34" charset="-120"/>
              </a:rPr>
              <a:t>LEARNING</a:t>
            </a:r>
            <a:endParaRPr lang="en-US" sz="728"/>
          </a:p>
        </p:txBody>
      </p:sp>
      <p:sp>
        <p:nvSpPr>
          <p:cNvPr id="49" name="Text 42"/>
          <p:cNvSpPr/>
          <p:nvPr/>
        </p:nvSpPr>
        <p:spPr>
          <a:xfrm>
            <a:off x="-114872" y="4751338"/>
            <a:ext cx="9144000" cy="409277"/>
          </a:xfrm>
          <a:prstGeom prst="rect">
            <a:avLst/>
          </a:prstGeom>
          <a:solidFill>
            <a:srgbClr val="E8A020">
              <a:alpha val="10000"/>
            </a:srgbClr>
          </a:solidFill>
          <a:ln/>
        </p:spPr>
        <p:txBody>
          <a:bodyPr wrap="none" lIns="0" tIns="0" rIns="0" bIns="0" rtlCol="0" anchor="ctr"/>
          <a:lstStyle/>
          <a:p>
            <a:pPr marL="0" indent="0" algn="ctr">
              <a:buNone/>
            </a:pPr>
            <a:r>
              <a:rPr lang="en-US" sz="1560" kern="0" spc="10">
                <a:latin typeface="Calibri Light" pitchFamily="34" charset="0"/>
                <a:ea typeface="Calibri Light" pitchFamily="34" charset="-122"/>
                <a:cs typeface="Calibri Light" pitchFamily="34" charset="-120"/>
              </a:rPr>
              <a:t>These principles are embedded in everything you will build today.</a:t>
            </a:r>
            <a:endParaRPr lang="en-US" sz="1560"/>
          </a:p>
        </p:txBody>
      </p:sp>
      <p:sp>
        <p:nvSpPr>
          <p:cNvPr id="50" name="Text 43"/>
          <p:cNvSpPr/>
          <p:nvPr/>
        </p:nvSpPr>
        <p:spPr>
          <a:xfrm>
            <a:off x="0" y="4771430"/>
            <a:ext cx="9144000" cy="9525"/>
          </a:xfrm>
          <a:prstGeom prst="rect">
            <a:avLst/>
          </a:prstGeom>
          <a:solidFill>
            <a:srgbClr val="E8A020"/>
          </a:solidFill>
          <a:ln/>
        </p:spPr>
        <p:txBody>
          <a:bodyPr wrap="none" rtlCol="0" anchor="t"/>
          <a:lstStyle/>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Learning Check 1.1">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1</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1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 community-based fatherhood program director learns about a $200,000 foundation grant with a 3-week deadline. Despite the grant requiring workforce development services the program doesn’t currently offer, the director pulls staff from existing programs to write the proposal. Which funding trap does this scenario BEST illustrate?</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The Single-Funder Trap — because the program is dependent on one funding source</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The Last-Minute Trap — because the program is scrambling under a tight deadline</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The Misalignment Trap — because the program is pursuing funds that don’t fit its current model or evidence base</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The Capacity Drain Trap — because the program is stretching staff beyond their bandwidth</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1.1</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Learning Check 1.2">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1</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2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 Responsible Fatherhood practitioner argues that their program’s reactive grant-seeking approach works fine because they’ve won 3 out of 5 recent proposals. According to the session content on reactive funding costs, what is the MOST significant hidden cost this practitioner is likely overlooking?</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The program is probably spending too much on indirect overhead costs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Repeated reactive cycles may be causing mission drift and staff burnout even when grants are won</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Federal funders will eventually stop accepting applications from reactive organizations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The program’s proposal writing quality will naturally decline with each submission cycle</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1.2</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Learning Check 1.3">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1</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3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 fatherhood program receives 85% of its funding from a single OFA HMRF grant. The program director wants to begin shifting toward a proactive funding posture. Based on the five strategic principles that guide proactive programs, which action should the director prioritize FIRST?</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Hire a full-time grant writer to increase the volume of proposal submissions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Begin applying to every available foundation grant to diversify the portfolio quickly</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Invest in a new data management system to improve outcome tracking capabilities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Clarify the program’s theory of change so that every funding decision is mission-driven</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1.3</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7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200203" y="94835"/>
            <a:ext cx="9144000" cy="5143500"/>
          </a:xfrm>
          <a:prstGeom prst="rect">
            <a:avLst/>
          </a:prstGeom>
          <a:gradFill rotWithShape="1">
            <a:gsLst>
              <a:gs pos="0">
                <a:srgbClr val="E8A020">
                  <a:alpha val="7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7571780" y="0"/>
            <a:ext cx="1572220" cy="1572220"/>
          </a:xfrm>
          <a:prstGeom prst="rect">
            <a:avLst/>
          </a:prstGeom>
          <a:gradFill rotWithShape="1">
            <a:gsLst>
              <a:gs pos="0">
                <a:srgbClr val="E8A020">
                  <a:alpha val="9000"/>
                </a:srgbClr>
              </a:gs>
              <a:gs pos="70000">
                <a:srgbClr val="000000">
                  <a:alpha val="0"/>
                </a:srgbClr>
              </a:gs>
            </a:gsLst>
            <a:path path="circle">
              <a:fillToRect t="100000" r="100000"/>
            </a:path>
          </a:gradFill>
          <a:ln/>
        </p:spPr>
        <p:txBody>
          <a:bodyPr wrap="square" rtlCol="0" anchor="t"/>
          <a:lstStyle/>
          <a:p>
            <a:pPr marL="0" indent="0">
              <a:buNone/>
            </a:pPr>
            <a:endParaRPr lang="en-US" dirty="0"/>
          </a:p>
        </p:txBody>
      </p:sp>
      <p:sp>
        <p:nvSpPr>
          <p:cNvPr id="5" name="Text 3"/>
          <p:cNvSpPr/>
          <p:nvPr/>
        </p:nvSpPr>
        <p:spPr>
          <a:xfrm>
            <a:off x="0" y="3857030"/>
            <a:ext cx="1286470" cy="1286470"/>
          </a:xfrm>
          <a:prstGeom prst="rect">
            <a:avLst/>
          </a:prstGeom>
          <a:gradFill rotWithShape="1">
            <a:gsLst>
              <a:gs pos="0">
                <a:srgbClr val="E8A020">
                  <a:alpha val="6000"/>
                </a:srgbClr>
              </a:gs>
              <a:gs pos="70000">
                <a:srgbClr val="000000">
                  <a:alpha val="0"/>
                </a:srgbClr>
              </a:gs>
            </a:gsLst>
            <a:path path="circle">
              <a:fillToRect l="100000" b="100000"/>
            </a:path>
          </a:gradFill>
          <a:ln/>
        </p:spPr>
        <p:txBody>
          <a:bodyPr wrap="square" rtlCol="0" anchor="t"/>
          <a:lstStyle/>
          <a:p>
            <a:pPr marL="0" indent="0">
              <a:buNone/>
            </a:pPr>
            <a:endParaRPr lang="en-US" dirty="0"/>
          </a:p>
        </p:txBody>
      </p:sp>
      <p:sp>
        <p:nvSpPr>
          <p:cNvPr id="6" name="Text 4"/>
          <p:cNvSpPr/>
          <p:nvPr/>
        </p:nvSpPr>
        <p:spPr>
          <a:xfrm>
            <a:off x="3571875" y="1491615"/>
            <a:ext cx="2000250" cy="2000250"/>
          </a:xfrm>
          <a:prstGeom prst="ellipse">
            <a:avLst/>
          </a:prstGeom>
          <a:noFill/>
          <a:ln w="9525">
            <a:solidFill>
              <a:srgbClr val="E8A020">
                <a:alpha val="15000"/>
              </a:srgbClr>
            </a:solidFill>
            <a:prstDash val="dash"/>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7" name="Text 5"/>
          <p:cNvSpPr/>
          <p:nvPr/>
        </p:nvSpPr>
        <p:spPr>
          <a:xfrm>
            <a:off x="3214390" y="1105531"/>
            <a:ext cx="2715220" cy="2715220"/>
          </a:xfrm>
          <a:prstGeom prst="ellipse">
            <a:avLst/>
          </a:prstGeom>
          <a:noFill/>
          <a:ln w="9525">
            <a:solidFill>
              <a:srgbClr val="E8A020">
                <a:alpha val="15000"/>
              </a:srgbClr>
            </a:solidFill>
            <a:prstDash val="dash"/>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8" name="Text 6"/>
          <p:cNvSpPr/>
          <p:nvPr/>
        </p:nvSpPr>
        <p:spPr>
          <a:xfrm>
            <a:off x="2822004" y="681755"/>
            <a:ext cx="3499991" cy="3499991"/>
          </a:xfrm>
          <a:prstGeom prst="ellipse">
            <a:avLst/>
          </a:prstGeom>
          <a:noFill/>
          <a:ln w="9525">
            <a:solidFill>
              <a:srgbClr val="E8A020">
                <a:alpha val="15000"/>
              </a:srgbClr>
            </a:solidFill>
            <a:prstDash val="dash"/>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9" name="Text 7"/>
          <p:cNvSpPr/>
          <p:nvPr/>
        </p:nvSpPr>
        <p:spPr>
          <a:xfrm>
            <a:off x="2393379" y="218840"/>
            <a:ext cx="4357241" cy="4357241"/>
          </a:xfrm>
          <a:prstGeom prst="ellipse">
            <a:avLst/>
          </a:prstGeom>
          <a:noFill/>
          <a:ln w="9525">
            <a:solidFill>
              <a:srgbClr val="E8A020">
                <a:alpha val="15000"/>
              </a:srgbClr>
            </a:solidFill>
            <a:prstDash val="dash"/>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10" name="Text 8"/>
          <p:cNvSpPr/>
          <p:nvPr/>
        </p:nvSpPr>
        <p:spPr>
          <a:xfrm>
            <a:off x="2990999" y="1006005"/>
            <a:ext cx="3000970" cy="3000970"/>
          </a:xfrm>
          <a:prstGeom prst="ellipse">
            <a:avLst/>
          </a:prstGeom>
          <a:gradFill rotWithShape="1">
            <a:gsLst>
              <a:gs pos="0">
                <a:srgbClr val="E8A020">
                  <a:alpha val="13000"/>
                </a:srgbClr>
              </a:gs>
              <a:gs pos="45000">
                <a:srgbClr val="E8A020">
                  <a:alpha val="4000"/>
                </a:srgbClr>
              </a:gs>
              <a:gs pos="72000">
                <a:srgbClr val="000000">
                  <a:alpha val="0"/>
                </a:srgbClr>
              </a:gs>
            </a:gsLst>
            <a:path path="circle">
              <a:fillToRect l="50000" t="50000" r="50000" b="50000"/>
            </a:path>
          </a:gradFill>
          <a:ln/>
        </p:spPr>
        <p:txBody>
          <a:bodyPr wrap="square" rtlCol="0" anchor="t"/>
          <a:lstStyle/>
          <a:p>
            <a:pPr marL="0" indent="0">
              <a:buNone/>
            </a:pPr>
            <a:endParaRPr lang="en-US" dirty="0"/>
          </a:p>
        </p:txBody>
      </p:sp>
      <p:pic>
        <p:nvPicPr>
          <p:cNvPr id="11" name="Image 0" descr="preencoded.png"/>
          <p:cNvPicPr>
            <a:picLocks noChangeAspect="1"/>
          </p:cNvPicPr>
          <p:nvPr/>
        </p:nvPicPr>
        <p:blipFill>
          <a:blip>
            <a:alphaModFix amt="18000"/>
            <a:extLst>
              <a:ext uri="{96DAC541-7B7A-43D3-8B79-37D633B846F1}">
                <asvg:svgBlip xmlns:asvg="http://schemas.microsoft.com/office/drawing/2016/SVG/main" r:embed="rId3"/>
              </a:ext>
            </a:extLst>
          </a:blip>
          <a:stretch>
            <a:fillRect/>
          </a:stretch>
        </p:blipFill>
        <p:spPr>
          <a:xfrm>
            <a:off x="7750969" y="642491"/>
            <a:ext cx="750540" cy="750540"/>
          </a:xfrm>
          <a:prstGeom prst="rect">
            <a:avLst/>
          </a:prstGeom>
        </p:spPr>
      </p:pic>
      <p:pic>
        <p:nvPicPr>
          <p:cNvPr id="12" name="Image 1" descr="preencoded.png"/>
          <p:cNvPicPr>
            <a:picLocks noChangeAspect="1"/>
          </p:cNvPicPr>
          <p:nvPr/>
        </p:nvPicPr>
        <p:blipFill>
          <a:blip>
            <a:alphaModFix amt="35000"/>
            <a:extLst>
              <a:ext uri="{96DAC541-7B7A-43D3-8B79-37D633B846F1}">
                <asvg:svgBlip xmlns:asvg="http://schemas.microsoft.com/office/drawing/2016/SVG/main" r:embed="rId4"/>
              </a:ext>
            </a:extLst>
          </a:blip>
          <a:stretch>
            <a:fillRect/>
          </a:stretch>
        </p:blipFill>
        <p:spPr>
          <a:xfrm>
            <a:off x="457200" y="429220"/>
            <a:ext cx="428625" cy="428625"/>
          </a:xfrm>
          <a:prstGeom prst="rect">
            <a:avLst/>
          </a:prstGeom>
        </p:spPr>
      </p:pic>
      <p:pic>
        <p:nvPicPr>
          <p:cNvPr id="13" name="Image 2" descr="preencoded.png"/>
          <p:cNvPicPr>
            <a:picLocks noChangeAspect="1"/>
          </p:cNvPicPr>
          <p:nvPr/>
        </p:nvPicPr>
        <p:blipFill>
          <a:blip>
            <a:alphaModFix amt="35000"/>
            <a:extLst>
              <a:ext uri="{96DAC541-7B7A-43D3-8B79-37D633B846F1}">
                <asvg:svgBlip xmlns:asvg="http://schemas.microsoft.com/office/drawing/2016/SVG/main" r:embed="rId5"/>
              </a:ext>
            </a:extLst>
          </a:blip>
          <a:stretch>
            <a:fillRect/>
          </a:stretch>
        </p:blipFill>
        <p:spPr>
          <a:xfrm>
            <a:off x="8258175" y="4342805"/>
            <a:ext cx="428625" cy="428625"/>
          </a:xfrm>
          <a:prstGeom prst="rect">
            <a:avLst/>
          </a:prstGeom>
        </p:spPr>
      </p:pic>
      <p:sp>
        <p:nvSpPr>
          <p:cNvPr id="14" name="Text 9"/>
          <p:cNvSpPr/>
          <p:nvPr/>
        </p:nvSpPr>
        <p:spPr>
          <a:xfrm>
            <a:off x="683568" y="2114922"/>
            <a:ext cx="120381" cy="959339"/>
          </a:xfrm>
          <a:prstGeom prst="rect">
            <a:avLst/>
          </a:prstGeom>
          <a:noFill/>
          <a:ln/>
        </p:spPr>
        <p:txBody>
          <a:bodyPr wrap="square" lIns="0" tIns="0" rIns="0" bIns="0" rtlCol="0" anchor="t"/>
          <a:lstStyle/>
          <a:p>
            <a:pPr marL="0" indent="0" algn="l">
              <a:lnSpc>
                <a:spcPts val="930"/>
              </a:lnSpc>
              <a:buNone/>
            </a:pPr>
            <a:r>
              <a:rPr lang="en-US" sz="620" kern="0" spc="170" dirty="0">
                <a:solidFill>
                  <a:srgbClr val="8FA3C8">
                    <a:alpha val="50000"/>
                  </a:srgbClr>
                </a:solidFill>
                <a:latin typeface="Calibri" pitchFamily="34" charset="0"/>
                <a:ea typeface="Calibri" pitchFamily="34" charset="-122"/>
                <a:cs typeface="Calibri" pitchFamily="34" charset="-120"/>
              </a:rPr>
              <a:t>SECTION 2 OF 5</a:t>
            </a:r>
            <a:endParaRPr lang="en-US" sz="620" dirty="0"/>
          </a:p>
        </p:txBody>
      </p:sp>
      <p:sp>
        <p:nvSpPr>
          <p:cNvPr id="15" name="Text 10"/>
          <p:cNvSpPr/>
          <p:nvPr/>
        </p:nvSpPr>
        <p:spPr>
          <a:xfrm>
            <a:off x="4203204" y="1110853"/>
            <a:ext cx="774472" cy="1428750"/>
          </a:xfrm>
          <a:prstGeom prst="rect">
            <a:avLst/>
          </a:prstGeom>
          <a:noFill/>
          <a:ln/>
        </p:spPr>
        <p:txBody>
          <a:bodyPr wrap="none" lIns="0" tIns="0" rIns="0" bIns="0" rtlCol="0" anchor="t"/>
          <a:lstStyle/>
          <a:p>
            <a:pPr marL="0" indent="0" algn="l">
              <a:lnSpc>
                <a:spcPts val="11250"/>
              </a:lnSpc>
              <a:buNone/>
            </a:pPr>
            <a:r>
              <a:rPr lang="en-US" sz="11250" b="1" kern="0" spc="-450" dirty="0">
                <a:solidFill>
                  <a:srgbClr val="E8A020"/>
                </a:solidFill>
                <a:effectLst>
                  <a:glow rad="2143125">
                    <a:srgbClr val="E8A020">
                      <a:alpha val="6000"/>
                    </a:srgbClr>
                  </a:glow>
                </a:effectLst>
                <a:latin typeface="Calibri Light" pitchFamily="34" charset="0"/>
                <a:ea typeface="Calibri Light" pitchFamily="34" charset="-122"/>
                <a:cs typeface="Calibri Light" pitchFamily="34" charset="-120"/>
              </a:rPr>
              <a:t>2</a:t>
            </a:r>
            <a:endParaRPr lang="en-US" sz="11250" dirty="0"/>
          </a:p>
        </p:txBody>
      </p:sp>
      <p:sp>
        <p:nvSpPr>
          <p:cNvPr id="16" name="Text 11"/>
          <p:cNvSpPr/>
          <p:nvPr/>
        </p:nvSpPr>
        <p:spPr>
          <a:xfrm>
            <a:off x="0" y="0"/>
            <a:ext cx="9144000" cy="29170"/>
          </a:xfrm>
          <a:prstGeom prst="rect">
            <a:avLst/>
          </a:prstGeom>
          <a:gradFill rotWithShape="1">
            <a:gsLst>
              <a:gs pos="0">
                <a:srgbClr val="000000">
                  <a:alpha val="0"/>
                </a:srgbClr>
              </a:gs>
              <a:gs pos="30000">
                <a:srgbClr val="E8A020"/>
              </a:gs>
              <a:gs pos="70000">
                <a:srgbClr val="E8A020"/>
              </a:gs>
              <a:gs pos="100000">
                <a:srgbClr val="000000">
                  <a:alpha val="0"/>
                </a:srgbClr>
              </a:gs>
            </a:gsLst>
            <a:lin ang="0" scaled="1"/>
          </a:gradFill>
          <a:ln/>
        </p:spPr>
        <p:txBody>
          <a:bodyPr wrap="none" rtlCol="0" anchor="t"/>
          <a:lstStyle/>
          <a:p>
            <a:pPr marL="0" indent="0">
              <a:buNone/>
            </a:pPr>
            <a:endParaRPr lang="en-US" dirty="0"/>
          </a:p>
        </p:txBody>
      </p:sp>
      <p:sp>
        <p:nvSpPr>
          <p:cNvPr id="17" name="Text 12"/>
          <p:cNvSpPr/>
          <p:nvPr/>
        </p:nvSpPr>
        <p:spPr>
          <a:xfrm>
            <a:off x="0" y="5114330"/>
            <a:ext cx="9144000" cy="29170"/>
          </a:xfrm>
          <a:prstGeom prst="rect">
            <a:avLst/>
          </a:prstGeom>
          <a:gradFill rotWithShape="1">
            <a:gsLst>
              <a:gs pos="0">
                <a:srgbClr val="000000">
                  <a:alpha val="0"/>
                </a:srgbClr>
              </a:gs>
              <a:gs pos="30000">
                <a:srgbClr val="E8A020"/>
              </a:gs>
              <a:gs pos="70000">
                <a:srgbClr val="E8A020"/>
              </a:gs>
              <a:gs pos="100000">
                <a:srgbClr val="000000">
                  <a:alpha val="0"/>
                </a:srgbClr>
              </a:gs>
            </a:gsLst>
            <a:lin ang="0" scaled="1"/>
          </a:gradFill>
          <a:ln/>
        </p:spPr>
        <p:txBody>
          <a:bodyPr wrap="none" rtlCol="0" anchor="t"/>
          <a:lstStyle/>
          <a:p>
            <a:pPr marL="0" indent="0">
              <a:buNone/>
            </a:pPr>
            <a:endParaRPr lang="en-US" dirty="0"/>
          </a:p>
        </p:txBody>
      </p:sp>
      <p:sp>
        <p:nvSpPr>
          <p:cNvPr id="18" name="Text 13"/>
          <p:cNvSpPr/>
          <p:nvPr/>
        </p:nvSpPr>
        <p:spPr>
          <a:xfrm>
            <a:off x="4207520" y="837307"/>
            <a:ext cx="728960" cy="238036"/>
          </a:xfrm>
          <a:prstGeom prst="roundRect">
            <a:avLst>
              <a:gd name="adj" fmla="val 60289"/>
            </a:avLst>
          </a:prstGeom>
          <a:solidFill>
            <a:srgbClr val="E8A020">
              <a:alpha val="8000"/>
            </a:srgbClr>
          </a:solidFill>
          <a:ln w="9525">
            <a:solidFill>
              <a:srgbClr val="E8A020">
                <a:alpha val="55000"/>
              </a:srgbClr>
            </a:solidFill>
          </a:ln>
        </p:spPr>
        <p:txBody>
          <a:bodyPr wrap="none" lIns="0" tIns="0" rIns="0" bIns="0" rtlCol="0" anchor="ctr"/>
          <a:lstStyle/>
          <a:p>
            <a:pPr marL="0" indent="0" algn="ctr">
              <a:buNone/>
            </a:pPr>
            <a:r>
              <a:rPr lang="en-US" sz="730" b="1" dirty="0">
                <a:solidFill>
                  <a:srgbClr val="E8A020"/>
                </a:solidFill>
                <a:latin typeface="Calibri" pitchFamily="34" charset="0"/>
                <a:ea typeface="Calibri" pitchFamily="34" charset="-122"/>
                <a:cs typeface="Calibri" pitchFamily="34" charset="-120"/>
              </a:rPr>
              <a:t>SECTION</a:t>
            </a:r>
            <a:endParaRPr lang="en-US" sz="730" dirty="0"/>
          </a:p>
        </p:txBody>
      </p:sp>
      <p:sp>
        <p:nvSpPr>
          <p:cNvPr id="19" name="Text 14"/>
          <p:cNvSpPr/>
          <p:nvPr/>
        </p:nvSpPr>
        <p:spPr>
          <a:xfrm>
            <a:off x="2857500" y="2582763"/>
            <a:ext cx="3429000" cy="13841"/>
          </a:xfrm>
          <a:prstGeom prst="rect">
            <a:avLst/>
          </a:prstGeom>
          <a:gradFill rotWithShape="1">
            <a:gsLst>
              <a:gs pos="0">
                <a:srgbClr val="000000">
                  <a:alpha val="0"/>
                </a:srgbClr>
              </a:gs>
              <a:gs pos="50000">
                <a:srgbClr val="E8A020"/>
              </a:gs>
              <a:gs pos="100000">
                <a:srgbClr val="000000">
                  <a:alpha val="0"/>
                </a:srgbClr>
              </a:gs>
            </a:gsLst>
            <a:lin ang="0" scaled="1"/>
          </a:gradFill>
          <a:ln/>
        </p:spPr>
        <p:txBody>
          <a:bodyPr wrap="none" rtlCol="0" anchor="t"/>
          <a:lstStyle/>
          <a:p>
            <a:pPr marL="0" indent="0">
              <a:buNone/>
            </a:pPr>
            <a:endParaRPr lang="en-US" dirty="0"/>
          </a:p>
        </p:txBody>
      </p:sp>
      <p:sp>
        <p:nvSpPr>
          <p:cNvPr id="20" name="Text 15"/>
          <p:cNvSpPr/>
          <p:nvPr/>
        </p:nvSpPr>
        <p:spPr>
          <a:xfrm>
            <a:off x="1483864" y="2816202"/>
            <a:ext cx="6267105" cy="394937"/>
          </a:xfrm>
          <a:prstGeom prst="rect">
            <a:avLst/>
          </a:prstGeom>
          <a:noFill/>
          <a:ln/>
        </p:spPr>
        <p:txBody>
          <a:bodyPr wrap="square" lIns="0" tIns="0" rIns="0" bIns="0" rtlCol="0" anchor="t"/>
          <a:lstStyle/>
          <a:p>
            <a:pPr marL="0" indent="0" algn="ctr">
              <a:lnSpc>
                <a:spcPts val="2568"/>
              </a:lnSpc>
              <a:spcAft>
                <a:spcPts val="560"/>
              </a:spcAft>
              <a:buNone/>
            </a:pPr>
            <a:r>
              <a:rPr lang="en-US" sz="2800" kern="0" spc="30" dirty="0">
                <a:solidFill>
                  <a:srgbClr val="F0F4FF"/>
                </a:solidFill>
                <a:latin typeface="Calibri Light" pitchFamily="34" charset="0"/>
                <a:ea typeface="Calibri Light" pitchFamily="34" charset="-122"/>
                <a:cs typeface="Calibri Light" pitchFamily="34" charset="-120"/>
              </a:rPr>
              <a:t>The Funding Surveillance &amp; Response System</a:t>
            </a:r>
            <a:endParaRPr lang="en-US" sz="2800" dirty="0"/>
          </a:p>
        </p:txBody>
      </p:sp>
      <p:sp>
        <p:nvSpPr>
          <p:cNvPr id="21" name="Text 16"/>
          <p:cNvSpPr/>
          <p:nvPr/>
        </p:nvSpPr>
        <p:spPr>
          <a:xfrm>
            <a:off x="2093423" y="3626679"/>
            <a:ext cx="5077822" cy="203746"/>
          </a:xfrm>
          <a:prstGeom prst="rect">
            <a:avLst/>
          </a:prstGeom>
          <a:noFill/>
          <a:ln/>
        </p:spPr>
        <p:txBody>
          <a:bodyPr wrap="none" lIns="0" tIns="0" rIns="0" bIns="0" rtlCol="0" anchor="t"/>
          <a:lstStyle/>
          <a:p>
            <a:pPr marL="0" indent="0" algn="ctr">
              <a:lnSpc>
                <a:spcPts val="1605"/>
              </a:lnSpc>
              <a:spcAft>
                <a:spcPts val="1800"/>
              </a:spcAft>
              <a:buNone/>
            </a:pPr>
            <a:r>
              <a:rPr lang="en-US" sz="1200" kern="0" spc="20" dirty="0">
                <a:solidFill>
                  <a:srgbClr val="8FA3C8"/>
                </a:solidFill>
                <a:latin typeface="Calibri" pitchFamily="34" charset="0"/>
                <a:ea typeface="Calibri" pitchFamily="34" charset="-122"/>
                <a:cs typeface="Calibri" pitchFamily="34" charset="-120"/>
              </a:rPr>
              <a:t>FSR System  — A Proactive Architecture for Responsible Fatherhood Programs</a:t>
            </a:r>
            <a:endParaRPr lang="en-US" sz="1200" dirty="0"/>
          </a:p>
        </p:txBody>
      </p:sp>
      <p:sp>
        <p:nvSpPr>
          <p:cNvPr id="22" name="Text 17"/>
          <p:cNvSpPr/>
          <p:nvPr/>
        </p:nvSpPr>
        <p:spPr>
          <a:xfrm>
            <a:off x="2857500" y="3952726"/>
            <a:ext cx="3429000" cy="13841"/>
          </a:xfrm>
          <a:prstGeom prst="rect">
            <a:avLst/>
          </a:prstGeom>
          <a:gradFill rotWithShape="1">
            <a:gsLst>
              <a:gs pos="0">
                <a:srgbClr val="000000">
                  <a:alpha val="0"/>
                </a:srgbClr>
              </a:gs>
              <a:gs pos="50000">
                <a:srgbClr val="E8A020"/>
              </a:gs>
              <a:gs pos="100000">
                <a:srgbClr val="000000">
                  <a:alpha val="0"/>
                </a:srgbClr>
              </a:gs>
            </a:gsLst>
            <a:lin ang="0" scaled="1"/>
          </a:gradFill>
          <a:ln/>
        </p:spPr>
        <p:txBody>
          <a:bodyPr wrap="none" rtlCol="0" anchor="t"/>
          <a:lstStyle/>
          <a:p>
            <a:pPr marL="0" indent="0">
              <a:buNone/>
            </a:pPr>
            <a:endParaRPr lang="en-US" dirty="0"/>
          </a:p>
        </p:txBody>
      </p:sp>
      <p:sp>
        <p:nvSpPr>
          <p:cNvPr id="23" name="Text 18"/>
          <p:cNvSpPr/>
          <p:nvPr/>
        </p:nvSpPr>
        <p:spPr>
          <a:xfrm>
            <a:off x="2872600" y="4167188"/>
            <a:ext cx="630123" cy="139005"/>
          </a:xfrm>
          <a:prstGeom prst="rect">
            <a:avLst/>
          </a:prstGeom>
          <a:noFill/>
          <a:ln/>
        </p:spPr>
        <p:txBody>
          <a:bodyPr wrap="none" lIns="0" tIns="0" rIns="0" bIns="0" rtlCol="0" anchor="ctr"/>
          <a:lstStyle/>
          <a:p>
            <a:pPr marL="0" indent="0" algn="l">
              <a:lnSpc>
                <a:spcPts val="1095"/>
              </a:lnSpc>
              <a:buNone/>
            </a:pPr>
            <a:r>
              <a:rPr lang="en-US" sz="730" b="1" dirty="0">
                <a:solidFill>
                  <a:srgbClr val="E8A020"/>
                </a:solidFill>
                <a:latin typeface="Calibri" pitchFamily="34" charset="0"/>
                <a:ea typeface="Calibri" pitchFamily="34" charset="-122"/>
                <a:cs typeface="Calibri" pitchFamily="34" charset="-120"/>
              </a:rPr>
              <a:t>FUNDING</a:t>
            </a:r>
            <a:endParaRPr lang="en-US" sz="730" dirty="0"/>
          </a:p>
        </p:txBody>
      </p:sp>
      <p:sp>
        <p:nvSpPr>
          <p:cNvPr id="24" name="Text 19"/>
          <p:cNvSpPr/>
          <p:nvPr/>
        </p:nvSpPr>
        <p:spPr>
          <a:xfrm>
            <a:off x="0" y="4186535"/>
            <a:ext cx="0" cy="0"/>
          </a:xfrm>
          <a:prstGeom prst="rect">
            <a:avLst/>
          </a:prstGeom>
          <a:solidFill>
            <a:srgbClr val="E8A020">
              <a:alpha val="0"/>
            </a:srgbClr>
          </a:solidFill>
          <a:ln/>
        </p:spPr>
        <p:txBody>
          <a:bodyPr wrap="none" rtlCol="0" anchor="t"/>
          <a:lstStyle/>
          <a:p>
            <a:pPr marL="0" indent="0">
              <a:buNone/>
            </a:pPr>
            <a:endParaRPr lang="en-US" dirty="0"/>
          </a:p>
        </p:txBody>
      </p:sp>
      <p:sp>
        <p:nvSpPr>
          <p:cNvPr id="25" name="Text 20"/>
          <p:cNvSpPr/>
          <p:nvPr/>
        </p:nvSpPr>
        <p:spPr>
          <a:xfrm>
            <a:off x="0" y="4167188"/>
            <a:ext cx="0" cy="0"/>
          </a:xfrm>
          <a:prstGeom prst="rect">
            <a:avLst/>
          </a:prstGeom>
          <a:noFill/>
          <a:ln/>
        </p:spPr>
        <p:txBody>
          <a:bodyPr wrap="none" lIns="0" tIns="0" rIns="0" bIns="0" rtlCol="0" anchor="ctr"/>
          <a:lstStyle/>
          <a:p>
            <a:pPr marL="0" indent="0" algn="l">
              <a:lnSpc>
                <a:spcPts val="1095"/>
              </a:lnSpc>
              <a:buNone/>
            </a:pPr>
            <a:endParaRPr lang="en-US" sz="730" dirty="0"/>
          </a:p>
        </p:txBody>
      </p:sp>
      <p:sp>
        <p:nvSpPr>
          <p:cNvPr id="26" name="Text 21"/>
          <p:cNvSpPr/>
          <p:nvPr/>
        </p:nvSpPr>
        <p:spPr>
          <a:xfrm>
            <a:off x="3516723" y="4186535"/>
            <a:ext cx="7590" cy="100310"/>
          </a:xfrm>
          <a:prstGeom prst="rect">
            <a:avLst/>
          </a:prstGeom>
          <a:solidFill>
            <a:srgbClr val="E8A020">
              <a:alpha val="40000"/>
            </a:srgbClr>
          </a:solidFill>
          <a:ln/>
        </p:spPr>
        <p:txBody>
          <a:bodyPr wrap="none" rtlCol="0" anchor="t"/>
          <a:lstStyle/>
          <a:p>
            <a:pPr marL="0" indent="0">
              <a:buNone/>
            </a:pPr>
            <a:endParaRPr lang="en-US" dirty="0"/>
          </a:p>
        </p:txBody>
      </p:sp>
      <p:sp>
        <p:nvSpPr>
          <p:cNvPr id="27" name="Text 22"/>
          <p:cNvSpPr/>
          <p:nvPr/>
        </p:nvSpPr>
        <p:spPr>
          <a:xfrm>
            <a:off x="4063662" y="4144241"/>
            <a:ext cx="612206" cy="189833"/>
          </a:xfrm>
          <a:prstGeom prst="rect">
            <a:avLst/>
          </a:prstGeom>
          <a:noFill/>
          <a:ln/>
        </p:spPr>
        <p:txBody>
          <a:bodyPr wrap="none" lIns="0" tIns="0" rIns="0" bIns="0" rtlCol="0" anchor="ctr"/>
          <a:lstStyle/>
          <a:p>
            <a:pPr marL="0" indent="0" algn="l">
              <a:lnSpc>
                <a:spcPts val="1095"/>
              </a:lnSpc>
              <a:buNone/>
            </a:pPr>
            <a:r>
              <a:rPr lang="en-US" sz="730" b="1" dirty="0">
                <a:solidFill>
                  <a:srgbClr val="E8A020"/>
                </a:solidFill>
                <a:latin typeface="Calibri" pitchFamily="34" charset="0"/>
                <a:ea typeface="Calibri" pitchFamily="34" charset="-122"/>
                <a:cs typeface="Calibri" pitchFamily="34" charset="-120"/>
              </a:rPr>
              <a:t>SURVEILLANCE</a:t>
            </a:r>
            <a:endParaRPr lang="en-US" sz="730" dirty="0"/>
          </a:p>
        </p:txBody>
      </p:sp>
      <p:sp>
        <p:nvSpPr>
          <p:cNvPr id="28" name="Text 23"/>
          <p:cNvSpPr/>
          <p:nvPr/>
        </p:nvSpPr>
        <p:spPr>
          <a:xfrm>
            <a:off x="4684566" y="4186535"/>
            <a:ext cx="7590" cy="100310"/>
          </a:xfrm>
          <a:prstGeom prst="rect">
            <a:avLst/>
          </a:prstGeom>
          <a:solidFill>
            <a:srgbClr val="E8A020">
              <a:alpha val="40000"/>
            </a:srgbClr>
          </a:solidFill>
          <a:ln/>
        </p:spPr>
        <p:txBody>
          <a:bodyPr wrap="none" rtlCol="0" anchor="t"/>
          <a:lstStyle/>
          <a:p>
            <a:pPr marL="0" indent="0">
              <a:buNone/>
            </a:pPr>
            <a:endParaRPr lang="en-US" dirty="0"/>
          </a:p>
        </p:txBody>
      </p:sp>
      <p:sp>
        <p:nvSpPr>
          <p:cNvPr id="29" name="Text 24"/>
          <p:cNvSpPr/>
          <p:nvPr/>
        </p:nvSpPr>
        <p:spPr>
          <a:xfrm>
            <a:off x="4651642" y="4186535"/>
            <a:ext cx="513275" cy="123408"/>
          </a:xfrm>
          <a:prstGeom prst="rect">
            <a:avLst/>
          </a:prstGeom>
          <a:noFill/>
          <a:ln/>
        </p:spPr>
        <p:txBody>
          <a:bodyPr wrap="none" lIns="0" tIns="0" rIns="0" bIns="0" rtlCol="0" anchor="ctr"/>
          <a:lstStyle/>
          <a:p>
            <a:pPr marL="0" indent="0" algn="l">
              <a:lnSpc>
                <a:spcPts val="1095"/>
              </a:lnSpc>
              <a:buNone/>
            </a:pPr>
            <a:r>
              <a:rPr lang="en-US" sz="730" b="1" dirty="0">
                <a:solidFill>
                  <a:srgbClr val="E8A020"/>
                </a:solidFill>
                <a:latin typeface="Calibri" pitchFamily="34" charset="0"/>
                <a:ea typeface="Calibri" pitchFamily="34" charset="-122"/>
                <a:cs typeface="Calibri" pitchFamily="34" charset="-120"/>
              </a:rPr>
              <a:t>&amp; RESPONSE</a:t>
            </a:r>
            <a:endParaRPr lang="en-US" sz="730" dirty="0"/>
          </a:p>
        </p:txBody>
      </p:sp>
      <p:sp>
        <p:nvSpPr>
          <p:cNvPr id="30" name="Text 25"/>
          <p:cNvSpPr/>
          <p:nvPr/>
        </p:nvSpPr>
        <p:spPr>
          <a:xfrm>
            <a:off x="5682477" y="4186535"/>
            <a:ext cx="7590" cy="100310"/>
          </a:xfrm>
          <a:prstGeom prst="rect">
            <a:avLst/>
          </a:prstGeom>
          <a:solidFill>
            <a:srgbClr val="E8A020">
              <a:alpha val="40000"/>
            </a:srgbClr>
          </a:solidFill>
          <a:ln/>
        </p:spPr>
        <p:txBody>
          <a:bodyPr wrap="none" rtlCol="0" anchor="t"/>
          <a:lstStyle/>
          <a:p>
            <a:pPr marL="0" indent="0">
              <a:buNone/>
            </a:pPr>
            <a:endParaRPr lang="en-US" dirty="0"/>
          </a:p>
        </p:txBody>
      </p:sp>
      <p:sp>
        <p:nvSpPr>
          <p:cNvPr id="31" name="Text 26"/>
          <p:cNvSpPr/>
          <p:nvPr/>
        </p:nvSpPr>
        <p:spPr>
          <a:xfrm>
            <a:off x="5761067" y="4167188"/>
            <a:ext cx="561201" cy="139005"/>
          </a:xfrm>
          <a:prstGeom prst="rect">
            <a:avLst/>
          </a:prstGeom>
          <a:noFill/>
          <a:ln/>
        </p:spPr>
        <p:txBody>
          <a:bodyPr wrap="none" lIns="0" tIns="0" rIns="0" bIns="0" rtlCol="0" anchor="ctr"/>
          <a:lstStyle/>
          <a:p>
            <a:pPr marL="0" indent="0" algn="l">
              <a:lnSpc>
                <a:spcPts val="1095"/>
              </a:lnSpc>
              <a:buNone/>
            </a:pPr>
            <a:r>
              <a:rPr lang="en-US" sz="730" b="1" dirty="0">
                <a:solidFill>
                  <a:srgbClr val="E8A020"/>
                </a:solidFill>
                <a:latin typeface="Calibri" pitchFamily="34" charset="0"/>
                <a:ea typeface="Calibri" pitchFamily="34" charset="-122"/>
                <a:cs typeface="Calibri" pitchFamily="34" charset="-120"/>
              </a:rPr>
              <a:t>SYSTEM</a:t>
            </a:r>
            <a:endParaRPr lang="en-US" sz="730" dirty="0"/>
          </a:p>
        </p:txBody>
      </p:sp>
      <p:sp>
        <p:nvSpPr>
          <p:cNvPr id="32" name="Text 27"/>
          <p:cNvSpPr/>
          <p:nvPr/>
        </p:nvSpPr>
        <p:spPr>
          <a:xfrm>
            <a:off x="8096399" y="228600"/>
            <a:ext cx="718795" cy="206871"/>
          </a:xfrm>
          <a:prstGeom prst="roundRect">
            <a:avLst>
              <a:gd name="adj" fmla="val 41746"/>
            </a:avLst>
          </a:prstGeom>
          <a:solidFill>
            <a:srgbClr val="E8A020">
              <a:alpha val="4000"/>
            </a:srgbClr>
          </a:solidFill>
          <a:ln w="9525">
            <a:solidFill>
              <a:srgbClr val="E8A020">
                <a:alpha val="30000"/>
              </a:srgbClr>
            </a:solidFill>
          </a:ln>
        </p:spPr>
        <p:txBody>
          <a:bodyPr wrap="none" lIns="86360" tIns="29210" rIns="86360" bIns="29210" rtlCol="0" anchor="t"/>
          <a:lstStyle/>
          <a:p>
            <a:pPr marL="0" indent="0" algn="l">
              <a:buNone/>
            </a:pPr>
            <a:r>
              <a:rPr lang="en-US" sz="680" b="1" kern="0" spc="80" dirty="0">
                <a:solidFill>
                  <a:srgbClr val="E8A020"/>
                </a:solidFill>
                <a:latin typeface="Calibri" pitchFamily="34" charset="0"/>
                <a:ea typeface="Calibri" pitchFamily="34" charset="-122"/>
                <a:cs typeface="Calibri" pitchFamily="34" charset="-120"/>
              </a:rPr>
              <a:t>MIN 18–37</a:t>
            </a:r>
            <a:endParaRPr lang="en-US" sz="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7000"/>
                </a:srgbClr>
              </a:gs>
              <a:gs pos="100000">
                <a:srgbClr val="000000">
                  <a:alpha val="0"/>
                </a:srgbClr>
              </a:gs>
            </a:gsLst>
            <a:lin ang="5400000" scaled="1"/>
          </a:gradFill>
          <a:ln/>
        </p:spPr>
        <p:txBody>
          <a:bodyPr wrap="square" rtlCol="0" anchor="t"/>
          <a:lstStyle/>
          <a:p>
            <a:pPr marL="0" indent="0">
              <a:buNone/>
            </a:pPr>
            <a:endParaRPr lang="en-US" dirty="0"/>
          </a:p>
        </p:txBody>
      </p:sp>
      <p:sp>
        <p:nvSpPr>
          <p:cNvPr id="4" name="Text 2"/>
          <p:cNvSpPr/>
          <p:nvPr/>
        </p:nvSpPr>
        <p:spPr>
          <a:xfrm>
            <a:off x="4572000" y="2571750"/>
            <a:ext cx="4572000" cy="2571750"/>
          </a:xfrm>
          <a:prstGeom prst="ellipse">
            <a:avLst/>
          </a:prstGeom>
          <a:gradFill rotWithShape="1">
            <a:gsLst>
              <a:gs pos="0">
                <a:srgbClr val="E8A020">
                  <a:alpha val="7000"/>
                </a:srgbClr>
              </a:gs>
              <a:gs pos="50000">
                <a:srgbClr val="E8A020">
                  <a:alpha val="2000"/>
                </a:srgbClr>
              </a:gs>
              <a:gs pos="75000">
                <a:srgbClr val="000000">
                  <a:alpha val="0"/>
                </a:srgbClr>
              </a:gs>
            </a:gsLst>
            <a:path path="circle">
              <a:fillToRect l="50000" t="50000" r="50000" b="50000"/>
            </a:path>
          </a:gradFill>
          <a:ln/>
        </p:spPr>
        <p:txBody>
          <a:bodyPr wrap="square" rtlCol="0" anchor="t"/>
          <a:lstStyle/>
          <a:p>
            <a:pPr marL="0" indent="0">
              <a:buNone/>
            </a:pPr>
            <a:endParaRPr lang="en-US"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6858000" cy="3857625"/>
          </a:xfrm>
          <a:prstGeom prst="rect">
            <a:avLst/>
          </a:prstGeom>
        </p:spPr>
      </p:pic>
      <p:sp>
        <p:nvSpPr>
          <p:cNvPr id="6" name="Text 3"/>
          <p:cNvSpPr/>
          <p:nvPr/>
        </p:nvSpPr>
        <p:spPr>
          <a:xfrm>
            <a:off x="3342014" y="214080"/>
            <a:ext cx="3019755" cy="273555"/>
          </a:xfrm>
          <a:prstGeom prst="rect">
            <a:avLst/>
          </a:prstGeom>
          <a:noFill/>
          <a:ln/>
        </p:spPr>
        <p:txBody>
          <a:bodyPr wrap="none" lIns="0" tIns="0" rIns="0" bIns="0" rtlCol="0" anchor="ctr"/>
          <a:lstStyle/>
          <a:p>
            <a:pPr marL="0" indent="0" algn="ctr">
              <a:lnSpc>
                <a:spcPts val="1326"/>
              </a:lnSpc>
              <a:buNone/>
            </a:pPr>
            <a:r>
              <a:rPr lang="en-US" sz="1300" b="1" kern="0" spc="170" dirty="0">
                <a:solidFill>
                  <a:srgbClr val="64748B"/>
                </a:solidFill>
                <a:latin typeface="Calibri" pitchFamily="34" charset="0"/>
                <a:ea typeface="Calibri" pitchFamily="34" charset="-122"/>
                <a:cs typeface="Calibri" pitchFamily="34" charset="-120"/>
              </a:rPr>
              <a:t>FSR System — CORE DEFINITION</a:t>
            </a:r>
            <a:endParaRPr lang="en-US" sz="1300" dirty="0"/>
          </a:p>
        </p:txBody>
      </p:sp>
      <p:sp>
        <p:nvSpPr>
          <p:cNvPr id="7" name="Text 4"/>
          <p:cNvSpPr/>
          <p:nvPr/>
        </p:nvSpPr>
        <p:spPr>
          <a:xfrm>
            <a:off x="7422207" y="314920"/>
            <a:ext cx="1453917" cy="118021"/>
          </a:xfrm>
          <a:prstGeom prst="rect">
            <a:avLst/>
          </a:prstGeom>
          <a:noFill/>
          <a:ln/>
        </p:spPr>
        <p:txBody>
          <a:bodyPr wrap="none" lIns="0" tIns="0" rIns="0" bIns="0" rtlCol="0" anchor="t"/>
          <a:lstStyle/>
          <a:p>
            <a:pPr marL="0" indent="0" algn="l">
              <a:lnSpc>
                <a:spcPts val="1209"/>
              </a:lnSpc>
              <a:buNone/>
            </a:pPr>
            <a:r>
              <a:rPr lang="en-US" sz="806" b="1" kern="0" spc="140">
                <a:solidFill>
                  <a:srgbClr val="B87810">
                    <a:alpha val="65000"/>
                  </a:srgbClr>
                </a:solidFill>
                <a:latin typeface="Calibri" pitchFamily="34" charset="0"/>
                <a:ea typeface="Calibri" pitchFamily="34" charset="-122"/>
                <a:cs typeface="Calibri" pitchFamily="34" charset="-120"/>
              </a:rPr>
              <a:t>SECTION 2  ·  MIN 19–21</a:t>
            </a:r>
            <a:endParaRPr lang="en-US" sz="806"/>
          </a:p>
        </p:txBody>
      </p:sp>
      <p:sp>
        <p:nvSpPr>
          <p:cNvPr id="8" name="Text 5"/>
          <p:cNvSpPr/>
          <p:nvPr/>
        </p:nvSpPr>
        <p:spPr>
          <a:xfrm>
            <a:off x="4422949" y="486370"/>
            <a:ext cx="313008" cy="1000720"/>
          </a:xfrm>
          <a:prstGeom prst="rect">
            <a:avLst/>
          </a:prstGeom>
          <a:noFill/>
          <a:ln/>
        </p:spPr>
        <p:txBody>
          <a:bodyPr wrap="none" lIns="0" tIns="0" rIns="0" bIns="0" rtlCol="0" anchor="t"/>
          <a:lstStyle/>
          <a:p>
            <a:pPr marL="0" indent="0" algn="l">
              <a:lnSpc>
                <a:spcPts val="7880"/>
              </a:lnSpc>
              <a:buNone/>
            </a:pPr>
            <a:r>
              <a:rPr lang="en-US" sz="7880" kern="0" spc="-450" dirty="0">
                <a:solidFill>
                  <a:srgbClr val="E8A020">
                    <a:alpha val="15000"/>
                  </a:srgbClr>
                </a:solidFill>
                <a:latin typeface="Calibri Light" pitchFamily="34" charset="0"/>
                <a:ea typeface="Calibri Light" pitchFamily="34" charset="-122"/>
                <a:cs typeface="Calibri Light" pitchFamily="34" charset="-120"/>
              </a:rPr>
              <a:t>"</a:t>
            </a:r>
            <a:endParaRPr lang="en-US" sz="7880" dirty="0"/>
          </a:p>
        </p:txBody>
      </p:sp>
      <p:sp>
        <p:nvSpPr>
          <p:cNvPr id="9" name="Text 6"/>
          <p:cNvSpPr/>
          <p:nvPr/>
        </p:nvSpPr>
        <p:spPr>
          <a:xfrm>
            <a:off x="4343400" y="2849761"/>
            <a:ext cx="457200" cy="13841"/>
          </a:xfrm>
          <a:prstGeom prst="rect">
            <a:avLst/>
          </a:prstGeom>
          <a:solidFill>
            <a:srgbClr val="E8A020">
              <a:alpha val="70000"/>
            </a:srgbClr>
          </a:solidFill>
          <a:ln/>
        </p:spPr>
        <p:txBody>
          <a:bodyPr wrap="none" rtlCol="0" anchor="t"/>
          <a:lstStyle/>
          <a:p>
            <a:pPr marL="0" indent="0">
              <a:buNone/>
            </a:pPr>
            <a:endParaRPr lang="en-US" dirty="0"/>
          </a:p>
        </p:txBody>
      </p:sp>
      <p:sp>
        <p:nvSpPr>
          <p:cNvPr id="10" name="Text 7"/>
          <p:cNvSpPr/>
          <p:nvPr/>
        </p:nvSpPr>
        <p:spPr>
          <a:xfrm>
            <a:off x="2813097" y="3003750"/>
            <a:ext cx="3532711" cy="223532"/>
          </a:xfrm>
          <a:prstGeom prst="rect">
            <a:avLst/>
          </a:prstGeom>
          <a:noFill/>
          <a:ln/>
        </p:spPr>
        <p:txBody>
          <a:bodyPr wrap="none" lIns="0" tIns="0" rIns="0" bIns="0" rtlCol="0" anchor="t"/>
          <a:lstStyle/>
          <a:p>
            <a:pPr marL="0" indent="0" algn="ctr">
              <a:lnSpc>
                <a:spcPts val="1638"/>
              </a:lnSpc>
              <a:buNone/>
            </a:pPr>
            <a:r>
              <a:rPr lang="en-US" sz="1300" kern="0" spc="17" dirty="0">
                <a:solidFill>
                  <a:srgbClr val="64748B"/>
                </a:solidFill>
                <a:latin typeface="Calibri" pitchFamily="34" charset="0"/>
                <a:ea typeface="Calibri" pitchFamily="34" charset="-122"/>
                <a:cs typeface="Calibri" pitchFamily="34" charset="-120"/>
              </a:rPr>
              <a:t>— NPCL &amp; Analytica Expanded Framework, 2026</a:t>
            </a:r>
            <a:endParaRPr lang="en-US" sz="1300" dirty="0"/>
          </a:p>
        </p:txBody>
      </p:sp>
      <p:sp>
        <p:nvSpPr>
          <p:cNvPr id="11" name="Text 8"/>
          <p:cNvSpPr/>
          <p:nvPr/>
        </p:nvSpPr>
        <p:spPr>
          <a:xfrm>
            <a:off x="1822549" y="3438823"/>
            <a:ext cx="1338310" cy="298996"/>
          </a:xfrm>
          <a:prstGeom prst="roundRect">
            <a:avLst>
              <a:gd name="adj" fmla="val 9769"/>
            </a:avLst>
          </a:prstGeom>
          <a:solidFill>
            <a:srgbClr val="E8A020">
              <a:alpha val="10000"/>
            </a:srgbClr>
          </a:solidFill>
          <a:ln w="9525">
            <a:solidFill>
              <a:srgbClr val="E8A020"/>
            </a:solidFill>
          </a:ln>
        </p:spPr>
        <p:txBody>
          <a:bodyPr wrap="none" lIns="308521" tIns="64770" rIns="171450" bIns="64770" rtlCol="0" anchor="ctr"/>
          <a:lstStyle/>
          <a:p>
            <a:pPr marL="0" indent="0" algn="l">
              <a:buNone/>
            </a:pPr>
            <a:r>
              <a:rPr lang="en-US" sz="1027" b="1" kern="0" spc="110">
                <a:solidFill>
                  <a:srgbClr val="B07010"/>
                </a:solidFill>
                <a:latin typeface="Calibri" pitchFamily="34" charset="0"/>
                <a:ea typeface="Calibri" pitchFamily="34" charset="-122"/>
                <a:cs typeface="Calibri" pitchFamily="34" charset="-120"/>
              </a:rPr>
              <a:t>CONTINUOUS</a:t>
            </a:r>
            <a:endParaRPr lang="en-US" sz="1027"/>
          </a:p>
        </p:txBody>
      </p:sp>
      <p:pic>
        <p:nvPicPr>
          <p:cNvPr id="12" name="Image 1" descr="preencoded.png"/>
          <p:cNvPicPr>
            <a:picLocks noChangeAspect="1"/>
          </p:cNvPicPr>
          <p:nvPr/>
        </p:nvPicPr>
        <p:blipFill>
          <a:blip>
            <a:alphaModFix amt="85000"/>
            <a:extLst>
              <a:ext uri="{96DAC541-7B7A-43D3-8B79-37D633B846F1}">
                <asvg:svgBlip xmlns:asvg="http://schemas.microsoft.com/office/drawing/2016/SVG/main" r:embed="rId4"/>
              </a:ext>
            </a:extLst>
          </a:blip>
          <a:stretch>
            <a:fillRect/>
          </a:stretch>
        </p:blipFill>
        <p:spPr>
          <a:xfrm>
            <a:off x="1977191" y="3522027"/>
            <a:ext cx="132588" cy="132588"/>
          </a:xfrm>
          <a:prstGeom prst="rect">
            <a:avLst/>
          </a:prstGeom>
        </p:spPr>
      </p:pic>
      <p:sp>
        <p:nvSpPr>
          <p:cNvPr id="13" name="Text 9"/>
          <p:cNvSpPr/>
          <p:nvPr/>
        </p:nvSpPr>
        <p:spPr>
          <a:xfrm>
            <a:off x="3278088" y="3566666"/>
            <a:ext cx="43160" cy="43160"/>
          </a:xfrm>
          <a:prstGeom prst="ellipse">
            <a:avLst/>
          </a:prstGeom>
          <a:solidFill>
            <a:srgbClr val="E8A020">
              <a:alpha val="40000"/>
            </a:srgbClr>
          </a:solidFill>
          <a:ln/>
        </p:spPr>
        <p:txBody>
          <a:bodyPr wrap="none" rtlCol="0" anchor="t"/>
          <a:lstStyle/>
          <a:p>
            <a:pPr marL="0" indent="0">
              <a:buNone/>
            </a:pPr>
            <a:endParaRPr lang="en-US" dirty="0"/>
          </a:p>
        </p:txBody>
      </p:sp>
      <p:sp>
        <p:nvSpPr>
          <p:cNvPr id="14" name="Text 10"/>
          <p:cNvSpPr/>
          <p:nvPr/>
        </p:nvSpPr>
        <p:spPr>
          <a:xfrm>
            <a:off x="3464719" y="3438823"/>
            <a:ext cx="1949020" cy="298996"/>
          </a:xfrm>
          <a:prstGeom prst="roundRect">
            <a:avLst>
              <a:gd name="adj" fmla="val 9769"/>
            </a:avLst>
          </a:prstGeom>
          <a:solidFill>
            <a:srgbClr val="E8A020">
              <a:alpha val="10000"/>
            </a:srgbClr>
          </a:solidFill>
          <a:ln w="9525">
            <a:solidFill>
              <a:srgbClr val="E8A020"/>
            </a:solidFill>
          </a:ln>
        </p:spPr>
        <p:txBody>
          <a:bodyPr wrap="none" lIns="308521" tIns="64770" rIns="171450" bIns="64770" rtlCol="0" anchor="ctr"/>
          <a:lstStyle/>
          <a:p>
            <a:pPr marL="0" indent="0" algn="l">
              <a:buNone/>
            </a:pPr>
            <a:r>
              <a:rPr lang="en-US" sz="1027" b="1" kern="0" spc="110">
                <a:solidFill>
                  <a:srgbClr val="B07010"/>
                </a:solidFill>
                <a:latin typeface="Calibri" pitchFamily="34" charset="0"/>
                <a:ea typeface="Calibri" pitchFamily="34" charset="-122"/>
                <a:cs typeface="Calibri" pitchFamily="34" charset="-120"/>
              </a:rPr>
              <a:t>INTELLIGENCE-DRIVEN</a:t>
            </a:r>
            <a:endParaRPr lang="en-US" sz="1027"/>
          </a:p>
        </p:txBody>
      </p:sp>
      <p:pic>
        <p:nvPicPr>
          <p:cNvPr id="15" name="Image 2" descr="preencoded.png"/>
          <p:cNvPicPr>
            <a:picLocks noChangeAspect="1"/>
          </p:cNvPicPr>
          <p:nvPr/>
        </p:nvPicPr>
        <p:blipFill>
          <a:blip>
            <a:alphaModFix amt="85000"/>
            <a:extLst>
              <a:ext uri="{96DAC541-7B7A-43D3-8B79-37D633B846F1}">
                <asvg:svgBlip xmlns:asvg="http://schemas.microsoft.com/office/drawing/2016/SVG/main" r:embed="rId5"/>
              </a:ext>
            </a:extLst>
          </a:blip>
          <a:stretch>
            <a:fillRect/>
          </a:stretch>
        </p:blipFill>
        <p:spPr>
          <a:xfrm>
            <a:off x="3619360" y="3522027"/>
            <a:ext cx="132588" cy="132588"/>
          </a:xfrm>
          <a:prstGeom prst="rect">
            <a:avLst/>
          </a:prstGeom>
        </p:spPr>
      </p:pic>
      <p:sp>
        <p:nvSpPr>
          <p:cNvPr id="16" name="Text 11"/>
          <p:cNvSpPr/>
          <p:nvPr/>
        </p:nvSpPr>
        <p:spPr>
          <a:xfrm>
            <a:off x="5518993" y="3566666"/>
            <a:ext cx="43160" cy="43160"/>
          </a:xfrm>
          <a:prstGeom prst="ellipse">
            <a:avLst/>
          </a:prstGeom>
          <a:solidFill>
            <a:srgbClr val="E8A020">
              <a:alpha val="40000"/>
            </a:srgbClr>
          </a:solidFill>
          <a:ln/>
        </p:spPr>
        <p:txBody>
          <a:bodyPr wrap="none" rtlCol="0" anchor="t"/>
          <a:lstStyle/>
          <a:p>
            <a:pPr marL="0" indent="0">
              <a:buNone/>
            </a:pPr>
            <a:endParaRPr lang="en-US" dirty="0"/>
          </a:p>
        </p:txBody>
      </p:sp>
      <p:sp>
        <p:nvSpPr>
          <p:cNvPr id="17" name="Text 12"/>
          <p:cNvSpPr/>
          <p:nvPr/>
        </p:nvSpPr>
        <p:spPr>
          <a:xfrm>
            <a:off x="5705624" y="3438823"/>
            <a:ext cx="1647992" cy="298996"/>
          </a:xfrm>
          <a:prstGeom prst="roundRect">
            <a:avLst>
              <a:gd name="adj" fmla="val 9769"/>
            </a:avLst>
          </a:prstGeom>
          <a:solidFill>
            <a:srgbClr val="E8A020">
              <a:alpha val="10000"/>
            </a:srgbClr>
          </a:solidFill>
          <a:ln w="9525">
            <a:solidFill>
              <a:srgbClr val="E8A020"/>
            </a:solidFill>
          </a:ln>
        </p:spPr>
        <p:txBody>
          <a:bodyPr wrap="none" lIns="308521" tIns="64770" rIns="171450" bIns="64770" rtlCol="0" anchor="ctr"/>
          <a:lstStyle/>
          <a:p>
            <a:pPr marL="0" indent="0" algn="l">
              <a:buNone/>
            </a:pPr>
            <a:r>
              <a:rPr lang="en-US" sz="1027" b="1" kern="0" spc="110">
                <a:solidFill>
                  <a:srgbClr val="B07010"/>
                </a:solidFill>
                <a:latin typeface="Calibri" pitchFamily="34" charset="0"/>
                <a:ea typeface="Calibri" pitchFamily="34" charset="-122"/>
                <a:cs typeface="Calibri" pitchFamily="34" charset="-120"/>
              </a:rPr>
              <a:t>MISSION-ALIGNED</a:t>
            </a:r>
            <a:endParaRPr lang="en-US" sz="1027"/>
          </a:p>
        </p:txBody>
      </p:sp>
      <p:pic>
        <p:nvPicPr>
          <p:cNvPr id="18" name="Image 3" descr="preencoded.png"/>
          <p:cNvPicPr>
            <a:picLocks noChangeAspect="1"/>
          </p:cNvPicPr>
          <p:nvPr/>
        </p:nvPicPr>
        <p:blipFill>
          <a:blip>
            <a:alphaModFix amt="85000"/>
            <a:extLst>
              <a:ext uri="{96DAC541-7B7A-43D3-8B79-37D633B846F1}">
                <asvg:svgBlip xmlns:asvg="http://schemas.microsoft.com/office/drawing/2016/SVG/main" r:embed="rId6"/>
              </a:ext>
            </a:extLst>
          </a:blip>
          <a:stretch>
            <a:fillRect/>
          </a:stretch>
        </p:blipFill>
        <p:spPr>
          <a:xfrm>
            <a:off x="5860265" y="3522027"/>
            <a:ext cx="132588" cy="132588"/>
          </a:xfrm>
          <a:prstGeom prst="rect">
            <a:avLst/>
          </a:prstGeom>
        </p:spPr>
      </p:pic>
      <p:sp>
        <p:nvSpPr>
          <p:cNvPr id="19" name="Text 13"/>
          <p:cNvSpPr/>
          <p:nvPr/>
        </p:nvSpPr>
        <p:spPr>
          <a:xfrm>
            <a:off x="0" y="5114330"/>
            <a:ext cx="9144000" cy="29170"/>
          </a:xfrm>
          <a:prstGeom prst="rect">
            <a:avLst/>
          </a:prstGeom>
          <a:gradFill rotWithShape="1">
            <a:gsLst>
              <a:gs pos="0">
                <a:srgbClr val="000000">
                  <a:alpha val="0"/>
                </a:srgbClr>
              </a:gs>
              <a:gs pos="20000">
                <a:srgbClr val="E8A020">
                  <a:alpha val="50000"/>
                </a:srgbClr>
              </a:gs>
              <a:gs pos="80000">
                <a:srgbClr val="E8A020">
                  <a:alpha val="50000"/>
                </a:srgbClr>
              </a:gs>
              <a:gs pos="100000">
                <a:srgbClr val="000000">
                  <a:alpha val="0"/>
                </a:srgbClr>
              </a:gs>
            </a:gsLst>
            <a:lin ang="0" scaled="1"/>
          </a:gradFill>
          <a:ln/>
        </p:spPr>
        <p:txBody>
          <a:bodyPr wrap="none" rtlCol="0" anchor="t"/>
          <a:lstStyle/>
          <a:p>
            <a:pPr marL="0" indent="0">
              <a:buNone/>
            </a:pPr>
            <a:endParaRPr lang="en-US" dirty="0"/>
          </a:p>
        </p:txBody>
      </p:sp>
      <p:sp>
        <p:nvSpPr>
          <p:cNvPr id="20" name="Text 14"/>
          <p:cNvSpPr/>
          <p:nvPr/>
        </p:nvSpPr>
        <p:spPr>
          <a:xfrm>
            <a:off x="1832074" y="3442770"/>
            <a:ext cx="1293019" cy="279945"/>
          </a:xfrm>
          <a:prstGeom prst="roundRect">
            <a:avLst>
              <a:gd name="adj" fmla="val 10434"/>
            </a:avLst>
          </a:prstGeom>
          <a:gradFill rotWithShape="1">
            <a:gsLst>
              <a:gs pos="0">
                <a:srgbClr val="E8A020">
                  <a:alpha val="10000"/>
                </a:srgbClr>
              </a:gs>
              <a:gs pos="60000">
                <a:srgbClr val="000000">
                  <a:alpha val="0"/>
                </a:srgbClr>
              </a:gs>
            </a:gsLst>
            <a:lin ang="2700000" scaled="1"/>
          </a:gradFill>
          <a:ln/>
        </p:spPr>
        <p:txBody>
          <a:bodyPr wrap="square" rtlCol="0" anchor="t"/>
          <a:lstStyle/>
          <a:p>
            <a:pPr marL="0" indent="0">
              <a:buNone/>
            </a:pPr>
            <a:endParaRPr lang="en-US" dirty="0"/>
          </a:p>
        </p:txBody>
      </p:sp>
      <p:sp>
        <p:nvSpPr>
          <p:cNvPr id="21" name="Text 15"/>
          <p:cNvSpPr/>
          <p:nvPr/>
        </p:nvSpPr>
        <p:spPr>
          <a:xfrm>
            <a:off x="3474244" y="3442770"/>
            <a:ext cx="1891751" cy="279945"/>
          </a:xfrm>
          <a:prstGeom prst="roundRect">
            <a:avLst>
              <a:gd name="adj" fmla="val 10434"/>
            </a:avLst>
          </a:prstGeom>
          <a:gradFill rotWithShape="1">
            <a:gsLst>
              <a:gs pos="0">
                <a:srgbClr val="E8A020">
                  <a:alpha val="10000"/>
                </a:srgbClr>
              </a:gs>
              <a:gs pos="60000">
                <a:srgbClr val="000000">
                  <a:alpha val="0"/>
                </a:srgbClr>
              </a:gs>
            </a:gsLst>
            <a:lin ang="2700000" scaled="1"/>
          </a:gradFill>
          <a:ln/>
        </p:spPr>
        <p:txBody>
          <a:bodyPr wrap="square" rtlCol="0" anchor="t"/>
          <a:lstStyle/>
          <a:p>
            <a:pPr marL="0" indent="0">
              <a:buNone/>
            </a:pPr>
            <a:endParaRPr lang="en-US" dirty="0"/>
          </a:p>
        </p:txBody>
      </p:sp>
      <p:sp>
        <p:nvSpPr>
          <p:cNvPr id="22" name="Text 16"/>
          <p:cNvSpPr/>
          <p:nvPr/>
        </p:nvSpPr>
        <p:spPr>
          <a:xfrm>
            <a:off x="5715149" y="3442770"/>
            <a:ext cx="1596628" cy="279945"/>
          </a:xfrm>
          <a:prstGeom prst="roundRect">
            <a:avLst>
              <a:gd name="adj" fmla="val 10434"/>
            </a:avLst>
          </a:prstGeom>
          <a:gradFill rotWithShape="1">
            <a:gsLst>
              <a:gs pos="0">
                <a:srgbClr val="E8A020">
                  <a:alpha val="10000"/>
                </a:srgbClr>
              </a:gs>
              <a:gs pos="60000">
                <a:srgbClr val="000000">
                  <a:alpha val="0"/>
                </a:srgbClr>
              </a:gs>
            </a:gsLst>
            <a:lin ang="2700000" scaled="1"/>
          </a:gradFill>
          <a:ln/>
        </p:spPr>
        <p:txBody>
          <a:bodyPr wrap="square" rtlCol="0" anchor="t"/>
          <a:lstStyle/>
          <a:p>
            <a:pPr marL="0" indent="0">
              <a:buNone/>
            </a:pPr>
            <a:endParaRPr lang="en-US" dirty="0"/>
          </a:p>
        </p:txBody>
      </p:sp>
      <p:sp>
        <p:nvSpPr>
          <p:cNvPr id="23" name="TextBox 22">
            <a:extLst>
              <a:ext uri="{FF2B5EF4-FFF2-40B4-BE49-F238E27FC236}">
                <a16:creationId xmlns:a16="http://schemas.microsoft.com/office/drawing/2014/main" id="{F31F7237-7F67-61ED-7C61-33CF5E761895}"/>
              </a:ext>
            </a:extLst>
          </p:cNvPr>
          <p:cNvSpPr txBox="1"/>
          <p:nvPr/>
        </p:nvSpPr>
        <p:spPr>
          <a:xfrm>
            <a:off x="1616174" y="968500"/>
            <a:ext cx="6044037" cy="1785104"/>
          </a:xfrm>
          <a:prstGeom prst="rect">
            <a:avLst/>
          </a:prstGeom>
          <a:noFill/>
          <a:ln w="6350">
            <a:solidFill>
              <a:schemeClr val="tx1"/>
            </a:solidFill>
            <a:prstDash val="sysDot"/>
          </a:ln>
        </p:spPr>
        <p:txBody>
          <a:bodyPr wrap="square" rtlCol="0">
            <a:spAutoFit/>
          </a:bodyPr>
          <a:lstStyle/>
          <a:p>
            <a:pPr marL="228600"/>
            <a:r>
              <a:rPr lang="en-US" sz="2200" dirty="0"/>
              <a:t>"The Funding Surveillance and Response System (FSR) is a continuous, intelligence-driven process that keeps Responsible Fatherhood programs ahead of the funding landscape — </a:t>
            </a:r>
            <a:r>
              <a:rPr lang="en-US" sz="2200" dirty="0">
                <a:effectLst>
                  <a:outerShdw blurRad="38100" dist="38100" dir="2700000" algn="tl">
                    <a:srgbClr val="000000">
                      <a:alpha val="43137"/>
                    </a:srgbClr>
                  </a:outerShdw>
                </a:effectLst>
              </a:rPr>
              <a:t>not chasing behind it</a:t>
            </a:r>
            <a:r>
              <a:rPr lang="en-US" sz="2200"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29250" y="0"/>
            <a:ext cx="3714750" cy="3714750"/>
          </a:xfrm>
          <a:prstGeom prst="ellipse">
            <a:avLst/>
          </a:prstGeom>
          <a:noFill/>
          <a:ln w="9525">
            <a:solidFill>
              <a:srgbClr val="E8A020">
                <a:alpha val="8000"/>
              </a:srgbClr>
            </a:solidFill>
          </a:ln>
        </p:spPr>
        <p:txBody>
          <a:bodyPr wrap="square" rtlCol="0" anchor="t"/>
          <a:lstStyle/>
          <a:p>
            <a:pPr marL="0" indent="0">
              <a:buNone/>
            </a:pPr>
            <a:endParaRPr lang="en-US" dirty="0"/>
          </a:p>
        </p:txBody>
      </p:sp>
      <p:sp>
        <p:nvSpPr>
          <p:cNvPr id="3" name="Text 1"/>
          <p:cNvSpPr/>
          <p:nvPr/>
        </p:nvSpPr>
        <p:spPr>
          <a:xfrm>
            <a:off x="0" y="0"/>
            <a:ext cx="35421" cy="5143500"/>
          </a:xfrm>
          <a:prstGeom prst="rect">
            <a:avLst/>
          </a:prstGeom>
          <a:gradFill rotWithShape="1">
            <a:gsLst>
              <a:gs pos="0">
                <a:srgbClr val="E8A020"/>
              </a:gs>
              <a:gs pos="100000">
                <a:srgbClr val="E8A020">
                  <a:alpha val="30000"/>
                </a:srgbClr>
              </a:gs>
            </a:gsLst>
            <a:lin ang="5400000" scaled="1"/>
          </a:gradFill>
          <a:ln/>
        </p:spPr>
        <p:txBody>
          <a:bodyPr wrap="square" rtlCol="0" anchor="t"/>
          <a:lstStyle/>
          <a:p>
            <a:pPr marL="0" indent="0">
              <a:buNone/>
            </a:pPr>
            <a:endParaRPr lang="en-US" dirty="0"/>
          </a:p>
        </p:txBody>
      </p:sp>
      <p:sp>
        <p:nvSpPr>
          <p:cNvPr id="4" name="Text 2"/>
          <p:cNvSpPr/>
          <p:nvPr/>
        </p:nvSpPr>
        <p:spPr>
          <a:xfrm>
            <a:off x="7582019" y="242441"/>
            <a:ext cx="1196221" cy="206871"/>
          </a:xfrm>
          <a:prstGeom prst="roundRect">
            <a:avLst>
              <a:gd name="adj" fmla="val 69372"/>
            </a:avLst>
          </a:prstGeom>
          <a:solidFill>
            <a:srgbClr val="E8A020">
              <a:alpha val="12000"/>
            </a:srgbClr>
          </a:solidFill>
          <a:ln w="9525">
            <a:solidFill>
              <a:srgbClr val="E8A020">
                <a:alpha val="45000"/>
              </a:srgbClr>
            </a:solidFill>
          </a:ln>
        </p:spPr>
        <p:txBody>
          <a:bodyPr wrap="none" lIns="100330" tIns="29210" rIns="100330" bIns="29210" rtlCol="0" anchor="t"/>
          <a:lstStyle/>
          <a:p>
            <a:pPr marL="0" indent="0" algn="l">
              <a:buNone/>
            </a:pPr>
            <a:r>
              <a:rPr lang="en-US" sz="781" b="1" kern="0" spc="60">
                <a:solidFill>
                  <a:srgbClr val="E8A020"/>
                </a:solidFill>
                <a:latin typeface="Calibri" pitchFamily="34" charset="0"/>
                <a:ea typeface="Calibri" pitchFamily="34" charset="-122"/>
                <a:cs typeface="Calibri" pitchFamily="34" charset="-120"/>
              </a:rPr>
              <a:t>SECTION 2 · FSR</a:t>
            </a:r>
            <a:endParaRPr lang="en-US" sz="781"/>
          </a:p>
        </p:txBody>
      </p:sp>
      <p:sp>
        <p:nvSpPr>
          <p:cNvPr id="5" name="Text 3"/>
          <p:cNvSpPr/>
          <p:nvPr/>
        </p:nvSpPr>
        <p:spPr>
          <a:xfrm>
            <a:off x="365760" y="257770"/>
            <a:ext cx="8412480" cy="278904"/>
          </a:xfrm>
          <a:prstGeom prst="rect">
            <a:avLst/>
          </a:prstGeom>
          <a:noFill/>
          <a:ln/>
        </p:spPr>
        <p:txBody>
          <a:bodyPr wrap="none" lIns="0" tIns="0" rIns="0" bIns="0" rtlCol="0" anchor="t"/>
          <a:lstStyle/>
          <a:p>
            <a:pPr marL="0" indent="0" algn="l">
              <a:lnSpc>
                <a:spcPts val="1943"/>
              </a:lnSpc>
              <a:spcAft>
                <a:spcPts val="264"/>
              </a:spcAft>
              <a:buNone/>
            </a:pPr>
            <a:r>
              <a:rPr lang="en-US" sz="1910" kern="0" spc="-20" dirty="0">
                <a:solidFill>
                  <a:srgbClr val="0D1B3E"/>
                </a:solidFill>
                <a:latin typeface="Calibri Light" pitchFamily="34" charset="0"/>
                <a:ea typeface="Calibri Light" pitchFamily="34" charset="-122"/>
                <a:cs typeface="Calibri Light" pitchFamily="34" charset="-120"/>
              </a:rPr>
              <a:t>NPCL's Expanded Role in </a:t>
            </a:r>
            <a:r>
              <a:rPr lang="en-US" sz="1910" b="1" kern="0" spc="-20" dirty="0">
                <a:solidFill>
                  <a:srgbClr val="E8A020"/>
                </a:solidFill>
                <a:latin typeface="Calibri Light" pitchFamily="34" charset="0"/>
                <a:ea typeface="Calibri Light" pitchFamily="34" charset="-122"/>
                <a:cs typeface="Calibri Light" pitchFamily="34" charset="-120"/>
              </a:rPr>
              <a:t>Funding Navigation</a:t>
            </a:r>
            <a:endParaRPr lang="en-US" sz="1910"/>
          </a:p>
        </p:txBody>
      </p:sp>
      <p:sp>
        <p:nvSpPr>
          <p:cNvPr id="6" name="Text 4"/>
          <p:cNvSpPr/>
          <p:nvPr/>
        </p:nvSpPr>
        <p:spPr>
          <a:xfrm>
            <a:off x="365761" y="536333"/>
            <a:ext cx="3808404" cy="231796"/>
          </a:xfrm>
          <a:prstGeom prst="rect">
            <a:avLst/>
          </a:prstGeom>
          <a:noFill/>
          <a:ln/>
        </p:spPr>
        <p:txBody>
          <a:bodyPr wrap="none" lIns="0" tIns="0" rIns="0" bIns="0" rtlCol="0" anchor="ctr"/>
          <a:lstStyle/>
          <a:p>
            <a:pPr marL="0" indent="0" algn="l">
              <a:lnSpc>
                <a:spcPts val="1448"/>
              </a:lnSpc>
              <a:buNone/>
            </a:pPr>
            <a:r>
              <a:rPr lang="en-US" sz="1200" kern="0" spc="20" dirty="0">
                <a:solidFill>
                  <a:srgbClr val="64748B"/>
                </a:solidFill>
                <a:latin typeface="Calibri" pitchFamily="34" charset="0"/>
                <a:ea typeface="Calibri" pitchFamily="34" charset="-122"/>
                <a:cs typeface="Calibri" pitchFamily="34" charset="-120"/>
              </a:rPr>
              <a:t>From Compliance Support to Strategic Capability-Building</a:t>
            </a:r>
            <a:endParaRPr lang="en-US" sz="1200" dirty="0"/>
          </a:p>
        </p:txBody>
      </p:sp>
      <p:sp>
        <p:nvSpPr>
          <p:cNvPr id="7" name="Text 5"/>
          <p:cNvSpPr/>
          <p:nvPr/>
        </p:nvSpPr>
        <p:spPr>
          <a:xfrm>
            <a:off x="365760" y="826145"/>
            <a:ext cx="8412480" cy="13841"/>
          </a:xfrm>
          <a:prstGeom prst="rect">
            <a:avLst/>
          </a:prstGeom>
          <a:gradFill rotWithShape="1">
            <a:gsLst>
              <a:gs pos="0">
                <a:srgbClr val="E8A020"/>
              </a:gs>
              <a:gs pos="60000">
                <a:srgbClr val="E8A020">
                  <a:alpha val="20000"/>
                </a:srgbClr>
              </a:gs>
              <a:gs pos="100000">
                <a:srgbClr val="000000">
                  <a:alpha val="0"/>
                </a:srgbClr>
              </a:gs>
            </a:gsLst>
            <a:lin ang="0" scaled="1"/>
          </a:gradFill>
          <a:ln/>
        </p:spPr>
        <p:txBody>
          <a:bodyPr wrap="none" rtlCol="0" anchor="t"/>
          <a:lstStyle/>
          <a:p>
            <a:pPr marL="0" indent="0">
              <a:buNone/>
            </a:pPr>
            <a:endParaRPr lang="en-US" dirty="0"/>
          </a:p>
        </p:txBody>
      </p:sp>
      <p:sp>
        <p:nvSpPr>
          <p:cNvPr id="8" name="Text 6"/>
          <p:cNvSpPr/>
          <p:nvPr/>
        </p:nvSpPr>
        <p:spPr>
          <a:xfrm>
            <a:off x="365760" y="1013840"/>
            <a:ext cx="8599820" cy="586159"/>
          </a:xfrm>
          <a:prstGeom prst="roundRect">
            <a:avLst>
              <a:gd name="adj" fmla="val 10127"/>
            </a:avLst>
          </a:prstGeom>
          <a:solidFill>
            <a:srgbClr val="F0F4F8"/>
          </a:solidFill>
          <a:ln/>
        </p:spPr>
        <p:txBody>
          <a:bodyPr wrap="square" rtlCol="0" anchor="t"/>
          <a:lstStyle/>
          <a:p>
            <a:pPr marL="0" indent="0">
              <a:buNone/>
            </a:pPr>
            <a:endParaRPr lang="en-US" dirty="0"/>
          </a:p>
        </p:txBody>
      </p:sp>
      <p:sp>
        <p:nvSpPr>
          <p:cNvPr id="9" name="Text 7"/>
          <p:cNvSpPr/>
          <p:nvPr/>
        </p:nvSpPr>
        <p:spPr>
          <a:xfrm>
            <a:off x="365760" y="1000000"/>
            <a:ext cx="19050" cy="530000"/>
          </a:xfrm>
          <a:custGeom>
            <a:avLst/>
            <a:gdLst/>
            <a:ahLst/>
            <a:cxnLst/>
            <a:rect l="l" t="t" r="r" b="b"/>
            <a:pathLst>
              <a:path w="19050" h="530000">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419021"/>
                </a:lnTo>
                <a:lnTo>
                  <a:pt x="16669" y="417296"/>
                </a:lnTo>
                <a:lnTo>
                  <a:pt x="14288" y="415302"/>
                </a:lnTo>
                <a:lnTo>
                  <a:pt x="11906" y="412986"/>
                </a:lnTo>
                <a:lnTo>
                  <a:pt x="9525" y="410265"/>
                </a:lnTo>
                <a:lnTo>
                  <a:pt x="7144" y="407001"/>
                </a:lnTo>
                <a:lnTo>
                  <a:pt x="4763" y="402926"/>
                </a:lnTo>
                <a:lnTo>
                  <a:pt x="2381" y="397354"/>
                </a:lnTo>
                <a:lnTo>
                  <a:pt x="0" y="383213"/>
                </a:lnTo>
                <a:close/>
              </a:path>
            </a:pathLst>
          </a:custGeom>
          <a:solidFill>
            <a:srgbClr val="E8A020"/>
          </a:solidFill>
          <a:ln/>
        </p:spPr>
        <p:txBody>
          <a:bodyPr wrap="square" rtlCol="0" anchor="t"/>
          <a:lstStyle/>
          <a:p>
            <a:pPr marL="0" indent="0">
              <a:buNone/>
            </a:pPr>
            <a:endParaRPr lang="en-US" dirty="0"/>
          </a:p>
        </p:txBody>
      </p:sp>
      <p:sp>
        <p:nvSpPr>
          <p:cNvPr id="10" name="Text 8"/>
          <p:cNvSpPr/>
          <p:nvPr/>
        </p:nvSpPr>
        <p:spPr>
          <a:xfrm>
            <a:off x="485120" y="1150000"/>
            <a:ext cx="300000" cy="30000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8642" y="1233706"/>
            <a:ext cx="132588" cy="132588"/>
          </a:xfrm>
          <a:prstGeom prst="rect">
            <a:avLst/>
          </a:prstGeom>
        </p:spPr>
      </p:pic>
      <p:sp>
        <p:nvSpPr>
          <p:cNvPr id="12" name="Text 9"/>
          <p:cNvSpPr/>
          <p:nvPr/>
        </p:nvSpPr>
        <p:spPr>
          <a:xfrm>
            <a:off x="787869" y="1157820"/>
            <a:ext cx="8227887" cy="228600"/>
          </a:xfrm>
          <a:prstGeom prst="rect">
            <a:avLst/>
          </a:prstGeom>
          <a:noFill/>
          <a:ln/>
        </p:spPr>
        <p:txBody>
          <a:bodyPr wrap="none" lIns="0" tIns="0" rIns="0" bIns="0" rtlCol="0" anchor="ctr"/>
          <a:lstStyle/>
          <a:p>
            <a:pPr marL="0" indent="0" algn="l">
              <a:lnSpc>
                <a:spcPts val="2069"/>
              </a:lnSpc>
              <a:buNone/>
            </a:pPr>
            <a:r>
              <a:rPr lang="en-US" sz="1400" b="1" dirty="0">
                <a:solidFill>
                  <a:srgbClr val="E8A020"/>
                </a:solidFill>
                <a:latin typeface="Calibri" pitchFamily="34" charset="0"/>
                <a:ea typeface="Calibri" pitchFamily="34" charset="-122"/>
                <a:cs typeface="Calibri" pitchFamily="34" charset="-120"/>
              </a:rPr>
              <a:t>Technical Assistance Evolution:</a:t>
            </a:r>
            <a:r>
              <a:rPr lang="en-US" sz="1400" dirty="0">
                <a:solidFill>
                  <a:srgbClr val="0D1B3E"/>
                </a:solidFill>
                <a:latin typeface="Calibri" pitchFamily="34" charset="0"/>
                <a:ea typeface="Calibri" pitchFamily="34" charset="-122"/>
                <a:cs typeface="Calibri" pitchFamily="34" charset="-120"/>
              </a:rPr>
              <a:t> NPCL TA now includes strategic funding development as a core competency area</a:t>
            </a:r>
            <a:endParaRPr lang="en-US" sz="1400" dirty="0"/>
          </a:p>
        </p:txBody>
      </p:sp>
      <p:sp>
        <p:nvSpPr>
          <p:cNvPr id="13" name="Text 10"/>
          <p:cNvSpPr/>
          <p:nvPr/>
        </p:nvSpPr>
        <p:spPr>
          <a:xfrm>
            <a:off x="365760" y="1722845"/>
            <a:ext cx="8661148" cy="600000"/>
          </a:xfrm>
          <a:prstGeom prst="roundRect">
            <a:avLst>
              <a:gd name="adj" fmla="val 10127"/>
            </a:avLst>
          </a:prstGeom>
          <a:solidFill>
            <a:srgbClr val="F0F4F8"/>
          </a:solidFill>
          <a:ln/>
        </p:spPr>
        <p:txBody>
          <a:bodyPr wrap="square" rtlCol="0" anchor="t"/>
          <a:lstStyle/>
          <a:p>
            <a:pPr marL="0" indent="0">
              <a:buNone/>
            </a:pPr>
            <a:endParaRPr lang="en-US" dirty="0"/>
          </a:p>
        </p:txBody>
      </p:sp>
      <p:sp>
        <p:nvSpPr>
          <p:cNvPr id="14" name="Text 11"/>
          <p:cNvSpPr/>
          <p:nvPr/>
        </p:nvSpPr>
        <p:spPr>
          <a:xfrm>
            <a:off x="365760" y="1722845"/>
            <a:ext cx="19050" cy="530000"/>
          </a:xfrm>
          <a:custGeom>
            <a:avLst/>
            <a:gdLst/>
            <a:ahLst/>
            <a:cxnLst/>
            <a:rect l="l" t="t" r="r" b="b"/>
            <a:pathLst>
              <a:path w="19050" h="530000">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419021"/>
                </a:lnTo>
                <a:lnTo>
                  <a:pt x="16669" y="417296"/>
                </a:lnTo>
                <a:lnTo>
                  <a:pt x="14288" y="415302"/>
                </a:lnTo>
                <a:lnTo>
                  <a:pt x="11906" y="412986"/>
                </a:lnTo>
                <a:lnTo>
                  <a:pt x="9525" y="410265"/>
                </a:lnTo>
                <a:lnTo>
                  <a:pt x="7144" y="407001"/>
                </a:lnTo>
                <a:lnTo>
                  <a:pt x="4763" y="402926"/>
                </a:lnTo>
                <a:lnTo>
                  <a:pt x="2381" y="397354"/>
                </a:lnTo>
                <a:lnTo>
                  <a:pt x="0" y="383213"/>
                </a:lnTo>
                <a:close/>
              </a:path>
            </a:pathLst>
          </a:custGeom>
          <a:solidFill>
            <a:srgbClr val="E8A020"/>
          </a:solidFill>
          <a:ln/>
        </p:spPr>
        <p:txBody>
          <a:bodyPr wrap="square" rtlCol="0" anchor="t"/>
          <a:lstStyle/>
          <a:p>
            <a:pPr marL="0" indent="0">
              <a:buNone/>
            </a:pPr>
            <a:endParaRPr lang="en-US" dirty="0"/>
          </a:p>
        </p:txBody>
      </p:sp>
      <p:sp>
        <p:nvSpPr>
          <p:cNvPr id="15" name="Text 12"/>
          <p:cNvSpPr/>
          <p:nvPr/>
        </p:nvSpPr>
        <p:spPr>
          <a:xfrm>
            <a:off x="434936" y="1872845"/>
            <a:ext cx="300000" cy="30000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8826" y="1956551"/>
            <a:ext cx="132588" cy="132588"/>
          </a:xfrm>
          <a:prstGeom prst="rect">
            <a:avLst/>
          </a:prstGeom>
        </p:spPr>
      </p:pic>
      <p:sp>
        <p:nvSpPr>
          <p:cNvPr id="17" name="Text 13"/>
          <p:cNvSpPr/>
          <p:nvPr/>
        </p:nvSpPr>
        <p:spPr>
          <a:xfrm>
            <a:off x="787869" y="1880665"/>
            <a:ext cx="8227887" cy="228600"/>
          </a:xfrm>
          <a:prstGeom prst="rect">
            <a:avLst/>
          </a:prstGeom>
          <a:noFill/>
          <a:ln/>
        </p:spPr>
        <p:txBody>
          <a:bodyPr wrap="none" lIns="0" tIns="0" rIns="0" bIns="0" rtlCol="0" anchor="ctr"/>
          <a:lstStyle/>
          <a:p>
            <a:pPr marL="0" indent="0" algn="l">
              <a:lnSpc>
                <a:spcPts val="2069"/>
              </a:lnSpc>
              <a:buNone/>
            </a:pPr>
            <a:r>
              <a:rPr lang="en-US" sz="1400" b="1">
                <a:solidFill>
                  <a:srgbClr val="E8A020"/>
                </a:solidFill>
                <a:latin typeface="Calibri" pitchFamily="34" charset="0"/>
                <a:ea typeface="Calibri" pitchFamily="34" charset="-122"/>
                <a:cs typeface="Calibri" pitchFamily="34" charset="-120"/>
              </a:rPr>
              <a:t>Funding Navigation as Infrastructure:</a:t>
            </a:r>
            <a:r>
              <a:rPr lang="en-US" sz="1400">
                <a:solidFill>
                  <a:srgbClr val="0D1B3E"/>
                </a:solidFill>
                <a:latin typeface="Calibri" pitchFamily="34" charset="0"/>
                <a:ea typeface="Calibri" pitchFamily="34" charset="-122"/>
                <a:cs typeface="Calibri" pitchFamily="34" charset="-120"/>
              </a:rPr>
              <a:t> This is not a supplemental service — it is foundational organizational health</a:t>
            </a:r>
            <a:endParaRPr lang="en-US" sz="1400"/>
          </a:p>
        </p:txBody>
      </p:sp>
      <p:sp>
        <p:nvSpPr>
          <p:cNvPr id="18" name="Text 14"/>
          <p:cNvSpPr/>
          <p:nvPr/>
        </p:nvSpPr>
        <p:spPr>
          <a:xfrm>
            <a:off x="365760" y="2445690"/>
            <a:ext cx="8661148" cy="600000"/>
          </a:xfrm>
          <a:prstGeom prst="roundRect">
            <a:avLst>
              <a:gd name="adj" fmla="val 10127"/>
            </a:avLst>
          </a:prstGeom>
          <a:solidFill>
            <a:srgbClr val="F0F4F8"/>
          </a:solidFill>
          <a:ln/>
        </p:spPr>
        <p:txBody>
          <a:bodyPr wrap="square" rtlCol="0" anchor="t"/>
          <a:lstStyle/>
          <a:p>
            <a:pPr marL="0" indent="0">
              <a:buNone/>
            </a:pPr>
            <a:endParaRPr lang="en-US" dirty="0"/>
          </a:p>
        </p:txBody>
      </p:sp>
      <p:sp>
        <p:nvSpPr>
          <p:cNvPr id="19" name="Text 15"/>
          <p:cNvSpPr/>
          <p:nvPr/>
        </p:nvSpPr>
        <p:spPr>
          <a:xfrm>
            <a:off x="365760" y="2445690"/>
            <a:ext cx="19050" cy="530000"/>
          </a:xfrm>
          <a:custGeom>
            <a:avLst/>
            <a:gdLst/>
            <a:ahLst/>
            <a:cxnLst/>
            <a:rect l="l" t="t" r="r" b="b"/>
            <a:pathLst>
              <a:path w="19050" h="530000">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419021"/>
                </a:lnTo>
                <a:lnTo>
                  <a:pt x="16669" y="417296"/>
                </a:lnTo>
                <a:lnTo>
                  <a:pt x="14288" y="415302"/>
                </a:lnTo>
                <a:lnTo>
                  <a:pt x="11906" y="412986"/>
                </a:lnTo>
                <a:lnTo>
                  <a:pt x="9525" y="410265"/>
                </a:lnTo>
                <a:lnTo>
                  <a:pt x="7144" y="407001"/>
                </a:lnTo>
                <a:lnTo>
                  <a:pt x="4763" y="402926"/>
                </a:lnTo>
                <a:lnTo>
                  <a:pt x="2381" y="397354"/>
                </a:lnTo>
                <a:lnTo>
                  <a:pt x="0" y="383213"/>
                </a:lnTo>
                <a:close/>
              </a:path>
            </a:pathLst>
          </a:custGeom>
          <a:solidFill>
            <a:srgbClr val="E8A020"/>
          </a:solidFill>
          <a:ln/>
        </p:spPr>
        <p:txBody>
          <a:bodyPr wrap="square" rtlCol="0" anchor="t"/>
          <a:lstStyle/>
          <a:p>
            <a:pPr marL="0" indent="0">
              <a:buNone/>
            </a:pPr>
            <a:endParaRPr lang="en-US" dirty="0"/>
          </a:p>
        </p:txBody>
      </p:sp>
      <p:sp>
        <p:nvSpPr>
          <p:cNvPr id="20" name="Text 16"/>
          <p:cNvSpPr/>
          <p:nvPr/>
        </p:nvSpPr>
        <p:spPr>
          <a:xfrm>
            <a:off x="434936" y="2595690"/>
            <a:ext cx="300000" cy="30000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8826" y="2679396"/>
            <a:ext cx="132588" cy="132588"/>
          </a:xfrm>
          <a:prstGeom prst="rect">
            <a:avLst/>
          </a:prstGeom>
        </p:spPr>
      </p:pic>
      <p:sp>
        <p:nvSpPr>
          <p:cNvPr id="22" name="Text 17"/>
          <p:cNvSpPr/>
          <p:nvPr/>
        </p:nvSpPr>
        <p:spPr>
          <a:xfrm>
            <a:off x="787869" y="2603510"/>
            <a:ext cx="8227887" cy="228600"/>
          </a:xfrm>
          <a:prstGeom prst="rect">
            <a:avLst/>
          </a:prstGeom>
          <a:noFill/>
          <a:ln/>
        </p:spPr>
        <p:txBody>
          <a:bodyPr wrap="none" lIns="0" tIns="0" rIns="0" bIns="0" rtlCol="0" anchor="ctr"/>
          <a:lstStyle/>
          <a:p>
            <a:pPr marL="0" indent="0" algn="l">
              <a:lnSpc>
                <a:spcPts val="2069"/>
              </a:lnSpc>
              <a:buNone/>
            </a:pPr>
            <a:r>
              <a:rPr lang="en-US" sz="1400" b="1">
                <a:solidFill>
                  <a:srgbClr val="E8A020"/>
                </a:solidFill>
                <a:latin typeface="Calibri" pitchFamily="34" charset="0"/>
                <a:ea typeface="Calibri" pitchFamily="34" charset="-122"/>
                <a:cs typeface="Calibri" pitchFamily="34" charset="-120"/>
              </a:rPr>
              <a:t>FSR as the Delivery Vehicle:</a:t>
            </a:r>
            <a:r>
              <a:rPr lang="en-US" sz="1400">
                <a:solidFill>
                  <a:srgbClr val="0D1B3E"/>
                </a:solidFill>
                <a:latin typeface="Calibri" pitchFamily="34" charset="0"/>
                <a:ea typeface="Calibri" pitchFamily="34" charset="-122"/>
                <a:cs typeface="Calibri" pitchFamily="34" charset="-120"/>
              </a:rPr>
              <a:t> The practical system that helps RF programs build their own funding strategy</a:t>
            </a:r>
            <a:endParaRPr lang="en-US" sz="1400"/>
          </a:p>
        </p:txBody>
      </p:sp>
      <p:sp>
        <p:nvSpPr>
          <p:cNvPr id="23" name="Text 18"/>
          <p:cNvSpPr/>
          <p:nvPr/>
        </p:nvSpPr>
        <p:spPr>
          <a:xfrm>
            <a:off x="365760" y="3168535"/>
            <a:ext cx="8661148" cy="600000"/>
          </a:xfrm>
          <a:prstGeom prst="roundRect">
            <a:avLst>
              <a:gd name="adj" fmla="val 10127"/>
            </a:avLst>
          </a:prstGeom>
          <a:solidFill>
            <a:srgbClr val="F0F4F8"/>
          </a:solidFill>
          <a:ln/>
        </p:spPr>
        <p:txBody>
          <a:bodyPr wrap="square" rtlCol="0" anchor="t"/>
          <a:lstStyle/>
          <a:p>
            <a:pPr marL="0" indent="0">
              <a:buNone/>
            </a:pPr>
            <a:endParaRPr lang="en-US" dirty="0"/>
          </a:p>
        </p:txBody>
      </p:sp>
      <p:sp>
        <p:nvSpPr>
          <p:cNvPr id="24" name="Text 19"/>
          <p:cNvSpPr/>
          <p:nvPr/>
        </p:nvSpPr>
        <p:spPr>
          <a:xfrm>
            <a:off x="365760" y="3168535"/>
            <a:ext cx="19050" cy="530000"/>
          </a:xfrm>
          <a:custGeom>
            <a:avLst/>
            <a:gdLst/>
            <a:ahLst/>
            <a:cxnLst/>
            <a:rect l="l" t="t" r="r" b="b"/>
            <a:pathLst>
              <a:path w="19050" h="530000">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419021"/>
                </a:lnTo>
                <a:lnTo>
                  <a:pt x="16669" y="417296"/>
                </a:lnTo>
                <a:lnTo>
                  <a:pt x="14288" y="415302"/>
                </a:lnTo>
                <a:lnTo>
                  <a:pt x="11906" y="412986"/>
                </a:lnTo>
                <a:lnTo>
                  <a:pt x="9525" y="410265"/>
                </a:lnTo>
                <a:lnTo>
                  <a:pt x="7144" y="407001"/>
                </a:lnTo>
                <a:lnTo>
                  <a:pt x="4763" y="402926"/>
                </a:lnTo>
                <a:lnTo>
                  <a:pt x="2381" y="397354"/>
                </a:lnTo>
                <a:lnTo>
                  <a:pt x="0" y="383213"/>
                </a:lnTo>
                <a:close/>
              </a:path>
            </a:pathLst>
          </a:custGeom>
          <a:solidFill>
            <a:srgbClr val="E8A020"/>
          </a:solidFill>
          <a:ln/>
        </p:spPr>
        <p:txBody>
          <a:bodyPr wrap="square" rtlCol="0" anchor="t"/>
          <a:lstStyle/>
          <a:p>
            <a:pPr marL="0" indent="0">
              <a:buNone/>
            </a:pPr>
            <a:endParaRPr lang="en-US" dirty="0"/>
          </a:p>
        </p:txBody>
      </p:sp>
      <p:sp>
        <p:nvSpPr>
          <p:cNvPr id="25" name="Text 20"/>
          <p:cNvSpPr/>
          <p:nvPr/>
        </p:nvSpPr>
        <p:spPr>
          <a:xfrm>
            <a:off x="485120" y="3318535"/>
            <a:ext cx="300000" cy="30000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2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8642" y="3402241"/>
            <a:ext cx="132588" cy="132588"/>
          </a:xfrm>
          <a:prstGeom prst="rect">
            <a:avLst/>
          </a:prstGeom>
        </p:spPr>
      </p:pic>
      <p:sp>
        <p:nvSpPr>
          <p:cNvPr id="27" name="Text 21"/>
          <p:cNvSpPr/>
          <p:nvPr/>
        </p:nvSpPr>
        <p:spPr>
          <a:xfrm>
            <a:off x="787869" y="3326355"/>
            <a:ext cx="8227887" cy="228600"/>
          </a:xfrm>
          <a:prstGeom prst="rect">
            <a:avLst/>
          </a:prstGeom>
          <a:noFill/>
          <a:ln/>
        </p:spPr>
        <p:txBody>
          <a:bodyPr wrap="none" lIns="0" tIns="0" rIns="0" bIns="0" rtlCol="0" anchor="ctr"/>
          <a:lstStyle/>
          <a:p>
            <a:pPr marL="0" indent="0" algn="l">
              <a:lnSpc>
                <a:spcPts val="2069"/>
              </a:lnSpc>
              <a:buNone/>
            </a:pPr>
            <a:r>
              <a:rPr lang="en-US" sz="1400" b="1" dirty="0">
                <a:solidFill>
                  <a:srgbClr val="E8A020"/>
                </a:solidFill>
                <a:latin typeface="Calibri" pitchFamily="34" charset="0"/>
                <a:ea typeface="Calibri" pitchFamily="34" charset="-122"/>
                <a:cs typeface="Calibri" pitchFamily="34" charset="-120"/>
              </a:rPr>
              <a:t>Equity-Centered Design:</a:t>
            </a:r>
            <a:r>
              <a:rPr lang="en-US" sz="1400" dirty="0">
                <a:solidFill>
                  <a:srgbClr val="0D1B3E"/>
                </a:solidFill>
                <a:latin typeface="Calibri" pitchFamily="34" charset="0"/>
                <a:ea typeface="Calibri" pitchFamily="34" charset="-122"/>
                <a:cs typeface="Calibri" pitchFamily="34" charset="-120"/>
              </a:rPr>
              <a:t> Designed for justice-involved, non-custodial, and marginalized populations</a:t>
            </a:r>
            <a:endParaRPr lang="en-US" sz="1400" dirty="0"/>
          </a:p>
        </p:txBody>
      </p:sp>
      <p:sp>
        <p:nvSpPr>
          <p:cNvPr id="28" name="Text 22"/>
          <p:cNvSpPr/>
          <p:nvPr/>
        </p:nvSpPr>
        <p:spPr>
          <a:xfrm>
            <a:off x="365760" y="3891380"/>
            <a:ext cx="8661148" cy="600000"/>
          </a:xfrm>
          <a:prstGeom prst="roundRect">
            <a:avLst>
              <a:gd name="adj" fmla="val 10127"/>
            </a:avLst>
          </a:prstGeom>
          <a:solidFill>
            <a:srgbClr val="F0F4F8"/>
          </a:solidFill>
          <a:ln/>
        </p:spPr>
        <p:txBody>
          <a:bodyPr wrap="square" rtlCol="0" anchor="t"/>
          <a:lstStyle/>
          <a:p>
            <a:pPr marL="0" indent="0">
              <a:buNone/>
            </a:pPr>
            <a:endParaRPr lang="en-US" dirty="0"/>
          </a:p>
        </p:txBody>
      </p:sp>
      <p:sp>
        <p:nvSpPr>
          <p:cNvPr id="29" name="Text 23"/>
          <p:cNvSpPr/>
          <p:nvPr/>
        </p:nvSpPr>
        <p:spPr>
          <a:xfrm>
            <a:off x="365760" y="3891380"/>
            <a:ext cx="19050" cy="530000"/>
          </a:xfrm>
          <a:custGeom>
            <a:avLst/>
            <a:gdLst/>
            <a:ahLst/>
            <a:cxnLst/>
            <a:rect l="l" t="t" r="r" b="b"/>
            <a:pathLst>
              <a:path w="19050" h="530000">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419021"/>
                </a:lnTo>
                <a:lnTo>
                  <a:pt x="16669" y="417296"/>
                </a:lnTo>
                <a:lnTo>
                  <a:pt x="14288" y="415302"/>
                </a:lnTo>
                <a:lnTo>
                  <a:pt x="11906" y="412986"/>
                </a:lnTo>
                <a:lnTo>
                  <a:pt x="9525" y="410265"/>
                </a:lnTo>
                <a:lnTo>
                  <a:pt x="7144" y="407001"/>
                </a:lnTo>
                <a:lnTo>
                  <a:pt x="4763" y="402926"/>
                </a:lnTo>
                <a:lnTo>
                  <a:pt x="2381" y="397354"/>
                </a:lnTo>
                <a:lnTo>
                  <a:pt x="0" y="383213"/>
                </a:lnTo>
                <a:close/>
              </a:path>
            </a:pathLst>
          </a:custGeom>
          <a:solidFill>
            <a:srgbClr val="E8A020"/>
          </a:solidFill>
          <a:ln/>
        </p:spPr>
        <p:txBody>
          <a:bodyPr wrap="square" rtlCol="0" anchor="t"/>
          <a:lstStyle/>
          <a:p>
            <a:pPr marL="0" indent="0">
              <a:buNone/>
            </a:pPr>
            <a:endParaRPr lang="en-US" dirty="0"/>
          </a:p>
        </p:txBody>
      </p:sp>
      <p:sp>
        <p:nvSpPr>
          <p:cNvPr id="30" name="Text 24"/>
          <p:cNvSpPr/>
          <p:nvPr/>
        </p:nvSpPr>
        <p:spPr>
          <a:xfrm>
            <a:off x="485120" y="4041380"/>
            <a:ext cx="300000" cy="30000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3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8642" y="4125086"/>
            <a:ext cx="132588" cy="132588"/>
          </a:xfrm>
          <a:prstGeom prst="rect">
            <a:avLst/>
          </a:prstGeom>
        </p:spPr>
      </p:pic>
      <p:sp>
        <p:nvSpPr>
          <p:cNvPr id="32" name="Text 25"/>
          <p:cNvSpPr/>
          <p:nvPr/>
        </p:nvSpPr>
        <p:spPr>
          <a:xfrm>
            <a:off x="799021" y="4054776"/>
            <a:ext cx="8227887" cy="228600"/>
          </a:xfrm>
          <a:prstGeom prst="rect">
            <a:avLst/>
          </a:prstGeom>
          <a:noFill/>
          <a:ln/>
        </p:spPr>
        <p:txBody>
          <a:bodyPr wrap="none" lIns="0" tIns="0" rIns="0" bIns="0" rtlCol="0" anchor="ctr"/>
          <a:lstStyle/>
          <a:p>
            <a:pPr marL="0" indent="0" algn="l">
              <a:lnSpc>
                <a:spcPts val="2069"/>
              </a:lnSpc>
              <a:buNone/>
            </a:pPr>
            <a:r>
              <a:rPr lang="en-US" sz="1400" b="1" dirty="0">
                <a:solidFill>
                  <a:srgbClr val="E8A020"/>
                </a:solidFill>
                <a:latin typeface="Calibri" pitchFamily="34" charset="0"/>
                <a:ea typeface="Calibri" pitchFamily="34" charset="-122"/>
                <a:cs typeface="Calibri" pitchFamily="34" charset="-120"/>
              </a:rPr>
              <a:t>IFC Integration:</a:t>
            </a:r>
            <a:r>
              <a:rPr lang="en-US" sz="1400" dirty="0">
                <a:solidFill>
                  <a:srgbClr val="0D1B3E"/>
                </a:solidFill>
                <a:latin typeface="Calibri" pitchFamily="34" charset="0"/>
                <a:ea typeface="Calibri" pitchFamily="34" charset="-122"/>
                <a:cs typeface="Calibri" pitchFamily="34" charset="-120"/>
              </a:rPr>
              <a:t> Connecting RF practitioners to the national funding conversation and peer intelligence network</a:t>
            </a:r>
            <a:endParaRPr lang="en-US" sz="1400" dirty="0"/>
          </a:p>
        </p:txBody>
      </p:sp>
      <p:sp>
        <p:nvSpPr>
          <p:cNvPr id="33" name="Text 26"/>
          <p:cNvSpPr/>
          <p:nvPr/>
        </p:nvSpPr>
        <p:spPr>
          <a:xfrm>
            <a:off x="0" y="4734223"/>
            <a:ext cx="9144000" cy="409277"/>
          </a:xfrm>
          <a:prstGeom prst="rect">
            <a:avLst/>
          </a:prstGeom>
          <a:gradFill rotWithShape="1">
            <a:gsLst>
              <a:gs pos="0">
                <a:srgbClr val="E8A020"/>
              </a:gs>
              <a:gs pos="100000">
                <a:srgbClr val="C97C10"/>
              </a:gs>
            </a:gsLst>
            <a:lin ang="0" scaled="1"/>
          </a:gradFill>
          <a:ln/>
        </p:spPr>
        <p:txBody>
          <a:bodyPr wrap="none" lIns="0" tIns="0" rIns="0" bIns="0" rtlCol="0" anchor="ctr"/>
          <a:lstStyle/>
          <a:p>
            <a:pPr marL="0" indent="0" algn="ctr">
              <a:buNone/>
            </a:pPr>
            <a:r>
              <a:rPr lang="en-US" sz="1600" b="1" kern="0" spc="20" dirty="0">
                <a:solidFill>
                  <a:srgbClr val="FFFFFF"/>
                </a:solidFill>
                <a:latin typeface="Calibri" pitchFamily="34" charset="0"/>
                <a:ea typeface="Calibri" pitchFamily="34" charset="-122"/>
                <a:cs typeface="Calibri" pitchFamily="34" charset="-120"/>
              </a:rPr>
              <a:t>FSR HELPS YOUR PROGRAM BUILD ITS OWN FUNDING STRATEGY</a:t>
            </a:r>
            <a:endParaRPr lang="en-US" sz="1600" dirty="0"/>
          </a:p>
        </p:txBody>
      </p:sp>
      <p:sp>
        <p:nvSpPr>
          <p:cNvPr id="34" name="Text 27"/>
          <p:cNvSpPr/>
          <p:nvPr/>
        </p:nvSpPr>
        <p:spPr>
          <a:xfrm>
            <a:off x="6286500" y="0"/>
            <a:ext cx="2857500" cy="2857500"/>
          </a:xfrm>
          <a:prstGeom prst="ellipse">
            <a:avLst/>
          </a:prstGeom>
          <a:noFill/>
          <a:ln w="9525">
            <a:solidFill>
              <a:srgbClr val="E8A020">
                <a:alpha val="12000"/>
              </a:srgbClr>
            </a:solidFill>
          </a:ln>
        </p:spPr>
        <p:txBody>
          <a:bodyPr wrap="square" rtlCol="0" anchor="t"/>
          <a:lstStyle/>
          <a:p>
            <a:pPr marL="0" indent="0">
              <a:buNone/>
            </a:pPr>
            <a:endParaRPr lang="en-US" dirty="0"/>
          </a:p>
        </p:txBody>
      </p:sp>
      <p:sp>
        <p:nvSpPr>
          <p:cNvPr id="35" name="Text 28"/>
          <p:cNvSpPr/>
          <p:nvPr/>
        </p:nvSpPr>
        <p:spPr>
          <a:xfrm>
            <a:off x="7143750" y="0"/>
            <a:ext cx="2000250" cy="2000250"/>
          </a:xfrm>
          <a:prstGeom prst="ellipse">
            <a:avLst/>
          </a:prstGeom>
          <a:noFill/>
          <a:ln w="9525">
            <a:solidFill>
              <a:srgbClr val="E8A020">
                <a:alpha val="18000"/>
              </a:srgbClr>
            </a:solidFill>
          </a:ln>
        </p:spPr>
        <p:txBody>
          <a:bodyPr wrap="square" rtlCol="0" anchor="t"/>
          <a:lstStyle/>
          <a:p>
            <a:pPr marL="0" indent="0">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4000"/>
                </a:srgbClr>
              </a:gs>
              <a:gs pos="60000">
                <a:srgbClr val="000000">
                  <a:alpha val="0"/>
                </a:srgbClr>
              </a:gs>
            </a:gsLst>
            <a:path path="circle">
              <a:fillToRect l="85000" t="50000" r="15000" b="50000"/>
            </a:path>
          </a:gradFill>
          <a:ln/>
        </p:spPr>
        <p:txBody>
          <a:bodyPr wrap="square" rtlCol="0" anchor="t"/>
          <a:lstStyle/>
          <a:p>
            <a:pPr marL="0" indent="0">
              <a:buNone/>
            </a:pPr>
            <a:endParaRPr lang="en-US" dirty="0"/>
          </a:p>
        </p:txBody>
      </p:sp>
      <p:sp>
        <p:nvSpPr>
          <p:cNvPr id="3" name="Text 1"/>
          <p:cNvSpPr/>
          <p:nvPr/>
        </p:nvSpPr>
        <p:spPr>
          <a:xfrm>
            <a:off x="0" y="68335"/>
            <a:ext cx="9144000" cy="5143500"/>
          </a:xfrm>
          <a:prstGeom prst="rect">
            <a:avLst/>
          </a:prstGeom>
          <a:gradFill rotWithShape="1">
            <a:gsLst>
              <a:gs pos="0">
                <a:srgbClr val="E8A020">
                  <a:alpha val="3000"/>
                </a:srgbClr>
              </a:gs>
              <a:gs pos="50000">
                <a:srgbClr val="000000">
                  <a:alpha val="0"/>
                </a:srgbClr>
              </a:gs>
            </a:gsLst>
            <a:path path="circle">
              <a:fillToRect l="15000" t="80000" r="85000" b="20000"/>
            </a:path>
          </a:gradFill>
          <a:ln/>
        </p:spPr>
        <p:txBody>
          <a:bodyPr wrap="square" rtlCol="0" anchor="t"/>
          <a:lstStyle/>
          <a:p>
            <a:pPr marL="0" indent="0">
              <a:buNone/>
            </a:pPr>
            <a:endParaRPr lang="en-US" dirty="0"/>
          </a:p>
        </p:txBody>
      </p:sp>
      <p:sp>
        <p:nvSpPr>
          <p:cNvPr id="4" name="Text 2"/>
          <p:cNvSpPr/>
          <p:nvPr/>
        </p:nvSpPr>
        <p:spPr>
          <a:xfrm>
            <a:off x="0" y="571500"/>
            <a:ext cx="29170" cy="4199930"/>
          </a:xfrm>
          <a:prstGeom prst="rect">
            <a:avLst/>
          </a:prstGeom>
          <a:gradFill rotWithShape="1">
            <a:gsLst>
              <a:gs pos="0">
                <a:srgbClr val="000000">
                  <a:alpha val="0"/>
                </a:srgbClr>
              </a:gs>
              <a:gs pos="30000">
                <a:srgbClr val="E8A020">
                  <a:alpha val="40000"/>
                </a:srgbClr>
              </a:gs>
              <a:gs pos="70000">
                <a:srgbClr val="E8A020">
                  <a:alpha val="40000"/>
                </a:srgbClr>
              </a:gs>
              <a:gs pos="100000">
                <a:srgbClr val="000000">
                  <a:alpha val="0"/>
                </a:srgbClr>
              </a:gs>
            </a:gsLst>
            <a:lin ang="5400000" scaled="1"/>
          </a:gradFill>
          <a:ln/>
        </p:spPr>
        <p:txBody>
          <a:bodyPr wrap="square" rtlCol="0" anchor="t"/>
          <a:lstStyle/>
          <a:p>
            <a:pPr marL="0" indent="0">
              <a:buNone/>
            </a:pPr>
            <a:endParaRPr lang="en-US" dirty="0"/>
          </a:p>
        </p:txBody>
      </p:sp>
      <p:sp>
        <p:nvSpPr>
          <p:cNvPr id="5" name="Text 3"/>
          <p:cNvSpPr/>
          <p:nvPr/>
        </p:nvSpPr>
        <p:spPr>
          <a:xfrm>
            <a:off x="557510" y="267295"/>
            <a:ext cx="2081748" cy="95250"/>
          </a:xfrm>
          <a:prstGeom prst="rect">
            <a:avLst/>
          </a:prstGeom>
          <a:noFill/>
          <a:ln/>
        </p:spPr>
        <p:txBody>
          <a:bodyPr wrap="none" lIns="0" tIns="0" rIns="0" bIns="0" rtlCol="0" anchor="ctr"/>
          <a:lstStyle/>
          <a:p>
            <a:pPr marL="0" indent="0" algn="l">
              <a:buNone/>
            </a:pPr>
            <a:r>
              <a:rPr lang="en-US" sz="781" b="1" kern="0" spc="82">
                <a:solidFill>
                  <a:srgbClr val="E8A020"/>
                </a:solidFill>
                <a:latin typeface="Calibri" pitchFamily="34" charset="0"/>
                <a:ea typeface="Calibri" pitchFamily="34" charset="-122"/>
                <a:cs typeface="Calibri" pitchFamily="34" charset="-120"/>
              </a:rPr>
              <a:t>FSR SYSTEM </a:t>
            </a:r>
            <a:r>
              <a:rPr lang="en-US" sz="1034" b="1" kern="0" spc="82">
                <a:solidFill>
                  <a:srgbClr val="E8A020"/>
                </a:solidFill>
                <a:latin typeface="Calibri" pitchFamily="34" charset="0"/>
                <a:ea typeface="Calibri" pitchFamily="34" charset="-122"/>
                <a:cs typeface="Calibri" pitchFamily="34" charset="-120"/>
              </a:rPr>
              <a:t>ARCHITECTURE</a:t>
            </a:r>
            <a:r>
              <a:rPr lang="en-US" sz="781" b="1" kern="0" spc="82">
                <a:solidFill>
                  <a:srgbClr val="E8A020"/>
                </a:solidFill>
                <a:latin typeface="Calibri" pitchFamily="34" charset="0"/>
                <a:ea typeface="Calibri" pitchFamily="34" charset="-122"/>
                <a:cs typeface="Calibri" pitchFamily="34" charset="-120"/>
              </a:rPr>
              <a:t> — SECTION 2</a:t>
            </a:r>
            <a:endParaRPr lang="en-US" sz="781"/>
          </a:p>
        </p:txBody>
      </p:sp>
      <p:sp>
        <p:nvSpPr>
          <p:cNvPr id="6" name="Text 4"/>
          <p:cNvSpPr/>
          <p:nvPr/>
        </p:nvSpPr>
        <p:spPr>
          <a:xfrm>
            <a:off x="457200" y="300930"/>
            <a:ext cx="43160" cy="43160"/>
          </a:xfrm>
          <a:prstGeom prst="ellipse">
            <a:avLst/>
          </a:prstGeom>
          <a:solidFill>
            <a:srgbClr val="E8A020"/>
          </a:solidFill>
          <a:ln/>
        </p:spPr>
        <p:txBody>
          <a:bodyPr wrap="none" rtlCol="0" anchor="t"/>
          <a:lstStyle/>
          <a:p>
            <a:pPr marL="0" indent="0">
              <a:buNone/>
            </a:pPr>
            <a:endParaRPr lang="en-US" dirty="0"/>
          </a:p>
        </p:txBody>
      </p:sp>
      <p:sp>
        <p:nvSpPr>
          <p:cNvPr id="7" name="Text 5"/>
          <p:cNvSpPr/>
          <p:nvPr/>
        </p:nvSpPr>
        <p:spPr>
          <a:xfrm>
            <a:off x="2507159" y="300930"/>
            <a:ext cx="43160" cy="43160"/>
          </a:xfrm>
          <a:prstGeom prst="ellipse">
            <a:avLst/>
          </a:prstGeom>
          <a:solidFill>
            <a:srgbClr val="E8A020"/>
          </a:solidFill>
          <a:ln/>
        </p:spPr>
        <p:txBody>
          <a:bodyPr wrap="none" rtlCol="0" anchor="t"/>
          <a:lstStyle/>
          <a:p>
            <a:pPr marL="0" indent="0">
              <a:buNone/>
            </a:pPr>
            <a:endParaRPr lang="en-US" dirty="0"/>
          </a:p>
        </p:txBody>
      </p:sp>
      <p:sp>
        <p:nvSpPr>
          <p:cNvPr id="8" name="Text 6"/>
          <p:cNvSpPr/>
          <p:nvPr/>
        </p:nvSpPr>
        <p:spPr>
          <a:xfrm>
            <a:off x="391144" y="521095"/>
            <a:ext cx="8776502" cy="328613"/>
          </a:xfrm>
          <a:prstGeom prst="rect">
            <a:avLst/>
          </a:prstGeom>
          <a:noFill/>
          <a:ln/>
        </p:spPr>
        <p:txBody>
          <a:bodyPr wrap="none" lIns="0" tIns="0" rIns="0" bIns="0" rtlCol="0" anchor="t"/>
          <a:lstStyle/>
          <a:p>
            <a:pPr marL="0" indent="0" algn="l">
              <a:lnSpc>
                <a:spcPts val="2288"/>
              </a:lnSpc>
              <a:buNone/>
            </a:pPr>
            <a:r>
              <a:rPr lang="en-US" sz="2250" kern="0" spc="-22" dirty="0">
                <a:solidFill>
                  <a:srgbClr val="0D1B3E"/>
                </a:solidFill>
                <a:latin typeface="Calibri Light" pitchFamily="34" charset="0"/>
                <a:ea typeface="Calibri Light" pitchFamily="34" charset="-122"/>
                <a:cs typeface="Calibri Light" pitchFamily="34" charset="-120"/>
              </a:rPr>
              <a:t>The </a:t>
            </a:r>
            <a:r>
              <a:rPr lang="en-US" sz="2250" b="1" kern="0" spc="-22" dirty="0">
                <a:solidFill>
                  <a:srgbClr val="E8A020"/>
                </a:solidFill>
                <a:latin typeface="Calibri Light" pitchFamily="34" charset="0"/>
                <a:ea typeface="Calibri Light" pitchFamily="34" charset="-122"/>
                <a:cs typeface="Calibri Light" pitchFamily="34" charset="-120"/>
              </a:rPr>
              <a:t>Five Pillars</a:t>
            </a:r>
            <a:r>
              <a:rPr lang="en-US" sz="2250" kern="0" spc="-22" dirty="0">
                <a:solidFill>
                  <a:srgbClr val="0D1B3E"/>
                </a:solidFill>
                <a:latin typeface="Calibri Light" pitchFamily="34" charset="0"/>
                <a:ea typeface="Calibri Light" pitchFamily="34" charset="-122"/>
                <a:cs typeface="Calibri Light" pitchFamily="34" charset="-120"/>
              </a:rPr>
              <a:t> of FSR</a:t>
            </a:r>
            <a:endParaRPr lang="en-US" sz="2250" dirty="0"/>
          </a:p>
        </p:txBody>
      </p:sp>
      <p:sp>
        <p:nvSpPr>
          <p:cNvPr id="9" name="Text 7"/>
          <p:cNvSpPr/>
          <p:nvPr/>
        </p:nvSpPr>
        <p:spPr>
          <a:xfrm>
            <a:off x="29170" y="4671715"/>
            <a:ext cx="9144000" cy="372070"/>
          </a:xfrm>
          <a:prstGeom prst="rect">
            <a:avLst/>
          </a:prstGeom>
          <a:gradFill rotWithShape="1">
            <a:gsLst>
              <a:gs pos="0">
                <a:srgbClr val="C07810"/>
              </a:gs>
              <a:gs pos="40000">
                <a:srgbClr val="E8A020"/>
              </a:gs>
              <a:gs pos="100000">
                <a:srgbClr val="C07810"/>
              </a:gs>
            </a:gsLst>
            <a:lin ang="0" scaled="1"/>
          </a:gradFill>
          <a:ln/>
        </p:spPr>
        <p:txBody>
          <a:bodyPr wrap="square" rtlCol="0" anchor="t"/>
          <a:lstStyle/>
          <a:p>
            <a:pPr marL="0" indent="0">
              <a:buNone/>
            </a:pPr>
            <a:endParaRPr lang="en-US" dirty="0"/>
          </a:p>
        </p:txBody>
      </p:sp>
      <p:sp>
        <p:nvSpPr>
          <p:cNvPr id="11" name="Text 8"/>
          <p:cNvSpPr/>
          <p:nvPr/>
        </p:nvSpPr>
        <p:spPr>
          <a:xfrm>
            <a:off x="2086276" y="4750411"/>
            <a:ext cx="4955952" cy="245636"/>
          </a:xfrm>
          <a:prstGeom prst="rect">
            <a:avLst/>
          </a:prstGeom>
          <a:noFill/>
          <a:ln/>
        </p:spPr>
        <p:txBody>
          <a:bodyPr wrap="none" lIns="0" tIns="0" rIns="0" bIns="0" rtlCol="0" anchor="ctr"/>
          <a:lstStyle/>
          <a:p>
            <a:pPr marL="0" indent="0" algn="ctr">
              <a:lnSpc>
                <a:spcPts val="1552"/>
              </a:lnSpc>
              <a:buNone/>
            </a:pPr>
            <a:r>
              <a:rPr lang="en-US" sz="1379" b="1" dirty="0">
                <a:solidFill>
                  <a:srgbClr val="0D1B3E"/>
                </a:solidFill>
                <a:latin typeface="Calibri" pitchFamily="34" charset="0"/>
                <a:ea typeface="Calibri" pitchFamily="34" charset="-122"/>
                <a:cs typeface="Calibri" pitchFamily="34" charset="-120"/>
              </a:rPr>
              <a:t>All five pillars must operate together — a system, not a checklist</a:t>
            </a:r>
            <a:r>
              <a:rPr lang="en-US" sz="1034" b="1" dirty="0">
                <a:solidFill>
                  <a:srgbClr val="0D1B3E"/>
                </a:solidFill>
                <a:latin typeface="Calibri" pitchFamily="34" charset="0"/>
                <a:ea typeface="Calibri" pitchFamily="34" charset="-122"/>
                <a:cs typeface="Calibri" pitchFamily="34" charset="-120"/>
              </a:rPr>
              <a:t>.</a:t>
            </a:r>
            <a:endParaRPr lang="en-US" sz="1034" dirty="0"/>
          </a:p>
        </p:txBody>
      </p:sp>
      <p:sp>
        <p:nvSpPr>
          <p:cNvPr id="13" name="Text 9"/>
          <p:cNvSpPr/>
          <p:nvPr/>
        </p:nvSpPr>
        <p:spPr>
          <a:xfrm>
            <a:off x="381595" y="949523"/>
            <a:ext cx="1580559" cy="2198484"/>
          </a:xfrm>
          <a:prstGeom prst="roundRect">
            <a:avLst>
              <a:gd name="adj" fmla="val 4500"/>
            </a:avLst>
          </a:prstGeom>
          <a:gradFill rotWithShape="1">
            <a:gsLst>
              <a:gs pos="0">
                <a:srgbClr val="E8A020">
                  <a:alpha val="5000"/>
                </a:srgbClr>
              </a:gs>
              <a:gs pos="60000">
                <a:srgbClr val="000000">
                  <a:alpha val="0"/>
                </a:srgbClr>
              </a:gs>
            </a:gsLst>
            <a:lin ang="4200000" scaled="1"/>
          </a:gradFill>
          <a:ln/>
        </p:spPr>
        <p:txBody>
          <a:bodyPr wrap="square" rtlCol="0" anchor="t"/>
          <a:lstStyle/>
          <a:p>
            <a:pPr marL="0" indent="0">
              <a:buNone/>
            </a:pPr>
            <a:endParaRPr lang="en-US" dirty="0"/>
          </a:p>
        </p:txBody>
      </p:sp>
      <p:sp>
        <p:nvSpPr>
          <p:cNvPr id="14" name="Text 10"/>
          <p:cNvSpPr/>
          <p:nvPr/>
        </p:nvSpPr>
        <p:spPr>
          <a:xfrm>
            <a:off x="2081510" y="949523"/>
            <a:ext cx="1580702" cy="2198484"/>
          </a:xfrm>
          <a:prstGeom prst="roundRect">
            <a:avLst>
              <a:gd name="adj" fmla="val 4499"/>
            </a:avLst>
          </a:prstGeom>
          <a:gradFill rotWithShape="1">
            <a:gsLst>
              <a:gs pos="0">
                <a:srgbClr val="E8A020">
                  <a:alpha val="5000"/>
                </a:srgbClr>
              </a:gs>
              <a:gs pos="60000">
                <a:srgbClr val="000000">
                  <a:alpha val="0"/>
                </a:srgbClr>
              </a:gs>
            </a:gsLst>
            <a:lin ang="4200000" scaled="1"/>
          </a:gradFill>
          <a:ln/>
        </p:spPr>
        <p:txBody>
          <a:bodyPr wrap="square" rtlCol="0" anchor="t"/>
          <a:lstStyle/>
          <a:p>
            <a:pPr marL="0" indent="0">
              <a:buNone/>
            </a:pPr>
            <a:endParaRPr lang="en-US" dirty="0"/>
          </a:p>
        </p:txBody>
      </p:sp>
      <p:sp>
        <p:nvSpPr>
          <p:cNvPr id="15" name="Text 11"/>
          <p:cNvSpPr/>
          <p:nvPr/>
        </p:nvSpPr>
        <p:spPr>
          <a:xfrm>
            <a:off x="3781574" y="949523"/>
            <a:ext cx="1580702" cy="2198484"/>
          </a:xfrm>
          <a:prstGeom prst="roundRect">
            <a:avLst>
              <a:gd name="adj" fmla="val 4499"/>
            </a:avLst>
          </a:prstGeom>
          <a:gradFill rotWithShape="1">
            <a:gsLst>
              <a:gs pos="0">
                <a:srgbClr val="E8A020">
                  <a:alpha val="5000"/>
                </a:srgbClr>
              </a:gs>
              <a:gs pos="60000">
                <a:srgbClr val="000000">
                  <a:alpha val="0"/>
                </a:srgbClr>
              </a:gs>
            </a:gsLst>
            <a:lin ang="4200000" scaled="1"/>
          </a:gradFill>
          <a:ln/>
        </p:spPr>
        <p:txBody>
          <a:bodyPr wrap="square" rtlCol="0" anchor="t"/>
          <a:lstStyle/>
          <a:p>
            <a:pPr marL="0" indent="0">
              <a:buNone/>
            </a:pPr>
            <a:endParaRPr lang="en-US" dirty="0"/>
          </a:p>
        </p:txBody>
      </p:sp>
      <p:sp>
        <p:nvSpPr>
          <p:cNvPr id="16" name="Text 12"/>
          <p:cNvSpPr/>
          <p:nvPr/>
        </p:nvSpPr>
        <p:spPr>
          <a:xfrm>
            <a:off x="5481638" y="949523"/>
            <a:ext cx="1580702" cy="2198484"/>
          </a:xfrm>
          <a:prstGeom prst="roundRect">
            <a:avLst>
              <a:gd name="adj" fmla="val 4499"/>
            </a:avLst>
          </a:prstGeom>
          <a:gradFill rotWithShape="1">
            <a:gsLst>
              <a:gs pos="0">
                <a:srgbClr val="E8A020">
                  <a:alpha val="5000"/>
                </a:srgbClr>
              </a:gs>
              <a:gs pos="60000">
                <a:srgbClr val="000000">
                  <a:alpha val="0"/>
                </a:srgbClr>
              </a:gs>
            </a:gsLst>
            <a:lin ang="4200000" scaled="1"/>
          </a:gradFill>
          <a:ln/>
        </p:spPr>
        <p:txBody>
          <a:bodyPr wrap="square" rtlCol="0" anchor="t"/>
          <a:lstStyle/>
          <a:p>
            <a:pPr marL="0" indent="0">
              <a:buNone/>
            </a:pPr>
            <a:endParaRPr lang="en-US" dirty="0"/>
          </a:p>
        </p:txBody>
      </p:sp>
      <p:sp>
        <p:nvSpPr>
          <p:cNvPr id="17" name="Text 13"/>
          <p:cNvSpPr/>
          <p:nvPr/>
        </p:nvSpPr>
        <p:spPr>
          <a:xfrm>
            <a:off x="7181701" y="949523"/>
            <a:ext cx="1580702" cy="2198484"/>
          </a:xfrm>
          <a:prstGeom prst="roundRect">
            <a:avLst>
              <a:gd name="adj" fmla="val 4499"/>
            </a:avLst>
          </a:prstGeom>
          <a:gradFill rotWithShape="1">
            <a:gsLst>
              <a:gs pos="0">
                <a:srgbClr val="E8A020">
                  <a:alpha val="5000"/>
                </a:srgbClr>
              </a:gs>
              <a:gs pos="60000">
                <a:srgbClr val="000000">
                  <a:alpha val="0"/>
                </a:srgbClr>
              </a:gs>
            </a:gsLst>
            <a:lin ang="4200000" scaled="1"/>
          </a:gradFill>
          <a:ln/>
        </p:spPr>
        <p:txBody>
          <a:bodyPr wrap="square" rtlCol="0" anchor="t"/>
          <a:lstStyle/>
          <a:p>
            <a:pPr marL="0" indent="0">
              <a:buNone/>
            </a:pPr>
            <a:endParaRPr lang="en-US" dirty="0"/>
          </a:p>
        </p:txBody>
      </p:sp>
      <p:sp>
        <p:nvSpPr>
          <p:cNvPr id="18" name="Text 14"/>
          <p:cNvSpPr/>
          <p:nvPr/>
        </p:nvSpPr>
        <p:spPr>
          <a:xfrm>
            <a:off x="372070" y="930473"/>
            <a:ext cx="1599605" cy="2227064"/>
          </a:xfrm>
          <a:prstGeom prst="roundRect">
            <a:avLst>
              <a:gd name="adj" fmla="val 4446"/>
            </a:avLst>
          </a:prstGeom>
          <a:solidFill>
            <a:srgbClr val="F0F4F8"/>
          </a:solidFill>
          <a:ln/>
        </p:spPr>
        <p:txBody>
          <a:bodyPr wrap="square" rtlCol="0" anchor="t"/>
          <a:lstStyle/>
          <a:p>
            <a:pPr marL="0" indent="0">
              <a:buNone/>
            </a:pPr>
            <a:endParaRPr lang="en-US" dirty="0"/>
          </a:p>
        </p:txBody>
      </p:sp>
      <p:sp>
        <p:nvSpPr>
          <p:cNvPr id="19" name="Text 15"/>
          <p:cNvSpPr/>
          <p:nvPr/>
        </p:nvSpPr>
        <p:spPr>
          <a:xfrm>
            <a:off x="372070" y="930473"/>
            <a:ext cx="9525" cy="2227064"/>
          </a:xfrm>
          <a:custGeom>
            <a:avLst/>
            <a:gdLst/>
            <a:ahLst/>
            <a:cxnLst/>
            <a:rect l="l" t="t" r="r" b="b"/>
            <a:pathLst>
              <a:path w="9525" h="2227064">
                <a:moveTo>
                  <a:pt x="0" y="71120"/>
                </a:moveTo>
                <a:lnTo>
                  <a:pt x="1191" y="58161"/>
                </a:lnTo>
                <a:lnTo>
                  <a:pt x="2381" y="52871"/>
                </a:lnTo>
                <a:lnTo>
                  <a:pt x="3572" y="48865"/>
                </a:lnTo>
                <a:lnTo>
                  <a:pt x="4763" y="45532"/>
                </a:lnTo>
                <a:lnTo>
                  <a:pt x="5953" y="42636"/>
                </a:lnTo>
                <a:lnTo>
                  <a:pt x="7144" y="40054"/>
                </a:lnTo>
                <a:lnTo>
                  <a:pt x="8334" y="37713"/>
                </a:lnTo>
                <a:lnTo>
                  <a:pt x="9525" y="35566"/>
                </a:lnTo>
                <a:lnTo>
                  <a:pt x="9525" y="2191498"/>
                </a:lnTo>
                <a:lnTo>
                  <a:pt x="8334" y="2189351"/>
                </a:lnTo>
                <a:lnTo>
                  <a:pt x="7144" y="2187010"/>
                </a:lnTo>
                <a:lnTo>
                  <a:pt x="5953" y="2184428"/>
                </a:lnTo>
                <a:lnTo>
                  <a:pt x="4763" y="2181532"/>
                </a:lnTo>
                <a:lnTo>
                  <a:pt x="3572" y="2178199"/>
                </a:lnTo>
                <a:lnTo>
                  <a:pt x="2381" y="2174193"/>
                </a:lnTo>
                <a:lnTo>
                  <a:pt x="1191" y="2168903"/>
                </a:lnTo>
                <a:lnTo>
                  <a:pt x="0" y="2155944"/>
                </a:lnTo>
                <a:close/>
              </a:path>
            </a:pathLst>
          </a:custGeom>
          <a:solidFill>
            <a:srgbClr val="0D1B3E">
              <a:alpha val="8000"/>
            </a:srgbClr>
          </a:solidFill>
          <a:ln/>
        </p:spPr>
        <p:txBody>
          <a:bodyPr wrap="square" rtlCol="0" anchor="t"/>
          <a:lstStyle/>
          <a:p>
            <a:pPr marL="0" indent="0">
              <a:buNone/>
            </a:pPr>
            <a:endParaRPr lang="en-US" dirty="0"/>
          </a:p>
        </p:txBody>
      </p:sp>
      <p:sp>
        <p:nvSpPr>
          <p:cNvPr id="20" name="Text 16"/>
          <p:cNvSpPr/>
          <p:nvPr/>
        </p:nvSpPr>
        <p:spPr>
          <a:xfrm>
            <a:off x="1962150" y="930473"/>
            <a:ext cx="9525" cy="2227064"/>
          </a:xfrm>
          <a:custGeom>
            <a:avLst/>
            <a:gdLst/>
            <a:ahLst/>
            <a:cxnLst/>
            <a:rect l="l" t="t" r="r" b="b"/>
            <a:pathLst>
              <a:path w="9525" h="2227064">
                <a:moveTo>
                  <a:pt x="0" y="35566"/>
                </a:moveTo>
                <a:lnTo>
                  <a:pt x="1191" y="37713"/>
                </a:lnTo>
                <a:lnTo>
                  <a:pt x="2381" y="40054"/>
                </a:lnTo>
                <a:lnTo>
                  <a:pt x="3572" y="42636"/>
                </a:lnTo>
                <a:lnTo>
                  <a:pt x="4763" y="45532"/>
                </a:lnTo>
                <a:lnTo>
                  <a:pt x="5953" y="48865"/>
                </a:lnTo>
                <a:lnTo>
                  <a:pt x="7144" y="52871"/>
                </a:lnTo>
                <a:lnTo>
                  <a:pt x="8334" y="58161"/>
                </a:lnTo>
                <a:lnTo>
                  <a:pt x="9525" y="71120"/>
                </a:lnTo>
                <a:lnTo>
                  <a:pt x="9525" y="2155944"/>
                </a:lnTo>
                <a:lnTo>
                  <a:pt x="8334" y="2168903"/>
                </a:lnTo>
                <a:lnTo>
                  <a:pt x="7144" y="2174193"/>
                </a:lnTo>
                <a:lnTo>
                  <a:pt x="5953" y="2178199"/>
                </a:lnTo>
                <a:lnTo>
                  <a:pt x="4763" y="2181532"/>
                </a:lnTo>
                <a:lnTo>
                  <a:pt x="3572" y="2184428"/>
                </a:lnTo>
                <a:lnTo>
                  <a:pt x="2381" y="2187010"/>
                </a:lnTo>
                <a:lnTo>
                  <a:pt x="1191" y="2189351"/>
                </a:lnTo>
                <a:lnTo>
                  <a:pt x="0" y="2191498"/>
                </a:lnTo>
                <a:close/>
              </a:path>
            </a:pathLst>
          </a:custGeom>
          <a:solidFill>
            <a:srgbClr val="0D1B3E">
              <a:alpha val="8000"/>
            </a:srgbClr>
          </a:solidFill>
          <a:ln/>
        </p:spPr>
        <p:txBody>
          <a:bodyPr wrap="square" rtlCol="0" anchor="t"/>
          <a:lstStyle/>
          <a:p>
            <a:pPr marL="0" indent="0">
              <a:buNone/>
            </a:pPr>
            <a:endParaRPr lang="en-US" dirty="0"/>
          </a:p>
        </p:txBody>
      </p:sp>
      <p:sp>
        <p:nvSpPr>
          <p:cNvPr id="21" name="Text 17"/>
          <p:cNvSpPr/>
          <p:nvPr/>
        </p:nvSpPr>
        <p:spPr>
          <a:xfrm>
            <a:off x="372070" y="930473"/>
            <a:ext cx="1599605" cy="19050"/>
          </a:xfrm>
          <a:custGeom>
            <a:avLst/>
            <a:gdLst/>
            <a:ahLst/>
            <a:cxnLst/>
            <a:rect l="l" t="t" r="r" b="b"/>
            <a:pathLst>
              <a:path w="1599605"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576928" y="19050"/>
                </a:lnTo>
                <a:lnTo>
                  <a:pt x="1574235" y="16669"/>
                </a:lnTo>
                <a:lnTo>
                  <a:pt x="1571241" y="14288"/>
                </a:lnTo>
                <a:lnTo>
                  <a:pt x="1567877" y="11906"/>
                </a:lnTo>
                <a:lnTo>
                  <a:pt x="1564039" y="9525"/>
                </a:lnTo>
                <a:lnTo>
                  <a:pt x="1559551" y="7144"/>
                </a:lnTo>
                <a:lnTo>
                  <a:pt x="1554072" y="4763"/>
                </a:lnTo>
                <a:lnTo>
                  <a:pt x="1546734" y="2381"/>
                </a:lnTo>
                <a:lnTo>
                  <a:pt x="1528485" y="0"/>
                </a:lnTo>
                <a:close/>
              </a:path>
            </a:pathLst>
          </a:custGeom>
          <a:solidFill>
            <a:srgbClr val="E8A020">
              <a:alpha val="50000"/>
            </a:srgbClr>
          </a:solidFill>
          <a:ln/>
        </p:spPr>
        <p:txBody>
          <a:bodyPr wrap="none" rtlCol="0" anchor="t"/>
          <a:lstStyle/>
          <a:p>
            <a:pPr marL="0" indent="0">
              <a:buNone/>
            </a:pPr>
            <a:endParaRPr lang="en-US" dirty="0"/>
          </a:p>
        </p:txBody>
      </p:sp>
      <p:sp>
        <p:nvSpPr>
          <p:cNvPr id="22" name="Text 18"/>
          <p:cNvSpPr/>
          <p:nvPr/>
        </p:nvSpPr>
        <p:spPr>
          <a:xfrm>
            <a:off x="509736" y="1092994"/>
            <a:ext cx="1456700" cy="118021"/>
          </a:xfrm>
          <a:prstGeom prst="rect">
            <a:avLst/>
          </a:prstGeom>
          <a:noFill/>
          <a:ln/>
        </p:spPr>
        <p:txBody>
          <a:bodyPr wrap="none" lIns="0" tIns="0" rIns="0" bIns="0" rtlCol="0" anchor="t"/>
          <a:lstStyle/>
          <a:p>
            <a:pPr marL="0" indent="0" algn="l">
              <a:lnSpc>
                <a:spcPts val="1069"/>
              </a:lnSpc>
              <a:buNone/>
            </a:pPr>
            <a:r>
              <a:rPr lang="en-US" sz="712" b="1" kern="0" spc="87">
                <a:solidFill>
                  <a:srgbClr val="E8A020"/>
                </a:solidFill>
                <a:latin typeface="Calibri Light" pitchFamily="34" charset="0"/>
                <a:ea typeface="Calibri Light" pitchFamily="34" charset="-122"/>
                <a:cs typeface="Calibri Light" pitchFamily="34" charset="-120"/>
              </a:rPr>
              <a:t>PILLAR 01</a:t>
            </a:r>
            <a:endParaRPr lang="en-US" sz="712"/>
          </a:p>
        </p:txBody>
      </p:sp>
      <p:sp>
        <p:nvSpPr>
          <p:cNvPr id="23" name="Text 19"/>
          <p:cNvSpPr/>
          <p:nvPr/>
        </p:nvSpPr>
        <p:spPr>
          <a:xfrm>
            <a:off x="509736" y="1297335"/>
            <a:ext cx="328910" cy="328910"/>
          </a:xfrm>
          <a:prstGeom prst="roundRect">
            <a:avLst>
              <a:gd name="adj" fmla="val 21623"/>
            </a:avLst>
          </a:prstGeom>
          <a:solidFill>
            <a:srgbClr val="E8A020">
              <a:alpha val="15000"/>
            </a:srgbClr>
          </a:solidFill>
          <a:ln w="9525">
            <a:solidFill>
              <a:srgbClr val="E8A020">
                <a:alpha val="50000"/>
              </a:srgbClr>
            </a:solidFill>
          </a:ln>
        </p:spPr>
        <p:txBody>
          <a:bodyPr wrap="square" rtlCol="0" anchor="t"/>
          <a:lstStyle/>
          <a:p>
            <a:pPr marL="0" indent="0">
              <a:buNone/>
            </a:pPr>
            <a:endParaRPr lang="en-US"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689" y="1392287"/>
            <a:ext cx="139005" cy="139005"/>
          </a:xfrm>
          <a:prstGeom prst="rect">
            <a:avLst/>
          </a:prstGeom>
        </p:spPr>
      </p:pic>
      <p:sp>
        <p:nvSpPr>
          <p:cNvPr id="25" name="Text 20"/>
          <p:cNvSpPr/>
          <p:nvPr/>
        </p:nvSpPr>
        <p:spPr>
          <a:xfrm>
            <a:off x="509736" y="1726406"/>
            <a:ext cx="1350758" cy="306913"/>
          </a:xfrm>
          <a:prstGeom prst="rect">
            <a:avLst/>
          </a:prstGeom>
          <a:noFill/>
          <a:ln/>
        </p:spPr>
        <p:txBody>
          <a:bodyPr wrap="square" lIns="0" tIns="0" rIns="0" bIns="0" rtlCol="0" anchor="t"/>
          <a:lstStyle/>
          <a:p>
            <a:pPr marL="0" indent="0" algn="l">
              <a:lnSpc>
                <a:spcPts val="1324"/>
              </a:lnSpc>
              <a:buNone/>
            </a:pPr>
            <a:r>
              <a:rPr lang="en-US" sz="1103" b="1">
                <a:solidFill>
                  <a:srgbClr val="0D1B3E"/>
                </a:solidFill>
                <a:latin typeface="Calibri Light" pitchFamily="34" charset="0"/>
                <a:ea typeface="Calibri Light" pitchFamily="34" charset="-122"/>
                <a:cs typeface="Calibri Light" pitchFamily="34" charset="-120"/>
              </a:rPr>
              <a:t>Environmental Scanning</a:t>
            </a:r>
            <a:endParaRPr lang="en-US" sz="1103"/>
          </a:p>
        </p:txBody>
      </p:sp>
      <p:sp>
        <p:nvSpPr>
          <p:cNvPr id="26" name="Text 21"/>
          <p:cNvSpPr/>
          <p:nvPr/>
        </p:nvSpPr>
        <p:spPr>
          <a:xfrm>
            <a:off x="495895" y="2105025"/>
            <a:ext cx="1351955" cy="7590"/>
          </a:xfrm>
          <a:prstGeom prst="rect">
            <a:avLst/>
          </a:prstGeom>
          <a:solidFill>
            <a:srgbClr val="0D1B3E">
              <a:alpha val="10000"/>
            </a:srgbClr>
          </a:solidFill>
          <a:ln/>
        </p:spPr>
        <p:txBody>
          <a:bodyPr wrap="none" rtlCol="0" anchor="t"/>
          <a:lstStyle/>
          <a:p>
            <a:pPr marL="0" indent="0">
              <a:buNone/>
            </a:pPr>
            <a:endParaRPr lang="en-US" dirty="0"/>
          </a:p>
        </p:txBody>
      </p:sp>
      <p:sp>
        <p:nvSpPr>
          <p:cNvPr id="27" name="Text 22"/>
          <p:cNvSpPr/>
          <p:nvPr/>
        </p:nvSpPr>
        <p:spPr>
          <a:xfrm>
            <a:off x="509736" y="2198936"/>
            <a:ext cx="1350758" cy="441149"/>
          </a:xfrm>
          <a:prstGeom prst="rect">
            <a:avLst/>
          </a:prstGeom>
          <a:noFill/>
          <a:ln/>
        </p:spPr>
        <p:txBody>
          <a:bodyPr wrap="square" lIns="0" tIns="0" rIns="0" bIns="0" rtlCol="0" anchor="t"/>
          <a:lstStyle/>
          <a:p>
            <a:pPr marL="0" indent="0" algn="l">
              <a:lnSpc>
                <a:spcPts val="1266"/>
              </a:lnSpc>
              <a:buNone/>
            </a:pPr>
            <a:r>
              <a:rPr lang="en-US" sz="873">
                <a:solidFill>
                  <a:srgbClr val="64748B"/>
                </a:solidFill>
                <a:latin typeface="Calibri" pitchFamily="34" charset="0"/>
                <a:ea typeface="Calibri" pitchFamily="34" charset="-122"/>
                <a:cs typeface="Calibri" pitchFamily="34" charset="-120"/>
              </a:rPr>
              <a:t>Continuous monitoring of the funding landscape — before opportunities are announced.</a:t>
            </a:r>
            <a:endParaRPr lang="en-US" sz="873"/>
          </a:p>
        </p:txBody>
      </p:sp>
      <p:sp>
        <p:nvSpPr>
          <p:cNvPr id="28" name="Text 23"/>
          <p:cNvSpPr/>
          <p:nvPr/>
        </p:nvSpPr>
        <p:spPr>
          <a:xfrm>
            <a:off x="509736" y="2845445"/>
            <a:ext cx="750371" cy="174427"/>
          </a:xfrm>
          <a:prstGeom prst="roundRect">
            <a:avLst>
              <a:gd name="adj" fmla="val 82275"/>
            </a:avLst>
          </a:prstGeom>
          <a:solidFill>
            <a:srgbClr val="E8A020">
              <a:alpha val="15000"/>
            </a:srgbClr>
          </a:solidFill>
          <a:ln w="9525">
            <a:solidFill>
              <a:srgbClr val="E8A020">
                <a:alpha val="50000"/>
              </a:srgbClr>
            </a:solidFill>
          </a:ln>
        </p:spPr>
        <p:txBody>
          <a:bodyPr wrap="none" lIns="149543" tIns="21590" rIns="71120" bIns="21590" rtlCol="0" anchor="ctr"/>
          <a:lstStyle/>
          <a:p>
            <a:pPr marL="0" indent="0" algn="l">
              <a:buNone/>
            </a:pPr>
            <a:r>
              <a:rPr lang="en-US" sz="678" b="1" kern="0" spc="47">
                <a:solidFill>
                  <a:srgbClr val="E8A020"/>
                </a:solidFill>
                <a:latin typeface="Calibri" pitchFamily="34" charset="0"/>
                <a:ea typeface="Calibri" pitchFamily="34" charset="-122"/>
                <a:cs typeface="Calibri" pitchFamily="34" charset="-120"/>
              </a:rPr>
              <a:t>CONTINUOUS</a:t>
            </a:r>
            <a:endParaRPr lang="en-US" sz="678"/>
          </a:p>
        </p:txBody>
      </p:sp>
      <p:pic>
        <p:nvPicPr>
          <p:cNvPr id="29"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5390" y="2866364"/>
            <a:ext cx="132588" cy="132588"/>
          </a:xfrm>
          <a:prstGeom prst="rect">
            <a:avLst/>
          </a:prstGeom>
        </p:spPr>
      </p:pic>
      <p:sp>
        <p:nvSpPr>
          <p:cNvPr id="30" name="Text 24"/>
          <p:cNvSpPr/>
          <p:nvPr/>
        </p:nvSpPr>
        <p:spPr>
          <a:xfrm>
            <a:off x="2071985" y="930473"/>
            <a:ext cx="1599754" cy="2227064"/>
          </a:xfrm>
          <a:prstGeom prst="roundRect">
            <a:avLst>
              <a:gd name="adj" fmla="val 4446"/>
            </a:avLst>
          </a:prstGeom>
          <a:solidFill>
            <a:srgbClr val="F0F4F8"/>
          </a:solidFill>
          <a:ln/>
        </p:spPr>
        <p:txBody>
          <a:bodyPr wrap="square" rtlCol="0" anchor="t"/>
          <a:lstStyle/>
          <a:p>
            <a:pPr marL="0" indent="0">
              <a:buNone/>
            </a:pPr>
            <a:endParaRPr lang="en-US" dirty="0"/>
          </a:p>
        </p:txBody>
      </p:sp>
      <p:sp>
        <p:nvSpPr>
          <p:cNvPr id="31" name="Text 25"/>
          <p:cNvSpPr/>
          <p:nvPr/>
        </p:nvSpPr>
        <p:spPr>
          <a:xfrm>
            <a:off x="2071985" y="930473"/>
            <a:ext cx="9525" cy="2227064"/>
          </a:xfrm>
          <a:custGeom>
            <a:avLst/>
            <a:gdLst/>
            <a:ahLst/>
            <a:cxnLst/>
            <a:rect l="l" t="t" r="r" b="b"/>
            <a:pathLst>
              <a:path w="9525" h="2227064">
                <a:moveTo>
                  <a:pt x="0" y="71120"/>
                </a:moveTo>
                <a:lnTo>
                  <a:pt x="1191" y="58161"/>
                </a:lnTo>
                <a:lnTo>
                  <a:pt x="2381" y="52871"/>
                </a:lnTo>
                <a:lnTo>
                  <a:pt x="3572" y="48865"/>
                </a:lnTo>
                <a:lnTo>
                  <a:pt x="4763" y="45532"/>
                </a:lnTo>
                <a:lnTo>
                  <a:pt x="5953" y="42636"/>
                </a:lnTo>
                <a:lnTo>
                  <a:pt x="7144" y="40054"/>
                </a:lnTo>
                <a:lnTo>
                  <a:pt x="8334" y="37713"/>
                </a:lnTo>
                <a:lnTo>
                  <a:pt x="9525" y="35566"/>
                </a:lnTo>
                <a:lnTo>
                  <a:pt x="9525" y="2191498"/>
                </a:lnTo>
                <a:lnTo>
                  <a:pt x="8334" y="2189351"/>
                </a:lnTo>
                <a:lnTo>
                  <a:pt x="7144" y="2187010"/>
                </a:lnTo>
                <a:lnTo>
                  <a:pt x="5953" y="2184428"/>
                </a:lnTo>
                <a:lnTo>
                  <a:pt x="4763" y="2181532"/>
                </a:lnTo>
                <a:lnTo>
                  <a:pt x="3572" y="2178199"/>
                </a:lnTo>
                <a:lnTo>
                  <a:pt x="2381" y="2174193"/>
                </a:lnTo>
                <a:lnTo>
                  <a:pt x="1191" y="2168903"/>
                </a:lnTo>
                <a:lnTo>
                  <a:pt x="0" y="2155944"/>
                </a:lnTo>
                <a:close/>
              </a:path>
            </a:pathLst>
          </a:custGeom>
          <a:solidFill>
            <a:srgbClr val="0D1B3E">
              <a:alpha val="8000"/>
            </a:srgbClr>
          </a:solidFill>
          <a:ln/>
        </p:spPr>
        <p:txBody>
          <a:bodyPr wrap="square" rtlCol="0" anchor="t"/>
          <a:lstStyle/>
          <a:p>
            <a:pPr marL="0" indent="0">
              <a:buNone/>
            </a:pPr>
            <a:endParaRPr lang="en-US" dirty="0"/>
          </a:p>
        </p:txBody>
      </p:sp>
      <p:sp>
        <p:nvSpPr>
          <p:cNvPr id="32" name="Text 26"/>
          <p:cNvSpPr/>
          <p:nvPr/>
        </p:nvSpPr>
        <p:spPr>
          <a:xfrm>
            <a:off x="3662214" y="930473"/>
            <a:ext cx="9525" cy="2227064"/>
          </a:xfrm>
          <a:custGeom>
            <a:avLst/>
            <a:gdLst/>
            <a:ahLst/>
            <a:cxnLst/>
            <a:rect l="l" t="t" r="r" b="b"/>
            <a:pathLst>
              <a:path w="9525" h="2227064">
                <a:moveTo>
                  <a:pt x="0" y="35566"/>
                </a:moveTo>
                <a:lnTo>
                  <a:pt x="1191" y="37713"/>
                </a:lnTo>
                <a:lnTo>
                  <a:pt x="2381" y="40054"/>
                </a:lnTo>
                <a:lnTo>
                  <a:pt x="3572" y="42636"/>
                </a:lnTo>
                <a:lnTo>
                  <a:pt x="4763" y="45532"/>
                </a:lnTo>
                <a:lnTo>
                  <a:pt x="5953" y="48865"/>
                </a:lnTo>
                <a:lnTo>
                  <a:pt x="7144" y="52871"/>
                </a:lnTo>
                <a:lnTo>
                  <a:pt x="8334" y="58161"/>
                </a:lnTo>
                <a:lnTo>
                  <a:pt x="9525" y="71120"/>
                </a:lnTo>
                <a:lnTo>
                  <a:pt x="9525" y="2155944"/>
                </a:lnTo>
                <a:lnTo>
                  <a:pt x="8334" y="2168903"/>
                </a:lnTo>
                <a:lnTo>
                  <a:pt x="7144" y="2174193"/>
                </a:lnTo>
                <a:lnTo>
                  <a:pt x="5953" y="2178199"/>
                </a:lnTo>
                <a:lnTo>
                  <a:pt x="4763" y="2181532"/>
                </a:lnTo>
                <a:lnTo>
                  <a:pt x="3572" y="2184428"/>
                </a:lnTo>
                <a:lnTo>
                  <a:pt x="2381" y="2187010"/>
                </a:lnTo>
                <a:lnTo>
                  <a:pt x="1191" y="2189351"/>
                </a:lnTo>
                <a:lnTo>
                  <a:pt x="0" y="2191498"/>
                </a:lnTo>
                <a:close/>
              </a:path>
            </a:pathLst>
          </a:custGeom>
          <a:solidFill>
            <a:srgbClr val="0D1B3E">
              <a:alpha val="8000"/>
            </a:srgbClr>
          </a:solidFill>
          <a:ln/>
        </p:spPr>
        <p:txBody>
          <a:bodyPr wrap="square" rtlCol="0" anchor="t"/>
          <a:lstStyle/>
          <a:p>
            <a:pPr marL="0" indent="0">
              <a:buNone/>
            </a:pPr>
            <a:endParaRPr lang="en-US" dirty="0"/>
          </a:p>
        </p:txBody>
      </p:sp>
      <p:sp>
        <p:nvSpPr>
          <p:cNvPr id="33" name="Text 27"/>
          <p:cNvSpPr/>
          <p:nvPr/>
        </p:nvSpPr>
        <p:spPr>
          <a:xfrm>
            <a:off x="2071985" y="930473"/>
            <a:ext cx="1599754" cy="19050"/>
          </a:xfrm>
          <a:custGeom>
            <a:avLst/>
            <a:gdLst/>
            <a:ahLst/>
            <a:cxnLst/>
            <a:rect l="l" t="t" r="r" b="b"/>
            <a:pathLst>
              <a:path w="1599754"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577077" y="19050"/>
                </a:lnTo>
                <a:lnTo>
                  <a:pt x="1574384" y="16669"/>
                </a:lnTo>
                <a:lnTo>
                  <a:pt x="1571390" y="14288"/>
                </a:lnTo>
                <a:lnTo>
                  <a:pt x="1568026" y="11906"/>
                </a:lnTo>
                <a:lnTo>
                  <a:pt x="1564188" y="9525"/>
                </a:lnTo>
                <a:lnTo>
                  <a:pt x="1559699" y="7144"/>
                </a:lnTo>
                <a:lnTo>
                  <a:pt x="1554221" y="4763"/>
                </a:lnTo>
                <a:lnTo>
                  <a:pt x="1546883" y="2381"/>
                </a:lnTo>
                <a:lnTo>
                  <a:pt x="1528633" y="0"/>
                </a:lnTo>
                <a:close/>
              </a:path>
            </a:pathLst>
          </a:custGeom>
          <a:solidFill>
            <a:srgbClr val="E8A020">
              <a:alpha val="50000"/>
            </a:srgbClr>
          </a:solidFill>
          <a:ln/>
        </p:spPr>
        <p:txBody>
          <a:bodyPr wrap="none" rtlCol="0" anchor="t"/>
          <a:lstStyle/>
          <a:p>
            <a:pPr marL="0" indent="0">
              <a:buNone/>
            </a:pPr>
            <a:endParaRPr lang="en-US" dirty="0"/>
          </a:p>
        </p:txBody>
      </p:sp>
      <p:sp>
        <p:nvSpPr>
          <p:cNvPr id="34" name="Text 28"/>
          <p:cNvSpPr/>
          <p:nvPr/>
        </p:nvSpPr>
        <p:spPr>
          <a:xfrm>
            <a:off x="2209651" y="1092994"/>
            <a:ext cx="1456864" cy="118021"/>
          </a:xfrm>
          <a:prstGeom prst="rect">
            <a:avLst/>
          </a:prstGeom>
          <a:noFill/>
          <a:ln/>
        </p:spPr>
        <p:txBody>
          <a:bodyPr wrap="none" lIns="0" tIns="0" rIns="0" bIns="0" rtlCol="0" anchor="t"/>
          <a:lstStyle/>
          <a:p>
            <a:pPr marL="0" indent="0" algn="l">
              <a:lnSpc>
                <a:spcPts val="1069"/>
              </a:lnSpc>
              <a:buNone/>
            </a:pPr>
            <a:r>
              <a:rPr lang="en-US" sz="712" b="1" kern="0" spc="87">
                <a:solidFill>
                  <a:srgbClr val="E8A020"/>
                </a:solidFill>
                <a:latin typeface="Calibri Light" pitchFamily="34" charset="0"/>
                <a:ea typeface="Calibri Light" pitchFamily="34" charset="-122"/>
                <a:cs typeface="Calibri Light" pitchFamily="34" charset="-120"/>
              </a:rPr>
              <a:t>PILLAR 02</a:t>
            </a:r>
            <a:endParaRPr lang="en-US" sz="712"/>
          </a:p>
        </p:txBody>
      </p:sp>
      <p:sp>
        <p:nvSpPr>
          <p:cNvPr id="35" name="Text 29"/>
          <p:cNvSpPr/>
          <p:nvPr/>
        </p:nvSpPr>
        <p:spPr>
          <a:xfrm>
            <a:off x="2209651" y="1297335"/>
            <a:ext cx="328910" cy="328910"/>
          </a:xfrm>
          <a:prstGeom prst="roundRect">
            <a:avLst>
              <a:gd name="adj" fmla="val 21623"/>
            </a:avLst>
          </a:prstGeom>
          <a:solidFill>
            <a:srgbClr val="E8A020">
              <a:alpha val="15000"/>
            </a:srgbClr>
          </a:solidFill>
          <a:ln w="9525">
            <a:solidFill>
              <a:srgbClr val="E8A020">
                <a:alpha val="50000"/>
              </a:srgbClr>
            </a:solidFill>
          </a:ln>
        </p:spPr>
        <p:txBody>
          <a:bodyPr wrap="square" rtlCol="0" anchor="t"/>
          <a:lstStyle/>
          <a:p>
            <a:pPr marL="0" indent="0">
              <a:buNone/>
            </a:pPr>
            <a:endParaRPr lang="en-US" dirty="0"/>
          </a:p>
        </p:txBody>
      </p:sp>
      <p:pic>
        <p:nvPicPr>
          <p:cNvPr id="36"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4604" y="1392287"/>
            <a:ext cx="139005" cy="139005"/>
          </a:xfrm>
          <a:prstGeom prst="rect">
            <a:avLst/>
          </a:prstGeom>
        </p:spPr>
      </p:pic>
      <p:sp>
        <p:nvSpPr>
          <p:cNvPr id="37" name="Text 30"/>
          <p:cNvSpPr/>
          <p:nvPr/>
        </p:nvSpPr>
        <p:spPr>
          <a:xfrm>
            <a:off x="2209651" y="1726406"/>
            <a:ext cx="1350910" cy="306913"/>
          </a:xfrm>
          <a:prstGeom prst="rect">
            <a:avLst/>
          </a:prstGeom>
          <a:noFill/>
          <a:ln/>
        </p:spPr>
        <p:txBody>
          <a:bodyPr wrap="square" lIns="0" tIns="0" rIns="0" bIns="0" rtlCol="0" anchor="t"/>
          <a:lstStyle/>
          <a:p>
            <a:pPr marL="0" indent="0" algn="l">
              <a:lnSpc>
                <a:spcPts val="1324"/>
              </a:lnSpc>
              <a:buNone/>
            </a:pPr>
            <a:r>
              <a:rPr lang="en-US" sz="1103" b="1">
                <a:solidFill>
                  <a:srgbClr val="0D1B3E"/>
                </a:solidFill>
                <a:latin typeface="Calibri Light" pitchFamily="34" charset="0"/>
                <a:ea typeface="Calibri Light" pitchFamily="34" charset="-122"/>
                <a:cs typeface="Calibri Light" pitchFamily="34" charset="-120"/>
              </a:rPr>
              <a:t>Opportunity Intelligence</a:t>
            </a:r>
            <a:endParaRPr lang="en-US" sz="1103"/>
          </a:p>
        </p:txBody>
      </p:sp>
      <p:sp>
        <p:nvSpPr>
          <p:cNvPr id="38" name="Text 31"/>
          <p:cNvSpPr/>
          <p:nvPr/>
        </p:nvSpPr>
        <p:spPr>
          <a:xfrm>
            <a:off x="2195810" y="2105025"/>
            <a:ext cx="1352104" cy="7590"/>
          </a:xfrm>
          <a:prstGeom prst="rect">
            <a:avLst/>
          </a:prstGeom>
          <a:solidFill>
            <a:srgbClr val="0D1B3E">
              <a:alpha val="10000"/>
            </a:srgbClr>
          </a:solidFill>
          <a:ln/>
        </p:spPr>
        <p:txBody>
          <a:bodyPr wrap="none" rtlCol="0" anchor="t"/>
          <a:lstStyle/>
          <a:p>
            <a:pPr marL="0" indent="0">
              <a:buNone/>
            </a:pPr>
            <a:endParaRPr lang="en-US" dirty="0"/>
          </a:p>
        </p:txBody>
      </p:sp>
      <p:sp>
        <p:nvSpPr>
          <p:cNvPr id="39" name="Text 32"/>
          <p:cNvSpPr/>
          <p:nvPr/>
        </p:nvSpPr>
        <p:spPr>
          <a:xfrm>
            <a:off x="2209651" y="2198936"/>
            <a:ext cx="1350910" cy="588199"/>
          </a:xfrm>
          <a:prstGeom prst="rect">
            <a:avLst/>
          </a:prstGeom>
          <a:noFill/>
          <a:ln/>
        </p:spPr>
        <p:txBody>
          <a:bodyPr wrap="square" lIns="0" tIns="0" rIns="0" bIns="0" rtlCol="0" anchor="t"/>
          <a:lstStyle/>
          <a:p>
            <a:pPr marL="0" indent="0" algn="l">
              <a:lnSpc>
                <a:spcPts val="1266"/>
              </a:lnSpc>
              <a:buNone/>
            </a:pPr>
            <a:r>
              <a:rPr lang="en-US" sz="873">
                <a:solidFill>
                  <a:srgbClr val="64748B"/>
                </a:solidFill>
                <a:latin typeface="Calibri" pitchFamily="34" charset="0"/>
                <a:ea typeface="Calibri" pitchFamily="34" charset="-122"/>
                <a:cs typeface="Calibri" pitchFamily="34" charset="-120"/>
              </a:rPr>
              <a:t>Assessing and scoring each funding opportunity against mission fit, readiness, and competitiveness.</a:t>
            </a:r>
            <a:endParaRPr lang="en-US" sz="873"/>
          </a:p>
        </p:txBody>
      </p:sp>
      <p:sp>
        <p:nvSpPr>
          <p:cNvPr id="40" name="Text 33"/>
          <p:cNvSpPr/>
          <p:nvPr/>
        </p:nvSpPr>
        <p:spPr>
          <a:xfrm>
            <a:off x="2209651" y="2845445"/>
            <a:ext cx="750371" cy="174427"/>
          </a:xfrm>
          <a:prstGeom prst="roundRect">
            <a:avLst>
              <a:gd name="adj" fmla="val 82275"/>
            </a:avLst>
          </a:prstGeom>
          <a:solidFill>
            <a:srgbClr val="E8A020">
              <a:alpha val="15000"/>
            </a:srgbClr>
          </a:solidFill>
          <a:ln w="9525">
            <a:solidFill>
              <a:srgbClr val="E8A020">
                <a:alpha val="50000"/>
              </a:srgbClr>
            </a:solidFill>
          </a:ln>
        </p:spPr>
        <p:txBody>
          <a:bodyPr wrap="none" lIns="149543" tIns="21590" rIns="71120" bIns="21590" rtlCol="0" anchor="ctr"/>
          <a:lstStyle/>
          <a:p>
            <a:pPr marL="0" indent="0" algn="l">
              <a:buNone/>
            </a:pPr>
            <a:r>
              <a:rPr lang="en-US" sz="678" b="1" kern="0" spc="47">
                <a:solidFill>
                  <a:srgbClr val="E8A020"/>
                </a:solidFill>
                <a:latin typeface="Calibri" pitchFamily="34" charset="0"/>
                <a:ea typeface="Calibri" pitchFamily="34" charset="-122"/>
                <a:cs typeface="Calibri" pitchFamily="34" charset="-120"/>
              </a:rPr>
              <a:t>CONTINUOUS</a:t>
            </a:r>
            <a:endParaRPr lang="en-US" sz="678"/>
          </a:p>
        </p:txBody>
      </p:sp>
      <p:pic>
        <p:nvPicPr>
          <p:cNvPr id="41"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45304" y="2866364"/>
            <a:ext cx="132588" cy="132588"/>
          </a:xfrm>
          <a:prstGeom prst="rect">
            <a:avLst/>
          </a:prstGeom>
        </p:spPr>
      </p:pic>
      <p:sp>
        <p:nvSpPr>
          <p:cNvPr id="42" name="Text 34"/>
          <p:cNvSpPr/>
          <p:nvPr/>
        </p:nvSpPr>
        <p:spPr>
          <a:xfrm>
            <a:off x="3772049" y="930473"/>
            <a:ext cx="1599754" cy="2227064"/>
          </a:xfrm>
          <a:prstGeom prst="roundRect">
            <a:avLst>
              <a:gd name="adj" fmla="val 4446"/>
            </a:avLst>
          </a:prstGeom>
          <a:gradFill rotWithShape="1">
            <a:gsLst>
              <a:gs pos="0">
                <a:srgbClr val="E8A020">
                  <a:alpha val="10000"/>
                </a:srgbClr>
              </a:gs>
              <a:gs pos="60000">
                <a:srgbClr val="F0F4F8"/>
              </a:gs>
            </a:gsLst>
            <a:lin ang="4200000" scaled="1"/>
          </a:gradFill>
          <a:ln/>
        </p:spPr>
        <p:txBody>
          <a:bodyPr wrap="square" rtlCol="0" anchor="t"/>
          <a:lstStyle/>
          <a:p>
            <a:pPr marL="0" indent="0">
              <a:buNone/>
            </a:pPr>
            <a:endParaRPr lang="en-US" dirty="0"/>
          </a:p>
        </p:txBody>
      </p:sp>
      <p:sp>
        <p:nvSpPr>
          <p:cNvPr id="43" name="Text 35"/>
          <p:cNvSpPr/>
          <p:nvPr/>
        </p:nvSpPr>
        <p:spPr>
          <a:xfrm>
            <a:off x="3772049" y="930473"/>
            <a:ext cx="9525" cy="2227064"/>
          </a:xfrm>
          <a:custGeom>
            <a:avLst/>
            <a:gdLst/>
            <a:ahLst/>
            <a:cxnLst/>
            <a:rect l="l" t="t" r="r" b="b"/>
            <a:pathLst>
              <a:path w="9525" h="2227064">
                <a:moveTo>
                  <a:pt x="0" y="71120"/>
                </a:moveTo>
                <a:lnTo>
                  <a:pt x="1191" y="58161"/>
                </a:lnTo>
                <a:lnTo>
                  <a:pt x="2381" y="52871"/>
                </a:lnTo>
                <a:lnTo>
                  <a:pt x="3572" y="48865"/>
                </a:lnTo>
                <a:lnTo>
                  <a:pt x="4763" y="45532"/>
                </a:lnTo>
                <a:lnTo>
                  <a:pt x="5953" y="42636"/>
                </a:lnTo>
                <a:lnTo>
                  <a:pt x="7144" y="40054"/>
                </a:lnTo>
                <a:lnTo>
                  <a:pt x="8334" y="37713"/>
                </a:lnTo>
                <a:lnTo>
                  <a:pt x="9525" y="35566"/>
                </a:lnTo>
                <a:lnTo>
                  <a:pt x="9525" y="2191498"/>
                </a:lnTo>
                <a:lnTo>
                  <a:pt x="8334" y="2189351"/>
                </a:lnTo>
                <a:lnTo>
                  <a:pt x="7144" y="2187010"/>
                </a:lnTo>
                <a:lnTo>
                  <a:pt x="5953" y="2184428"/>
                </a:lnTo>
                <a:lnTo>
                  <a:pt x="4763" y="2181532"/>
                </a:lnTo>
                <a:lnTo>
                  <a:pt x="3572" y="2178199"/>
                </a:lnTo>
                <a:lnTo>
                  <a:pt x="2381" y="2174193"/>
                </a:lnTo>
                <a:lnTo>
                  <a:pt x="1191" y="2168903"/>
                </a:lnTo>
                <a:lnTo>
                  <a:pt x="0" y="2155944"/>
                </a:lnTo>
                <a:close/>
              </a:path>
            </a:pathLst>
          </a:custGeom>
          <a:solidFill>
            <a:srgbClr val="0D1B3E">
              <a:alpha val="8000"/>
            </a:srgbClr>
          </a:solidFill>
          <a:ln/>
        </p:spPr>
        <p:txBody>
          <a:bodyPr wrap="square" rtlCol="0" anchor="t"/>
          <a:lstStyle/>
          <a:p>
            <a:pPr marL="0" indent="0">
              <a:buNone/>
            </a:pPr>
            <a:endParaRPr lang="en-US" dirty="0"/>
          </a:p>
        </p:txBody>
      </p:sp>
      <p:sp>
        <p:nvSpPr>
          <p:cNvPr id="44" name="Text 36"/>
          <p:cNvSpPr/>
          <p:nvPr/>
        </p:nvSpPr>
        <p:spPr>
          <a:xfrm>
            <a:off x="5362277" y="930473"/>
            <a:ext cx="9525" cy="2227064"/>
          </a:xfrm>
          <a:custGeom>
            <a:avLst/>
            <a:gdLst/>
            <a:ahLst/>
            <a:cxnLst/>
            <a:rect l="l" t="t" r="r" b="b"/>
            <a:pathLst>
              <a:path w="9525" h="2227064">
                <a:moveTo>
                  <a:pt x="0" y="35566"/>
                </a:moveTo>
                <a:lnTo>
                  <a:pt x="1191" y="37713"/>
                </a:lnTo>
                <a:lnTo>
                  <a:pt x="2381" y="40054"/>
                </a:lnTo>
                <a:lnTo>
                  <a:pt x="3572" y="42636"/>
                </a:lnTo>
                <a:lnTo>
                  <a:pt x="4763" y="45532"/>
                </a:lnTo>
                <a:lnTo>
                  <a:pt x="5953" y="48865"/>
                </a:lnTo>
                <a:lnTo>
                  <a:pt x="7144" y="52871"/>
                </a:lnTo>
                <a:lnTo>
                  <a:pt x="8334" y="58161"/>
                </a:lnTo>
                <a:lnTo>
                  <a:pt x="9525" y="71120"/>
                </a:lnTo>
                <a:lnTo>
                  <a:pt x="9525" y="2155944"/>
                </a:lnTo>
                <a:lnTo>
                  <a:pt x="8334" y="2168903"/>
                </a:lnTo>
                <a:lnTo>
                  <a:pt x="7144" y="2174193"/>
                </a:lnTo>
                <a:lnTo>
                  <a:pt x="5953" y="2178199"/>
                </a:lnTo>
                <a:lnTo>
                  <a:pt x="4763" y="2181532"/>
                </a:lnTo>
                <a:lnTo>
                  <a:pt x="3572" y="2184428"/>
                </a:lnTo>
                <a:lnTo>
                  <a:pt x="2381" y="2187010"/>
                </a:lnTo>
                <a:lnTo>
                  <a:pt x="1191" y="2189351"/>
                </a:lnTo>
                <a:lnTo>
                  <a:pt x="0" y="2191498"/>
                </a:lnTo>
                <a:close/>
              </a:path>
            </a:pathLst>
          </a:custGeom>
          <a:solidFill>
            <a:srgbClr val="0D1B3E">
              <a:alpha val="8000"/>
            </a:srgbClr>
          </a:solidFill>
          <a:ln/>
        </p:spPr>
        <p:txBody>
          <a:bodyPr wrap="square" rtlCol="0" anchor="t"/>
          <a:lstStyle/>
          <a:p>
            <a:pPr marL="0" indent="0">
              <a:buNone/>
            </a:pPr>
            <a:endParaRPr lang="en-US" dirty="0"/>
          </a:p>
        </p:txBody>
      </p:sp>
      <p:sp>
        <p:nvSpPr>
          <p:cNvPr id="45" name="Text 37"/>
          <p:cNvSpPr/>
          <p:nvPr/>
        </p:nvSpPr>
        <p:spPr>
          <a:xfrm>
            <a:off x="3772049" y="930473"/>
            <a:ext cx="1599754" cy="19050"/>
          </a:xfrm>
          <a:custGeom>
            <a:avLst/>
            <a:gdLst/>
            <a:ahLst/>
            <a:cxnLst/>
            <a:rect l="l" t="t" r="r" b="b"/>
            <a:pathLst>
              <a:path w="1599754"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577077" y="19050"/>
                </a:lnTo>
                <a:lnTo>
                  <a:pt x="1574384" y="16669"/>
                </a:lnTo>
                <a:lnTo>
                  <a:pt x="1571390" y="14288"/>
                </a:lnTo>
                <a:lnTo>
                  <a:pt x="1568026" y="11906"/>
                </a:lnTo>
                <a:lnTo>
                  <a:pt x="1564188" y="9525"/>
                </a:lnTo>
                <a:lnTo>
                  <a:pt x="1559699" y="7144"/>
                </a:lnTo>
                <a:lnTo>
                  <a:pt x="1554221" y="4763"/>
                </a:lnTo>
                <a:lnTo>
                  <a:pt x="1546883" y="2381"/>
                </a:lnTo>
                <a:lnTo>
                  <a:pt x="1528633" y="0"/>
                </a:lnTo>
                <a:close/>
              </a:path>
            </a:pathLst>
          </a:custGeom>
          <a:solidFill>
            <a:srgbClr val="E8A020"/>
          </a:solidFill>
          <a:ln/>
        </p:spPr>
        <p:txBody>
          <a:bodyPr wrap="none" rtlCol="0" anchor="t"/>
          <a:lstStyle/>
          <a:p>
            <a:pPr marL="0" indent="0">
              <a:buNone/>
            </a:pPr>
            <a:endParaRPr lang="en-US" dirty="0"/>
          </a:p>
        </p:txBody>
      </p:sp>
      <p:sp>
        <p:nvSpPr>
          <p:cNvPr id="46" name="Text 38"/>
          <p:cNvSpPr/>
          <p:nvPr/>
        </p:nvSpPr>
        <p:spPr>
          <a:xfrm>
            <a:off x="3909715" y="1092994"/>
            <a:ext cx="1456864" cy="118021"/>
          </a:xfrm>
          <a:prstGeom prst="rect">
            <a:avLst/>
          </a:prstGeom>
          <a:noFill/>
          <a:ln/>
        </p:spPr>
        <p:txBody>
          <a:bodyPr wrap="none" lIns="0" tIns="0" rIns="0" bIns="0" rtlCol="0" anchor="t"/>
          <a:lstStyle/>
          <a:p>
            <a:pPr marL="0" indent="0" algn="l">
              <a:lnSpc>
                <a:spcPts val="1069"/>
              </a:lnSpc>
              <a:buNone/>
            </a:pPr>
            <a:r>
              <a:rPr lang="en-US" sz="712" b="1" kern="0" spc="87">
                <a:solidFill>
                  <a:srgbClr val="E8A020"/>
                </a:solidFill>
                <a:latin typeface="Calibri Light" pitchFamily="34" charset="0"/>
                <a:ea typeface="Calibri Light" pitchFamily="34" charset="-122"/>
                <a:cs typeface="Calibri Light" pitchFamily="34" charset="-120"/>
              </a:rPr>
              <a:t>PILLAR 03</a:t>
            </a:r>
            <a:endParaRPr lang="en-US" sz="712"/>
          </a:p>
        </p:txBody>
      </p:sp>
      <p:sp>
        <p:nvSpPr>
          <p:cNvPr id="47" name="Text 39"/>
          <p:cNvSpPr/>
          <p:nvPr/>
        </p:nvSpPr>
        <p:spPr>
          <a:xfrm>
            <a:off x="3909715" y="1297335"/>
            <a:ext cx="328910" cy="328910"/>
          </a:xfrm>
          <a:prstGeom prst="roundRect">
            <a:avLst>
              <a:gd name="adj" fmla="val 21623"/>
            </a:avLst>
          </a:prstGeom>
          <a:solidFill>
            <a:srgbClr val="E8A020">
              <a:alpha val="22000"/>
            </a:srgbClr>
          </a:solidFill>
          <a:ln w="9525">
            <a:solidFill>
              <a:srgbClr val="E8A020">
                <a:alpha val="60000"/>
              </a:srgbClr>
            </a:solidFill>
          </a:ln>
        </p:spPr>
        <p:txBody>
          <a:bodyPr wrap="square" rtlCol="0" anchor="t"/>
          <a:lstStyle/>
          <a:p>
            <a:pPr marL="0" indent="0">
              <a:buNone/>
            </a:pPr>
            <a:endParaRPr lang="en-US" dirty="0"/>
          </a:p>
        </p:txBody>
      </p:sp>
      <p:pic>
        <p:nvPicPr>
          <p:cNvPr id="48"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04667" y="1392287"/>
            <a:ext cx="139005" cy="139005"/>
          </a:xfrm>
          <a:prstGeom prst="rect">
            <a:avLst/>
          </a:prstGeom>
        </p:spPr>
      </p:pic>
      <p:sp>
        <p:nvSpPr>
          <p:cNvPr id="49" name="Text 40"/>
          <p:cNvSpPr/>
          <p:nvPr/>
        </p:nvSpPr>
        <p:spPr>
          <a:xfrm>
            <a:off x="3909715" y="1726406"/>
            <a:ext cx="1350910" cy="306913"/>
          </a:xfrm>
          <a:prstGeom prst="rect">
            <a:avLst/>
          </a:prstGeom>
          <a:noFill/>
          <a:ln/>
        </p:spPr>
        <p:txBody>
          <a:bodyPr wrap="square" lIns="0" tIns="0" rIns="0" bIns="0" rtlCol="0" anchor="t"/>
          <a:lstStyle/>
          <a:p>
            <a:pPr marL="0" indent="0" algn="l">
              <a:lnSpc>
                <a:spcPts val="1324"/>
              </a:lnSpc>
              <a:buNone/>
            </a:pPr>
            <a:r>
              <a:rPr lang="en-US" sz="1103" b="1">
                <a:solidFill>
                  <a:srgbClr val="0D1B3E"/>
                </a:solidFill>
                <a:latin typeface="Calibri Light" pitchFamily="34" charset="0"/>
                <a:ea typeface="Calibri Light" pitchFamily="34" charset="-122"/>
                <a:cs typeface="Calibri Light" pitchFamily="34" charset="-120"/>
              </a:rPr>
              <a:t>Readiness Assessment</a:t>
            </a:r>
            <a:endParaRPr lang="en-US" sz="1103"/>
          </a:p>
        </p:txBody>
      </p:sp>
      <p:sp>
        <p:nvSpPr>
          <p:cNvPr id="50" name="Text 41"/>
          <p:cNvSpPr/>
          <p:nvPr/>
        </p:nvSpPr>
        <p:spPr>
          <a:xfrm>
            <a:off x="3895874" y="2105025"/>
            <a:ext cx="1352104" cy="7590"/>
          </a:xfrm>
          <a:prstGeom prst="rect">
            <a:avLst/>
          </a:prstGeom>
          <a:solidFill>
            <a:srgbClr val="0D1B3E">
              <a:alpha val="10000"/>
            </a:srgbClr>
          </a:solidFill>
          <a:ln/>
        </p:spPr>
        <p:txBody>
          <a:bodyPr wrap="none" rtlCol="0" anchor="t"/>
          <a:lstStyle/>
          <a:p>
            <a:pPr marL="0" indent="0">
              <a:buNone/>
            </a:pPr>
            <a:endParaRPr lang="en-US" dirty="0"/>
          </a:p>
        </p:txBody>
      </p:sp>
      <p:sp>
        <p:nvSpPr>
          <p:cNvPr id="51" name="Text 42"/>
          <p:cNvSpPr/>
          <p:nvPr/>
        </p:nvSpPr>
        <p:spPr>
          <a:xfrm>
            <a:off x="3909715" y="2198936"/>
            <a:ext cx="1350910" cy="588199"/>
          </a:xfrm>
          <a:prstGeom prst="rect">
            <a:avLst/>
          </a:prstGeom>
          <a:noFill/>
          <a:ln/>
        </p:spPr>
        <p:txBody>
          <a:bodyPr wrap="square" lIns="0" tIns="0" rIns="0" bIns="0" rtlCol="0" anchor="t"/>
          <a:lstStyle/>
          <a:p>
            <a:pPr marL="0" indent="0" algn="l">
              <a:lnSpc>
                <a:spcPts val="1266"/>
              </a:lnSpc>
              <a:buNone/>
            </a:pPr>
            <a:r>
              <a:rPr lang="en-US" sz="873">
                <a:solidFill>
                  <a:srgbClr val="64748B"/>
                </a:solidFill>
                <a:latin typeface="Calibri" pitchFamily="34" charset="0"/>
                <a:ea typeface="Calibri" pitchFamily="34" charset="-122"/>
                <a:cs typeface="Calibri" pitchFamily="34" charset="-120"/>
              </a:rPr>
              <a:t>Matching your real organizational capacity to the real demands of each opportunity — before applying.</a:t>
            </a:r>
            <a:endParaRPr lang="en-US" sz="873"/>
          </a:p>
        </p:txBody>
      </p:sp>
      <p:sp>
        <p:nvSpPr>
          <p:cNvPr id="52" name="Text 43"/>
          <p:cNvSpPr/>
          <p:nvPr/>
        </p:nvSpPr>
        <p:spPr>
          <a:xfrm>
            <a:off x="3909715" y="2845445"/>
            <a:ext cx="750371" cy="174427"/>
          </a:xfrm>
          <a:prstGeom prst="roundRect">
            <a:avLst>
              <a:gd name="adj" fmla="val 82275"/>
            </a:avLst>
          </a:prstGeom>
          <a:solidFill>
            <a:srgbClr val="E8A020">
              <a:alpha val="15000"/>
            </a:srgbClr>
          </a:solidFill>
          <a:ln w="9525">
            <a:solidFill>
              <a:srgbClr val="E8A020">
                <a:alpha val="50000"/>
              </a:srgbClr>
            </a:solidFill>
          </a:ln>
        </p:spPr>
        <p:txBody>
          <a:bodyPr wrap="none" lIns="149543" tIns="21590" rIns="71120" bIns="21590" rtlCol="0" anchor="ctr"/>
          <a:lstStyle/>
          <a:p>
            <a:pPr marL="0" indent="0" algn="l">
              <a:buNone/>
            </a:pPr>
            <a:r>
              <a:rPr lang="en-US" sz="678" b="1" kern="0" spc="47">
                <a:solidFill>
                  <a:srgbClr val="E8A020"/>
                </a:solidFill>
                <a:latin typeface="Calibri" pitchFamily="34" charset="0"/>
                <a:ea typeface="Calibri" pitchFamily="34" charset="-122"/>
                <a:cs typeface="Calibri" pitchFamily="34" charset="-120"/>
              </a:rPr>
              <a:t>CONTINUOUS</a:t>
            </a:r>
            <a:endParaRPr lang="en-US" sz="678"/>
          </a:p>
        </p:txBody>
      </p:sp>
      <p:pic>
        <p:nvPicPr>
          <p:cNvPr id="53"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45368" y="2866364"/>
            <a:ext cx="132588" cy="132588"/>
          </a:xfrm>
          <a:prstGeom prst="rect">
            <a:avLst/>
          </a:prstGeom>
        </p:spPr>
      </p:pic>
      <p:sp>
        <p:nvSpPr>
          <p:cNvPr id="54" name="Text 44"/>
          <p:cNvSpPr/>
          <p:nvPr/>
        </p:nvSpPr>
        <p:spPr>
          <a:xfrm>
            <a:off x="5472113" y="930473"/>
            <a:ext cx="1599754" cy="2227064"/>
          </a:xfrm>
          <a:prstGeom prst="roundRect">
            <a:avLst>
              <a:gd name="adj" fmla="val 4446"/>
            </a:avLst>
          </a:prstGeom>
          <a:solidFill>
            <a:srgbClr val="F0F4F8"/>
          </a:solidFill>
          <a:ln/>
        </p:spPr>
        <p:txBody>
          <a:bodyPr wrap="square" rtlCol="0" anchor="t"/>
          <a:lstStyle/>
          <a:p>
            <a:pPr marL="0" indent="0">
              <a:buNone/>
            </a:pPr>
            <a:endParaRPr lang="en-US" dirty="0"/>
          </a:p>
        </p:txBody>
      </p:sp>
      <p:sp>
        <p:nvSpPr>
          <p:cNvPr id="55" name="Text 45"/>
          <p:cNvSpPr/>
          <p:nvPr/>
        </p:nvSpPr>
        <p:spPr>
          <a:xfrm>
            <a:off x="5472113" y="930473"/>
            <a:ext cx="9525" cy="2227064"/>
          </a:xfrm>
          <a:custGeom>
            <a:avLst/>
            <a:gdLst/>
            <a:ahLst/>
            <a:cxnLst/>
            <a:rect l="l" t="t" r="r" b="b"/>
            <a:pathLst>
              <a:path w="9525" h="2227064">
                <a:moveTo>
                  <a:pt x="0" y="71120"/>
                </a:moveTo>
                <a:lnTo>
                  <a:pt x="1191" y="58161"/>
                </a:lnTo>
                <a:lnTo>
                  <a:pt x="2381" y="52871"/>
                </a:lnTo>
                <a:lnTo>
                  <a:pt x="3572" y="48865"/>
                </a:lnTo>
                <a:lnTo>
                  <a:pt x="4763" y="45532"/>
                </a:lnTo>
                <a:lnTo>
                  <a:pt x="5953" y="42636"/>
                </a:lnTo>
                <a:lnTo>
                  <a:pt x="7144" y="40054"/>
                </a:lnTo>
                <a:lnTo>
                  <a:pt x="8334" y="37713"/>
                </a:lnTo>
                <a:lnTo>
                  <a:pt x="9525" y="35566"/>
                </a:lnTo>
                <a:lnTo>
                  <a:pt x="9525" y="2191498"/>
                </a:lnTo>
                <a:lnTo>
                  <a:pt x="8334" y="2189351"/>
                </a:lnTo>
                <a:lnTo>
                  <a:pt x="7144" y="2187010"/>
                </a:lnTo>
                <a:lnTo>
                  <a:pt x="5953" y="2184428"/>
                </a:lnTo>
                <a:lnTo>
                  <a:pt x="4763" y="2181532"/>
                </a:lnTo>
                <a:lnTo>
                  <a:pt x="3572" y="2178199"/>
                </a:lnTo>
                <a:lnTo>
                  <a:pt x="2381" y="2174193"/>
                </a:lnTo>
                <a:lnTo>
                  <a:pt x="1191" y="2168903"/>
                </a:lnTo>
                <a:lnTo>
                  <a:pt x="0" y="2155944"/>
                </a:lnTo>
                <a:close/>
              </a:path>
            </a:pathLst>
          </a:custGeom>
          <a:solidFill>
            <a:srgbClr val="0D1B3E">
              <a:alpha val="8000"/>
            </a:srgbClr>
          </a:solidFill>
          <a:ln/>
        </p:spPr>
        <p:txBody>
          <a:bodyPr wrap="square" rtlCol="0" anchor="t"/>
          <a:lstStyle/>
          <a:p>
            <a:pPr marL="0" indent="0">
              <a:buNone/>
            </a:pPr>
            <a:endParaRPr lang="en-US" dirty="0"/>
          </a:p>
        </p:txBody>
      </p:sp>
      <p:sp>
        <p:nvSpPr>
          <p:cNvPr id="56" name="Text 46"/>
          <p:cNvSpPr/>
          <p:nvPr/>
        </p:nvSpPr>
        <p:spPr>
          <a:xfrm>
            <a:off x="7062341" y="930473"/>
            <a:ext cx="9525" cy="2227064"/>
          </a:xfrm>
          <a:custGeom>
            <a:avLst/>
            <a:gdLst/>
            <a:ahLst/>
            <a:cxnLst/>
            <a:rect l="l" t="t" r="r" b="b"/>
            <a:pathLst>
              <a:path w="9525" h="2227064">
                <a:moveTo>
                  <a:pt x="0" y="35566"/>
                </a:moveTo>
                <a:lnTo>
                  <a:pt x="1191" y="37713"/>
                </a:lnTo>
                <a:lnTo>
                  <a:pt x="2381" y="40054"/>
                </a:lnTo>
                <a:lnTo>
                  <a:pt x="3572" y="42636"/>
                </a:lnTo>
                <a:lnTo>
                  <a:pt x="4763" y="45532"/>
                </a:lnTo>
                <a:lnTo>
                  <a:pt x="5953" y="48865"/>
                </a:lnTo>
                <a:lnTo>
                  <a:pt x="7144" y="52871"/>
                </a:lnTo>
                <a:lnTo>
                  <a:pt x="8334" y="58161"/>
                </a:lnTo>
                <a:lnTo>
                  <a:pt x="9525" y="71120"/>
                </a:lnTo>
                <a:lnTo>
                  <a:pt x="9525" y="2155944"/>
                </a:lnTo>
                <a:lnTo>
                  <a:pt x="8334" y="2168903"/>
                </a:lnTo>
                <a:lnTo>
                  <a:pt x="7144" y="2174193"/>
                </a:lnTo>
                <a:lnTo>
                  <a:pt x="5953" y="2178199"/>
                </a:lnTo>
                <a:lnTo>
                  <a:pt x="4763" y="2181532"/>
                </a:lnTo>
                <a:lnTo>
                  <a:pt x="3572" y="2184428"/>
                </a:lnTo>
                <a:lnTo>
                  <a:pt x="2381" y="2187010"/>
                </a:lnTo>
                <a:lnTo>
                  <a:pt x="1191" y="2189351"/>
                </a:lnTo>
                <a:lnTo>
                  <a:pt x="0" y="2191498"/>
                </a:lnTo>
                <a:close/>
              </a:path>
            </a:pathLst>
          </a:custGeom>
          <a:solidFill>
            <a:srgbClr val="0D1B3E">
              <a:alpha val="8000"/>
            </a:srgbClr>
          </a:solidFill>
          <a:ln/>
        </p:spPr>
        <p:txBody>
          <a:bodyPr wrap="square" rtlCol="0" anchor="t"/>
          <a:lstStyle/>
          <a:p>
            <a:pPr marL="0" indent="0">
              <a:buNone/>
            </a:pPr>
            <a:endParaRPr lang="en-US" dirty="0"/>
          </a:p>
        </p:txBody>
      </p:sp>
      <p:sp>
        <p:nvSpPr>
          <p:cNvPr id="57" name="Text 47"/>
          <p:cNvSpPr/>
          <p:nvPr/>
        </p:nvSpPr>
        <p:spPr>
          <a:xfrm>
            <a:off x="5472113" y="930473"/>
            <a:ext cx="1599754" cy="19050"/>
          </a:xfrm>
          <a:custGeom>
            <a:avLst/>
            <a:gdLst/>
            <a:ahLst/>
            <a:cxnLst/>
            <a:rect l="l" t="t" r="r" b="b"/>
            <a:pathLst>
              <a:path w="1599754"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577077" y="19050"/>
                </a:lnTo>
                <a:lnTo>
                  <a:pt x="1574384" y="16669"/>
                </a:lnTo>
                <a:lnTo>
                  <a:pt x="1571390" y="14288"/>
                </a:lnTo>
                <a:lnTo>
                  <a:pt x="1568026" y="11906"/>
                </a:lnTo>
                <a:lnTo>
                  <a:pt x="1564188" y="9525"/>
                </a:lnTo>
                <a:lnTo>
                  <a:pt x="1559699" y="7144"/>
                </a:lnTo>
                <a:lnTo>
                  <a:pt x="1554221" y="4763"/>
                </a:lnTo>
                <a:lnTo>
                  <a:pt x="1546883" y="2381"/>
                </a:lnTo>
                <a:lnTo>
                  <a:pt x="1528633" y="0"/>
                </a:lnTo>
                <a:close/>
              </a:path>
            </a:pathLst>
          </a:custGeom>
          <a:solidFill>
            <a:srgbClr val="E8A020">
              <a:alpha val="50000"/>
            </a:srgbClr>
          </a:solidFill>
          <a:ln/>
        </p:spPr>
        <p:txBody>
          <a:bodyPr wrap="none" rtlCol="0" anchor="t"/>
          <a:lstStyle/>
          <a:p>
            <a:pPr marL="0" indent="0">
              <a:buNone/>
            </a:pPr>
            <a:endParaRPr lang="en-US" dirty="0"/>
          </a:p>
        </p:txBody>
      </p:sp>
      <p:sp>
        <p:nvSpPr>
          <p:cNvPr id="58" name="Text 48"/>
          <p:cNvSpPr/>
          <p:nvPr/>
        </p:nvSpPr>
        <p:spPr>
          <a:xfrm>
            <a:off x="5609779" y="1092994"/>
            <a:ext cx="1456864" cy="118021"/>
          </a:xfrm>
          <a:prstGeom prst="rect">
            <a:avLst/>
          </a:prstGeom>
          <a:noFill/>
          <a:ln/>
        </p:spPr>
        <p:txBody>
          <a:bodyPr wrap="none" lIns="0" tIns="0" rIns="0" bIns="0" rtlCol="0" anchor="t"/>
          <a:lstStyle/>
          <a:p>
            <a:pPr marL="0" indent="0" algn="l">
              <a:lnSpc>
                <a:spcPts val="1069"/>
              </a:lnSpc>
              <a:buNone/>
            </a:pPr>
            <a:r>
              <a:rPr lang="en-US" sz="712" b="1" kern="0" spc="87">
                <a:solidFill>
                  <a:srgbClr val="E8A020"/>
                </a:solidFill>
                <a:latin typeface="Calibri Light" pitchFamily="34" charset="0"/>
                <a:ea typeface="Calibri Light" pitchFamily="34" charset="-122"/>
                <a:cs typeface="Calibri Light" pitchFamily="34" charset="-120"/>
              </a:rPr>
              <a:t>PILLAR 04</a:t>
            </a:r>
            <a:endParaRPr lang="en-US" sz="712"/>
          </a:p>
        </p:txBody>
      </p:sp>
      <p:sp>
        <p:nvSpPr>
          <p:cNvPr id="59" name="Text 49"/>
          <p:cNvSpPr/>
          <p:nvPr/>
        </p:nvSpPr>
        <p:spPr>
          <a:xfrm>
            <a:off x="5609779" y="1297335"/>
            <a:ext cx="328910" cy="328910"/>
          </a:xfrm>
          <a:prstGeom prst="roundRect">
            <a:avLst>
              <a:gd name="adj" fmla="val 21623"/>
            </a:avLst>
          </a:prstGeom>
          <a:solidFill>
            <a:srgbClr val="E8A020">
              <a:alpha val="15000"/>
            </a:srgbClr>
          </a:solidFill>
          <a:ln w="9525">
            <a:solidFill>
              <a:srgbClr val="E8A020">
                <a:alpha val="50000"/>
              </a:srgbClr>
            </a:solidFill>
          </a:ln>
        </p:spPr>
        <p:txBody>
          <a:bodyPr wrap="square" rtlCol="0" anchor="t"/>
          <a:lstStyle/>
          <a:p>
            <a:pPr marL="0" indent="0">
              <a:buNone/>
            </a:pPr>
            <a:endParaRPr lang="en-US" dirty="0"/>
          </a:p>
        </p:txBody>
      </p:sp>
      <p:pic>
        <p:nvPicPr>
          <p:cNvPr id="60" name="Image 8"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04731" y="1392287"/>
            <a:ext cx="139005" cy="139005"/>
          </a:xfrm>
          <a:prstGeom prst="rect">
            <a:avLst/>
          </a:prstGeom>
        </p:spPr>
      </p:pic>
      <p:sp>
        <p:nvSpPr>
          <p:cNvPr id="61" name="Text 50"/>
          <p:cNvSpPr/>
          <p:nvPr/>
        </p:nvSpPr>
        <p:spPr>
          <a:xfrm>
            <a:off x="5609779" y="1726406"/>
            <a:ext cx="1350910" cy="306913"/>
          </a:xfrm>
          <a:prstGeom prst="rect">
            <a:avLst/>
          </a:prstGeom>
          <a:noFill/>
          <a:ln/>
        </p:spPr>
        <p:txBody>
          <a:bodyPr wrap="square" lIns="0" tIns="0" rIns="0" bIns="0" rtlCol="0" anchor="t"/>
          <a:lstStyle/>
          <a:p>
            <a:pPr marL="0" indent="0" algn="l">
              <a:lnSpc>
                <a:spcPts val="1324"/>
              </a:lnSpc>
              <a:buNone/>
            </a:pPr>
            <a:r>
              <a:rPr lang="en-US" sz="1103" b="1">
                <a:solidFill>
                  <a:srgbClr val="0D1B3E"/>
                </a:solidFill>
                <a:latin typeface="Calibri Light" pitchFamily="34" charset="0"/>
                <a:ea typeface="Calibri Light" pitchFamily="34" charset="-122"/>
                <a:cs typeface="Calibri Light" pitchFamily="34" charset="-120"/>
              </a:rPr>
              <a:t>Response Coordination</a:t>
            </a:r>
            <a:endParaRPr lang="en-US" sz="1103"/>
          </a:p>
        </p:txBody>
      </p:sp>
      <p:sp>
        <p:nvSpPr>
          <p:cNvPr id="62" name="Text 51"/>
          <p:cNvSpPr/>
          <p:nvPr/>
        </p:nvSpPr>
        <p:spPr>
          <a:xfrm>
            <a:off x="5595938" y="2105025"/>
            <a:ext cx="1352104" cy="7590"/>
          </a:xfrm>
          <a:prstGeom prst="rect">
            <a:avLst/>
          </a:prstGeom>
          <a:solidFill>
            <a:srgbClr val="0D1B3E">
              <a:alpha val="10000"/>
            </a:srgbClr>
          </a:solidFill>
          <a:ln/>
        </p:spPr>
        <p:txBody>
          <a:bodyPr wrap="none" rtlCol="0" anchor="t"/>
          <a:lstStyle/>
          <a:p>
            <a:pPr marL="0" indent="0">
              <a:buNone/>
            </a:pPr>
            <a:endParaRPr lang="en-US" dirty="0"/>
          </a:p>
        </p:txBody>
      </p:sp>
      <p:sp>
        <p:nvSpPr>
          <p:cNvPr id="63" name="Text 52"/>
          <p:cNvSpPr/>
          <p:nvPr/>
        </p:nvSpPr>
        <p:spPr>
          <a:xfrm>
            <a:off x="5609779" y="2198936"/>
            <a:ext cx="1350910" cy="588199"/>
          </a:xfrm>
          <a:prstGeom prst="rect">
            <a:avLst/>
          </a:prstGeom>
          <a:noFill/>
          <a:ln/>
        </p:spPr>
        <p:txBody>
          <a:bodyPr wrap="square" lIns="0" tIns="0" rIns="0" bIns="0" rtlCol="0" anchor="t"/>
          <a:lstStyle/>
          <a:p>
            <a:pPr marL="0" indent="0" algn="l">
              <a:lnSpc>
                <a:spcPts val="1266"/>
              </a:lnSpc>
              <a:buNone/>
            </a:pPr>
            <a:r>
              <a:rPr lang="en-US" sz="873">
                <a:solidFill>
                  <a:srgbClr val="64748B"/>
                </a:solidFill>
                <a:latin typeface="Calibri" pitchFamily="34" charset="0"/>
                <a:ea typeface="Calibri" pitchFamily="34" charset="-122"/>
                <a:cs typeface="Calibri" pitchFamily="34" charset="-120"/>
              </a:rPr>
              <a:t>Structured application and relationship management — submission as a planned event, not a crisis.</a:t>
            </a:r>
            <a:endParaRPr lang="en-US" sz="873"/>
          </a:p>
        </p:txBody>
      </p:sp>
      <p:sp>
        <p:nvSpPr>
          <p:cNvPr id="64" name="Text 53"/>
          <p:cNvSpPr/>
          <p:nvPr/>
        </p:nvSpPr>
        <p:spPr>
          <a:xfrm>
            <a:off x="5609779" y="2845445"/>
            <a:ext cx="750371" cy="174427"/>
          </a:xfrm>
          <a:prstGeom prst="roundRect">
            <a:avLst>
              <a:gd name="adj" fmla="val 82275"/>
            </a:avLst>
          </a:prstGeom>
          <a:solidFill>
            <a:srgbClr val="E8A020">
              <a:alpha val="15000"/>
            </a:srgbClr>
          </a:solidFill>
          <a:ln w="9525">
            <a:solidFill>
              <a:srgbClr val="E8A020">
                <a:alpha val="50000"/>
              </a:srgbClr>
            </a:solidFill>
          </a:ln>
        </p:spPr>
        <p:txBody>
          <a:bodyPr wrap="none" lIns="149543" tIns="21590" rIns="71120" bIns="21590" rtlCol="0" anchor="ctr"/>
          <a:lstStyle/>
          <a:p>
            <a:pPr marL="0" indent="0" algn="l">
              <a:buNone/>
            </a:pPr>
            <a:r>
              <a:rPr lang="en-US" sz="678" b="1" kern="0" spc="47">
                <a:solidFill>
                  <a:srgbClr val="E8A020"/>
                </a:solidFill>
                <a:latin typeface="Calibri" pitchFamily="34" charset="0"/>
                <a:ea typeface="Calibri" pitchFamily="34" charset="-122"/>
                <a:cs typeface="Calibri" pitchFamily="34" charset="-120"/>
              </a:rPr>
              <a:t>CONTINUOUS</a:t>
            </a:r>
            <a:endParaRPr lang="en-US" sz="678"/>
          </a:p>
        </p:txBody>
      </p:sp>
      <p:pic>
        <p:nvPicPr>
          <p:cNvPr id="65" name="Image 9"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645432" y="2866364"/>
            <a:ext cx="132588" cy="132588"/>
          </a:xfrm>
          <a:prstGeom prst="rect">
            <a:avLst/>
          </a:prstGeom>
        </p:spPr>
      </p:pic>
      <p:sp>
        <p:nvSpPr>
          <p:cNvPr id="66" name="Text 54"/>
          <p:cNvSpPr/>
          <p:nvPr/>
        </p:nvSpPr>
        <p:spPr>
          <a:xfrm>
            <a:off x="7172176" y="930473"/>
            <a:ext cx="1599754" cy="2227064"/>
          </a:xfrm>
          <a:prstGeom prst="roundRect">
            <a:avLst>
              <a:gd name="adj" fmla="val 4446"/>
            </a:avLst>
          </a:prstGeom>
          <a:solidFill>
            <a:srgbClr val="F0F4F8"/>
          </a:solidFill>
          <a:ln/>
        </p:spPr>
        <p:txBody>
          <a:bodyPr wrap="square" rtlCol="0" anchor="t"/>
          <a:lstStyle/>
          <a:p>
            <a:pPr marL="0" indent="0">
              <a:buNone/>
            </a:pPr>
            <a:endParaRPr lang="en-US" dirty="0"/>
          </a:p>
        </p:txBody>
      </p:sp>
      <p:sp>
        <p:nvSpPr>
          <p:cNvPr id="67" name="Text 55"/>
          <p:cNvSpPr/>
          <p:nvPr/>
        </p:nvSpPr>
        <p:spPr>
          <a:xfrm>
            <a:off x="7172176" y="930473"/>
            <a:ext cx="9525" cy="2227064"/>
          </a:xfrm>
          <a:custGeom>
            <a:avLst/>
            <a:gdLst/>
            <a:ahLst/>
            <a:cxnLst/>
            <a:rect l="l" t="t" r="r" b="b"/>
            <a:pathLst>
              <a:path w="9525" h="2227064">
                <a:moveTo>
                  <a:pt x="0" y="71120"/>
                </a:moveTo>
                <a:lnTo>
                  <a:pt x="1191" y="58161"/>
                </a:lnTo>
                <a:lnTo>
                  <a:pt x="2381" y="52871"/>
                </a:lnTo>
                <a:lnTo>
                  <a:pt x="3572" y="48865"/>
                </a:lnTo>
                <a:lnTo>
                  <a:pt x="4763" y="45532"/>
                </a:lnTo>
                <a:lnTo>
                  <a:pt x="5953" y="42636"/>
                </a:lnTo>
                <a:lnTo>
                  <a:pt x="7144" y="40054"/>
                </a:lnTo>
                <a:lnTo>
                  <a:pt x="8334" y="37713"/>
                </a:lnTo>
                <a:lnTo>
                  <a:pt x="9525" y="35566"/>
                </a:lnTo>
                <a:lnTo>
                  <a:pt x="9525" y="2191498"/>
                </a:lnTo>
                <a:lnTo>
                  <a:pt x="8334" y="2189351"/>
                </a:lnTo>
                <a:lnTo>
                  <a:pt x="7144" y="2187010"/>
                </a:lnTo>
                <a:lnTo>
                  <a:pt x="5953" y="2184428"/>
                </a:lnTo>
                <a:lnTo>
                  <a:pt x="4763" y="2181532"/>
                </a:lnTo>
                <a:lnTo>
                  <a:pt x="3572" y="2178199"/>
                </a:lnTo>
                <a:lnTo>
                  <a:pt x="2381" y="2174193"/>
                </a:lnTo>
                <a:lnTo>
                  <a:pt x="1191" y="2168903"/>
                </a:lnTo>
                <a:lnTo>
                  <a:pt x="0" y="2155944"/>
                </a:lnTo>
                <a:close/>
              </a:path>
            </a:pathLst>
          </a:custGeom>
          <a:solidFill>
            <a:srgbClr val="0D1B3E">
              <a:alpha val="8000"/>
            </a:srgbClr>
          </a:solidFill>
          <a:ln/>
        </p:spPr>
        <p:txBody>
          <a:bodyPr wrap="square" rtlCol="0" anchor="t"/>
          <a:lstStyle/>
          <a:p>
            <a:pPr marL="0" indent="0">
              <a:buNone/>
            </a:pPr>
            <a:endParaRPr lang="en-US" dirty="0"/>
          </a:p>
        </p:txBody>
      </p:sp>
      <p:sp>
        <p:nvSpPr>
          <p:cNvPr id="68" name="Text 56"/>
          <p:cNvSpPr/>
          <p:nvPr/>
        </p:nvSpPr>
        <p:spPr>
          <a:xfrm>
            <a:off x="8762405" y="930473"/>
            <a:ext cx="9525" cy="2227064"/>
          </a:xfrm>
          <a:custGeom>
            <a:avLst/>
            <a:gdLst/>
            <a:ahLst/>
            <a:cxnLst/>
            <a:rect l="l" t="t" r="r" b="b"/>
            <a:pathLst>
              <a:path w="9525" h="2227064">
                <a:moveTo>
                  <a:pt x="0" y="35566"/>
                </a:moveTo>
                <a:lnTo>
                  <a:pt x="1191" y="37713"/>
                </a:lnTo>
                <a:lnTo>
                  <a:pt x="2381" y="40054"/>
                </a:lnTo>
                <a:lnTo>
                  <a:pt x="3572" y="42636"/>
                </a:lnTo>
                <a:lnTo>
                  <a:pt x="4763" y="45532"/>
                </a:lnTo>
                <a:lnTo>
                  <a:pt x="5953" y="48865"/>
                </a:lnTo>
                <a:lnTo>
                  <a:pt x="7144" y="52871"/>
                </a:lnTo>
                <a:lnTo>
                  <a:pt x="8334" y="58161"/>
                </a:lnTo>
                <a:lnTo>
                  <a:pt x="9525" y="71120"/>
                </a:lnTo>
                <a:lnTo>
                  <a:pt x="9525" y="2155944"/>
                </a:lnTo>
                <a:lnTo>
                  <a:pt x="8334" y="2168903"/>
                </a:lnTo>
                <a:lnTo>
                  <a:pt x="7144" y="2174193"/>
                </a:lnTo>
                <a:lnTo>
                  <a:pt x="5953" y="2178199"/>
                </a:lnTo>
                <a:lnTo>
                  <a:pt x="4763" y="2181532"/>
                </a:lnTo>
                <a:lnTo>
                  <a:pt x="3572" y="2184428"/>
                </a:lnTo>
                <a:lnTo>
                  <a:pt x="2381" y="2187010"/>
                </a:lnTo>
                <a:lnTo>
                  <a:pt x="1191" y="2189351"/>
                </a:lnTo>
                <a:lnTo>
                  <a:pt x="0" y="2191498"/>
                </a:lnTo>
                <a:close/>
              </a:path>
            </a:pathLst>
          </a:custGeom>
          <a:solidFill>
            <a:srgbClr val="0D1B3E">
              <a:alpha val="8000"/>
            </a:srgbClr>
          </a:solidFill>
          <a:ln/>
        </p:spPr>
        <p:txBody>
          <a:bodyPr wrap="square" rtlCol="0" anchor="t"/>
          <a:lstStyle/>
          <a:p>
            <a:pPr marL="0" indent="0">
              <a:buNone/>
            </a:pPr>
            <a:endParaRPr lang="en-US" dirty="0"/>
          </a:p>
        </p:txBody>
      </p:sp>
      <p:sp>
        <p:nvSpPr>
          <p:cNvPr id="69" name="Text 57"/>
          <p:cNvSpPr/>
          <p:nvPr/>
        </p:nvSpPr>
        <p:spPr>
          <a:xfrm>
            <a:off x="7172176" y="930473"/>
            <a:ext cx="1599754" cy="19050"/>
          </a:xfrm>
          <a:custGeom>
            <a:avLst/>
            <a:gdLst/>
            <a:ahLst/>
            <a:cxnLst/>
            <a:rect l="l" t="t" r="r" b="b"/>
            <a:pathLst>
              <a:path w="1599754"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577077" y="19050"/>
                </a:lnTo>
                <a:lnTo>
                  <a:pt x="1574384" y="16669"/>
                </a:lnTo>
                <a:lnTo>
                  <a:pt x="1571390" y="14288"/>
                </a:lnTo>
                <a:lnTo>
                  <a:pt x="1568026" y="11906"/>
                </a:lnTo>
                <a:lnTo>
                  <a:pt x="1564188" y="9525"/>
                </a:lnTo>
                <a:lnTo>
                  <a:pt x="1559699" y="7144"/>
                </a:lnTo>
                <a:lnTo>
                  <a:pt x="1554221" y="4763"/>
                </a:lnTo>
                <a:lnTo>
                  <a:pt x="1546883" y="2381"/>
                </a:lnTo>
                <a:lnTo>
                  <a:pt x="1528633" y="0"/>
                </a:lnTo>
                <a:close/>
              </a:path>
            </a:pathLst>
          </a:custGeom>
          <a:solidFill>
            <a:srgbClr val="E8A020">
              <a:alpha val="50000"/>
            </a:srgbClr>
          </a:solidFill>
          <a:ln/>
        </p:spPr>
        <p:txBody>
          <a:bodyPr wrap="none" rtlCol="0" anchor="t"/>
          <a:lstStyle/>
          <a:p>
            <a:pPr marL="0" indent="0">
              <a:buNone/>
            </a:pPr>
            <a:endParaRPr lang="en-US" dirty="0"/>
          </a:p>
        </p:txBody>
      </p:sp>
      <p:sp>
        <p:nvSpPr>
          <p:cNvPr id="70" name="Text 58"/>
          <p:cNvSpPr/>
          <p:nvPr/>
        </p:nvSpPr>
        <p:spPr>
          <a:xfrm>
            <a:off x="7309842" y="1092994"/>
            <a:ext cx="1456864" cy="118021"/>
          </a:xfrm>
          <a:prstGeom prst="rect">
            <a:avLst/>
          </a:prstGeom>
          <a:noFill/>
          <a:ln/>
        </p:spPr>
        <p:txBody>
          <a:bodyPr wrap="none" lIns="0" tIns="0" rIns="0" bIns="0" rtlCol="0" anchor="t"/>
          <a:lstStyle/>
          <a:p>
            <a:pPr marL="0" indent="0" algn="l">
              <a:lnSpc>
                <a:spcPts val="1069"/>
              </a:lnSpc>
              <a:buNone/>
            </a:pPr>
            <a:r>
              <a:rPr lang="en-US" sz="712" b="1" kern="0" spc="87">
                <a:solidFill>
                  <a:srgbClr val="E8A020"/>
                </a:solidFill>
                <a:latin typeface="Calibri Light" pitchFamily="34" charset="0"/>
                <a:ea typeface="Calibri Light" pitchFamily="34" charset="-122"/>
                <a:cs typeface="Calibri Light" pitchFamily="34" charset="-120"/>
              </a:rPr>
              <a:t>PILLAR 05</a:t>
            </a:r>
            <a:endParaRPr lang="en-US" sz="712"/>
          </a:p>
        </p:txBody>
      </p:sp>
      <p:sp>
        <p:nvSpPr>
          <p:cNvPr id="71" name="Text 59"/>
          <p:cNvSpPr/>
          <p:nvPr/>
        </p:nvSpPr>
        <p:spPr>
          <a:xfrm>
            <a:off x="7309842" y="1297335"/>
            <a:ext cx="328910" cy="328910"/>
          </a:xfrm>
          <a:prstGeom prst="roundRect">
            <a:avLst>
              <a:gd name="adj" fmla="val 21623"/>
            </a:avLst>
          </a:prstGeom>
          <a:solidFill>
            <a:srgbClr val="E8A020">
              <a:alpha val="15000"/>
            </a:srgbClr>
          </a:solidFill>
          <a:ln w="9525">
            <a:solidFill>
              <a:srgbClr val="E8A020">
                <a:alpha val="50000"/>
              </a:srgbClr>
            </a:solidFill>
          </a:ln>
        </p:spPr>
        <p:txBody>
          <a:bodyPr wrap="square" rtlCol="0" anchor="t"/>
          <a:lstStyle/>
          <a:p>
            <a:pPr marL="0" indent="0">
              <a:buNone/>
            </a:pPr>
            <a:endParaRPr lang="en-US" dirty="0"/>
          </a:p>
        </p:txBody>
      </p:sp>
      <p:pic>
        <p:nvPicPr>
          <p:cNvPr id="72" name="Image 10"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404795" y="1392287"/>
            <a:ext cx="139005" cy="139005"/>
          </a:xfrm>
          <a:prstGeom prst="rect">
            <a:avLst/>
          </a:prstGeom>
        </p:spPr>
      </p:pic>
      <p:sp>
        <p:nvSpPr>
          <p:cNvPr id="73" name="Text 60"/>
          <p:cNvSpPr/>
          <p:nvPr/>
        </p:nvSpPr>
        <p:spPr>
          <a:xfrm>
            <a:off x="7309842" y="1726406"/>
            <a:ext cx="1456864" cy="146149"/>
          </a:xfrm>
          <a:prstGeom prst="rect">
            <a:avLst/>
          </a:prstGeom>
          <a:noFill/>
          <a:ln/>
        </p:spPr>
        <p:txBody>
          <a:bodyPr wrap="none" lIns="0" tIns="0" rIns="0" bIns="0" rtlCol="0" anchor="t"/>
          <a:lstStyle/>
          <a:p>
            <a:pPr marL="0" indent="0" algn="l">
              <a:lnSpc>
                <a:spcPts val="1324"/>
              </a:lnSpc>
              <a:buNone/>
            </a:pPr>
            <a:r>
              <a:rPr lang="en-US" sz="1103" b="1">
                <a:solidFill>
                  <a:srgbClr val="0D1B3E"/>
                </a:solidFill>
                <a:latin typeface="Calibri Light" pitchFamily="34" charset="0"/>
                <a:ea typeface="Calibri Light" pitchFamily="34" charset="-122"/>
                <a:cs typeface="Calibri Light" pitchFamily="34" charset="-120"/>
              </a:rPr>
              <a:t>Learning &amp; Adaptation</a:t>
            </a:r>
            <a:endParaRPr lang="en-US" sz="1103"/>
          </a:p>
        </p:txBody>
      </p:sp>
      <p:sp>
        <p:nvSpPr>
          <p:cNvPr id="74" name="Text 61"/>
          <p:cNvSpPr/>
          <p:nvPr/>
        </p:nvSpPr>
        <p:spPr>
          <a:xfrm>
            <a:off x="7296001" y="1958876"/>
            <a:ext cx="1352104" cy="7590"/>
          </a:xfrm>
          <a:prstGeom prst="rect">
            <a:avLst/>
          </a:prstGeom>
          <a:solidFill>
            <a:srgbClr val="0D1B3E">
              <a:alpha val="10000"/>
            </a:srgbClr>
          </a:solidFill>
          <a:ln/>
        </p:spPr>
        <p:txBody>
          <a:bodyPr wrap="none" rtlCol="0" anchor="t"/>
          <a:lstStyle/>
          <a:p>
            <a:pPr marL="0" indent="0">
              <a:buNone/>
            </a:pPr>
            <a:endParaRPr lang="en-US" dirty="0"/>
          </a:p>
        </p:txBody>
      </p:sp>
      <p:sp>
        <p:nvSpPr>
          <p:cNvPr id="75" name="Text 62"/>
          <p:cNvSpPr/>
          <p:nvPr/>
        </p:nvSpPr>
        <p:spPr>
          <a:xfrm>
            <a:off x="7309842" y="2052786"/>
            <a:ext cx="1350910" cy="588199"/>
          </a:xfrm>
          <a:prstGeom prst="rect">
            <a:avLst/>
          </a:prstGeom>
          <a:noFill/>
          <a:ln/>
        </p:spPr>
        <p:txBody>
          <a:bodyPr wrap="square" lIns="0" tIns="0" rIns="0" bIns="0" rtlCol="0" anchor="t"/>
          <a:lstStyle/>
          <a:p>
            <a:pPr marL="0" indent="0" algn="l">
              <a:lnSpc>
                <a:spcPts val="1266"/>
              </a:lnSpc>
              <a:buNone/>
            </a:pPr>
            <a:r>
              <a:rPr lang="en-US" sz="873">
                <a:solidFill>
                  <a:srgbClr val="64748B"/>
                </a:solidFill>
                <a:latin typeface="Calibri" pitchFamily="34" charset="0"/>
                <a:ea typeface="Calibri" pitchFamily="34" charset="-122"/>
                <a:cs typeface="Calibri" pitchFamily="34" charset="-120"/>
              </a:rPr>
              <a:t>Continuous improvement after every grant cycle — win or lose, intelligence is always gained.</a:t>
            </a:r>
            <a:endParaRPr lang="en-US" sz="873"/>
          </a:p>
        </p:txBody>
      </p:sp>
      <p:sp>
        <p:nvSpPr>
          <p:cNvPr id="76" name="Text 63"/>
          <p:cNvSpPr/>
          <p:nvPr/>
        </p:nvSpPr>
        <p:spPr>
          <a:xfrm>
            <a:off x="7309842" y="2845445"/>
            <a:ext cx="750371" cy="174427"/>
          </a:xfrm>
          <a:prstGeom prst="roundRect">
            <a:avLst>
              <a:gd name="adj" fmla="val 82275"/>
            </a:avLst>
          </a:prstGeom>
          <a:solidFill>
            <a:srgbClr val="E8A020">
              <a:alpha val="15000"/>
            </a:srgbClr>
          </a:solidFill>
          <a:ln w="9525">
            <a:solidFill>
              <a:srgbClr val="E8A020">
                <a:alpha val="50000"/>
              </a:srgbClr>
            </a:solidFill>
          </a:ln>
        </p:spPr>
        <p:txBody>
          <a:bodyPr wrap="none" lIns="149543" tIns="21590" rIns="71120" bIns="21590" rtlCol="0" anchor="ctr"/>
          <a:lstStyle/>
          <a:p>
            <a:pPr marL="0" indent="0" algn="l">
              <a:buNone/>
            </a:pPr>
            <a:r>
              <a:rPr lang="en-US" sz="678" b="1" kern="0" spc="47">
                <a:solidFill>
                  <a:srgbClr val="E8A020"/>
                </a:solidFill>
                <a:latin typeface="Calibri" pitchFamily="34" charset="0"/>
                <a:ea typeface="Calibri" pitchFamily="34" charset="-122"/>
                <a:cs typeface="Calibri" pitchFamily="34" charset="-120"/>
              </a:rPr>
              <a:t>CONTINUOUS</a:t>
            </a:r>
            <a:endParaRPr lang="en-US" sz="678"/>
          </a:p>
        </p:txBody>
      </p:sp>
      <p:pic>
        <p:nvPicPr>
          <p:cNvPr id="77" name="Image 11"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345495" y="2866364"/>
            <a:ext cx="132588" cy="1325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9449" y="4978579"/>
            <a:ext cx="9144000" cy="4250826"/>
          </a:xfrm>
          <a:prstGeom prst="rect">
            <a:avLst/>
          </a:prstGeom>
          <a:gradFill rotWithShape="1">
            <a:gsLst>
              <a:gs pos="0">
                <a:srgbClr val="E8A020">
                  <a:alpha val="6000"/>
                </a:srgbClr>
              </a:gs>
              <a:gs pos="100000">
                <a:srgbClr val="000000">
                  <a:alpha val="0"/>
                </a:srgbClr>
              </a:gs>
            </a:gsLst>
            <a:lin ang="5400000" scaled="1"/>
          </a:gradFill>
          <a:ln/>
        </p:spPr>
        <p:txBody>
          <a:bodyPr wrap="square" rtlCol="0" anchor="t"/>
          <a:lstStyle/>
          <a:p>
            <a:pPr marL="0" indent="0">
              <a:buNone/>
            </a:pPr>
            <a:endParaRPr lang="en-US" dirty="0"/>
          </a:p>
        </p:txBody>
      </p:sp>
      <p:sp>
        <p:nvSpPr>
          <p:cNvPr id="4" name="Text 2"/>
          <p:cNvSpPr/>
          <p:nvPr/>
        </p:nvSpPr>
        <p:spPr>
          <a:xfrm>
            <a:off x="-1162" y="13245"/>
            <a:ext cx="2286000" cy="2286000"/>
          </a:xfrm>
          <a:prstGeom prst="rect">
            <a:avLst/>
          </a:prstGeom>
          <a:gradFill rotWithShape="1">
            <a:gsLst>
              <a:gs pos="0">
                <a:srgbClr val="E8A020">
                  <a:alpha val="8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0" y="0"/>
            <a:ext cx="35421" cy="5143500"/>
          </a:xfrm>
          <a:prstGeom prst="rect">
            <a:avLst/>
          </a:prstGeom>
          <a:gradFill rotWithShape="1">
            <a:gsLst>
              <a:gs pos="0">
                <a:srgbClr val="E8A020"/>
              </a:gs>
              <a:gs pos="100000">
                <a:srgbClr val="E8A020">
                  <a:alpha val="20000"/>
                </a:srgbClr>
              </a:gs>
            </a:gsLst>
            <a:lin ang="5400000" scaled="1"/>
          </a:gradFill>
          <a:ln/>
        </p:spPr>
        <p:txBody>
          <a:bodyPr wrap="square" rtlCol="0" anchor="t"/>
          <a:lstStyle/>
          <a:p>
            <a:pPr marL="0" indent="0">
              <a:buNone/>
            </a:pPr>
            <a:endParaRPr lang="en-US" dirty="0"/>
          </a:p>
        </p:txBody>
      </p:sp>
      <p:sp>
        <p:nvSpPr>
          <p:cNvPr id="6" name="Text 4"/>
          <p:cNvSpPr/>
          <p:nvPr/>
        </p:nvSpPr>
        <p:spPr>
          <a:xfrm>
            <a:off x="409575" y="1692771"/>
            <a:ext cx="21580" cy="724197"/>
          </a:xfrm>
          <a:custGeom>
            <a:avLst/>
            <a:gdLst/>
            <a:ahLst/>
            <a:cxnLst/>
            <a:rect l="l" t="t" r="r" b="b"/>
            <a:pathLst>
              <a:path w="21580" h="724197">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704105"/>
                </a:lnTo>
                <a:lnTo>
                  <a:pt x="18883" y="701340"/>
                </a:lnTo>
                <a:lnTo>
                  <a:pt x="16185" y="698246"/>
                </a:lnTo>
                <a:lnTo>
                  <a:pt x="13488" y="694749"/>
                </a:lnTo>
                <a:lnTo>
                  <a:pt x="10790" y="690738"/>
                </a:lnTo>
                <a:lnTo>
                  <a:pt x="8093" y="686025"/>
                </a:lnTo>
                <a:lnTo>
                  <a:pt x="5395" y="680248"/>
                </a:lnTo>
                <a:lnTo>
                  <a:pt x="2698" y="672479"/>
                </a:lnTo>
                <a:lnTo>
                  <a:pt x="0" y="653077"/>
                </a:lnTo>
                <a:close/>
              </a:path>
            </a:pathLst>
          </a:custGeom>
          <a:solidFill>
            <a:srgbClr val="E8A020">
              <a:alpha val="70000"/>
            </a:srgbClr>
          </a:solidFill>
          <a:ln/>
        </p:spPr>
        <p:txBody>
          <a:bodyPr wrap="square" rtlCol="0" anchor="t"/>
          <a:lstStyle/>
          <a:p>
            <a:pPr marL="0" indent="0">
              <a:buNone/>
            </a:pPr>
            <a:endParaRPr lang="en-US" dirty="0"/>
          </a:p>
        </p:txBody>
      </p:sp>
      <p:sp>
        <p:nvSpPr>
          <p:cNvPr id="7" name="Text 5"/>
          <p:cNvSpPr/>
          <p:nvPr/>
        </p:nvSpPr>
        <p:spPr>
          <a:xfrm>
            <a:off x="4667250" y="1692771"/>
            <a:ext cx="21580" cy="724197"/>
          </a:xfrm>
          <a:custGeom>
            <a:avLst/>
            <a:gdLst/>
            <a:ahLst/>
            <a:cxnLst/>
            <a:rect l="l" t="t" r="r" b="b"/>
            <a:pathLst>
              <a:path w="21580" h="724197">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704105"/>
                </a:lnTo>
                <a:lnTo>
                  <a:pt x="18883" y="701340"/>
                </a:lnTo>
                <a:lnTo>
                  <a:pt x="16185" y="698246"/>
                </a:lnTo>
                <a:lnTo>
                  <a:pt x="13488" y="694749"/>
                </a:lnTo>
                <a:lnTo>
                  <a:pt x="10790" y="690738"/>
                </a:lnTo>
                <a:lnTo>
                  <a:pt x="8093" y="686025"/>
                </a:lnTo>
                <a:lnTo>
                  <a:pt x="5395" y="680248"/>
                </a:lnTo>
                <a:lnTo>
                  <a:pt x="2698" y="672479"/>
                </a:lnTo>
                <a:lnTo>
                  <a:pt x="0" y="653077"/>
                </a:lnTo>
                <a:close/>
              </a:path>
            </a:pathLst>
          </a:custGeom>
          <a:solidFill>
            <a:srgbClr val="E8A020">
              <a:alpha val="70000"/>
            </a:srgbClr>
          </a:solidFill>
          <a:ln/>
        </p:spPr>
        <p:txBody>
          <a:bodyPr wrap="square" rtlCol="0" anchor="t"/>
          <a:lstStyle/>
          <a:p>
            <a:pPr marL="0" indent="0">
              <a:buNone/>
            </a:pPr>
            <a:endParaRPr lang="en-US" dirty="0"/>
          </a:p>
        </p:txBody>
      </p:sp>
      <p:sp>
        <p:nvSpPr>
          <p:cNvPr id="8" name="Text 6"/>
          <p:cNvSpPr/>
          <p:nvPr/>
        </p:nvSpPr>
        <p:spPr>
          <a:xfrm>
            <a:off x="185402" y="2620933"/>
            <a:ext cx="21580" cy="724197"/>
          </a:xfrm>
          <a:custGeom>
            <a:avLst/>
            <a:gdLst/>
            <a:ahLst/>
            <a:cxnLst/>
            <a:rect l="l" t="t" r="r" b="b"/>
            <a:pathLst>
              <a:path w="21580" h="724197">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704105"/>
                </a:lnTo>
                <a:lnTo>
                  <a:pt x="18883" y="701340"/>
                </a:lnTo>
                <a:lnTo>
                  <a:pt x="16185" y="698246"/>
                </a:lnTo>
                <a:lnTo>
                  <a:pt x="13488" y="694749"/>
                </a:lnTo>
                <a:lnTo>
                  <a:pt x="10790" y="690738"/>
                </a:lnTo>
                <a:lnTo>
                  <a:pt x="8093" y="686025"/>
                </a:lnTo>
                <a:lnTo>
                  <a:pt x="5395" y="680248"/>
                </a:lnTo>
                <a:lnTo>
                  <a:pt x="2698" y="672479"/>
                </a:lnTo>
                <a:lnTo>
                  <a:pt x="0" y="653077"/>
                </a:lnTo>
                <a:close/>
              </a:path>
            </a:pathLst>
          </a:custGeom>
          <a:solidFill>
            <a:srgbClr val="E8A020">
              <a:alpha val="70000"/>
            </a:srgbClr>
          </a:solidFill>
          <a:ln/>
        </p:spPr>
        <p:txBody>
          <a:bodyPr wrap="square" rtlCol="0" anchor="t"/>
          <a:lstStyle/>
          <a:p>
            <a:pPr marL="0" indent="0">
              <a:buNone/>
            </a:pPr>
            <a:endParaRPr lang="en-US" dirty="0"/>
          </a:p>
        </p:txBody>
      </p:sp>
      <p:sp>
        <p:nvSpPr>
          <p:cNvPr id="9" name="Text 7"/>
          <p:cNvSpPr/>
          <p:nvPr/>
        </p:nvSpPr>
        <p:spPr>
          <a:xfrm>
            <a:off x="196192" y="1612097"/>
            <a:ext cx="21580" cy="724197"/>
          </a:xfrm>
          <a:custGeom>
            <a:avLst/>
            <a:gdLst/>
            <a:ahLst/>
            <a:cxnLst/>
            <a:rect l="l" t="t" r="r" b="b"/>
            <a:pathLst>
              <a:path w="21580" h="724197">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704105"/>
                </a:lnTo>
                <a:lnTo>
                  <a:pt x="18883" y="701340"/>
                </a:lnTo>
                <a:lnTo>
                  <a:pt x="16185" y="698246"/>
                </a:lnTo>
                <a:lnTo>
                  <a:pt x="13488" y="694749"/>
                </a:lnTo>
                <a:lnTo>
                  <a:pt x="10790" y="690738"/>
                </a:lnTo>
                <a:lnTo>
                  <a:pt x="8093" y="686025"/>
                </a:lnTo>
                <a:lnTo>
                  <a:pt x="5395" y="680248"/>
                </a:lnTo>
                <a:lnTo>
                  <a:pt x="2698" y="672479"/>
                </a:lnTo>
                <a:lnTo>
                  <a:pt x="0" y="653077"/>
                </a:lnTo>
                <a:close/>
              </a:path>
            </a:pathLst>
          </a:custGeom>
          <a:solidFill>
            <a:srgbClr val="E8A020">
              <a:alpha val="70000"/>
            </a:srgbClr>
          </a:solidFill>
          <a:ln/>
        </p:spPr>
        <p:txBody>
          <a:bodyPr wrap="square" rtlCol="0" anchor="t"/>
          <a:lstStyle/>
          <a:p>
            <a:pPr marL="0" indent="0">
              <a:buNone/>
            </a:pPr>
            <a:endParaRPr lang="en-US" dirty="0"/>
          </a:p>
        </p:txBody>
      </p:sp>
      <p:sp>
        <p:nvSpPr>
          <p:cNvPr id="10" name="Text 8"/>
          <p:cNvSpPr/>
          <p:nvPr/>
        </p:nvSpPr>
        <p:spPr>
          <a:xfrm>
            <a:off x="192127" y="3580540"/>
            <a:ext cx="21580" cy="796617"/>
          </a:xfrm>
          <a:custGeom>
            <a:avLst/>
            <a:gdLst/>
            <a:ahLst/>
            <a:cxnLst/>
            <a:rect l="l" t="t" r="r" b="b"/>
            <a:pathLst>
              <a:path w="21580" h="724197">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704105"/>
                </a:lnTo>
                <a:lnTo>
                  <a:pt x="18883" y="701340"/>
                </a:lnTo>
                <a:lnTo>
                  <a:pt x="16185" y="698246"/>
                </a:lnTo>
                <a:lnTo>
                  <a:pt x="13488" y="694749"/>
                </a:lnTo>
                <a:lnTo>
                  <a:pt x="10790" y="690738"/>
                </a:lnTo>
                <a:lnTo>
                  <a:pt x="8093" y="686025"/>
                </a:lnTo>
                <a:lnTo>
                  <a:pt x="5395" y="680248"/>
                </a:lnTo>
                <a:lnTo>
                  <a:pt x="2698" y="672479"/>
                </a:lnTo>
                <a:lnTo>
                  <a:pt x="0" y="653077"/>
                </a:lnTo>
                <a:close/>
              </a:path>
            </a:pathLst>
          </a:custGeom>
          <a:solidFill>
            <a:srgbClr val="E8A020">
              <a:alpha val="70000"/>
            </a:srgbClr>
          </a:solidFill>
          <a:ln/>
        </p:spPr>
        <p:txBody>
          <a:bodyPr wrap="square" rtlCol="0" anchor="t"/>
          <a:lstStyle/>
          <a:p>
            <a:pPr marL="0" indent="0">
              <a:buNone/>
            </a:pPr>
            <a:endParaRPr lang="en-US" dirty="0"/>
          </a:p>
        </p:txBody>
      </p:sp>
      <p:sp>
        <p:nvSpPr>
          <p:cNvPr id="11" name="Text 9"/>
          <p:cNvSpPr/>
          <p:nvPr/>
        </p:nvSpPr>
        <p:spPr>
          <a:xfrm>
            <a:off x="4667250" y="3627908"/>
            <a:ext cx="21580" cy="724197"/>
          </a:xfrm>
          <a:custGeom>
            <a:avLst/>
            <a:gdLst/>
            <a:ahLst/>
            <a:cxnLst/>
            <a:rect l="l" t="t" r="r" b="b"/>
            <a:pathLst>
              <a:path w="21580" h="724197">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704105"/>
                </a:lnTo>
                <a:lnTo>
                  <a:pt x="18883" y="701340"/>
                </a:lnTo>
                <a:lnTo>
                  <a:pt x="16185" y="698246"/>
                </a:lnTo>
                <a:lnTo>
                  <a:pt x="13488" y="694749"/>
                </a:lnTo>
                <a:lnTo>
                  <a:pt x="10790" y="690738"/>
                </a:lnTo>
                <a:lnTo>
                  <a:pt x="8093" y="686025"/>
                </a:lnTo>
                <a:lnTo>
                  <a:pt x="5395" y="680248"/>
                </a:lnTo>
                <a:lnTo>
                  <a:pt x="2698" y="672479"/>
                </a:lnTo>
                <a:lnTo>
                  <a:pt x="0" y="653077"/>
                </a:lnTo>
                <a:close/>
              </a:path>
            </a:pathLst>
          </a:custGeom>
          <a:solidFill>
            <a:srgbClr val="E8A020">
              <a:alpha val="70000"/>
            </a:srgbClr>
          </a:solidFill>
          <a:ln/>
        </p:spPr>
        <p:txBody>
          <a:bodyPr wrap="square" rtlCol="0" anchor="t"/>
          <a:lstStyle/>
          <a:p>
            <a:pPr marL="0" indent="0">
              <a:buNone/>
            </a:pPr>
            <a:endParaRPr lang="en-US" dirty="0"/>
          </a:p>
        </p:txBody>
      </p:sp>
      <p:sp>
        <p:nvSpPr>
          <p:cNvPr id="12" name="Text 10"/>
          <p:cNvSpPr/>
          <p:nvPr/>
        </p:nvSpPr>
        <p:spPr>
          <a:xfrm>
            <a:off x="400050" y="200620"/>
            <a:ext cx="1113184" cy="228898"/>
          </a:xfrm>
          <a:prstGeom prst="roundRect">
            <a:avLst>
              <a:gd name="adj" fmla="val 62696"/>
            </a:avLst>
          </a:prstGeom>
          <a:solidFill>
            <a:srgbClr val="E8A020">
              <a:alpha val="12000"/>
            </a:srgbClr>
          </a:solidFill>
          <a:ln w="9525">
            <a:solidFill>
              <a:srgbClr val="E8A020">
                <a:alpha val="45000"/>
              </a:srgbClr>
            </a:solidFill>
          </a:ln>
        </p:spPr>
        <p:txBody>
          <a:bodyPr wrap="none" lIns="232638" tIns="35560" rIns="100330" bIns="35560" rtlCol="0" anchor="ctr"/>
          <a:lstStyle/>
          <a:p>
            <a:pPr marL="0" indent="0" algn="l">
              <a:buNone/>
            </a:pPr>
            <a:r>
              <a:rPr lang="en-US" sz="839" b="1" kern="0" spc="58">
                <a:solidFill>
                  <a:srgbClr val="E8A020"/>
                </a:solidFill>
                <a:latin typeface="Calibri" pitchFamily="34" charset="0"/>
                <a:ea typeface="Calibri" pitchFamily="34" charset="-122"/>
                <a:cs typeface="Calibri" pitchFamily="34" charset="-120"/>
              </a:rPr>
              <a:t>PILLAR 1 OF 5</a:t>
            </a:r>
            <a:endParaRPr lang="en-US" sz="839"/>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170" y="248701"/>
            <a:ext cx="132588" cy="132588"/>
          </a:xfrm>
          <a:prstGeom prst="rect">
            <a:avLst/>
          </a:prstGeom>
        </p:spPr>
      </p:pic>
      <p:sp>
        <p:nvSpPr>
          <p:cNvPr id="14" name="Text 11"/>
          <p:cNvSpPr/>
          <p:nvPr/>
        </p:nvSpPr>
        <p:spPr>
          <a:xfrm>
            <a:off x="1591717" y="311200"/>
            <a:ext cx="6583710" cy="7590"/>
          </a:xfrm>
          <a:prstGeom prst="rect">
            <a:avLst/>
          </a:prstGeom>
          <a:gradFill rotWithShape="1">
            <a:gsLst>
              <a:gs pos="0">
                <a:srgbClr val="E8A020">
                  <a:alpha val="40000"/>
                </a:srgbClr>
              </a:gs>
              <a:gs pos="100000">
                <a:srgbClr val="000000">
                  <a:alpha val="0"/>
                </a:srgbClr>
              </a:gs>
            </a:gsLst>
            <a:lin ang="0" scaled="1"/>
          </a:gradFill>
          <a:ln/>
        </p:spPr>
        <p:txBody>
          <a:bodyPr wrap="none" rtlCol="0" anchor="t"/>
          <a:lstStyle/>
          <a:p>
            <a:pPr marL="0" indent="0">
              <a:buNone/>
            </a:pPr>
            <a:endParaRPr lang="en-US" dirty="0"/>
          </a:p>
        </p:txBody>
      </p:sp>
      <p:sp>
        <p:nvSpPr>
          <p:cNvPr id="15" name="Text 12"/>
          <p:cNvSpPr/>
          <p:nvPr/>
        </p:nvSpPr>
        <p:spPr>
          <a:xfrm>
            <a:off x="8275737" y="250329"/>
            <a:ext cx="515035" cy="129480"/>
          </a:xfrm>
          <a:prstGeom prst="rect">
            <a:avLst/>
          </a:prstGeom>
          <a:noFill/>
          <a:ln/>
        </p:spPr>
        <p:txBody>
          <a:bodyPr wrap="none" lIns="0" tIns="0" rIns="0" bIns="0" rtlCol="0" anchor="ctr"/>
          <a:lstStyle/>
          <a:p>
            <a:pPr marL="0" indent="0" algn="l">
              <a:lnSpc>
                <a:spcPts val="1172"/>
              </a:lnSpc>
              <a:buNone/>
            </a:pPr>
            <a:r>
              <a:rPr lang="en-US" sz="781">
                <a:solidFill>
                  <a:srgbClr val="64748B"/>
                </a:solidFill>
                <a:latin typeface="Calibri" pitchFamily="34" charset="0"/>
                <a:ea typeface="Calibri" pitchFamily="34" charset="-122"/>
                <a:cs typeface="Calibri" pitchFamily="34" charset="-120"/>
              </a:rPr>
              <a:t>MIN 25–27</a:t>
            </a:r>
            <a:endParaRPr lang="en-US" sz="781"/>
          </a:p>
        </p:txBody>
      </p:sp>
      <p:sp>
        <p:nvSpPr>
          <p:cNvPr id="16" name="Text 13"/>
          <p:cNvSpPr/>
          <p:nvPr/>
        </p:nvSpPr>
        <p:spPr>
          <a:xfrm>
            <a:off x="416906" y="550498"/>
            <a:ext cx="4152501" cy="266849"/>
          </a:xfrm>
          <a:prstGeom prst="rect">
            <a:avLst/>
          </a:prstGeom>
          <a:noFill/>
          <a:ln/>
        </p:spPr>
        <p:txBody>
          <a:bodyPr wrap="none" lIns="0" tIns="0" rIns="0" bIns="0" rtlCol="0" anchor="ctr"/>
          <a:lstStyle/>
          <a:p>
            <a:pPr marL="0" indent="0" algn="l">
              <a:lnSpc>
                <a:spcPts val="1858"/>
              </a:lnSpc>
              <a:buNone/>
            </a:pPr>
            <a:r>
              <a:rPr lang="en-US" sz="1910" kern="0" spc="-19" dirty="0">
                <a:solidFill>
                  <a:srgbClr val="0D1B3E"/>
                </a:solidFill>
                <a:latin typeface="Calibri Light" pitchFamily="34" charset="0"/>
                <a:ea typeface="Calibri Light" pitchFamily="34" charset="-122"/>
                <a:cs typeface="Calibri Light" pitchFamily="34" charset="-120"/>
              </a:rPr>
              <a:t>Pillar 1 — </a:t>
            </a:r>
            <a:r>
              <a:rPr lang="en-US" sz="1910" kern="0" spc="-19"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Environmental Scanning</a:t>
            </a:r>
            <a:endParaRPr lang="en-US" sz="1910" dirty="0">
              <a:effectLst>
                <a:outerShdw blurRad="38100" dist="38100" dir="2700000" algn="tl">
                  <a:srgbClr val="000000">
                    <a:alpha val="43137"/>
                  </a:srgbClr>
                </a:outerShdw>
              </a:effectLst>
            </a:endParaRPr>
          </a:p>
        </p:txBody>
      </p:sp>
      <p:sp>
        <p:nvSpPr>
          <p:cNvPr id="18" name="Text 15"/>
          <p:cNvSpPr/>
          <p:nvPr/>
        </p:nvSpPr>
        <p:spPr>
          <a:xfrm>
            <a:off x="452057" y="1096084"/>
            <a:ext cx="2397080" cy="262692"/>
          </a:xfrm>
          <a:prstGeom prst="rect">
            <a:avLst/>
          </a:prstGeom>
          <a:noFill/>
          <a:ln/>
        </p:spPr>
        <p:txBody>
          <a:bodyPr wrap="none" lIns="0" tIns="0" rIns="0" bIns="0" rtlCol="0" anchor="ctr"/>
          <a:lstStyle/>
          <a:p>
            <a:pPr marL="0" indent="0" algn="l">
              <a:lnSpc>
                <a:spcPts val="1741"/>
              </a:lnSpc>
              <a:buNone/>
            </a:pPr>
            <a:r>
              <a:rPr lang="en-US" i="1" dirty="0">
                <a:solidFill>
                  <a:srgbClr val="E8A020"/>
                </a:solidFill>
                <a:latin typeface="Calibri Light" pitchFamily="34" charset="0"/>
                <a:ea typeface="Calibri Light" pitchFamily="34" charset="-122"/>
                <a:cs typeface="Calibri Light" pitchFamily="34" charset="-120"/>
              </a:rPr>
              <a:t>Know Before Everyone Else</a:t>
            </a:r>
            <a:endParaRPr lang="en-US" dirty="0"/>
          </a:p>
        </p:txBody>
      </p:sp>
      <p:sp>
        <p:nvSpPr>
          <p:cNvPr id="19" name="Text 16"/>
          <p:cNvSpPr/>
          <p:nvPr/>
        </p:nvSpPr>
        <p:spPr>
          <a:xfrm>
            <a:off x="446872" y="969312"/>
            <a:ext cx="8343900" cy="13841"/>
          </a:xfrm>
          <a:prstGeom prst="roundRect">
            <a:avLst>
              <a:gd name="adj" fmla="val 100932"/>
            </a:avLst>
          </a:prstGeom>
          <a:gradFill rotWithShape="1">
            <a:gsLst>
              <a:gs pos="0">
                <a:srgbClr val="E8A020"/>
              </a:gs>
              <a:gs pos="100000">
                <a:srgbClr val="E8A020">
                  <a:alpha val="15000"/>
                </a:srgbClr>
              </a:gs>
            </a:gsLst>
            <a:lin ang="0" scaled="1"/>
          </a:gradFill>
          <a:ln/>
        </p:spPr>
        <p:txBody>
          <a:bodyPr wrap="none" rtlCol="0" anchor="t"/>
          <a:lstStyle/>
          <a:p>
            <a:pPr marL="0" indent="0">
              <a:buNone/>
            </a:pPr>
            <a:endParaRPr lang="en-US" dirty="0"/>
          </a:p>
        </p:txBody>
      </p:sp>
      <p:sp>
        <p:nvSpPr>
          <p:cNvPr id="20" name="Text 17"/>
          <p:cNvSpPr/>
          <p:nvPr/>
        </p:nvSpPr>
        <p:spPr>
          <a:xfrm>
            <a:off x="400050" y="1633066"/>
            <a:ext cx="4086225" cy="743248"/>
          </a:xfrm>
          <a:prstGeom prst="roundRect">
            <a:avLst>
              <a:gd name="adj" fmla="val 9569"/>
            </a:avLst>
          </a:prstGeom>
          <a:solidFill>
            <a:srgbClr val="F0F4F8"/>
          </a:solidFill>
          <a:ln w="9525">
            <a:solidFill>
              <a:srgbClr val="0D1B3E">
                <a:alpha val="10000"/>
              </a:srgbClr>
            </a:solidFill>
          </a:ln>
        </p:spPr>
        <p:txBody>
          <a:bodyPr wrap="square" rtlCol="0" anchor="t"/>
          <a:lstStyle/>
          <a:p>
            <a:pPr marL="0" indent="0">
              <a:buNone/>
            </a:pPr>
            <a:endParaRPr lang="en-US" dirty="0"/>
          </a:p>
        </p:txBody>
      </p:sp>
      <p:sp>
        <p:nvSpPr>
          <p:cNvPr id="21" name="Text 18"/>
          <p:cNvSpPr/>
          <p:nvPr/>
        </p:nvSpPr>
        <p:spPr>
          <a:xfrm>
            <a:off x="509885" y="1779091"/>
            <a:ext cx="257770" cy="257770"/>
          </a:xfrm>
          <a:prstGeom prst="roundRect">
            <a:avLst>
              <a:gd name="adj" fmla="val 22171"/>
            </a:avLst>
          </a:prstGeom>
          <a:solidFill>
            <a:srgbClr val="E8A020">
              <a:alpha val="12000"/>
            </a:srgbClr>
          </a:solidFill>
          <a:ln w="9525">
            <a:solidFill>
              <a:srgbClr val="E8A020">
                <a:alpha val="45000"/>
              </a:srgbClr>
            </a:solidFill>
          </a:ln>
        </p:spPr>
        <p:txBody>
          <a:bodyPr wrap="none" rtlCol="0" anchor="t"/>
          <a:lstStyle/>
          <a:p>
            <a:pPr marL="0" indent="0">
              <a:buNone/>
            </a:pPr>
            <a:endParaRPr lang="en-US" dirty="0"/>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2402" y="1841608"/>
            <a:ext cx="132588" cy="132588"/>
          </a:xfrm>
          <a:prstGeom prst="rect">
            <a:avLst/>
          </a:prstGeom>
        </p:spPr>
      </p:pic>
      <p:sp>
        <p:nvSpPr>
          <p:cNvPr id="23" name="Text 19"/>
          <p:cNvSpPr/>
          <p:nvPr/>
        </p:nvSpPr>
        <p:spPr>
          <a:xfrm>
            <a:off x="860227" y="1771501"/>
            <a:ext cx="3867835" cy="127992"/>
          </a:xfrm>
          <a:prstGeom prst="rect">
            <a:avLst/>
          </a:prstGeom>
          <a:noFill/>
          <a:ln/>
        </p:spPr>
        <p:txBody>
          <a:bodyPr wrap="none" lIns="0" tIns="0" rIns="0" bIns="0" rtlCol="0" anchor="t"/>
          <a:lstStyle/>
          <a:p>
            <a:pPr marL="0" indent="0" algn="l">
              <a:lnSpc>
                <a:spcPts val="1158"/>
              </a:lnSpc>
              <a:buNone/>
            </a:pPr>
            <a:r>
              <a:rPr lang="en-US" sz="1264" b="1">
                <a:solidFill>
                  <a:srgbClr val="E8A020"/>
                </a:solidFill>
                <a:latin typeface="Calibri" pitchFamily="34" charset="0"/>
                <a:ea typeface="Calibri" pitchFamily="34" charset="-122"/>
                <a:cs typeface="Calibri" pitchFamily="34" charset="-120"/>
              </a:rPr>
              <a:t>Federal Tracker</a:t>
            </a:r>
            <a:endParaRPr lang="en-US" sz="1264"/>
          </a:p>
        </p:txBody>
      </p:sp>
      <p:sp>
        <p:nvSpPr>
          <p:cNvPr id="24" name="Text 20"/>
          <p:cNvSpPr/>
          <p:nvPr/>
        </p:nvSpPr>
        <p:spPr>
          <a:xfrm>
            <a:off x="860227" y="1921073"/>
            <a:ext cx="3867835" cy="280506"/>
          </a:xfrm>
          <a:prstGeom prst="rect">
            <a:avLst/>
          </a:prstGeom>
          <a:noFill/>
          <a:ln/>
        </p:spPr>
        <p:txBody>
          <a:bodyPr wrap="none" lIns="0" tIns="0" rIns="0" bIns="0" rtlCol="0" anchor="t"/>
          <a:lstStyle/>
          <a:p>
            <a:pPr marL="0" indent="0" algn="l">
              <a:lnSpc>
                <a:spcPts val="1226"/>
              </a:lnSpc>
              <a:buNone/>
            </a:pPr>
            <a:r>
              <a:rPr lang="en-US" sz="1149" dirty="0">
                <a:solidFill>
                  <a:srgbClr val="64748B"/>
                </a:solidFill>
                <a:latin typeface="Calibri" pitchFamily="34" charset="0"/>
                <a:ea typeface="Calibri" pitchFamily="34" charset="-122"/>
                <a:cs typeface="Calibri" pitchFamily="34" charset="-120"/>
              </a:rPr>
              <a:t>Monitor ACF, OFA, HHS, DOL, DOJ, and DOE funding cycles </a:t>
            </a:r>
            <a:br>
              <a:rPr lang="en-US" sz="1149" dirty="0">
                <a:solidFill>
                  <a:srgbClr val="64748B"/>
                </a:solidFill>
                <a:latin typeface="Calibri" pitchFamily="34" charset="0"/>
                <a:ea typeface="Calibri" pitchFamily="34" charset="-122"/>
                <a:cs typeface="Calibri" pitchFamily="34" charset="-120"/>
              </a:rPr>
            </a:br>
            <a:r>
              <a:rPr lang="en-US" sz="1149" dirty="0">
                <a:solidFill>
                  <a:srgbClr val="64748B"/>
                </a:solidFill>
                <a:latin typeface="Calibri" pitchFamily="34" charset="0"/>
                <a:ea typeface="Calibri" pitchFamily="34" charset="-122"/>
                <a:cs typeface="Calibri" pitchFamily="34" charset="-120"/>
              </a:rPr>
              <a:t>and policy shifts</a:t>
            </a:r>
            <a:endParaRPr lang="en-US" sz="1149" dirty="0"/>
          </a:p>
        </p:txBody>
      </p:sp>
      <p:sp>
        <p:nvSpPr>
          <p:cNvPr id="25" name="Text 21"/>
          <p:cNvSpPr/>
          <p:nvPr/>
        </p:nvSpPr>
        <p:spPr>
          <a:xfrm>
            <a:off x="4661330" y="1628324"/>
            <a:ext cx="4206922" cy="743248"/>
          </a:xfrm>
          <a:prstGeom prst="roundRect">
            <a:avLst>
              <a:gd name="adj" fmla="val 9569"/>
            </a:avLst>
          </a:prstGeom>
          <a:solidFill>
            <a:srgbClr val="F0F4F8"/>
          </a:solidFill>
          <a:ln w="9525">
            <a:solidFill>
              <a:srgbClr val="0D1B3E">
                <a:alpha val="10000"/>
              </a:srgbClr>
            </a:solidFill>
          </a:ln>
        </p:spPr>
        <p:txBody>
          <a:bodyPr wrap="square" rtlCol="0" anchor="t"/>
          <a:lstStyle/>
          <a:p>
            <a:pPr marL="0" indent="0">
              <a:buNone/>
            </a:pPr>
            <a:endParaRPr lang="en-US" dirty="0"/>
          </a:p>
        </p:txBody>
      </p:sp>
      <p:sp>
        <p:nvSpPr>
          <p:cNvPr id="26" name="Text 22"/>
          <p:cNvSpPr/>
          <p:nvPr/>
        </p:nvSpPr>
        <p:spPr>
          <a:xfrm>
            <a:off x="4767560" y="1946359"/>
            <a:ext cx="257770" cy="257770"/>
          </a:xfrm>
          <a:prstGeom prst="roundRect">
            <a:avLst>
              <a:gd name="adj" fmla="val 22171"/>
            </a:avLst>
          </a:prstGeom>
          <a:solidFill>
            <a:srgbClr val="E8A020">
              <a:alpha val="12000"/>
            </a:srgbClr>
          </a:solidFill>
          <a:ln w="9525">
            <a:solidFill>
              <a:srgbClr val="E8A020">
                <a:alpha val="45000"/>
              </a:srgbClr>
            </a:solidFill>
          </a:ln>
        </p:spPr>
        <p:txBody>
          <a:bodyPr wrap="none" rtlCol="0" anchor="t"/>
          <a:lstStyle/>
          <a:p>
            <a:pPr marL="0" indent="0">
              <a:buNone/>
            </a:pPr>
            <a:endParaRPr lang="en-US" dirty="0"/>
          </a:p>
        </p:txBody>
      </p:sp>
      <p:pic>
        <p:nvPicPr>
          <p:cNvPr id="2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30077" y="2008878"/>
            <a:ext cx="132588" cy="132588"/>
          </a:xfrm>
          <a:prstGeom prst="rect">
            <a:avLst/>
          </a:prstGeom>
        </p:spPr>
      </p:pic>
      <p:sp>
        <p:nvSpPr>
          <p:cNvPr id="28" name="Text 23"/>
          <p:cNvSpPr/>
          <p:nvPr/>
        </p:nvSpPr>
        <p:spPr>
          <a:xfrm>
            <a:off x="5117902" y="1721321"/>
            <a:ext cx="3867835" cy="127992"/>
          </a:xfrm>
          <a:prstGeom prst="rect">
            <a:avLst/>
          </a:prstGeom>
          <a:noFill/>
          <a:ln/>
        </p:spPr>
        <p:txBody>
          <a:bodyPr wrap="none" lIns="0" tIns="0" rIns="0" bIns="0" rtlCol="0" anchor="t"/>
          <a:lstStyle/>
          <a:p>
            <a:pPr marL="0" indent="0" algn="l">
              <a:lnSpc>
                <a:spcPts val="1158"/>
              </a:lnSpc>
              <a:buNone/>
            </a:pPr>
            <a:r>
              <a:rPr lang="en-US" sz="1264" b="1">
                <a:solidFill>
                  <a:srgbClr val="E8A020"/>
                </a:solidFill>
                <a:latin typeface="Calibri" pitchFamily="34" charset="0"/>
                <a:ea typeface="Calibri" pitchFamily="34" charset="-122"/>
                <a:cs typeface="Calibri" pitchFamily="34" charset="-120"/>
              </a:rPr>
              <a:t>Foundation Scanning</a:t>
            </a:r>
            <a:endParaRPr lang="en-US" sz="1264"/>
          </a:p>
        </p:txBody>
      </p:sp>
      <p:sp>
        <p:nvSpPr>
          <p:cNvPr id="29" name="Text 24"/>
          <p:cNvSpPr/>
          <p:nvPr/>
        </p:nvSpPr>
        <p:spPr>
          <a:xfrm>
            <a:off x="5117902" y="1921073"/>
            <a:ext cx="3586538" cy="284098"/>
          </a:xfrm>
          <a:prstGeom prst="rect">
            <a:avLst/>
          </a:prstGeom>
          <a:noFill/>
          <a:ln/>
        </p:spPr>
        <p:txBody>
          <a:bodyPr wrap="square" lIns="0" tIns="0" rIns="0" bIns="0" rtlCol="0" anchor="t"/>
          <a:lstStyle/>
          <a:p>
            <a:pPr marL="0" indent="0" algn="l">
              <a:lnSpc>
                <a:spcPts val="1226"/>
              </a:lnSpc>
              <a:buNone/>
            </a:pPr>
            <a:r>
              <a:rPr lang="en-US" sz="1149">
                <a:solidFill>
                  <a:srgbClr val="64748B"/>
                </a:solidFill>
                <a:latin typeface="Calibri" pitchFamily="34" charset="0"/>
                <a:ea typeface="Calibri" pitchFamily="34" charset="-122"/>
                <a:cs typeface="Calibri" pitchFamily="34" charset="-120"/>
              </a:rPr>
              <a:t>Track priority shifts, board changes, geographic focus, and giving patterns via 990s</a:t>
            </a:r>
            <a:endParaRPr lang="en-US" sz="1149"/>
          </a:p>
        </p:txBody>
      </p:sp>
      <p:sp>
        <p:nvSpPr>
          <p:cNvPr id="30" name="Text 25"/>
          <p:cNvSpPr/>
          <p:nvPr/>
        </p:nvSpPr>
        <p:spPr>
          <a:xfrm>
            <a:off x="369192" y="2601882"/>
            <a:ext cx="4086225" cy="743248"/>
          </a:xfrm>
          <a:prstGeom prst="roundRect">
            <a:avLst>
              <a:gd name="adj" fmla="val 9569"/>
            </a:avLst>
          </a:prstGeom>
          <a:solidFill>
            <a:srgbClr val="F0F4F8"/>
          </a:solidFill>
          <a:ln w="9525">
            <a:solidFill>
              <a:srgbClr val="0D1B3E">
                <a:alpha val="10000"/>
              </a:srgbClr>
            </a:solidFill>
          </a:ln>
        </p:spPr>
        <p:txBody>
          <a:bodyPr wrap="square" rtlCol="0" anchor="t"/>
          <a:lstStyle/>
          <a:p>
            <a:pPr marL="0" indent="0">
              <a:buNone/>
            </a:pPr>
            <a:endParaRPr lang="en-US" dirty="0"/>
          </a:p>
        </p:txBody>
      </p:sp>
      <p:sp>
        <p:nvSpPr>
          <p:cNvPr id="31" name="Text 26"/>
          <p:cNvSpPr/>
          <p:nvPr/>
        </p:nvSpPr>
        <p:spPr>
          <a:xfrm>
            <a:off x="473720" y="2827615"/>
            <a:ext cx="257770" cy="257770"/>
          </a:xfrm>
          <a:prstGeom prst="roundRect">
            <a:avLst>
              <a:gd name="adj" fmla="val 22171"/>
            </a:avLst>
          </a:prstGeom>
          <a:solidFill>
            <a:srgbClr val="E8A020">
              <a:alpha val="12000"/>
            </a:srgbClr>
          </a:solidFill>
          <a:ln w="9525">
            <a:solidFill>
              <a:srgbClr val="E8A020">
                <a:alpha val="45000"/>
              </a:srgbClr>
            </a:solidFill>
          </a:ln>
        </p:spPr>
        <p:txBody>
          <a:bodyPr wrap="none" rtlCol="0" anchor="t"/>
          <a:lstStyle/>
          <a:p>
            <a:pPr marL="0" indent="0">
              <a:buNone/>
            </a:pPr>
            <a:endParaRPr lang="en-US" dirty="0"/>
          </a:p>
        </p:txBody>
      </p:sp>
      <p:pic>
        <p:nvPicPr>
          <p:cNvPr id="3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3370" y="2873297"/>
            <a:ext cx="132588" cy="132588"/>
          </a:xfrm>
          <a:prstGeom prst="rect">
            <a:avLst/>
          </a:prstGeom>
        </p:spPr>
      </p:pic>
      <p:sp>
        <p:nvSpPr>
          <p:cNvPr id="33" name="Text 27"/>
          <p:cNvSpPr/>
          <p:nvPr/>
        </p:nvSpPr>
        <p:spPr>
          <a:xfrm>
            <a:off x="841904" y="2612583"/>
            <a:ext cx="1988910" cy="206151"/>
          </a:xfrm>
          <a:prstGeom prst="rect">
            <a:avLst/>
          </a:prstGeom>
          <a:noFill/>
          <a:ln/>
        </p:spPr>
        <p:txBody>
          <a:bodyPr wrap="none" lIns="0" tIns="0" rIns="0" bIns="0" rtlCol="0" anchor="ctr"/>
          <a:lstStyle/>
          <a:p>
            <a:pPr marL="0" indent="0" algn="l">
              <a:lnSpc>
                <a:spcPts val="1158"/>
              </a:lnSpc>
              <a:buNone/>
            </a:pPr>
            <a:r>
              <a:rPr lang="en-US" sz="1264" b="1" dirty="0">
                <a:solidFill>
                  <a:srgbClr val="E8A020"/>
                </a:solidFill>
                <a:latin typeface="Calibri" pitchFamily="34" charset="0"/>
                <a:ea typeface="Calibri" pitchFamily="34" charset="-122"/>
                <a:cs typeface="Calibri" pitchFamily="34" charset="-120"/>
              </a:rPr>
              <a:t>Policy Watch</a:t>
            </a:r>
            <a:endParaRPr lang="en-US" sz="1264" dirty="0"/>
          </a:p>
        </p:txBody>
      </p:sp>
      <p:sp>
        <p:nvSpPr>
          <p:cNvPr id="34" name="Text 28"/>
          <p:cNvSpPr/>
          <p:nvPr/>
        </p:nvSpPr>
        <p:spPr>
          <a:xfrm>
            <a:off x="836018" y="2820969"/>
            <a:ext cx="3586538" cy="284098"/>
          </a:xfrm>
          <a:prstGeom prst="rect">
            <a:avLst/>
          </a:prstGeom>
          <a:noFill/>
          <a:ln/>
        </p:spPr>
        <p:txBody>
          <a:bodyPr wrap="square" lIns="0" tIns="0" rIns="0" bIns="0" rtlCol="0" anchor="t"/>
          <a:lstStyle/>
          <a:p>
            <a:pPr marL="0" indent="0" algn="l">
              <a:lnSpc>
                <a:spcPts val="1226"/>
              </a:lnSpc>
              <a:buNone/>
            </a:pPr>
            <a:r>
              <a:rPr lang="en-US" sz="1149" dirty="0">
                <a:solidFill>
                  <a:srgbClr val="64748B"/>
                </a:solidFill>
                <a:latin typeface="Calibri" pitchFamily="34" charset="0"/>
                <a:ea typeface="Calibri" pitchFamily="34" charset="-122"/>
                <a:cs typeface="Calibri" pitchFamily="34" charset="-120"/>
              </a:rPr>
              <a:t>Monitor legislation signaling new funding streams (e.g., Family First Prevention Services Act, VOCA reauthorization)</a:t>
            </a:r>
            <a:endParaRPr lang="en-US" sz="1149" dirty="0"/>
          </a:p>
        </p:txBody>
      </p:sp>
      <p:sp>
        <p:nvSpPr>
          <p:cNvPr id="35" name="Text 29"/>
          <p:cNvSpPr/>
          <p:nvPr/>
        </p:nvSpPr>
        <p:spPr>
          <a:xfrm>
            <a:off x="4661330" y="2603001"/>
            <a:ext cx="4206922" cy="743248"/>
          </a:xfrm>
          <a:prstGeom prst="roundRect">
            <a:avLst>
              <a:gd name="adj" fmla="val 9569"/>
            </a:avLst>
          </a:prstGeom>
          <a:solidFill>
            <a:srgbClr val="F0F4F8"/>
          </a:solidFill>
          <a:ln w="9525">
            <a:solidFill>
              <a:srgbClr val="0D1B3E">
                <a:alpha val="10000"/>
              </a:srgbClr>
            </a:solidFill>
          </a:ln>
        </p:spPr>
        <p:txBody>
          <a:bodyPr wrap="square" rtlCol="0" anchor="t"/>
          <a:lstStyle/>
          <a:p>
            <a:pPr marL="0" indent="0">
              <a:buNone/>
            </a:pPr>
            <a:endParaRPr lang="en-US" dirty="0"/>
          </a:p>
        </p:txBody>
      </p:sp>
      <p:sp>
        <p:nvSpPr>
          <p:cNvPr id="36" name="Text 30"/>
          <p:cNvSpPr/>
          <p:nvPr/>
        </p:nvSpPr>
        <p:spPr>
          <a:xfrm>
            <a:off x="4750832" y="2860962"/>
            <a:ext cx="257770" cy="257770"/>
          </a:xfrm>
          <a:prstGeom prst="roundRect">
            <a:avLst>
              <a:gd name="adj" fmla="val 22171"/>
            </a:avLst>
          </a:prstGeom>
          <a:solidFill>
            <a:srgbClr val="E8A020">
              <a:alpha val="12000"/>
            </a:srgbClr>
          </a:solidFill>
          <a:ln w="9525">
            <a:solidFill>
              <a:srgbClr val="E8A020">
                <a:alpha val="45000"/>
              </a:srgbClr>
            </a:solidFill>
          </a:ln>
        </p:spPr>
        <p:txBody>
          <a:bodyPr wrap="none" rtlCol="0" anchor="t"/>
          <a:lstStyle/>
          <a:p>
            <a:pPr marL="0" indent="0">
              <a:buNone/>
            </a:pPr>
            <a:endParaRPr lang="en-US" dirty="0"/>
          </a:p>
        </p:txBody>
      </p:sp>
      <p:pic>
        <p:nvPicPr>
          <p:cNvPr id="3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13349" y="2901175"/>
            <a:ext cx="132588" cy="132588"/>
          </a:xfrm>
          <a:prstGeom prst="rect">
            <a:avLst/>
          </a:prstGeom>
        </p:spPr>
      </p:pic>
      <p:sp>
        <p:nvSpPr>
          <p:cNvPr id="38" name="Text 31"/>
          <p:cNvSpPr/>
          <p:nvPr/>
        </p:nvSpPr>
        <p:spPr>
          <a:xfrm>
            <a:off x="5117902" y="2671424"/>
            <a:ext cx="1422288" cy="181761"/>
          </a:xfrm>
          <a:prstGeom prst="rect">
            <a:avLst/>
          </a:prstGeom>
          <a:noFill/>
          <a:ln/>
        </p:spPr>
        <p:txBody>
          <a:bodyPr wrap="none" lIns="0" tIns="0" rIns="0" bIns="0" rtlCol="0" anchor="ctr"/>
          <a:lstStyle/>
          <a:p>
            <a:pPr marL="0" indent="0" algn="l">
              <a:lnSpc>
                <a:spcPts val="1158"/>
              </a:lnSpc>
              <a:buNone/>
            </a:pPr>
            <a:r>
              <a:rPr lang="en-US" sz="1264" b="1" dirty="0">
                <a:solidFill>
                  <a:srgbClr val="E8A020"/>
                </a:solidFill>
                <a:latin typeface="Calibri" pitchFamily="34" charset="0"/>
                <a:ea typeface="Calibri" pitchFamily="34" charset="-122"/>
                <a:cs typeface="Calibri" pitchFamily="34" charset="-120"/>
              </a:rPr>
              <a:t>Landscape Mapping</a:t>
            </a:r>
            <a:endParaRPr lang="en-US" sz="1264" dirty="0"/>
          </a:p>
        </p:txBody>
      </p:sp>
      <p:sp>
        <p:nvSpPr>
          <p:cNvPr id="39" name="Text 32"/>
          <p:cNvSpPr/>
          <p:nvPr/>
        </p:nvSpPr>
        <p:spPr>
          <a:xfrm>
            <a:off x="5101175" y="2853185"/>
            <a:ext cx="3509456" cy="311652"/>
          </a:xfrm>
          <a:prstGeom prst="rect">
            <a:avLst/>
          </a:prstGeom>
          <a:noFill/>
          <a:ln/>
        </p:spPr>
        <p:txBody>
          <a:bodyPr wrap="none" lIns="0" tIns="0" rIns="0" bIns="0" rtlCol="0" anchor="t"/>
          <a:lstStyle/>
          <a:p>
            <a:pPr marL="0" indent="0" algn="l">
              <a:lnSpc>
                <a:spcPts val="1226"/>
              </a:lnSpc>
              <a:buNone/>
            </a:pPr>
            <a:r>
              <a:rPr lang="en-US" sz="1149" dirty="0">
                <a:solidFill>
                  <a:srgbClr val="64748B"/>
                </a:solidFill>
                <a:latin typeface="Calibri" pitchFamily="34" charset="0"/>
                <a:ea typeface="Calibri" pitchFamily="34" charset="-122"/>
                <a:cs typeface="Calibri" pitchFamily="34" charset="-120"/>
              </a:rPr>
              <a:t>Who else is funded in your service area, by whom, and for</a:t>
            </a:r>
          </a:p>
          <a:p>
            <a:pPr marL="0" indent="0" algn="l">
              <a:lnSpc>
                <a:spcPts val="1226"/>
              </a:lnSpc>
              <a:buNone/>
            </a:pPr>
            <a:r>
              <a:rPr lang="en-US" sz="1149" dirty="0">
                <a:solidFill>
                  <a:srgbClr val="64748B"/>
                </a:solidFill>
                <a:latin typeface="Calibri" pitchFamily="34" charset="0"/>
                <a:ea typeface="Calibri" pitchFamily="34" charset="-122"/>
                <a:cs typeface="Calibri" pitchFamily="34" charset="-120"/>
              </a:rPr>
              <a:t> what?</a:t>
            </a:r>
            <a:endParaRPr lang="en-US" sz="1149" dirty="0"/>
          </a:p>
        </p:txBody>
      </p:sp>
      <p:sp>
        <p:nvSpPr>
          <p:cNvPr id="40" name="Text 33"/>
          <p:cNvSpPr/>
          <p:nvPr/>
        </p:nvSpPr>
        <p:spPr>
          <a:xfrm>
            <a:off x="356964" y="3584834"/>
            <a:ext cx="4086225" cy="743248"/>
          </a:xfrm>
          <a:prstGeom prst="roundRect">
            <a:avLst>
              <a:gd name="adj" fmla="val 9569"/>
            </a:avLst>
          </a:prstGeom>
          <a:solidFill>
            <a:srgbClr val="F0F4F8"/>
          </a:solidFill>
          <a:ln w="9525">
            <a:solidFill>
              <a:srgbClr val="0D1B3E">
                <a:alpha val="10000"/>
              </a:srgbClr>
            </a:solidFill>
          </a:ln>
        </p:spPr>
        <p:txBody>
          <a:bodyPr wrap="square" rtlCol="0" anchor="t"/>
          <a:lstStyle/>
          <a:p>
            <a:pPr marL="0" indent="0">
              <a:buNone/>
            </a:pPr>
            <a:endParaRPr lang="en-US" dirty="0"/>
          </a:p>
        </p:txBody>
      </p:sp>
      <p:sp>
        <p:nvSpPr>
          <p:cNvPr id="41" name="Text 34"/>
          <p:cNvSpPr/>
          <p:nvPr/>
        </p:nvSpPr>
        <p:spPr>
          <a:xfrm>
            <a:off x="509885" y="3842467"/>
            <a:ext cx="257770" cy="257770"/>
          </a:xfrm>
          <a:prstGeom prst="roundRect">
            <a:avLst>
              <a:gd name="adj" fmla="val 22171"/>
            </a:avLst>
          </a:prstGeom>
          <a:solidFill>
            <a:srgbClr val="E8A020">
              <a:alpha val="12000"/>
            </a:srgbClr>
          </a:solidFill>
          <a:ln w="9525">
            <a:solidFill>
              <a:srgbClr val="E8A020">
                <a:alpha val="45000"/>
              </a:srgbClr>
            </a:solidFill>
          </a:ln>
        </p:spPr>
        <p:txBody>
          <a:bodyPr wrap="none" rtlCol="0" anchor="t"/>
          <a:lstStyle/>
          <a:p>
            <a:pPr marL="0" indent="0">
              <a:buNone/>
            </a:pPr>
            <a:endParaRPr lang="en-US" dirty="0"/>
          </a:p>
        </p:txBody>
      </p:sp>
      <p:pic>
        <p:nvPicPr>
          <p:cNvPr id="4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2402" y="3893829"/>
            <a:ext cx="132588" cy="132588"/>
          </a:xfrm>
          <a:prstGeom prst="rect">
            <a:avLst/>
          </a:prstGeom>
        </p:spPr>
      </p:pic>
      <p:sp>
        <p:nvSpPr>
          <p:cNvPr id="43" name="Text 35"/>
          <p:cNvSpPr/>
          <p:nvPr/>
        </p:nvSpPr>
        <p:spPr>
          <a:xfrm>
            <a:off x="896897" y="3647370"/>
            <a:ext cx="2425649" cy="167374"/>
          </a:xfrm>
          <a:prstGeom prst="rect">
            <a:avLst/>
          </a:prstGeom>
          <a:noFill/>
          <a:ln/>
        </p:spPr>
        <p:txBody>
          <a:bodyPr wrap="none" lIns="0" tIns="0" rIns="0" bIns="0" rtlCol="0" anchor="t"/>
          <a:lstStyle/>
          <a:p>
            <a:pPr marL="0" indent="0" algn="l">
              <a:lnSpc>
                <a:spcPts val="1158"/>
              </a:lnSpc>
              <a:buNone/>
            </a:pPr>
            <a:r>
              <a:rPr lang="en-US" sz="1264" b="1" dirty="0">
                <a:solidFill>
                  <a:srgbClr val="E8A020"/>
                </a:solidFill>
                <a:latin typeface="Calibri" pitchFamily="34" charset="0"/>
                <a:ea typeface="Calibri" pitchFamily="34" charset="-122"/>
                <a:cs typeface="Calibri" pitchFamily="34" charset="-120"/>
              </a:rPr>
              <a:t>Funder Relationship Mapping</a:t>
            </a:r>
            <a:endParaRPr lang="en-US" sz="1264" dirty="0"/>
          </a:p>
        </p:txBody>
      </p:sp>
      <p:sp>
        <p:nvSpPr>
          <p:cNvPr id="44" name="Text 36"/>
          <p:cNvSpPr/>
          <p:nvPr/>
        </p:nvSpPr>
        <p:spPr>
          <a:xfrm>
            <a:off x="881077" y="3887074"/>
            <a:ext cx="3489490" cy="165452"/>
          </a:xfrm>
          <a:prstGeom prst="rect">
            <a:avLst/>
          </a:prstGeom>
          <a:noFill/>
          <a:ln/>
        </p:spPr>
        <p:txBody>
          <a:bodyPr wrap="none" lIns="0" tIns="0" rIns="0" bIns="0" rtlCol="0" anchor="ctr"/>
          <a:lstStyle/>
          <a:p>
            <a:pPr marL="0" indent="0" algn="l">
              <a:lnSpc>
                <a:spcPts val="1226"/>
              </a:lnSpc>
              <a:buNone/>
            </a:pPr>
            <a:r>
              <a:rPr lang="en-US" sz="1149" dirty="0">
                <a:solidFill>
                  <a:srgbClr val="64748B"/>
                </a:solidFill>
                <a:latin typeface="Calibri" pitchFamily="34" charset="0"/>
                <a:ea typeface="Calibri" pitchFamily="34" charset="-122"/>
                <a:cs typeface="Calibri" pitchFamily="34" charset="-120"/>
              </a:rPr>
              <a:t>Who in your network knows whom at each priority funder?</a:t>
            </a:r>
            <a:endParaRPr lang="en-US" sz="1149" dirty="0"/>
          </a:p>
        </p:txBody>
      </p:sp>
      <p:sp>
        <p:nvSpPr>
          <p:cNvPr id="45" name="Text 37"/>
          <p:cNvSpPr/>
          <p:nvPr/>
        </p:nvSpPr>
        <p:spPr>
          <a:xfrm>
            <a:off x="4657724" y="3546351"/>
            <a:ext cx="4210527" cy="799754"/>
          </a:xfrm>
          <a:prstGeom prst="roundRect">
            <a:avLst>
              <a:gd name="adj" fmla="val 9569"/>
            </a:avLst>
          </a:prstGeom>
          <a:solidFill>
            <a:srgbClr val="F0F4F8"/>
          </a:solidFill>
          <a:ln w="9525">
            <a:solidFill>
              <a:srgbClr val="0D1B3E">
                <a:alpha val="10000"/>
              </a:srgbClr>
            </a:solidFill>
          </a:ln>
        </p:spPr>
        <p:txBody>
          <a:bodyPr wrap="square" rtlCol="0" anchor="t"/>
          <a:lstStyle/>
          <a:p>
            <a:pPr marL="0" indent="0">
              <a:buNone/>
            </a:pPr>
            <a:endParaRPr lang="en-US" dirty="0"/>
          </a:p>
        </p:txBody>
      </p:sp>
      <p:sp>
        <p:nvSpPr>
          <p:cNvPr id="46" name="Text 38"/>
          <p:cNvSpPr/>
          <p:nvPr/>
        </p:nvSpPr>
        <p:spPr>
          <a:xfrm>
            <a:off x="4745256" y="3892645"/>
            <a:ext cx="257770" cy="257770"/>
          </a:xfrm>
          <a:prstGeom prst="roundRect">
            <a:avLst>
              <a:gd name="adj" fmla="val 22171"/>
            </a:avLst>
          </a:prstGeom>
          <a:solidFill>
            <a:srgbClr val="E8A020">
              <a:alpha val="12000"/>
            </a:srgbClr>
          </a:solidFill>
          <a:ln w="9525">
            <a:solidFill>
              <a:srgbClr val="E8A020">
                <a:alpha val="45000"/>
              </a:srgbClr>
            </a:solidFill>
          </a:ln>
        </p:spPr>
        <p:txBody>
          <a:bodyPr wrap="none" rtlCol="0" anchor="t"/>
          <a:lstStyle/>
          <a:p>
            <a:pPr marL="0" indent="0">
              <a:buNone/>
            </a:pPr>
            <a:endParaRPr lang="en-US" dirty="0"/>
          </a:p>
        </p:txBody>
      </p:sp>
      <p:pic>
        <p:nvPicPr>
          <p:cNvPr id="47"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02197" y="3949590"/>
            <a:ext cx="132588" cy="132588"/>
          </a:xfrm>
          <a:prstGeom prst="rect">
            <a:avLst/>
          </a:prstGeom>
        </p:spPr>
      </p:pic>
      <p:sp>
        <p:nvSpPr>
          <p:cNvPr id="48" name="Text 39"/>
          <p:cNvSpPr/>
          <p:nvPr/>
        </p:nvSpPr>
        <p:spPr>
          <a:xfrm>
            <a:off x="5098446" y="3616845"/>
            <a:ext cx="3106122" cy="127992"/>
          </a:xfrm>
          <a:prstGeom prst="rect">
            <a:avLst/>
          </a:prstGeom>
          <a:noFill/>
          <a:ln/>
        </p:spPr>
        <p:txBody>
          <a:bodyPr wrap="none" lIns="0" tIns="0" rIns="0" bIns="0" rtlCol="0" anchor="t"/>
          <a:lstStyle/>
          <a:p>
            <a:pPr marL="0" indent="0" algn="l">
              <a:lnSpc>
                <a:spcPts val="1158"/>
              </a:lnSpc>
              <a:buNone/>
            </a:pPr>
            <a:r>
              <a:rPr lang="en-US" sz="1264" b="1" dirty="0">
                <a:solidFill>
                  <a:srgbClr val="E8A020"/>
                </a:solidFill>
                <a:latin typeface="Calibri" pitchFamily="34" charset="0"/>
                <a:ea typeface="Calibri" pitchFamily="34" charset="-122"/>
                <a:cs typeface="Calibri" pitchFamily="34" charset="-120"/>
              </a:rPr>
              <a:t>Tools in Practice</a:t>
            </a:r>
            <a:endParaRPr lang="en-US" sz="1264" dirty="0"/>
          </a:p>
        </p:txBody>
      </p:sp>
      <p:sp>
        <p:nvSpPr>
          <p:cNvPr id="49" name="Text 40"/>
          <p:cNvSpPr/>
          <p:nvPr/>
        </p:nvSpPr>
        <p:spPr>
          <a:xfrm>
            <a:off x="5098446" y="3863801"/>
            <a:ext cx="868412" cy="193834"/>
          </a:xfrm>
          <a:prstGeom prst="roundRect">
            <a:avLst>
              <a:gd name="adj" fmla="val 44554"/>
            </a:avLst>
          </a:prstGeom>
          <a:solidFill>
            <a:srgbClr val="E8A020">
              <a:alpha val="10000"/>
            </a:srgbClr>
          </a:solidFill>
          <a:ln w="9525">
            <a:solidFill>
              <a:srgbClr val="E8A020">
                <a:alpha val="45000"/>
              </a:srgbClr>
            </a:solidFill>
          </a:ln>
        </p:spPr>
        <p:txBody>
          <a:bodyPr wrap="none" lIns="0" tIns="0" rIns="0" bIns="0" rtlCol="0" anchor="ctr"/>
          <a:lstStyle/>
          <a:p>
            <a:pPr marL="0" indent="0" algn="ctr">
              <a:buNone/>
            </a:pPr>
            <a:r>
              <a:rPr lang="en-US" sz="919" b="1">
                <a:solidFill>
                  <a:srgbClr val="E8A020"/>
                </a:solidFill>
                <a:latin typeface="Calibri" pitchFamily="34" charset="0"/>
                <a:ea typeface="Calibri" pitchFamily="34" charset="-122"/>
                <a:cs typeface="Calibri" pitchFamily="34" charset="-120"/>
              </a:rPr>
              <a:t>Grants.gov Alerts</a:t>
            </a:r>
            <a:endParaRPr lang="en-US" sz="919"/>
          </a:p>
        </p:txBody>
      </p:sp>
      <p:sp>
        <p:nvSpPr>
          <p:cNvPr id="50" name="Text 41"/>
          <p:cNvSpPr/>
          <p:nvPr/>
        </p:nvSpPr>
        <p:spPr>
          <a:xfrm>
            <a:off x="6024008" y="3863801"/>
            <a:ext cx="1140023" cy="193834"/>
          </a:xfrm>
          <a:prstGeom prst="roundRect">
            <a:avLst>
              <a:gd name="adj" fmla="val 44554"/>
            </a:avLst>
          </a:prstGeom>
          <a:solidFill>
            <a:srgbClr val="E8A020">
              <a:alpha val="10000"/>
            </a:srgbClr>
          </a:solidFill>
          <a:ln w="9525">
            <a:solidFill>
              <a:srgbClr val="E8A020">
                <a:alpha val="45000"/>
              </a:srgbClr>
            </a:solidFill>
          </a:ln>
        </p:spPr>
        <p:txBody>
          <a:bodyPr wrap="none" lIns="0" tIns="0" rIns="0" bIns="0" rtlCol="0" anchor="ctr"/>
          <a:lstStyle/>
          <a:p>
            <a:pPr marL="0" indent="0" algn="ctr">
              <a:buNone/>
            </a:pPr>
            <a:r>
              <a:rPr lang="en-US" sz="919" b="1">
                <a:solidFill>
                  <a:srgbClr val="E8A020"/>
                </a:solidFill>
                <a:latin typeface="Calibri" pitchFamily="34" charset="0"/>
                <a:ea typeface="Calibri" pitchFamily="34" charset="-122"/>
                <a:cs typeface="Calibri" pitchFamily="34" charset="-120"/>
              </a:rPr>
              <a:t>ProPublica 990 Explorer</a:t>
            </a:r>
            <a:endParaRPr lang="en-US" sz="919"/>
          </a:p>
        </p:txBody>
      </p:sp>
      <p:sp>
        <p:nvSpPr>
          <p:cNvPr id="51" name="Text 42"/>
          <p:cNvSpPr/>
          <p:nvPr/>
        </p:nvSpPr>
        <p:spPr>
          <a:xfrm>
            <a:off x="7221181" y="3863801"/>
            <a:ext cx="1096714" cy="193834"/>
          </a:xfrm>
          <a:prstGeom prst="roundRect">
            <a:avLst>
              <a:gd name="adj" fmla="val 44554"/>
            </a:avLst>
          </a:prstGeom>
          <a:solidFill>
            <a:srgbClr val="E8A020">
              <a:alpha val="10000"/>
            </a:srgbClr>
          </a:solidFill>
          <a:ln w="9525">
            <a:solidFill>
              <a:srgbClr val="E8A020">
                <a:alpha val="45000"/>
              </a:srgbClr>
            </a:solidFill>
          </a:ln>
        </p:spPr>
        <p:txBody>
          <a:bodyPr wrap="none" lIns="0" tIns="0" rIns="0" bIns="0" rtlCol="0" anchor="ctr"/>
          <a:lstStyle/>
          <a:p>
            <a:pPr marL="0" indent="0" algn="ctr">
              <a:buNone/>
            </a:pPr>
            <a:r>
              <a:rPr lang="en-US" sz="919" b="1">
                <a:solidFill>
                  <a:srgbClr val="E8A020"/>
                </a:solidFill>
                <a:latin typeface="Calibri" pitchFamily="34" charset="0"/>
                <a:ea typeface="Calibri" pitchFamily="34" charset="-122"/>
                <a:cs typeface="Calibri" pitchFamily="34" charset="-120"/>
              </a:rPr>
              <a:t>Appropriations Tracker</a:t>
            </a:r>
            <a:endParaRPr lang="en-US" sz="919"/>
          </a:p>
        </p:txBody>
      </p:sp>
      <p:sp>
        <p:nvSpPr>
          <p:cNvPr id="52" name="Text 43"/>
          <p:cNvSpPr/>
          <p:nvPr/>
        </p:nvSpPr>
        <p:spPr>
          <a:xfrm>
            <a:off x="5098446" y="4097164"/>
            <a:ext cx="1311920" cy="193834"/>
          </a:xfrm>
          <a:prstGeom prst="roundRect">
            <a:avLst>
              <a:gd name="adj" fmla="val 44554"/>
            </a:avLst>
          </a:prstGeom>
          <a:solidFill>
            <a:srgbClr val="E8A020">
              <a:alpha val="10000"/>
            </a:srgbClr>
          </a:solidFill>
          <a:ln w="9525">
            <a:solidFill>
              <a:srgbClr val="E8A020">
                <a:alpha val="45000"/>
              </a:srgbClr>
            </a:solidFill>
          </a:ln>
        </p:spPr>
        <p:txBody>
          <a:bodyPr wrap="none" lIns="0" tIns="0" rIns="0" bIns="0" rtlCol="0" anchor="ctr"/>
          <a:lstStyle/>
          <a:p>
            <a:pPr marL="0" indent="0" algn="ctr">
              <a:buNone/>
            </a:pPr>
            <a:r>
              <a:rPr lang="en-US" sz="919" b="1">
                <a:solidFill>
                  <a:srgbClr val="E8A020"/>
                </a:solidFill>
                <a:latin typeface="Calibri" pitchFamily="34" charset="0"/>
                <a:ea typeface="Calibri" pitchFamily="34" charset="-122"/>
                <a:cs typeface="Calibri" pitchFamily="34" charset="-120"/>
              </a:rPr>
              <a:t>Foundation Directory Online</a:t>
            </a:r>
            <a:endParaRPr lang="en-US" sz="919"/>
          </a:p>
        </p:txBody>
      </p:sp>
      <p:sp>
        <p:nvSpPr>
          <p:cNvPr id="53" name="Text 44"/>
          <p:cNvSpPr/>
          <p:nvPr/>
        </p:nvSpPr>
        <p:spPr>
          <a:xfrm>
            <a:off x="95250" y="4695518"/>
            <a:ext cx="9144000" cy="328910"/>
          </a:xfrm>
          <a:prstGeom prst="rect">
            <a:avLst/>
          </a:prstGeom>
          <a:gradFill rotWithShape="1">
            <a:gsLst>
              <a:gs pos="0">
                <a:srgbClr val="E8A020">
                  <a:alpha val="16000"/>
                </a:srgbClr>
              </a:gs>
              <a:gs pos="100000">
                <a:srgbClr val="E8A020">
                  <a:alpha val="5000"/>
                </a:srgbClr>
              </a:gs>
            </a:gsLst>
            <a:lin ang="0" scaled="1"/>
          </a:gradFill>
          <a:ln/>
        </p:spPr>
        <p:txBody>
          <a:bodyPr wrap="square" rtlCol="0" anchor="t"/>
          <a:lstStyle/>
          <a:p>
            <a:pPr marL="0" indent="0">
              <a:buNone/>
            </a:pPr>
            <a:endParaRPr lang="en-US" dirty="0"/>
          </a:p>
        </p:txBody>
      </p:sp>
      <p:sp>
        <p:nvSpPr>
          <p:cNvPr id="54" name="Text 45"/>
          <p:cNvSpPr/>
          <p:nvPr/>
        </p:nvSpPr>
        <p:spPr>
          <a:xfrm>
            <a:off x="0" y="4814590"/>
            <a:ext cx="9144000" cy="9525"/>
          </a:xfrm>
          <a:prstGeom prst="rect">
            <a:avLst/>
          </a:prstGeom>
          <a:solidFill>
            <a:srgbClr val="E8A020">
              <a:alpha val="35000"/>
            </a:srgbClr>
          </a:solidFill>
          <a:ln/>
        </p:spPr>
        <p:txBody>
          <a:bodyPr wrap="none" rtlCol="0" anchor="t"/>
          <a:lstStyle/>
          <a:p>
            <a:pPr marL="0" indent="0">
              <a:buNone/>
            </a:pPr>
            <a:endParaRPr lang="en-US" dirty="0"/>
          </a:p>
        </p:txBody>
      </p:sp>
      <p:pic>
        <p:nvPicPr>
          <p:cNvPr id="5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19469" y="4917513"/>
            <a:ext cx="132588" cy="132588"/>
          </a:xfrm>
          <a:prstGeom prst="rect">
            <a:avLst/>
          </a:prstGeom>
        </p:spPr>
      </p:pic>
      <p:sp>
        <p:nvSpPr>
          <p:cNvPr id="56" name="Text 46"/>
          <p:cNvSpPr/>
          <p:nvPr/>
        </p:nvSpPr>
        <p:spPr>
          <a:xfrm>
            <a:off x="599664" y="4709757"/>
            <a:ext cx="7262053" cy="251676"/>
          </a:xfrm>
          <a:prstGeom prst="rect">
            <a:avLst/>
          </a:prstGeom>
          <a:noFill/>
          <a:ln/>
        </p:spPr>
        <p:txBody>
          <a:bodyPr wrap="none" lIns="0" tIns="0" rIns="0" bIns="0" rtlCol="0" anchor="ctr"/>
          <a:lstStyle/>
          <a:p>
            <a:pPr marL="0" indent="0" algn="l">
              <a:lnSpc>
                <a:spcPts val="1414"/>
              </a:lnSpc>
              <a:buNone/>
            </a:pPr>
            <a:r>
              <a:rPr lang="en-US" sz="1207" dirty="0">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Scanning is the foundation — without it, even great coordination produces applications chasing stale leads</a:t>
            </a:r>
            <a:r>
              <a:rPr lang="en-US" sz="942" dirty="0">
                <a:solidFill>
                  <a:srgbClr val="E8A020"/>
                </a:solidFill>
                <a:latin typeface="Calibri Light" pitchFamily="34" charset="0"/>
                <a:ea typeface="Calibri Light" pitchFamily="34" charset="-122"/>
                <a:cs typeface="Calibri Light" pitchFamily="34" charset="-120"/>
              </a:rPr>
              <a:t>.</a:t>
            </a:r>
            <a:endParaRPr lang="en-US" sz="942"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00000" y="100000"/>
            <a:ext cx="8550000" cy="200000"/>
          </a:xfrm>
          <a:prstGeom prst="rect">
            <a:avLst/>
          </a:prstGeom>
          <a:noFill/>
          <a:ln/>
        </p:spPr>
        <p:txBody>
          <a:bodyPr wrap="none" lIns="0" tIns="0" rIns="0" bIns="0" rtlCol="0" anchor="ctr"/>
          <a:lstStyle/>
          <a:p>
            <a:pPr marL="0" indent="0" algn="l">
              <a:lnSpc>
                <a:spcPts val="1800"/>
              </a:lnSpc>
              <a:buNone/>
            </a:pPr>
            <a:r>
              <a:rPr lang="en-US" sz="1500" b="1" kern="0" spc="11">
                <a:solidFill>
                  <a:srgbClr val="0D1B3E"/>
                </a:solidFill>
                <a:latin typeface="Calibri Light" pitchFamily="34" charset="0"/>
                <a:ea typeface="Calibri Light" pitchFamily="34" charset="-122"/>
                <a:cs typeface="Calibri Light" pitchFamily="34" charset="-120"/>
              </a:rPr>
              <a:t>The Funding Surveillance Framework — </a:t>
            </a:r>
            <a:r>
              <a:rPr lang="en-US" sz="1500" b="1" kern="0" spc="11">
                <a:solidFill>
                  <a:srgbClr val="E8A020"/>
                </a:solidFill>
                <a:latin typeface="Calibri Light" pitchFamily="34" charset="0"/>
                <a:ea typeface="Calibri Light" pitchFamily="34" charset="-122"/>
                <a:cs typeface="Calibri Light" pitchFamily="34" charset="-120"/>
              </a:rPr>
              <a:t>A Strategic Taxonomy for RF Programs</a:t>
            </a:r>
            <a:endParaRPr lang="en-US" sz="1500"/>
          </a:p>
        </p:txBody>
      </p:sp>
      <p:sp>
        <p:nvSpPr>
          <p:cNvPr id="3" name="Text 1"/>
          <p:cNvSpPr/>
          <p:nvPr/>
        </p:nvSpPr>
        <p:spPr>
          <a:xfrm>
            <a:off x="300000" y="320000"/>
            <a:ext cx="8550000" cy="140000"/>
          </a:xfrm>
          <a:prstGeom prst="rect">
            <a:avLst/>
          </a:prstGeom>
          <a:noFill/>
          <a:ln/>
        </p:spPr>
        <p:txBody>
          <a:bodyPr wrap="none" lIns="0" tIns="0" rIns="0" bIns="0" rtlCol="0" anchor="t"/>
          <a:lstStyle/>
          <a:p>
            <a:pPr marL="0" indent="0" algn="l">
              <a:lnSpc>
                <a:spcPts val="1100"/>
              </a:lnSpc>
              <a:buNone/>
            </a:pPr>
            <a:r>
              <a:rPr lang="en-US" sz="900" b="1" kern="0" spc="7" dirty="0">
                <a:solidFill>
                  <a:srgbClr val="64748B"/>
                </a:solidFill>
                <a:latin typeface="Calibri" pitchFamily="34" charset="0"/>
                <a:ea typeface="Calibri" pitchFamily="34" charset="-122"/>
                <a:cs typeface="Calibri" pitchFamily="34" charset="-120"/>
              </a:rPr>
              <a:t>Map every active and prospective funding source to this grid as part of FSR Pillar 1 — Environmental Scanning</a:t>
            </a:r>
            <a:endParaRPr lang="en-US" sz="900" b="1" dirty="0"/>
          </a:p>
        </p:txBody>
      </p:sp>
      <p:sp>
        <p:nvSpPr>
          <p:cNvPr id="4" name="Text 2"/>
          <p:cNvSpPr/>
          <p:nvPr/>
        </p:nvSpPr>
        <p:spPr>
          <a:xfrm>
            <a:off x="300000" y="500000"/>
            <a:ext cx="8550000" cy="14000"/>
          </a:xfrm>
          <a:prstGeom prst="roundRect">
            <a:avLst>
              <a:gd name="adj" fmla="val 55054"/>
            </a:avLst>
          </a:prstGeom>
          <a:solidFill>
            <a:srgbClr val="E8A020"/>
          </a:solidFill>
          <a:ln/>
        </p:spPr>
        <p:txBody>
          <a:bodyPr wrap="none" rtlCol="0" anchor="t"/>
          <a:lstStyle/>
          <a:p>
            <a:pPr marL="0" indent="0">
              <a:buNone/>
            </a:pPr>
            <a:endParaRPr lang="en-US" dirty="0"/>
          </a:p>
        </p:txBody>
      </p:sp>
      <p:sp>
        <p:nvSpPr>
          <p:cNvPr id="5" name="Text 3"/>
          <p:cNvSpPr/>
          <p:nvPr/>
        </p:nvSpPr>
        <p:spPr>
          <a:xfrm>
            <a:off x="300000" y="560000"/>
            <a:ext cx="1200000" cy="550000"/>
          </a:xfrm>
          <a:prstGeom prst="roundRect">
            <a:avLst>
              <a:gd name="adj" fmla="val 8665"/>
            </a:avLst>
          </a:prstGeom>
          <a:solidFill>
            <a:srgbClr val="0D1B3E"/>
          </a:solidFill>
          <a:ln/>
        </p:spPr>
        <p:txBody>
          <a:bodyPr wrap="square" rtlCol="0" anchor="t"/>
          <a:lstStyle/>
          <a:p>
            <a:pPr marL="0" indent="0">
              <a:buNone/>
            </a:pPr>
            <a:endParaRPr lang="en-US" dirty="0"/>
          </a:p>
        </p:txBody>
      </p:sp>
      <p:pic>
        <p:nvPicPr>
          <p:cNvPr id="6" name="Image 0" descr="preencoded.png"/>
          <p:cNvPicPr>
            <a:picLocks noChangeAspect="1"/>
          </p:cNvPicPr>
          <p:nvPr/>
        </p:nvPicPr>
        <p:blipFill>
          <a:blip>
            <a:alphaModFix amt="40000"/>
            <a:extLst>
              <a:ext uri="{96DAC541-7B7A-43D3-8B79-37D633B846F1}">
                <asvg:svgBlip xmlns:asvg="http://schemas.microsoft.com/office/drawing/2016/SVG/main" r:embed="rId3"/>
              </a:ext>
            </a:extLst>
          </a:blip>
          <a:stretch>
            <a:fillRect/>
          </a:stretch>
        </p:blipFill>
        <p:spPr>
          <a:xfrm>
            <a:off x="790000" y="590000"/>
            <a:ext cx="220000" cy="220000"/>
          </a:xfrm>
          <a:prstGeom prst="rect">
            <a:avLst/>
          </a:prstGeom>
        </p:spPr>
      </p:pic>
      <p:sp>
        <p:nvSpPr>
          <p:cNvPr id="7" name="Text 4"/>
          <p:cNvSpPr/>
          <p:nvPr/>
        </p:nvSpPr>
        <p:spPr>
          <a:xfrm>
            <a:off x="300000" y="560000"/>
            <a:ext cx="1200000" cy="550000"/>
          </a:xfrm>
          <a:prstGeom prst="rect">
            <a:avLst/>
          </a:prstGeom>
          <a:noFill/>
          <a:ln/>
        </p:spPr>
        <p:txBody>
          <a:bodyPr wrap="square" lIns="36000" tIns="260000" rIns="36000" bIns="18000" rtlCol="0" anchor="t"/>
          <a:lstStyle/>
          <a:p>
            <a:pPr marL="0" indent="0" algn="ctr">
              <a:lnSpc>
                <a:spcPts val="450"/>
              </a:lnSpc>
              <a:buNone/>
            </a:pPr>
            <a:r>
              <a:rPr lang="en-US" sz="1000" b="1">
                <a:solidFill>
                  <a:srgbClr val="FFFFFF">
                    <a:alpha val="35000"/>
                  </a:srgbClr>
                </a:solidFill>
                <a:latin typeface="Calibri Light" pitchFamily="34" charset="0"/>
                <a:ea typeface="Calibri Light" pitchFamily="34" charset="-122"/>
                <a:cs typeface="Calibri Light" pitchFamily="34" charset="-120"/>
              </a:rPr>
              <a:t>Level</a:t>
            </a:r>
            <a:endParaRPr lang="en-US" sz="1000"/>
          </a:p>
        </p:txBody>
      </p:sp>
      <p:sp>
        <p:nvSpPr>
          <p:cNvPr id="8" name="Text 5"/>
          <p:cNvSpPr/>
          <p:nvPr/>
        </p:nvSpPr>
        <p:spPr>
          <a:xfrm>
            <a:off x="1512000" y="560000"/>
            <a:ext cx="2438000" cy="550000"/>
          </a:xfrm>
          <a:prstGeom prst="roundRect">
            <a:avLst>
              <a:gd name="adj" fmla="val 8413"/>
            </a:avLst>
          </a:prstGeom>
          <a:solidFill>
            <a:srgbClr val="1A3A6E"/>
          </a:solidFill>
          <a:ln/>
        </p:spPr>
        <p:txBody>
          <a:bodyPr wrap="square" lIns="36000" tIns="240000" rIns="36000" bIns="18000" rtlCol="0" anchor="t"/>
          <a:lstStyle/>
          <a:p>
            <a:pPr marL="0" indent="0" algn="ctr">
              <a:buNone/>
            </a:pPr>
            <a:r>
              <a:rPr lang="en-US" sz="1200" b="1" kern="0">
                <a:solidFill>
                  <a:srgbClr val="FFFFFF"/>
                </a:solidFill>
                <a:latin typeface="Calibri Light" pitchFamily="34" charset="0"/>
                <a:ea typeface="Calibri Light" pitchFamily="34" charset="-122"/>
                <a:cs typeface="Calibri Light" pitchFamily="34" charset="-120"/>
              </a:rPr>
              <a:t>CORPORATE SECTOR</a:t>
            </a:r>
            <a:endParaRPr lang="en-US" sz="1200"/>
          </a:p>
        </p:txBody>
      </p:sp>
      <p:pic>
        <p:nvPicPr>
          <p:cNvPr id="9" name="Image 1" descr="preencoded.png"/>
          <p:cNvPicPr>
            <a:picLocks noChangeAspect="1"/>
          </p:cNvPicPr>
          <p:nvPr/>
        </p:nvPicPr>
        <p:blipFill>
          <a:blip>
            <a:alphaModFix amt="90000"/>
            <a:extLst>
              <a:ext uri="{96DAC541-7B7A-43D3-8B79-37D633B846F1}">
                <asvg:svgBlip xmlns:asvg="http://schemas.microsoft.com/office/drawing/2016/SVG/main" r:embed="rId4"/>
              </a:ext>
            </a:extLst>
          </a:blip>
          <a:stretch>
            <a:fillRect/>
          </a:stretch>
        </p:blipFill>
        <p:spPr>
          <a:xfrm>
            <a:off x="2631000" y="590000"/>
            <a:ext cx="200000" cy="200000"/>
          </a:xfrm>
          <a:prstGeom prst="rect">
            <a:avLst/>
          </a:prstGeom>
        </p:spPr>
      </p:pic>
      <p:sp>
        <p:nvSpPr>
          <p:cNvPr id="10" name="Text 6"/>
          <p:cNvSpPr/>
          <p:nvPr/>
        </p:nvSpPr>
        <p:spPr>
          <a:xfrm>
            <a:off x="3962000" y="560000"/>
            <a:ext cx="2438000" cy="550000"/>
          </a:xfrm>
          <a:prstGeom prst="roundRect">
            <a:avLst>
              <a:gd name="adj" fmla="val 8413"/>
            </a:avLst>
          </a:prstGeom>
          <a:solidFill>
            <a:srgbClr val="1F6A3A"/>
          </a:solidFill>
          <a:ln/>
        </p:spPr>
        <p:txBody>
          <a:bodyPr wrap="square" lIns="36000" tIns="240000" rIns="36000" bIns="18000" rtlCol="0" anchor="t"/>
          <a:lstStyle/>
          <a:p>
            <a:pPr marL="0" indent="0" algn="ctr">
              <a:buNone/>
            </a:pPr>
            <a:r>
              <a:rPr lang="en-US" sz="1200" b="1" kern="0">
                <a:solidFill>
                  <a:srgbClr val="FFFFFF"/>
                </a:solidFill>
                <a:latin typeface="Calibri Light" pitchFamily="34" charset="0"/>
                <a:ea typeface="Calibri Light" pitchFamily="34" charset="-122"/>
                <a:cs typeface="Calibri Light" pitchFamily="34" charset="-120"/>
              </a:rPr>
              <a:t>PHILANTHROPIC SECTOR</a:t>
            </a:r>
            <a:endParaRPr lang="en-US" sz="1200"/>
          </a:p>
        </p:txBody>
      </p:sp>
      <p:pic>
        <p:nvPicPr>
          <p:cNvPr id="11" name="Image 2" descr="preencoded.png"/>
          <p:cNvPicPr>
            <a:picLocks noChangeAspect="1"/>
          </p:cNvPicPr>
          <p:nvPr/>
        </p:nvPicPr>
        <p:blipFill>
          <a:blip>
            <a:alphaModFix amt="90000"/>
            <a:extLst>
              <a:ext uri="{96DAC541-7B7A-43D3-8B79-37D633B846F1}">
                <asvg:svgBlip xmlns:asvg="http://schemas.microsoft.com/office/drawing/2016/SVG/main" r:embed="rId5"/>
              </a:ext>
            </a:extLst>
          </a:blip>
          <a:stretch>
            <a:fillRect/>
          </a:stretch>
        </p:blipFill>
        <p:spPr>
          <a:xfrm>
            <a:off x="5081000" y="590000"/>
            <a:ext cx="200000" cy="200000"/>
          </a:xfrm>
          <a:prstGeom prst="rect">
            <a:avLst/>
          </a:prstGeom>
        </p:spPr>
      </p:pic>
      <p:sp>
        <p:nvSpPr>
          <p:cNvPr id="12" name="Text 7"/>
          <p:cNvSpPr/>
          <p:nvPr/>
        </p:nvSpPr>
        <p:spPr>
          <a:xfrm>
            <a:off x="6412000" y="560000"/>
            <a:ext cx="2438000" cy="550000"/>
          </a:xfrm>
          <a:prstGeom prst="roundRect">
            <a:avLst>
              <a:gd name="adj" fmla="val 8413"/>
            </a:avLst>
          </a:prstGeom>
          <a:solidFill>
            <a:srgbClr val="C4841A"/>
          </a:solidFill>
          <a:ln/>
        </p:spPr>
        <p:txBody>
          <a:bodyPr wrap="square" lIns="36000" tIns="240000" rIns="36000" bIns="18000" rtlCol="0" anchor="t"/>
          <a:lstStyle/>
          <a:p>
            <a:pPr marL="0" indent="0" algn="ctr">
              <a:buNone/>
            </a:pPr>
            <a:r>
              <a:rPr lang="en-US" sz="1200" b="1" kern="0">
                <a:solidFill>
                  <a:srgbClr val="FFFFFF"/>
                </a:solidFill>
                <a:latin typeface="Calibri Light" pitchFamily="34" charset="0"/>
                <a:ea typeface="Calibri Light" pitchFamily="34" charset="-122"/>
                <a:cs typeface="Calibri Light" pitchFamily="34" charset="-120"/>
              </a:rPr>
              <a:t>NON-PROFIT SECTOR</a:t>
            </a:r>
            <a:endParaRPr lang="en-US" sz="1200"/>
          </a:p>
        </p:txBody>
      </p:sp>
      <p:pic>
        <p:nvPicPr>
          <p:cNvPr id="13" name="Image 3" descr="preencoded.png"/>
          <p:cNvPicPr>
            <a:picLocks noChangeAspect="1"/>
          </p:cNvPicPr>
          <p:nvPr/>
        </p:nvPicPr>
        <p:blipFill>
          <a:blip>
            <a:alphaModFix amt="90000"/>
            <a:extLst>
              <a:ext uri="{96DAC541-7B7A-43D3-8B79-37D633B846F1}">
                <asvg:svgBlip xmlns:asvg="http://schemas.microsoft.com/office/drawing/2016/SVG/main" r:embed="rId6"/>
              </a:ext>
            </a:extLst>
          </a:blip>
          <a:stretch>
            <a:fillRect/>
          </a:stretch>
        </p:blipFill>
        <p:spPr>
          <a:xfrm>
            <a:off x="7531000" y="590000"/>
            <a:ext cx="200000" cy="200000"/>
          </a:xfrm>
          <a:prstGeom prst="rect">
            <a:avLst/>
          </a:prstGeom>
        </p:spPr>
      </p:pic>
      <p:sp>
        <p:nvSpPr>
          <p:cNvPr id="14" name="Text 8"/>
          <p:cNvSpPr/>
          <p:nvPr/>
        </p:nvSpPr>
        <p:spPr>
          <a:xfrm>
            <a:off x="300000" y="1122000"/>
            <a:ext cx="1200000" cy="1178000"/>
          </a:xfrm>
          <a:prstGeom prst="roundRect">
            <a:avLst>
              <a:gd name="adj" fmla="val 5769"/>
            </a:avLst>
          </a:prstGeom>
          <a:solidFill>
            <a:srgbClr val="1A3A6E"/>
          </a:solidFill>
          <a:ln/>
        </p:spPr>
        <p:txBody>
          <a:bodyPr wrap="square" lIns="36000" tIns="340000" rIns="36000" bIns="36000" rtlCol="0" anchor="t"/>
          <a:lstStyle/>
          <a:p>
            <a:pPr marL="0" indent="0" algn="ctr">
              <a:buNone/>
            </a:pPr>
            <a:r>
              <a:rPr lang="en-US" sz="1400" b="1" kern="0">
                <a:solidFill>
                  <a:srgbClr val="FFFFFF"/>
                </a:solidFill>
                <a:latin typeface="Calibri Light" pitchFamily="34" charset="0"/>
                <a:ea typeface="Calibri Light" pitchFamily="34" charset="-122"/>
                <a:cs typeface="Calibri Light" pitchFamily="34" charset="-120"/>
              </a:rPr>
              <a:t>Federal</a:t>
            </a:r>
            <a:endParaRPr lang="en-US" sz="140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0000" y="1202000"/>
            <a:ext cx="220000" cy="220000"/>
          </a:xfrm>
          <a:prstGeom prst="rect">
            <a:avLst/>
          </a:prstGeom>
        </p:spPr>
      </p:pic>
      <p:sp>
        <p:nvSpPr>
          <p:cNvPr id="16" name="Text 9"/>
          <p:cNvSpPr/>
          <p:nvPr/>
        </p:nvSpPr>
        <p:spPr>
          <a:xfrm>
            <a:off x="1512000" y="1122000"/>
            <a:ext cx="2438000" cy="1178000"/>
          </a:xfrm>
          <a:prstGeom prst="roundRect">
            <a:avLst>
              <a:gd name="adj" fmla="val 5942"/>
            </a:avLst>
          </a:prstGeom>
          <a:solidFill>
            <a:srgbClr val="F0F4F8"/>
          </a:solidFill>
          <a:ln w="9525">
            <a:solidFill>
              <a:srgbClr val="4A7FC1"/>
            </a:solidFill>
          </a:ln>
        </p:spPr>
        <p:txBody>
          <a:bodyPr wrap="square" rtlCol="0" anchor="t"/>
          <a:lstStyle/>
          <a:p>
            <a:pPr marL="0" indent="0">
              <a:buNone/>
            </a:pPr>
            <a:endParaRPr lang="en-US" dirty="0"/>
          </a:p>
        </p:txBody>
      </p:sp>
      <p:sp>
        <p:nvSpPr>
          <p:cNvPr id="17" name="Text 10"/>
          <p:cNvSpPr/>
          <p:nvPr/>
        </p:nvSpPr>
        <p:spPr>
          <a:xfrm>
            <a:off x="1592000" y="1281500"/>
            <a:ext cx="2278000" cy="180000"/>
          </a:xfrm>
          <a:prstGeom prst="rect">
            <a:avLst/>
          </a:prstGeom>
          <a:noFill/>
          <a:ln/>
        </p:spPr>
        <p:txBody>
          <a:bodyPr wrap="square" lIns="0" tIns="0" rIns="0" bIns="0" rtlCol="0" anchor="ctr"/>
          <a:lstStyle/>
          <a:p>
            <a:pPr marL="0" indent="0" algn="l">
              <a:lnSpc>
                <a:spcPts val="1150"/>
              </a:lnSpc>
              <a:buNone/>
            </a:pPr>
            <a:r>
              <a:rPr lang="en-US" sz="750" dirty="0">
                <a:solidFill>
                  <a:srgbClr val="0D1B3E"/>
                </a:solidFill>
                <a:latin typeface="Calibri" pitchFamily="34" charset="0"/>
                <a:ea typeface="Calibri" pitchFamily="34" charset="-122"/>
                <a:cs typeface="Calibri" pitchFamily="34" charset="-120"/>
              </a:rPr>
              <a:t>• DOL workforce partnerships with employer networks</a:t>
            </a:r>
            <a:endParaRPr lang="en-US" sz="750" dirty="0"/>
          </a:p>
        </p:txBody>
      </p:sp>
      <p:sp>
        <p:nvSpPr>
          <p:cNvPr id="18" name="Text 11"/>
          <p:cNvSpPr/>
          <p:nvPr/>
        </p:nvSpPr>
        <p:spPr>
          <a:xfrm>
            <a:off x="1592000" y="1621000"/>
            <a:ext cx="2278000" cy="180000"/>
          </a:xfrm>
          <a:prstGeom prst="rect">
            <a:avLst/>
          </a:prstGeom>
          <a:noFill/>
          <a:ln/>
        </p:spPr>
        <p:txBody>
          <a:bodyPr wrap="square" lIns="0" tIns="0" rIns="0" bIns="0" rtlCol="0" anchor="ctr"/>
          <a:lstStyle/>
          <a:p>
            <a:pPr marL="0" indent="0" algn="l">
              <a:lnSpc>
                <a:spcPts val="1150"/>
              </a:lnSpc>
              <a:buNone/>
            </a:pPr>
            <a:r>
              <a:rPr lang="en-US" sz="750" dirty="0">
                <a:solidFill>
                  <a:srgbClr val="0D1B3E"/>
                </a:solidFill>
                <a:latin typeface="Calibri" pitchFamily="34" charset="0"/>
                <a:ea typeface="Calibri" pitchFamily="34" charset="-122"/>
                <a:cs typeface="Calibri" pitchFamily="34" charset="-120"/>
              </a:rPr>
              <a:t>• WOTC-aligned corporate hiring incentive programs</a:t>
            </a:r>
            <a:endParaRPr lang="en-US" sz="750" dirty="0"/>
          </a:p>
        </p:txBody>
      </p:sp>
      <p:sp>
        <p:nvSpPr>
          <p:cNvPr id="19" name="Text 12"/>
          <p:cNvSpPr/>
          <p:nvPr/>
        </p:nvSpPr>
        <p:spPr>
          <a:xfrm>
            <a:off x="1592000" y="1960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Federal-corporate co-investment in workforce readiness</a:t>
            </a:r>
            <a:endParaRPr lang="en-US" sz="750"/>
          </a:p>
        </p:txBody>
      </p:sp>
      <p:sp>
        <p:nvSpPr>
          <p:cNvPr id="20" name="Text 13"/>
          <p:cNvSpPr/>
          <p:nvPr/>
        </p:nvSpPr>
        <p:spPr>
          <a:xfrm>
            <a:off x="3962000" y="1122000"/>
            <a:ext cx="2438000" cy="1178000"/>
          </a:xfrm>
          <a:prstGeom prst="roundRect">
            <a:avLst>
              <a:gd name="adj" fmla="val 5942"/>
            </a:avLst>
          </a:prstGeom>
          <a:solidFill>
            <a:srgbClr val="F0F4F8"/>
          </a:solidFill>
          <a:ln w="9525">
            <a:solidFill>
              <a:srgbClr val="4A7FC1"/>
            </a:solidFill>
          </a:ln>
        </p:spPr>
        <p:txBody>
          <a:bodyPr wrap="square" rtlCol="0" anchor="t"/>
          <a:lstStyle/>
          <a:p>
            <a:pPr marL="0" indent="0">
              <a:buNone/>
            </a:pPr>
            <a:endParaRPr lang="en-US" dirty="0"/>
          </a:p>
        </p:txBody>
      </p:sp>
      <p:sp>
        <p:nvSpPr>
          <p:cNvPr id="21" name="Text 14"/>
          <p:cNvSpPr/>
          <p:nvPr/>
        </p:nvSpPr>
        <p:spPr>
          <a:xfrm>
            <a:off x="4042000" y="1281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OFA-aligned national foundations (Casey, Kellogg, Ford)</a:t>
            </a:r>
            <a:endParaRPr lang="en-US" sz="750"/>
          </a:p>
        </p:txBody>
      </p:sp>
      <p:sp>
        <p:nvSpPr>
          <p:cNvPr id="22" name="Text 15"/>
          <p:cNvSpPr/>
          <p:nvPr/>
        </p:nvSpPr>
        <p:spPr>
          <a:xfrm>
            <a:off x="4042000" y="16210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HHS priority-aligned philanthropic initiatives</a:t>
            </a:r>
            <a:endParaRPr lang="en-US" sz="750"/>
          </a:p>
        </p:txBody>
      </p:sp>
      <p:sp>
        <p:nvSpPr>
          <p:cNvPr id="23" name="Text 16"/>
          <p:cNvSpPr/>
          <p:nvPr/>
        </p:nvSpPr>
        <p:spPr>
          <a:xfrm>
            <a:off x="4042000" y="1960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Federal-matching foundation grants for RF innovation</a:t>
            </a:r>
            <a:endParaRPr lang="en-US" sz="750"/>
          </a:p>
        </p:txBody>
      </p:sp>
      <p:sp>
        <p:nvSpPr>
          <p:cNvPr id="24" name="Text 17"/>
          <p:cNvSpPr/>
          <p:nvPr/>
        </p:nvSpPr>
        <p:spPr>
          <a:xfrm>
            <a:off x="6412000" y="1122000"/>
            <a:ext cx="2438000" cy="1178000"/>
          </a:xfrm>
          <a:prstGeom prst="roundRect">
            <a:avLst>
              <a:gd name="adj" fmla="val 5942"/>
            </a:avLst>
          </a:prstGeom>
          <a:solidFill>
            <a:srgbClr val="F0F4F8"/>
          </a:solidFill>
          <a:ln w="9525">
            <a:solidFill>
              <a:srgbClr val="4A7FC1"/>
            </a:solidFill>
          </a:ln>
        </p:spPr>
        <p:txBody>
          <a:bodyPr wrap="square" rtlCol="0" anchor="t"/>
          <a:lstStyle/>
          <a:p>
            <a:pPr marL="0" indent="0">
              <a:buNone/>
            </a:pPr>
            <a:endParaRPr lang="en-US" dirty="0"/>
          </a:p>
        </p:txBody>
      </p:sp>
      <p:sp>
        <p:nvSpPr>
          <p:cNvPr id="25" name="Text 18"/>
          <p:cNvSpPr/>
          <p:nvPr/>
        </p:nvSpPr>
        <p:spPr>
          <a:xfrm>
            <a:off x="6492000" y="1281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OFA Discretionary RF Grants (PRWORA Title IV-A)</a:t>
            </a:r>
            <a:endParaRPr lang="en-US" sz="750"/>
          </a:p>
        </p:txBody>
      </p:sp>
      <p:sp>
        <p:nvSpPr>
          <p:cNvPr id="26" name="Text 19"/>
          <p:cNvSpPr/>
          <p:nvPr/>
        </p:nvSpPr>
        <p:spPr>
          <a:xfrm>
            <a:off x="6492000" y="16210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ACF competitive awards for RF program delivery</a:t>
            </a:r>
            <a:endParaRPr lang="en-US" sz="750"/>
          </a:p>
        </p:txBody>
      </p:sp>
      <p:sp>
        <p:nvSpPr>
          <p:cNvPr id="27" name="Text 20"/>
          <p:cNvSpPr/>
          <p:nvPr/>
        </p:nvSpPr>
        <p:spPr>
          <a:xfrm>
            <a:off x="6492000" y="1960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DOJ / DOL formula grants to nonprofit service providers</a:t>
            </a:r>
            <a:endParaRPr lang="en-US" sz="750"/>
          </a:p>
        </p:txBody>
      </p:sp>
      <p:sp>
        <p:nvSpPr>
          <p:cNvPr id="28" name="Text 21"/>
          <p:cNvSpPr/>
          <p:nvPr/>
        </p:nvSpPr>
        <p:spPr>
          <a:xfrm>
            <a:off x="300000" y="2312000"/>
            <a:ext cx="1200000" cy="1178000"/>
          </a:xfrm>
          <a:prstGeom prst="roundRect">
            <a:avLst>
              <a:gd name="adj" fmla="val 5769"/>
            </a:avLst>
          </a:prstGeom>
          <a:solidFill>
            <a:srgbClr val="1F6A3A"/>
          </a:solidFill>
          <a:ln/>
        </p:spPr>
        <p:txBody>
          <a:bodyPr wrap="square" lIns="36000" tIns="340000" rIns="36000" bIns="36000" rtlCol="0" anchor="t"/>
          <a:lstStyle/>
          <a:p>
            <a:pPr marL="0" indent="0" algn="ctr">
              <a:buNone/>
            </a:pPr>
            <a:r>
              <a:rPr lang="en-US" sz="1400" b="1" kern="0">
                <a:solidFill>
                  <a:srgbClr val="FFFFFF"/>
                </a:solidFill>
                <a:latin typeface="Calibri Light" pitchFamily="34" charset="0"/>
                <a:ea typeface="Calibri Light" pitchFamily="34" charset="-122"/>
                <a:cs typeface="Calibri Light" pitchFamily="34" charset="-120"/>
              </a:rPr>
              <a:t>State</a:t>
            </a:r>
            <a:endParaRPr lang="en-US" sz="1400"/>
          </a:p>
        </p:txBody>
      </p:sp>
      <p:pic>
        <p:nvPicPr>
          <p:cNvPr id="2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90000" y="2392000"/>
            <a:ext cx="220000" cy="220000"/>
          </a:xfrm>
          <a:prstGeom prst="rect">
            <a:avLst/>
          </a:prstGeom>
        </p:spPr>
      </p:pic>
      <p:sp>
        <p:nvSpPr>
          <p:cNvPr id="30" name="Text 22"/>
          <p:cNvSpPr/>
          <p:nvPr/>
        </p:nvSpPr>
        <p:spPr>
          <a:xfrm>
            <a:off x="1512000" y="2312000"/>
            <a:ext cx="2438000" cy="1178000"/>
          </a:xfrm>
          <a:prstGeom prst="roundRect">
            <a:avLst>
              <a:gd name="adj" fmla="val 5942"/>
            </a:avLst>
          </a:prstGeom>
          <a:solidFill>
            <a:srgbClr val="F0F4F8"/>
          </a:solidFill>
          <a:ln w="9525">
            <a:solidFill>
              <a:srgbClr val="5A9A6A"/>
            </a:solidFill>
          </a:ln>
        </p:spPr>
        <p:txBody>
          <a:bodyPr wrap="square" rtlCol="0" anchor="t"/>
          <a:lstStyle/>
          <a:p>
            <a:pPr marL="0" indent="0">
              <a:buNone/>
            </a:pPr>
            <a:endParaRPr lang="en-US" dirty="0"/>
          </a:p>
        </p:txBody>
      </p:sp>
      <p:sp>
        <p:nvSpPr>
          <p:cNvPr id="31" name="Text 23"/>
          <p:cNvSpPr/>
          <p:nvPr/>
        </p:nvSpPr>
        <p:spPr>
          <a:xfrm>
            <a:off x="1592000" y="2471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State economic development CSR partnerships</a:t>
            </a:r>
            <a:endParaRPr lang="en-US" sz="750"/>
          </a:p>
        </p:txBody>
      </p:sp>
      <p:sp>
        <p:nvSpPr>
          <p:cNvPr id="32" name="Text 24"/>
          <p:cNvSpPr/>
          <p:nvPr/>
        </p:nvSpPr>
        <p:spPr>
          <a:xfrm>
            <a:off x="1592000" y="28110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Employer engagement incentive programs</a:t>
            </a:r>
            <a:endParaRPr lang="en-US" sz="750"/>
          </a:p>
        </p:txBody>
      </p:sp>
      <p:sp>
        <p:nvSpPr>
          <p:cNvPr id="33" name="Text 25"/>
          <p:cNvSpPr/>
          <p:nvPr/>
        </p:nvSpPr>
        <p:spPr>
          <a:xfrm>
            <a:off x="1592000" y="3150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State chamber of commerce business-education grants</a:t>
            </a:r>
            <a:endParaRPr lang="en-US" sz="750"/>
          </a:p>
        </p:txBody>
      </p:sp>
      <p:sp>
        <p:nvSpPr>
          <p:cNvPr id="34" name="Text 26"/>
          <p:cNvSpPr/>
          <p:nvPr/>
        </p:nvSpPr>
        <p:spPr>
          <a:xfrm>
            <a:off x="3962000" y="2312000"/>
            <a:ext cx="2438000" cy="1178000"/>
          </a:xfrm>
          <a:prstGeom prst="roundRect">
            <a:avLst>
              <a:gd name="adj" fmla="val 5942"/>
            </a:avLst>
          </a:prstGeom>
          <a:solidFill>
            <a:srgbClr val="F0F4F8"/>
          </a:solidFill>
          <a:ln w="9525">
            <a:solidFill>
              <a:srgbClr val="5A9A6A"/>
            </a:solidFill>
          </a:ln>
        </p:spPr>
        <p:txBody>
          <a:bodyPr wrap="square" rtlCol="0" anchor="t"/>
          <a:lstStyle/>
          <a:p>
            <a:pPr marL="0" indent="0">
              <a:buNone/>
            </a:pPr>
            <a:endParaRPr lang="en-US" dirty="0"/>
          </a:p>
        </p:txBody>
      </p:sp>
      <p:sp>
        <p:nvSpPr>
          <p:cNvPr id="35" name="Text 27"/>
          <p:cNvSpPr/>
          <p:nvPr/>
        </p:nvSpPr>
        <p:spPr>
          <a:xfrm>
            <a:off x="4042000" y="2471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State-level community foundations</a:t>
            </a:r>
            <a:endParaRPr lang="en-US" sz="750"/>
          </a:p>
        </p:txBody>
      </p:sp>
      <p:sp>
        <p:nvSpPr>
          <p:cNvPr id="36" name="Text 28"/>
          <p:cNvSpPr/>
          <p:nvPr/>
        </p:nvSpPr>
        <p:spPr>
          <a:xfrm>
            <a:off x="4042000" y="28110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Regional family and children’s foundations</a:t>
            </a:r>
            <a:endParaRPr lang="en-US" sz="750"/>
          </a:p>
        </p:txBody>
      </p:sp>
      <p:sp>
        <p:nvSpPr>
          <p:cNvPr id="37" name="Text 29"/>
          <p:cNvSpPr/>
          <p:nvPr/>
        </p:nvSpPr>
        <p:spPr>
          <a:xfrm>
            <a:off x="4042000" y="3150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United Way state office priority initiatives</a:t>
            </a:r>
            <a:endParaRPr lang="en-US" sz="750"/>
          </a:p>
        </p:txBody>
      </p:sp>
      <p:sp>
        <p:nvSpPr>
          <p:cNvPr id="38" name="Text 30"/>
          <p:cNvSpPr/>
          <p:nvPr/>
        </p:nvSpPr>
        <p:spPr>
          <a:xfrm>
            <a:off x="6412000" y="2312000"/>
            <a:ext cx="2438000" cy="1178000"/>
          </a:xfrm>
          <a:prstGeom prst="roundRect">
            <a:avLst>
              <a:gd name="adj" fmla="val 5942"/>
            </a:avLst>
          </a:prstGeom>
          <a:solidFill>
            <a:srgbClr val="F0F4F8"/>
          </a:solidFill>
          <a:ln w="9525">
            <a:solidFill>
              <a:srgbClr val="5A9A6A"/>
            </a:solidFill>
          </a:ln>
        </p:spPr>
        <p:txBody>
          <a:bodyPr wrap="square" rtlCol="0" anchor="t"/>
          <a:lstStyle/>
          <a:p>
            <a:pPr marL="0" indent="0">
              <a:buNone/>
            </a:pPr>
            <a:endParaRPr lang="en-US" dirty="0"/>
          </a:p>
        </p:txBody>
      </p:sp>
      <p:sp>
        <p:nvSpPr>
          <p:cNvPr id="39" name="Text 31"/>
          <p:cNvSpPr/>
          <p:nvPr/>
        </p:nvSpPr>
        <p:spPr>
          <a:xfrm>
            <a:off x="6492000" y="2471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TANF pass-through grants to nonprofit providers</a:t>
            </a:r>
            <a:endParaRPr lang="en-US" sz="750"/>
          </a:p>
        </p:txBody>
      </p:sp>
      <p:sp>
        <p:nvSpPr>
          <p:cNvPr id="40" name="Text 32"/>
          <p:cNvSpPr/>
          <p:nvPr/>
        </p:nvSpPr>
        <p:spPr>
          <a:xfrm>
            <a:off x="6492000" y="28110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State family services and fatherhood grants</a:t>
            </a:r>
            <a:endParaRPr lang="en-US" sz="750"/>
          </a:p>
        </p:txBody>
      </p:sp>
      <p:sp>
        <p:nvSpPr>
          <p:cNvPr id="41" name="Text 33"/>
          <p:cNvSpPr/>
          <p:nvPr/>
        </p:nvSpPr>
        <p:spPr>
          <a:xfrm>
            <a:off x="6492000" y="3150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State workforce board contracts with CBOs</a:t>
            </a:r>
            <a:endParaRPr lang="en-US" sz="750"/>
          </a:p>
        </p:txBody>
      </p:sp>
      <p:sp>
        <p:nvSpPr>
          <p:cNvPr id="42" name="Text 34"/>
          <p:cNvSpPr/>
          <p:nvPr/>
        </p:nvSpPr>
        <p:spPr>
          <a:xfrm>
            <a:off x="300000" y="3502000"/>
            <a:ext cx="1200000" cy="1178000"/>
          </a:xfrm>
          <a:prstGeom prst="roundRect">
            <a:avLst>
              <a:gd name="adj" fmla="val 5769"/>
            </a:avLst>
          </a:prstGeom>
          <a:solidFill>
            <a:srgbClr val="C4841A"/>
          </a:solidFill>
          <a:ln/>
        </p:spPr>
        <p:txBody>
          <a:bodyPr wrap="square" lIns="36000" tIns="340000" rIns="36000" bIns="36000" rtlCol="0" anchor="t"/>
          <a:lstStyle/>
          <a:p>
            <a:pPr marL="0" indent="0" algn="ctr">
              <a:buNone/>
            </a:pPr>
            <a:r>
              <a:rPr lang="en-US" sz="1400" b="1" kern="0">
                <a:solidFill>
                  <a:srgbClr val="FFFFFF"/>
                </a:solidFill>
                <a:latin typeface="Calibri Light" pitchFamily="34" charset="0"/>
                <a:ea typeface="Calibri Light" pitchFamily="34" charset="-122"/>
                <a:cs typeface="Calibri Light" pitchFamily="34" charset="-120"/>
              </a:rPr>
              <a:t>Local</a:t>
            </a:r>
            <a:endParaRPr lang="en-US" sz="1400"/>
          </a:p>
        </p:txBody>
      </p:sp>
      <p:pic>
        <p:nvPicPr>
          <p:cNvPr id="4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90000" y="3582000"/>
            <a:ext cx="220000" cy="220000"/>
          </a:xfrm>
          <a:prstGeom prst="rect">
            <a:avLst/>
          </a:prstGeom>
        </p:spPr>
      </p:pic>
      <p:sp>
        <p:nvSpPr>
          <p:cNvPr id="44" name="Text 35"/>
          <p:cNvSpPr/>
          <p:nvPr/>
        </p:nvSpPr>
        <p:spPr>
          <a:xfrm>
            <a:off x="1512000" y="3502000"/>
            <a:ext cx="2438000" cy="1178000"/>
          </a:xfrm>
          <a:prstGeom prst="roundRect">
            <a:avLst>
              <a:gd name="adj" fmla="val 5942"/>
            </a:avLst>
          </a:prstGeom>
          <a:solidFill>
            <a:srgbClr val="F0F4F8"/>
          </a:solidFill>
          <a:ln w="9525">
            <a:solidFill>
              <a:srgbClr val="D07020"/>
            </a:solidFill>
          </a:ln>
        </p:spPr>
        <p:txBody>
          <a:bodyPr wrap="square" rtlCol="0" anchor="t"/>
          <a:lstStyle/>
          <a:p>
            <a:pPr marL="0" indent="0">
              <a:buNone/>
            </a:pPr>
            <a:endParaRPr lang="en-US" dirty="0"/>
          </a:p>
        </p:txBody>
      </p:sp>
      <p:sp>
        <p:nvSpPr>
          <p:cNvPr id="45" name="Text 36"/>
          <p:cNvSpPr/>
          <p:nvPr/>
        </p:nvSpPr>
        <p:spPr>
          <a:xfrm>
            <a:off x="1592000" y="3661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Local business partnerships and in-kind support</a:t>
            </a:r>
            <a:endParaRPr lang="en-US" sz="750"/>
          </a:p>
        </p:txBody>
      </p:sp>
      <p:sp>
        <p:nvSpPr>
          <p:cNvPr id="46" name="Text 37"/>
          <p:cNvSpPr/>
          <p:nvPr/>
        </p:nvSpPr>
        <p:spPr>
          <a:xfrm>
            <a:off x="1592000" y="40010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Corporate volunteer and mentoring programs</a:t>
            </a:r>
            <a:endParaRPr lang="en-US" sz="750"/>
          </a:p>
        </p:txBody>
      </p:sp>
      <p:sp>
        <p:nvSpPr>
          <p:cNvPr id="47" name="Text 38"/>
          <p:cNvSpPr/>
          <p:nvPr/>
        </p:nvSpPr>
        <p:spPr>
          <a:xfrm>
            <a:off x="1592000" y="4340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Local chamber of commerce community grants</a:t>
            </a:r>
            <a:endParaRPr lang="en-US" sz="750"/>
          </a:p>
        </p:txBody>
      </p:sp>
      <p:sp>
        <p:nvSpPr>
          <p:cNvPr id="48" name="Text 39"/>
          <p:cNvSpPr/>
          <p:nvPr/>
        </p:nvSpPr>
        <p:spPr>
          <a:xfrm>
            <a:off x="3962000" y="3502000"/>
            <a:ext cx="2438000" cy="1178000"/>
          </a:xfrm>
          <a:prstGeom prst="roundRect">
            <a:avLst>
              <a:gd name="adj" fmla="val 5942"/>
            </a:avLst>
          </a:prstGeom>
          <a:solidFill>
            <a:srgbClr val="F0F4F8"/>
          </a:solidFill>
          <a:ln w="9525">
            <a:solidFill>
              <a:srgbClr val="D07020"/>
            </a:solidFill>
          </a:ln>
        </p:spPr>
        <p:txBody>
          <a:bodyPr wrap="square" rtlCol="0" anchor="t"/>
          <a:lstStyle/>
          <a:p>
            <a:pPr marL="0" indent="0">
              <a:buNone/>
            </a:pPr>
            <a:endParaRPr lang="en-US" dirty="0"/>
          </a:p>
        </p:txBody>
      </p:sp>
      <p:sp>
        <p:nvSpPr>
          <p:cNvPr id="49" name="Text 40"/>
          <p:cNvSpPr/>
          <p:nvPr/>
        </p:nvSpPr>
        <p:spPr>
          <a:xfrm>
            <a:off x="4042000" y="3661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Local community foundations and civic giving</a:t>
            </a:r>
            <a:endParaRPr lang="en-US" sz="750"/>
          </a:p>
        </p:txBody>
      </p:sp>
      <p:sp>
        <p:nvSpPr>
          <p:cNvPr id="50" name="Text 41"/>
          <p:cNvSpPr/>
          <p:nvPr/>
        </p:nvSpPr>
        <p:spPr>
          <a:xfrm>
            <a:off x="4042000" y="40010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Faith-based giving networks and congregational grants</a:t>
            </a:r>
            <a:endParaRPr lang="en-US" sz="750"/>
          </a:p>
        </p:txBody>
      </p:sp>
      <p:sp>
        <p:nvSpPr>
          <p:cNvPr id="51" name="Text 42"/>
          <p:cNvSpPr/>
          <p:nvPr/>
        </p:nvSpPr>
        <p:spPr>
          <a:xfrm>
            <a:off x="4042000" y="4340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Neighborhood and place-based philanthropy</a:t>
            </a:r>
            <a:endParaRPr lang="en-US" sz="750"/>
          </a:p>
        </p:txBody>
      </p:sp>
      <p:sp>
        <p:nvSpPr>
          <p:cNvPr id="52" name="Text 43"/>
          <p:cNvSpPr/>
          <p:nvPr/>
        </p:nvSpPr>
        <p:spPr>
          <a:xfrm>
            <a:off x="6412000" y="3502000"/>
            <a:ext cx="2438000" cy="1178000"/>
          </a:xfrm>
          <a:prstGeom prst="roundRect">
            <a:avLst>
              <a:gd name="adj" fmla="val 5942"/>
            </a:avLst>
          </a:prstGeom>
          <a:solidFill>
            <a:srgbClr val="F0F4F8"/>
          </a:solidFill>
          <a:ln w="9525">
            <a:solidFill>
              <a:srgbClr val="D07020"/>
            </a:solidFill>
          </a:ln>
        </p:spPr>
        <p:txBody>
          <a:bodyPr wrap="square" rtlCol="0" anchor="t"/>
          <a:lstStyle/>
          <a:p>
            <a:pPr marL="0" indent="0">
              <a:buNone/>
            </a:pPr>
            <a:endParaRPr lang="en-US" dirty="0"/>
          </a:p>
        </p:txBody>
      </p:sp>
      <p:sp>
        <p:nvSpPr>
          <p:cNvPr id="53" name="Text 44"/>
          <p:cNvSpPr/>
          <p:nvPr/>
        </p:nvSpPr>
        <p:spPr>
          <a:xfrm>
            <a:off x="6492000" y="3661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City and county government service contracts</a:t>
            </a:r>
            <a:endParaRPr lang="en-US" sz="750"/>
          </a:p>
        </p:txBody>
      </p:sp>
      <p:sp>
        <p:nvSpPr>
          <p:cNvPr id="54" name="Text 45"/>
          <p:cNvSpPr/>
          <p:nvPr/>
        </p:nvSpPr>
        <p:spPr>
          <a:xfrm>
            <a:off x="6492000" y="40010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Municipal human services and RF grants</a:t>
            </a:r>
            <a:endParaRPr lang="en-US" sz="750"/>
          </a:p>
        </p:txBody>
      </p:sp>
      <p:sp>
        <p:nvSpPr>
          <p:cNvPr id="55" name="Text 46"/>
          <p:cNvSpPr/>
          <p:nvPr/>
        </p:nvSpPr>
        <p:spPr>
          <a:xfrm>
            <a:off x="6492000" y="4340500"/>
            <a:ext cx="2278000" cy="180000"/>
          </a:xfrm>
          <a:prstGeom prst="rect">
            <a:avLst/>
          </a:prstGeom>
          <a:noFill/>
          <a:ln/>
        </p:spPr>
        <p:txBody>
          <a:bodyPr wrap="square" lIns="0" tIns="0" rIns="0" bIns="0" rtlCol="0" anchor="ctr"/>
          <a:lstStyle/>
          <a:p>
            <a:pPr marL="0" indent="0" algn="l">
              <a:lnSpc>
                <a:spcPts val="1150"/>
              </a:lnSpc>
              <a:buNone/>
            </a:pPr>
            <a:r>
              <a:rPr lang="en-US" sz="750">
                <a:solidFill>
                  <a:srgbClr val="0D1B3E"/>
                </a:solidFill>
                <a:latin typeface="Calibri" pitchFamily="34" charset="0"/>
                <a:ea typeface="Calibri" pitchFamily="34" charset="-122"/>
                <a:cs typeface="Calibri" pitchFamily="34" charset="-120"/>
              </a:rPr>
              <a:t>• Local coalitions and collaborative funding pools</a:t>
            </a:r>
            <a:endParaRPr lang="en-US" sz="750"/>
          </a:p>
        </p:txBody>
      </p:sp>
      <p:sp>
        <p:nvSpPr>
          <p:cNvPr id="56" name="Text 47"/>
          <p:cNvSpPr/>
          <p:nvPr/>
        </p:nvSpPr>
        <p:spPr>
          <a:xfrm>
            <a:off x="0" y="4730000"/>
            <a:ext cx="9144000" cy="320000"/>
          </a:xfrm>
          <a:prstGeom prst="rect">
            <a:avLst/>
          </a:prstGeom>
          <a:solidFill>
            <a:srgbClr val="E8A020"/>
          </a:solidFill>
          <a:ln/>
        </p:spPr>
        <p:txBody>
          <a:bodyPr wrap="none" rtlCol="0" anchor="t"/>
          <a:lstStyle/>
          <a:p>
            <a:pPr marL="0" indent="0">
              <a:buNone/>
            </a:pPr>
            <a:endParaRPr lang="en-US" dirty="0"/>
          </a:p>
        </p:txBody>
      </p:sp>
      <p:pic>
        <p:nvPicPr>
          <p:cNvPr id="57" name="Image 7" descr="preencoded.png"/>
          <p:cNvPicPr>
            <a:picLocks noChangeAspect="1"/>
          </p:cNvPicPr>
          <p:nvPr/>
        </p:nvPicPr>
        <p:blipFill>
          <a:blip>
            <a:alphaModFix amt="85000"/>
            <a:extLst>
              <a:ext uri="{96DAC541-7B7A-43D3-8B79-37D633B846F1}">
                <asvg:svgBlip xmlns:asvg="http://schemas.microsoft.com/office/drawing/2016/SVG/main" r:embed="rId10"/>
              </a:ext>
            </a:extLst>
          </a:blip>
          <a:stretch>
            <a:fillRect/>
          </a:stretch>
        </p:blipFill>
        <p:spPr>
          <a:xfrm>
            <a:off x="260000" y="4810000"/>
            <a:ext cx="160000" cy="160000"/>
          </a:xfrm>
          <a:prstGeom prst="rect">
            <a:avLst/>
          </a:prstGeom>
        </p:spPr>
      </p:pic>
      <p:sp>
        <p:nvSpPr>
          <p:cNvPr id="58" name="Text 48"/>
          <p:cNvSpPr/>
          <p:nvPr/>
        </p:nvSpPr>
        <p:spPr>
          <a:xfrm>
            <a:off x="480000" y="4750000"/>
            <a:ext cx="8444000" cy="280000"/>
          </a:xfrm>
          <a:prstGeom prst="rect">
            <a:avLst/>
          </a:prstGeom>
          <a:noFill/>
          <a:ln/>
        </p:spPr>
        <p:txBody>
          <a:bodyPr wrap="square" lIns="0" tIns="0" rIns="0" bIns="0" rtlCol="0" anchor="ctr"/>
          <a:lstStyle/>
          <a:p>
            <a:pPr marL="0" indent="0" algn="l">
              <a:lnSpc>
                <a:spcPts val="1470"/>
              </a:lnSpc>
              <a:buNone/>
            </a:pPr>
            <a:r>
              <a:rPr lang="en-US" sz="1050" b="1" i="1">
                <a:solidFill>
                  <a:srgbClr val="FFFFFF"/>
                </a:solidFill>
                <a:latin typeface="Calibri Light" pitchFamily="34" charset="0"/>
                <a:ea typeface="Calibri Light" pitchFamily="34" charset="-122"/>
                <a:cs typeface="Calibri Light" pitchFamily="34" charset="-120"/>
              </a:rPr>
              <a:t>"Proactive monitoring means tracking ALL 9 cells — not just the one your current grant lives in."</a:t>
            </a:r>
            <a:endParaRPr lang="en-US" sz="1050"/>
          </a:p>
        </p:txBody>
      </p:sp>
      <p:pic>
        <p:nvPicPr>
          <p:cNvPr id="59" name="Image 8" descr="preencoded.png"/>
          <p:cNvPicPr>
            <a:picLocks noChangeAspect="1"/>
          </p:cNvPicPr>
          <p:nvPr/>
        </p:nvPicPr>
        <p:blipFill>
          <a:blip>
            <a:alphaModFix amt="85000"/>
            <a:extLst>
              <a:ext uri="{96DAC541-7B7A-43D3-8B79-37D633B846F1}">
                <asvg:svgBlip xmlns:asvg="http://schemas.microsoft.com/office/drawing/2016/SVG/main" r:embed="rId11"/>
              </a:ext>
            </a:extLst>
          </a:blip>
          <a:stretch>
            <a:fillRect/>
          </a:stretch>
        </p:blipFill>
        <p:spPr>
          <a:xfrm>
            <a:off x="8724000" y="4810000"/>
            <a:ext cx="160000" cy="16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1" grpId="0" animBg="1"/>
      <p:bldP spid="22" grpId="0" animBg="1"/>
      <p:bldP spid="23" grpId="0" animBg="1"/>
      <p:bldP spid="25" grpId="0" animBg="1"/>
      <p:bldP spid="26" grpId="0" animBg="1"/>
      <p:bldP spid="27" grpId="0" animBg="1"/>
      <p:bldP spid="31" grpId="0" animBg="1"/>
      <p:bldP spid="32" grpId="0" animBg="1"/>
      <p:bldP spid="33" grpId="0" animBg="1"/>
      <p:bldP spid="35" grpId="0" animBg="1"/>
      <p:bldP spid="36" grpId="0" animBg="1"/>
      <p:bldP spid="37" grpId="0" animBg="1"/>
      <p:bldP spid="39" grpId="0" animBg="1"/>
      <p:bldP spid="40" grpId="0" animBg="1"/>
      <p:bldP spid="41" grpId="0" animBg="1"/>
      <p:bldP spid="45" grpId="0" animBg="1"/>
      <p:bldP spid="46" grpId="0" animBg="1"/>
      <p:bldP spid="47" grpId="0" animBg="1"/>
      <p:bldP spid="49" grpId="0" animBg="1"/>
      <p:bldP spid="50" grpId="0" animBg="1"/>
      <p:bldP spid="51" grpId="0" animBg="1"/>
      <p:bldP spid="53" grpId="0" animBg="1"/>
      <p:bldP spid="54" grpId="0" animBg="1"/>
      <p:bldP spid="5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0" y="0"/>
            <a:ext cx="9144000" cy="29170"/>
          </a:xfrm>
          <a:prstGeom prst="rect">
            <a:avLst/>
          </a:prstGeom>
          <a:gradFill rotWithShape="1">
            <a:gsLst>
              <a:gs pos="0">
                <a:srgbClr val="E8A020"/>
              </a:gs>
              <a:gs pos="100000">
                <a:srgbClr val="E8A020">
                  <a:alpha val="20000"/>
                </a:srgbClr>
              </a:gs>
            </a:gsLst>
            <a:lin ang="0" scaled="1"/>
          </a:gradFill>
          <a:ln/>
        </p:spPr>
        <p:txBody>
          <a:bodyPr wrap="none" rtlCol="0" anchor="t"/>
          <a:lstStyle/>
          <a:p>
            <a:pPr marL="0" indent="0">
              <a:buNone/>
            </a:pPr>
            <a:endParaRPr lang="en-US" dirty="0"/>
          </a:p>
        </p:txBody>
      </p:sp>
      <p:sp>
        <p:nvSpPr>
          <p:cNvPr id="4" name="Text 2"/>
          <p:cNvSpPr/>
          <p:nvPr/>
        </p:nvSpPr>
        <p:spPr>
          <a:xfrm>
            <a:off x="0" y="5114330"/>
            <a:ext cx="9144000" cy="29170"/>
          </a:xfrm>
          <a:prstGeom prst="rect">
            <a:avLst/>
          </a:prstGeom>
          <a:gradFill rotWithShape="1">
            <a:gsLst>
              <a:gs pos="0">
                <a:srgbClr val="E8A020">
                  <a:alpha val="20000"/>
                </a:srgbClr>
              </a:gs>
              <a:gs pos="50000">
                <a:srgbClr val="E8A020"/>
              </a:gs>
              <a:gs pos="100000">
                <a:srgbClr val="E8A020">
                  <a:alpha val="20000"/>
                </a:srgbClr>
              </a:gs>
            </a:gsLst>
            <a:lin ang="0" scaled="1"/>
          </a:gradFill>
          <a:ln/>
        </p:spPr>
        <p:txBody>
          <a:bodyPr wrap="none" rtlCol="0" anchor="t"/>
          <a:lstStyle/>
          <a:p>
            <a:pPr marL="0" indent="0">
              <a:buNone/>
            </a:pPr>
            <a:endParaRPr lang="en-US" dirty="0"/>
          </a:p>
        </p:txBody>
      </p:sp>
      <p:sp>
        <p:nvSpPr>
          <p:cNvPr id="5" name="Text 3"/>
          <p:cNvSpPr/>
          <p:nvPr/>
        </p:nvSpPr>
        <p:spPr>
          <a:xfrm>
            <a:off x="216079" y="1100981"/>
            <a:ext cx="21580" cy="390950"/>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dirty="0"/>
          </a:p>
        </p:txBody>
      </p:sp>
      <p:sp>
        <p:nvSpPr>
          <p:cNvPr id="6" name="Text 4"/>
          <p:cNvSpPr/>
          <p:nvPr/>
        </p:nvSpPr>
        <p:spPr>
          <a:xfrm>
            <a:off x="210145" y="1704166"/>
            <a:ext cx="21580" cy="293726"/>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dirty="0"/>
          </a:p>
        </p:txBody>
      </p:sp>
      <p:sp>
        <p:nvSpPr>
          <p:cNvPr id="7" name="Text 5"/>
          <p:cNvSpPr/>
          <p:nvPr/>
        </p:nvSpPr>
        <p:spPr>
          <a:xfrm>
            <a:off x="204565" y="2219070"/>
            <a:ext cx="21580" cy="390950"/>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dirty="0"/>
          </a:p>
        </p:txBody>
      </p:sp>
      <p:sp>
        <p:nvSpPr>
          <p:cNvPr id="8" name="Text 6"/>
          <p:cNvSpPr/>
          <p:nvPr/>
        </p:nvSpPr>
        <p:spPr>
          <a:xfrm>
            <a:off x="204567" y="2835517"/>
            <a:ext cx="21580" cy="430045"/>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dirty="0"/>
          </a:p>
        </p:txBody>
      </p:sp>
      <p:sp>
        <p:nvSpPr>
          <p:cNvPr id="9" name="Text 7"/>
          <p:cNvSpPr/>
          <p:nvPr/>
        </p:nvSpPr>
        <p:spPr>
          <a:xfrm>
            <a:off x="213990" y="3442797"/>
            <a:ext cx="21580" cy="293726"/>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dirty="0"/>
          </a:p>
        </p:txBody>
      </p:sp>
      <p:sp>
        <p:nvSpPr>
          <p:cNvPr id="10" name="Text 8"/>
          <p:cNvSpPr/>
          <p:nvPr/>
        </p:nvSpPr>
        <p:spPr>
          <a:xfrm>
            <a:off x="429219" y="192593"/>
            <a:ext cx="2983053" cy="225932"/>
          </a:xfrm>
          <a:prstGeom prst="roundRect">
            <a:avLst>
              <a:gd name="adj" fmla="val 19954"/>
            </a:avLst>
          </a:prstGeom>
          <a:solidFill>
            <a:srgbClr val="E8A020">
              <a:alpha val="12000"/>
            </a:srgbClr>
          </a:solidFill>
          <a:ln w="9525">
            <a:solidFill>
              <a:srgbClr val="E8A020">
                <a:alpha val="40000"/>
              </a:srgbClr>
            </a:solidFill>
          </a:ln>
        </p:spPr>
        <p:txBody>
          <a:bodyPr wrap="none" lIns="232638" tIns="29210" rIns="100330" bIns="29210" rtlCol="0" anchor="ctr"/>
          <a:lstStyle/>
          <a:p>
            <a:pPr marL="0" indent="0" algn="l">
              <a:buNone/>
            </a:pPr>
            <a:r>
              <a:rPr lang="en-US" sz="949" b="1" kern="0" spc="58" dirty="0">
                <a:solidFill>
                  <a:srgbClr val="E8A020"/>
                </a:solidFill>
                <a:latin typeface="Calibri Light" pitchFamily="34" charset="0"/>
                <a:ea typeface="Calibri Light" pitchFamily="34" charset="-122"/>
                <a:cs typeface="Calibri Light" pitchFamily="34" charset="-120"/>
              </a:rPr>
              <a:t>FSR  ·  PILLAR 2: OPPORTUNITY INTELLIGENCE</a:t>
            </a:r>
            <a:endParaRPr lang="en-US" sz="949"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8037" y="232688"/>
            <a:ext cx="132588" cy="132588"/>
          </a:xfrm>
          <a:prstGeom prst="rect">
            <a:avLst/>
          </a:prstGeom>
        </p:spPr>
      </p:pic>
      <p:sp>
        <p:nvSpPr>
          <p:cNvPr id="12" name="Text 9"/>
          <p:cNvSpPr/>
          <p:nvPr/>
        </p:nvSpPr>
        <p:spPr>
          <a:xfrm>
            <a:off x="438745" y="519142"/>
            <a:ext cx="3451632" cy="278904"/>
          </a:xfrm>
          <a:prstGeom prst="rect">
            <a:avLst/>
          </a:prstGeom>
          <a:noFill/>
          <a:ln/>
        </p:spPr>
        <p:txBody>
          <a:bodyPr wrap="none" lIns="0" tIns="0" rIns="0" bIns="0" rtlCol="0" anchor="t"/>
          <a:lstStyle/>
          <a:p>
            <a:pPr marL="0" indent="0" algn="l">
              <a:lnSpc>
                <a:spcPts val="2197"/>
              </a:lnSpc>
              <a:buNone/>
            </a:pPr>
            <a:r>
              <a:rPr lang="en-US" sz="1910" b="1" kern="0" spc="-19" dirty="0">
                <a:solidFill>
                  <a:srgbClr val="0D1B3E"/>
                </a:solidFill>
                <a:latin typeface="Calibri Light" pitchFamily="34" charset="0"/>
                <a:ea typeface="Calibri Light" pitchFamily="34" charset="-122"/>
                <a:cs typeface="Calibri Light" pitchFamily="34" charset="-120"/>
              </a:rPr>
              <a:t>Pillar 2 — Opportunity Intelligence</a:t>
            </a:r>
            <a:endParaRPr lang="en-US" sz="1910" dirty="0"/>
          </a:p>
        </p:txBody>
      </p:sp>
      <p:sp>
        <p:nvSpPr>
          <p:cNvPr id="13" name="Text 10"/>
          <p:cNvSpPr/>
          <p:nvPr/>
        </p:nvSpPr>
        <p:spPr>
          <a:xfrm>
            <a:off x="429220" y="858857"/>
            <a:ext cx="3714750" cy="13841"/>
          </a:xfrm>
          <a:prstGeom prst="roundRect">
            <a:avLst>
              <a:gd name="adj" fmla="val 100932"/>
            </a:avLst>
          </a:prstGeom>
          <a:gradFill rotWithShape="1">
            <a:gsLst>
              <a:gs pos="0">
                <a:srgbClr val="E8A020"/>
              </a:gs>
              <a:gs pos="100000">
                <a:srgbClr val="E8A020">
                  <a:alpha val="10000"/>
                </a:srgbClr>
              </a:gs>
            </a:gsLst>
            <a:lin ang="0" scaled="1"/>
          </a:gradFill>
          <a:ln/>
        </p:spPr>
        <p:txBody>
          <a:bodyPr wrap="none" rtlCol="0" anchor="t"/>
          <a:lstStyle/>
          <a:p>
            <a:pPr marL="0" indent="0">
              <a:buNone/>
            </a:pPr>
            <a:endParaRPr lang="en-US"/>
          </a:p>
        </p:txBody>
      </p:sp>
      <p:sp>
        <p:nvSpPr>
          <p:cNvPr id="14" name="Text 11"/>
          <p:cNvSpPr/>
          <p:nvPr/>
        </p:nvSpPr>
        <p:spPr>
          <a:xfrm>
            <a:off x="438745" y="897633"/>
            <a:ext cx="3092456" cy="251358"/>
          </a:xfrm>
          <a:prstGeom prst="rect">
            <a:avLst/>
          </a:prstGeom>
          <a:noFill/>
          <a:ln/>
        </p:spPr>
        <p:txBody>
          <a:bodyPr wrap="none" lIns="0" tIns="0" rIns="0" bIns="0" rtlCol="0" anchor="t"/>
          <a:lstStyle/>
          <a:p>
            <a:pPr marL="0" indent="0" algn="l">
              <a:lnSpc>
                <a:spcPts val="1872"/>
              </a:lnSpc>
              <a:spcBef>
                <a:spcPts val="364"/>
              </a:spcBef>
              <a:buNone/>
            </a:pPr>
            <a:r>
              <a:rPr lang="en-US" sz="1248" b="1" kern="0" spc="10" dirty="0">
                <a:solidFill>
                  <a:schemeClr val="accent2">
                    <a:lumMod val="75000"/>
                  </a:schemeClr>
                </a:solidFill>
                <a:latin typeface="Calibri Light" pitchFamily="34" charset="0"/>
                <a:ea typeface="Calibri Light" pitchFamily="34" charset="-122"/>
                <a:cs typeface="Calibri Light" pitchFamily="34" charset="-120"/>
              </a:rPr>
              <a:t>Not Every Grant Is an Opportunity!</a:t>
            </a:r>
            <a:endParaRPr lang="en-US" sz="1248" dirty="0">
              <a:solidFill>
                <a:schemeClr val="accent2">
                  <a:lumMod val="75000"/>
                </a:schemeClr>
              </a:solidFill>
            </a:endParaRPr>
          </a:p>
        </p:txBody>
      </p:sp>
      <p:sp>
        <p:nvSpPr>
          <p:cNvPr id="15" name="Text 12"/>
          <p:cNvSpPr/>
          <p:nvPr/>
        </p:nvSpPr>
        <p:spPr>
          <a:xfrm>
            <a:off x="375717" y="1156414"/>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16" name="Text 13"/>
          <p:cNvSpPr/>
          <p:nvPr/>
        </p:nvSpPr>
        <p:spPr>
          <a:xfrm>
            <a:off x="469879" y="1276843"/>
            <a:ext cx="171450" cy="188595"/>
          </a:xfrm>
          <a:prstGeom prst="ellipse">
            <a:avLst/>
          </a:prstGeom>
          <a:solidFill>
            <a:srgbClr val="E8A020"/>
          </a:solidFill>
          <a:ln/>
        </p:spPr>
        <p:txBody>
          <a:bodyPr wrap="none" lIns="0" tIns="0" rIns="0" bIns="0" rtlCol="0" anchor="ctr"/>
          <a:lstStyle/>
          <a:p>
            <a:pPr marL="0" indent="0" algn="ctr">
              <a:buNone/>
            </a:pPr>
            <a:r>
              <a:rPr lang="en-US" sz="806" b="1" dirty="0">
                <a:solidFill>
                  <a:srgbClr val="FFFFFF"/>
                </a:solidFill>
                <a:latin typeface="Calibri" pitchFamily="34" charset="0"/>
                <a:ea typeface="Calibri" pitchFamily="34" charset="-122"/>
                <a:cs typeface="Calibri" pitchFamily="34" charset="-120"/>
              </a:rPr>
              <a:t>1</a:t>
            </a:r>
            <a:endParaRPr lang="en-US" sz="806" dirty="0"/>
          </a:p>
        </p:txBody>
      </p:sp>
      <p:sp>
        <p:nvSpPr>
          <p:cNvPr id="17" name="Text 14"/>
          <p:cNvSpPr/>
          <p:nvPr/>
        </p:nvSpPr>
        <p:spPr>
          <a:xfrm>
            <a:off x="838795" y="123384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5302" y="1310430"/>
            <a:ext cx="132588" cy="132588"/>
          </a:xfrm>
          <a:prstGeom prst="rect">
            <a:avLst/>
          </a:prstGeom>
        </p:spPr>
      </p:pic>
      <p:sp>
        <p:nvSpPr>
          <p:cNvPr id="19" name="Text 15"/>
          <p:cNvSpPr/>
          <p:nvPr/>
        </p:nvSpPr>
        <p:spPr>
          <a:xfrm>
            <a:off x="1238845" y="1196230"/>
            <a:ext cx="1799862" cy="193699"/>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OPPORTUNITY SCORING MATRIX</a:t>
            </a:r>
            <a:endParaRPr lang="en-US" sz="988" dirty="0">
              <a:solidFill>
                <a:schemeClr val="accent2">
                  <a:lumMod val="75000"/>
                </a:schemeClr>
              </a:solidFill>
            </a:endParaRPr>
          </a:p>
        </p:txBody>
      </p:sp>
      <p:sp>
        <p:nvSpPr>
          <p:cNvPr id="20" name="Text 16"/>
          <p:cNvSpPr/>
          <p:nvPr/>
        </p:nvSpPr>
        <p:spPr>
          <a:xfrm>
            <a:off x="1238845" y="1368107"/>
            <a:ext cx="5468614" cy="168101"/>
          </a:xfrm>
          <a:prstGeom prst="rect">
            <a:avLst/>
          </a:prstGeom>
          <a:noFill/>
          <a:ln/>
        </p:spPr>
        <p:txBody>
          <a:bodyPr wrap="non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Rate each opportunity on </a:t>
            </a:r>
            <a:r>
              <a:rPr lang="en-US" sz="1131" b="1" dirty="0">
                <a:solidFill>
                  <a:srgbClr val="E8A020"/>
                </a:solidFill>
                <a:latin typeface="Calibri" pitchFamily="34" charset="0"/>
                <a:ea typeface="Calibri" pitchFamily="34" charset="-122"/>
                <a:cs typeface="Calibri" pitchFamily="34" charset="-120"/>
              </a:rPr>
              <a:t>Mission Fit × Readiness × Funder Relationship × Competitiveness</a:t>
            </a:r>
            <a:endParaRPr lang="en-US" sz="1131" dirty="0"/>
          </a:p>
        </p:txBody>
      </p:sp>
      <p:sp>
        <p:nvSpPr>
          <p:cNvPr id="21" name="Text 17"/>
          <p:cNvSpPr/>
          <p:nvPr/>
        </p:nvSpPr>
        <p:spPr>
          <a:xfrm>
            <a:off x="364565" y="1702400"/>
            <a:ext cx="8285559" cy="410000"/>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22" name="Text 18"/>
          <p:cNvSpPr/>
          <p:nvPr/>
        </p:nvSpPr>
        <p:spPr>
          <a:xfrm>
            <a:off x="449843" y="1841592"/>
            <a:ext cx="171450" cy="188595"/>
          </a:xfrm>
          <a:prstGeom prst="ellipse">
            <a:avLst/>
          </a:prstGeom>
          <a:solidFill>
            <a:srgbClr val="E8A020"/>
          </a:solidFill>
          <a:ln/>
        </p:spPr>
        <p:txBody>
          <a:bodyPr wrap="none" lIns="0" tIns="0" rIns="0" bIns="0" rtlCol="0" anchor="ctr"/>
          <a:lstStyle/>
          <a:p>
            <a:pPr marL="0" indent="0" algn="ctr">
              <a:buNone/>
            </a:pPr>
            <a:r>
              <a:rPr lang="en-US" sz="806" b="1" dirty="0">
                <a:solidFill>
                  <a:srgbClr val="FFFFFF"/>
                </a:solidFill>
                <a:latin typeface="Calibri" pitchFamily="34" charset="0"/>
                <a:ea typeface="Calibri" pitchFamily="34" charset="-122"/>
                <a:cs typeface="Calibri" pitchFamily="34" charset="-120"/>
              </a:rPr>
              <a:t>2</a:t>
            </a:r>
            <a:endParaRPr lang="en-US" sz="806" dirty="0"/>
          </a:p>
        </p:txBody>
      </p:sp>
      <p:sp>
        <p:nvSpPr>
          <p:cNvPr id="23" name="Text 19"/>
          <p:cNvSpPr/>
          <p:nvPr/>
        </p:nvSpPr>
        <p:spPr>
          <a:xfrm>
            <a:off x="727283" y="1818373"/>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9364" y="1885098"/>
            <a:ext cx="132588" cy="132588"/>
          </a:xfrm>
          <a:prstGeom prst="rect">
            <a:avLst/>
          </a:prstGeom>
        </p:spPr>
      </p:pic>
      <p:sp>
        <p:nvSpPr>
          <p:cNvPr id="25" name="Text 20"/>
          <p:cNvSpPr/>
          <p:nvPr/>
        </p:nvSpPr>
        <p:spPr>
          <a:xfrm>
            <a:off x="1135926" y="1697409"/>
            <a:ext cx="1252989" cy="216516"/>
          </a:xfrm>
          <a:prstGeom prst="rect">
            <a:avLst/>
          </a:prstGeom>
          <a:noFill/>
          <a:ln/>
        </p:spPr>
        <p:txBody>
          <a:bodyPr wrap="none" lIns="0" tIns="0" rIns="0" bIns="0" rtlCol="0" anchor="ctr"/>
          <a:lstStyle/>
          <a:p>
            <a:pPr marL="0" indent="0" algn="l">
              <a:lnSpc>
                <a:spcPts val="1482"/>
              </a:lnSpc>
              <a:buNone/>
            </a:pPr>
            <a:r>
              <a:rPr lang="en-US" sz="988" kern="0" spc="30" dirty="0">
                <a:solidFill>
                  <a:schemeClr val="accent2">
                    <a:lumMod val="75000"/>
                  </a:schemeClr>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THE 4-QUESTION TEST</a:t>
            </a:r>
            <a:endParaRPr lang="en-US" sz="988" dirty="0">
              <a:solidFill>
                <a:schemeClr val="accent2">
                  <a:lumMod val="75000"/>
                </a:schemeClr>
              </a:solidFill>
              <a:effectLst>
                <a:outerShdw blurRad="38100" dist="38100" dir="2700000" algn="tl">
                  <a:srgbClr val="000000">
                    <a:alpha val="43137"/>
                  </a:srgbClr>
                </a:outerShdw>
              </a:effectLst>
            </a:endParaRPr>
          </a:p>
        </p:txBody>
      </p:sp>
      <p:sp>
        <p:nvSpPr>
          <p:cNvPr id="26" name="Text 21"/>
          <p:cNvSpPr/>
          <p:nvPr/>
        </p:nvSpPr>
        <p:spPr>
          <a:xfrm>
            <a:off x="1125932" y="1919313"/>
            <a:ext cx="3935321" cy="181737"/>
          </a:xfrm>
          <a:prstGeom prst="rect">
            <a:avLst/>
          </a:prstGeom>
          <a:noFill/>
          <a:ln/>
        </p:spPr>
        <p:txBody>
          <a:bodyPr wrap="square" lIns="0" tIns="0" rIns="0" bIns="0" rtlCol="0" anchor="ctr"/>
          <a:lstStyle/>
          <a:p>
            <a:pPr marL="0" indent="0" algn="l">
              <a:lnSpc>
                <a:spcPts val="1583"/>
              </a:lnSpc>
              <a:buNone/>
            </a:pPr>
            <a:r>
              <a:rPr lang="en-US" sz="1131" b="1" dirty="0">
                <a:solidFill>
                  <a:srgbClr val="E8A020"/>
                </a:solidFill>
                <a:latin typeface="Calibri" pitchFamily="34" charset="0"/>
                <a:ea typeface="Calibri" pitchFamily="34" charset="-122"/>
                <a:cs typeface="Calibri" pitchFamily="34" charset="-120"/>
              </a:rPr>
              <a:t>Do we fit? Are we ready? Do we know the funder? Can we win?</a:t>
            </a:r>
            <a:endParaRPr lang="en-US" sz="1131" dirty="0"/>
          </a:p>
        </p:txBody>
      </p:sp>
      <p:sp>
        <p:nvSpPr>
          <p:cNvPr id="27" name="Text 22"/>
          <p:cNvSpPr/>
          <p:nvPr/>
        </p:nvSpPr>
        <p:spPr>
          <a:xfrm>
            <a:off x="386870" y="2255020"/>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dirty="0"/>
          </a:p>
        </p:txBody>
      </p:sp>
      <p:sp>
        <p:nvSpPr>
          <p:cNvPr id="28" name="Text 23"/>
          <p:cNvSpPr/>
          <p:nvPr/>
        </p:nvSpPr>
        <p:spPr>
          <a:xfrm>
            <a:off x="490753" y="2348251"/>
            <a:ext cx="171450" cy="188595"/>
          </a:xfrm>
          <a:prstGeom prst="ellipse">
            <a:avLst/>
          </a:prstGeom>
          <a:solidFill>
            <a:srgbClr val="E8A020"/>
          </a:solidFill>
          <a:ln/>
        </p:spPr>
        <p:txBody>
          <a:bodyPr wrap="none" lIns="0" tIns="0" rIns="0" bIns="0" rtlCol="0" anchor="ctr"/>
          <a:lstStyle/>
          <a:p>
            <a:pPr marL="0" indent="0" algn="ctr">
              <a:buNone/>
            </a:pPr>
            <a:r>
              <a:rPr lang="en-US" sz="806" b="1" dirty="0">
                <a:solidFill>
                  <a:srgbClr val="FFFFFF"/>
                </a:solidFill>
                <a:latin typeface="Calibri" pitchFamily="34" charset="0"/>
                <a:ea typeface="Calibri" pitchFamily="34" charset="-122"/>
                <a:cs typeface="Calibri" pitchFamily="34" charset="-120"/>
              </a:rPr>
              <a:t>3</a:t>
            </a:r>
            <a:endParaRPr lang="en-US" sz="806" dirty="0"/>
          </a:p>
        </p:txBody>
      </p:sp>
      <p:sp>
        <p:nvSpPr>
          <p:cNvPr id="29" name="Text 24"/>
          <p:cNvSpPr/>
          <p:nvPr/>
        </p:nvSpPr>
        <p:spPr>
          <a:xfrm>
            <a:off x="749507" y="2310164"/>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6091" y="2381705"/>
            <a:ext cx="132588" cy="132588"/>
          </a:xfrm>
          <a:prstGeom prst="rect">
            <a:avLst/>
          </a:prstGeom>
        </p:spPr>
      </p:pic>
      <p:sp>
        <p:nvSpPr>
          <p:cNvPr id="31" name="Text 25"/>
          <p:cNvSpPr/>
          <p:nvPr/>
        </p:nvSpPr>
        <p:spPr>
          <a:xfrm>
            <a:off x="1125384" y="2246947"/>
            <a:ext cx="1517877" cy="200285"/>
          </a:xfrm>
          <a:prstGeom prst="rect">
            <a:avLst/>
          </a:prstGeom>
          <a:noFill/>
          <a:ln/>
        </p:spPr>
        <p:txBody>
          <a:bodyPr wrap="none" lIns="0" tIns="0" rIns="0" bIns="0" rtlCol="0" anchor="ctr"/>
          <a:lstStyle/>
          <a:p>
            <a:pPr marL="0" indent="0" algn="l">
              <a:lnSpc>
                <a:spcPts val="1482"/>
              </a:lnSpc>
              <a:buNone/>
            </a:pPr>
            <a:r>
              <a:rPr lang="en-US" sz="988" kern="0" spc="30" dirty="0">
                <a:solidFill>
                  <a:schemeClr val="accent2">
                    <a:lumMod val="75000"/>
                  </a:schemeClr>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OPPORTUNITY CALENDAR</a:t>
            </a:r>
            <a:endParaRPr lang="en-US" sz="988" dirty="0">
              <a:solidFill>
                <a:schemeClr val="accent2">
                  <a:lumMod val="75000"/>
                </a:schemeClr>
              </a:solidFill>
              <a:effectLst>
                <a:outerShdw blurRad="38100" dist="38100" dir="2700000" algn="tl">
                  <a:srgbClr val="000000">
                    <a:alpha val="43137"/>
                  </a:srgbClr>
                </a:outerShdw>
              </a:effectLst>
            </a:endParaRPr>
          </a:p>
        </p:txBody>
      </p:sp>
      <p:sp>
        <p:nvSpPr>
          <p:cNvPr id="32" name="Text 26"/>
          <p:cNvSpPr/>
          <p:nvPr/>
        </p:nvSpPr>
        <p:spPr>
          <a:xfrm>
            <a:off x="1130816" y="2475433"/>
            <a:ext cx="4370218" cy="170675"/>
          </a:xfrm>
          <a:prstGeom prst="rect">
            <a:avLst/>
          </a:prstGeom>
          <a:noFill/>
          <a:ln/>
        </p:spPr>
        <p:txBody>
          <a:bodyPr wrap="non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Annual map of all known and projected funding cycles, </a:t>
            </a:r>
            <a:r>
              <a:rPr lang="en-US" sz="1131" b="1" dirty="0">
                <a:solidFill>
                  <a:srgbClr val="E8A020"/>
                </a:solidFill>
                <a:latin typeface="Calibri" pitchFamily="34" charset="0"/>
                <a:ea typeface="Calibri" pitchFamily="34" charset="-122"/>
                <a:cs typeface="Calibri" pitchFamily="34" charset="-120"/>
              </a:rPr>
              <a:t>updated monthly</a:t>
            </a:r>
            <a:endParaRPr lang="en-US" sz="1131" dirty="0"/>
          </a:p>
        </p:txBody>
      </p:sp>
      <p:sp>
        <p:nvSpPr>
          <p:cNvPr id="33" name="Text 27"/>
          <p:cNvSpPr/>
          <p:nvPr/>
        </p:nvSpPr>
        <p:spPr>
          <a:xfrm>
            <a:off x="375718" y="2820347"/>
            <a:ext cx="8285559" cy="4961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dirty="0"/>
          </a:p>
        </p:txBody>
      </p:sp>
      <p:sp>
        <p:nvSpPr>
          <p:cNvPr id="34" name="Text 28"/>
          <p:cNvSpPr/>
          <p:nvPr/>
        </p:nvSpPr>
        <p:spPr>
          <a:xfrm>
            <a:off x="474985" y="2978540"/>
            <a:ext cx="171450" cy="188595"/>
          </a:xfrm>
          <a:prstGeom prst="ellipse">
            <a:avLst/>
          </a:prstGeom>
          <a:solidFill>
            <a:srgbClr val="E8A020"/>
          </a:solidFill>
          <a:ln/>
        </p:spPr>
        <p:txBody>
          <a:bodyPr wrap="none" lIns="0" tIns="0" rIns="0" bIns="0" rtlCol="0" anchor="ctr"/>
          <a:lstStyle/>
          <a:p>
            <a:pPr marL="0" indent="0" algn="ctr">
              <a:buNone/>
            </a:pPr>
            <a:r>
              <a:rPr lang="en-US" sz="806" b="1" dirty="0">
                <a:solidFill>
                  <a:srgbClr val="FFFFFF"/>
                </a:solidFill>
                <a:latin typeface="Calibri" pitchFamily="34" charset="0"/>
                <a:ea typeface="Calibri" pitchFamily="34" charset="-122"/>
                <a:cs typeface="Calibri" pitchFamily="34" charset="-120"/>
              </a:rPr>
              <a:t>4</a:t>
            </a:r>
            <a:endParaRPr lang="en-US" sz="806" dirty="0"/>
          </a:p>
        </p:txBody>
      </p:sp>
      <p:sp>
        <p:nvSpPr>
          <p:cNvPr id="35" name="Text 29"/>
          <p:cNvSpPr/>
          <p:nvPr/>
        </p:nvSpPr>
        <p:spPr>
          <a:xfrm>
            <a:off x="738435" y="2924387"/>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3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4936" y="3006550"/>
            <a:ext cx="132588" cy="132588"/>
          </a:xfrm>
          <a:prstGeom prst="rect">
            <a:avLst/>
          </a:prstGeom>
        </p:spPr>
      </p:pic>
      <p:sp>
        <p:nvSpPr>
          <p:cNvPr id="37" name="Text 30"/>
          <p:cNvSpPr/>
          <p:nvPr/>
        </p:nvSpPr>
        <p:spPr>
          <a:xfrm>
            <a:off x="1130816" y="2803523"/>
            <a:ext cx="1133965" cy="208271"/>
          </a:xfrm>
          <a:prstGeom prst="rect">
            <a:avLst/>
          </a:prstGeom>
          <a:noFill/>
          <a:ln/>
        </p:spPr>
        <p:txBody>
          <a:bodyPr wrap="none" lIns="0" tIns="0" rIns="0" bIns="0" rtlCol="0" anchor="ctr"/>
          <a:lstStyle/>
          <a:p>
            <a:pPr marL="0" indent="0" algn="l">
              <a:lnSpc>
                <a:spcPts val="1482"/>
              </a:lnSpc>
              <a:buNone/>
            </a:pPr>
            <a:r>
              <a:rPr lang="en-US" sz="988" kern="0" spc="30" dirty="0">
                <a:solidFill>
                  <a:schemeClr val="accent2">
                    <a:lumMod val="75000"/>
                  </a:schemeClr>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RED-FLAG CRITERIA</a:t>
            </a:r>
            <a:endParaRPr lang="en-US" sz="988" dirty="0">
              <a:solidFill>
                <a:schemeClr val="accent2">
                  <a:lumMod val="75000"/>
                </a:schemeClr>
              </a:solidFill>
              <a:effectLst>
                <a:outerShdw blurRad="38100" dist="38100" dir="2700000" algn="tl">
                  <a:srgbClr val="000000">
                    <a:alpha val="43137"/>
                  </a:srgbClr>
                </a:outerShdw>
              </a:effectLst>
            </a:endParaRPr>
          </a:p>
        </p:txBody>
      </p:sp>
      <p:sp>
        <p:nvSpPr>
          <p:cNvPr id="38" name="Text 31"/>
          <p:cNvSpPr/>
          <p:nvPr/>
        </p:nvSpPr>
        <p:spPr>
          <a:xfrm>
            <a:off x="1110605" y="3061111"/>
            <a:ext cx="6309747" cy="154484"/>
          </a:xfrm>
          <a:prstGeom prst="rect">
            <a:avLst/>
          </a:prstGeom>
          <a:noFill/>
          <a:ln/>
        </p:spPr>
        <p:txBody>
          <a:bodyPr wrap="non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Scope creep risk, unfavorable budget terms, misaligned reporting requirements — </a:t>
            </a:r>
            <a:r>
              <a:rPr lang="en-US" sz="1131" b="1" dirty="0">
                <a:solidFill>
                  <a:srgbClr val="E8A020"/>
                </a:solidFill>
                <a:latin typeface="Calibri" pitchFamily="34" charset="0"/>
                <a:ea typeface="Calibri" pitchFamily="34" charset="-122"/>
                <a:cs typeface="Calibri" pitchFamily="34" charset="-120"/>
              </a:rPr>
              <a:t>know your red flags before you apply</a:t>
            </a:r>
            <a:endParaRPr lang="en-US" sz="1131" dirty="0"/>
          </a:p>
        </p:txBody>
      </p:sp>
      <p:sp>
        <p:nvSpPr>
          <p:cNvPr id="39" name="Text 32"/>
          <p:cNvSpPr/>
          <p:nvPr/>
        </p:nvSpPr>
        <p:spPr>
          <a:xfrm>
            <a:off x="381294" y="3465249"/>
            <a:ext cx="8285559" cy="410000"/>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40" name="Text 33"/>
          <p:cNvSpPr/>
          <p:nvPr/>
        </p:nvSpPr>
        <p:spPr>
          <a:xfrm>
            <a:off x="475455" y="3597902"/>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5</a:t>
            </a:r>
            <a:endParaRPr lang="en-US" sz="806"/>
          </a:p>
        </p:txBody>
      </p:sp>
      <p:sp>
        <p:nvSpPr>
          <p:cNvPr id="41" name="Text 34"/>
          <p:cNvSpPr/>
          <p:nvPr/>
        </p:nvSpPr>
        <p:spPr>
          <a:xfrm>
            <a:off x="699767" y="3544124"/>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4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5408" y="3611032"/>
            <a:ext cx="132588" cy="132588"/>
          </a:xfrm>
          <a:prstGeom prst="rect">
            <a:avLst/>
          </a:prstGeom>
        </p:spPr>
      </p:pic>
      <p:sp>
        <p:nvSpPr>
          <p:cNvPr id="43" name="Text 35"/>
          <p:cNvSpPr/>
          <p:nvPr/>
        </p:nvSpPr>
        <p:spPr>
          <a:xfrm>
            <a:off x="1113393" y="3420301"/>
            <a:ext cx="1275292" cy="247990"/>
          </a:xfrm>
          <a:prstGeom prst="rect">
            <a:avLst/>
          </a:prstGeom>
          <a:noFill/>
          <a:ln/>
        </p:spPr>
        <p:txBody>
          <a:bodyPr wrap="none" lIns="0" tIns="0" rIns="0" bIns="0" rtlCol="0" anchor="ctr"/>
          <a:lstStyle/>
          <a:p>
            <a:pPr marL="0" indent="0" algn="l">
              <a:lnSpc>
                <a:spcPts val="1482"/>
              </a:lnSpc>
              <a:buNone/>
            </a:pPr>
            <a:r>
              <a:rPr lang="en-US" sz="988" kern="0" spc="30" dirty="0">
                <a:solidFill>
                  <a:schemeClr val="accent2">
                    <a:lumMod val="75000"/>
                  </a:schemeClr>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WIN RATE TRACKING</a:t>
            </a:r>
            <a:endParaRPr lang="en-US" sz="988" dirty="0">
              <a:solidFill>
                <a:schemeClr val="accent2">
                  <a:lumMod val="75000"/>
                </a:schemeClr>
              </a:solidFill>
              <a:effectLst>
                <a:outerShdw blurRad="38100" dist="38100" dir="2700000" algn="tl">
                  <a:srgbClr val="000000">
                    <a:alpha val="43137"/>
                  </a:srgbClr>
                </a:outerShdw>
              </a:effectLst>
            </a:endParaRPr>
          </a:p>
        </p:txBody>
      </p:sp>
      <p:sp>
        <p:nvSpPr>
          <p:cNvPr id="44" name="Text 36"/>
          <p:cNvSpPr/>
          <p:nvPr/>
        </p:nvSpPr>
        <p:spPr>
          <a:xfrm>
            <a:off x="1094343" y="3642062"/>
            <a:ext cx="7469398" cy="221581"/>
          </a:xfrm>
          <a:prstGeom prst="rect">
            <a:avLst/>
          </a:prstGeom>
          <a:noFill/>
          <a:ln/>
        </p:spPr>
        <p:txBody>
          <a:bodyPr wrap="squar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Monitor your application </a:t>
            </a:r>
            <a:r>
              <a:rPr lang="en-US" sz="1131" b="1" dirty="0">
                <a:solidFill>
                  <a:srgbClr val="E8A020"/>
                </a:solidFill>
                <a:latin typeface="Calibri" pitchFamily="34" charset="0"/>
                <a:ea typeface="Calibri" pitchFamily="34" charset="-122"/>
                <a:cs typeface="Calibri" pitchFamily="34" charset="-120"/>
              </a:rPr>
              <a:t>success rate</a:t>
            </a:r>
            <a:r>
              <a:rPr lang="en-US" sz="1131" dirty="0">
                <a:solidFill>
                  <a:srgbClr val="0D1B3E"/>
                </a:solidFill>
                <a:latin typeface="Calibri" pitchFamily="34" charset="0"/>
                <a:ea typeface="Calibri" pitchFamily="34" charset="-122"/>
                <a:cs typeface="Calibri" pitchFamily="34" charset="-120"/>
              </a:rPr>
              <a:t> by funder type and opportunity category</a:t>
            </a:r>
            <a:endParaRPr lang="en-US" sz="1131" dirty="0"/>
          </a:p>
        </p:txBody>
      </p:sp>
      <p:sp>
        <p:nvSpPr>
          <p:cNvPr id="45" name="Text 37"/>
          <p:cNvSpPr/>
          <p:nvPr/>
        </p:nvSpPr>
        <p:spPr>
          <a:xfrm>
            <a:off x="386871" y="4668772"/>
            <a:ext cx="8285559" cy="326678"/>
          </a:xfrm>
          <a:prstGeom prst="roundRect">
            <a:avLst>
              <a:gd name="adj" fmla="val 17494"/>
            </a:avLst>
          </a:prstGeom>
          <a:solidFill>
            <a:srgbClr val="E8A020">
              <a:alpha val="10000"/>
            </a:srgbClr>
          </a:solidFill>
          <a:ln w="9525">
            <a:solidFill>
              <a:srgbClr val="E8A020">
                <a:alpha val="50000"/>
              </a:srgbClr>
            </a:solidFill>
          </a:ln>
        </p:spPr>
        <p:txBody>
          <a:bodyPr wrap="square" rtlCol="0" anchor="t"/>
          <a:lstStyle/>
          <a:p>
            <a:pPr marL="0" indent="0">
              <a:buNone/>
            </a:pPr>
            <a:endParaRPr lang="en-US"/>
          </a:p>
        </p:txBody>
      </p:sp>
      <p:sp>
        <p:nvSpPr>
          <p:cNvPr id="100" name="Row6_bg"/>
          <p:cNvSpPr/>
          <p:nvPr/>
        </p:nvSpPr>
        <p:spPr>
          <a:xfrm>
            <a:off x="381294" y="4094312"/>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101" name="Row6_circle"/>
          <p:cNvSpPr/>
          <p:nvPr/>
        </p:nvSpPr>
        <p:spPr>
          <a:xfrm>
            <a:off x="461049" y="4222779"/>
            <a:ext cx="171450" cy="188595"/>
          </a:xfrm>
          <a:prstGeom prst="ellipse">
            <a:avLst/>
          </a:prstGeom>
          <a:solidFill>
            <a:srgbClr val="E8A020"/>
          </a:solidFill>
          <a:ln/>
        </p:spPr>
        <p:txBody>
          <a:bodyPr wrap="none" lIns="0" tIns="0" rIns="0" bIns="0" rtlCol="0" anchor="ctr"/>
          <a:lstStyle/>
          <a:p>
            <a:pPr marL="0" indent="0" algn="ctr">
              <a:buNone/>
            </a:pPr>
            <a:r>
              <a:rPr lang="en-US" sz="806" b="1" dirty="0">
                <a:solidFill>
                  <a:srgbClr val="FFFFFF"/>
                </a:solidFill>
                <a:latin typeface="Calibri" pitchFamily="34" charset="0"/>
                <a:ea typeface="Calibri" pitchFamily="34" charset="-122"/>
                <a:cs typeface="Calibri" pitchFamily="34" charset="-120"/>
              </a:rPr>
              <a:t>6</a:t>
            </a:r>
            <a:endParaRPr lang="en-US" sz="806" dirty="0"/>
          </a:p>
        </p:txBody>
      </p:sp>
      <p:sp>
        <p:nvSpPr>
          <p:cNvPr id="102" name="Row6_icon_bg"/>
          <p:cNvSpPr/>
          <p:nvPr/>
        </p:nvSpPr>
        <p:spPr>
          <a:xfrm>
            <a:off x="721707" y="4174077"/>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103" name="Row6_icon"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2260" y="4245245"/>
            <a:ext cx="132588" cy="132588"/>
          </a:xfrm>
          <a:prstGeom prst="rect">
            <a:avLst/>
          </a:prstGeom>
        </p:spPr>
      </p:pic>
      <p:sp>
        <p:nvSpPr>
          <p:cNvPr id="104" name="Row6_title"/>
          <p:cNvSpPr/>
          <p:nvPr/>
        </p:nvSpPr>
        <p:spPr>
          <a:xfrm>
            <a:off x="1130121" y="4087939"/>
            <a:ext cx="1309209" cy="186810"/>
          </a:xfrm>
          <a:prstGeom prst="rect">
            <a:avLst/>
          </a:prstGeom>
          <a:noFill/>
          <a:ln/>
        </p:spPr>
        <p:txBody>
          <a:bodyPr wrap="none" lIns="0" tIns="0" rIns="0" bIns="0" rtlCol="0" anchor="ctr"/>
          <a:lstStyle/>
          <a:p>
            <a:pPr marL="0" indent="0" algn="l">
              <a:lnSpc>
                <a:spcPts val="1482"/>
              </a:lnSpc>
              <a:buNone/>
            </a:pPr>
            <a:r>
              <a:rPr lang="en-US" sz="988" kern="0" spc="30" dirty="0">
                <a:solidFill>
                  <a:schemeClr val="accent2">
                    <a:lumMod val="75000"/>
                  </a:schemeClr>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DECISION PROTOCOL</a:t>
            </a:r>
            <a:endParaRPr lang="en-US" sz="988" dirty="0">
              <a:solidFill>
                <a:schemeClr val="accent2">
                  <a:lumMod val="75000"/>
                </a:schemeClr>
              </a:solidFill>
              <a:effectLst>
                <a:outerShdw blurRad="38100" dist="38100" dir="2700000" algn="tl">
                  <a:srgbClr val="000000">
                    <a:alpha val="43137"/>
                  </a:srgbClr>
                </a:outerShdw>
              </a:effectLst>
            </a:endParaRPr>
          </a:p>
        </p:txBody>
      </p:sp>
      <p:sp>
        <p:nvSpPr>
          <p:cNvPr id="105" name="Row6_desc"/>
          <p:cNvSpPr/>
          <p:nvPr/>
        </p:nvSpPr>
        <p:spPr>
          <a:xfrm>
            <a:off x="1130121" y="4258222"/>
            <a:ext cx="3586845" cy="241099"/>
          </a:xfrm>
          <a:prstGeom prst="rect">
            <a:avLst/>
          </a:prstGeom>
          <a:noFill/>
          <a:ln/>
        </p:spPr>
        <p:txBody>
          <a:bodyPr wrap="none" lIns="0" tIns="0" rIns="0" bIns="0" rtlCol="0" anchor="ctr"/>
          <a:lstStyle/>
          <a:p>
            <a:pPr marL="0" indent="0" algn="l">
              <a:lnSpc>
                <a:spcPts val="1583"/>
              </a:lnSpc>
              <a:buNone/>
            </a:pPr>
            <a:r>
              <a:rPr lang="en-US" sz="1131" b="1" dirty="0">
                <a:solidFill>
                  <a:srgbClr val="E8A020"/>
                </a:solidFill>
                <a:latin typeface="Calibri" pitchFamily="34" charset="0"/>
                <a:ea typeface="Calibri" pitchFamily="34" charset="-122"/>
                <a:cs typeface="Calibri" pitchFamily="34" charset="-120"/>
              </a:rPr>
              <a:t>Go / Not Yet / Pass</a:t>
            </a:r>
            <a:r>
              <a:rPr lang="en-US" sz="1131" dirty="0">
                <a:solidFill>
                  <a:srgbClr val="0D1B3E"/>
                </a:solidFill>
                <a:latin typeface="Calibri" pitchFamily="34" charset="0"/>
                <a:ea typeface="Calibri" pitchFamily="34" charset="-122"/>
                <a:cs typeface="Calibri" pitchFamily="34" charset="-120"/>
              </a:rPr>
              <a:t> — documented with rationale every time</a:t>
            </a:r>
            <a:endParaRPr lang="en-US" sz="1131" dirty="0"/>
          </a:p>
        </p:txBody>
      </p:sp>
      <p:sp>
        <p:nvSpPr>
          <p:cNvPr id="106" name="Row6_accent"/>
          <p:cNvSpPr/>
          <p:nvPr/>
        </p:nvSpPr>
        <p:spPr>
          <a:xfrm>
            <a:off x="204567" y="4072951"/>
            <a:ext cx="21580" cy="390950"/>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pic>
        <p:nvPicPr>
          <p:cNvPr id="4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flipV="1">
            <a:off x="463957" y="4756130"/>
            <a:ext cx="143377" cy="143377"/>
          </a:xfrm>
          <a:prstGeom prst="rect">
            <a:avLst/>
          </a:prstGeom>
        </p:spPr>
      </p:pic>
      <p:sp>
        <p:nvSpPr>
          <p:cNvPr id="47" name="Text 38"/>
          <p:cNvSpPr/>
          <p:nvPr/>
        </p:nvSpPr>
        <p:spPr>
          <a:xfrm>
            <a:off x="739219" y="4753260"/>
            <a:ext cx="3476729" cy="165646"/>
          </a:xfrm>
          <a:prstGeom prst="rect">
            <a:avLst/>
          </a:prstGeom>
          <a:noFill/>
          <a:ln/>
        </p:spPr>
        <p:txBody>
          <a:bodyPr wrap="none" lIns="0" tIns="0" rIns="0" bIns="0" rtlCol="0" anchor="ctr"/>
          <a:lstStyle/>
          <a:p>
            <a:pPr marL="0" indent="0" algn="l">
              <a:lnSpc>
                <a:spcPts val="1696"/>
              </a:lnSpc>
              <a:buNone/>
            </a:pPr>
            <a:r>
              <a:rPr lang="en-US" sz="1200" b="1" dirty="0">
                <a:solidFill>
                  <a:srgbClr val="E8A020"/>
                </a:solidFill>
                <a:latin typeface="Calibri" pitchFamily="34" charset="0"/>
                <a:ea typeface="Calibri" pitchFamily="34" charset="-122"/>
                <a:cs typeface="Calibri" pitchFamily="34" charset="-120"/>
              </a:rPr>
              <a:t>Saying no strategically</a:t>
            </a:r>
            <a:r>
              <a:rPr lang="en-US" sz="1200" dirty="0">
                <a:solidFill>
                  <a:srgbClr val="0D1B3E"/>
                </a:solidFill>
                <a:latin typeface="Calibri" pitchFamily="34" charset="0"/>
                <a:ea typeface="Calibri" pitchFamily="34" charset="-122"/>
                <a:cs typeface="Calibri" pitchFamily="34" charset="-120"/>
              </a:rPr>
              <a:t> is as important as saying yes boldly.</a:t>
            </a:r>
            <a:endParaRPr lang="en-US" sz="1200" dirty="0"/>
          </a:p>
        </p:txBody>
      </p:sp>
      <p:sp>
        <p:nvSpPr>
          <p:cNvPr id="200" name="HandoutRef"/>
          <p:cNvSpPr txBox="1"/>
          <p:nvPr/>
        </p:nvSpPr>
        <p:spPr>
          <a:xfrm>
            <a:off x="7100000" y="4930000"/>
            <a:ext cx="1700000" cy="160000"/>
          </a:xfrm>
          <a:prstGeom prst="rect">
            <a:avLst/>
          </a:prstGeom>
          <a:noFill/>
          <a:ln>
            <a:noFill/>
          </a:ln>
        </p:spPr>
        <p:txBody>
          <a:bodyPr wrap="none" lIns="0" tIns="0" rIns="0" bIns="0" rtlCol="0" anchor="t"/>
          <a:lstStyle/>
          <a:p>
            <a:pPr algn="r">
              <a:buNone/>
            </a:pPr>
            <a:r>
              <a:rPr lang="en-US" sz="800" spc="43">
                <a:solidFill>
                  <a:srgbClr val="64748B"/>
                </a:solidFill>
                <a:latin typeface="Calibri" pitchFamily="34" charset="0"/>
              </a:rPr>
              <a:t>HANDOUT  ·  </a:t>
            </a:r>
            <a:r>
              <a:rPr lang="en-US" sz="800" b="1" spc="43">
                <a:solidFill>
                  <a:srgbClr val="E8A020"/>
                </a:solidFill>
                <a:latin typeface="Calibri" pitchFamily="34" charset="0"/>
              </a:rPr>
              <a:t>Section 2</a:t>
            </a:r>
            <a:endParaRPr lang="en-US" sz="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0" y="0"/>
            <a:ext cx="9144000" cy="29170"/>
          </a:xfrm>
          <a:prstGeom prst="rect">
            <a:avLst/>
          </a:prstGeom>
          <a:gradFill rotWithShape="1">
            <a:gsLst>
              <a:gs pos="0">
                <a:srgbClr val="E8A020"/>
              </a:gs>
              <a:gs pos="100000">
                <a:srgbClr val="E8A020">
                  <a:alpha val="20000"/>
                </a:srgbClr>
              </a:gs>
            </a:gsLst>
            <a:lin ang="0" scaled="1"/>
          </a:gradFill>
          <a:ln/>
        </p:spPr>
        <p:txBody>
          <a:bodyPr wrap="none" rtlCol="0" anchor="t"/>
          <a:lstStyle/>
          <a:p>
            <a:pPr marL="0" indent="0">
              <a:buNone/>
            </a:pPr>
            <a:endParaRPr lang="en-US" dirty="0"/>
          </a:p>
        </p:txBody>
      </p:sp>
      <p:sp>
        <p:nvSpPr>
          <p:cNvPr id="4" name="Text 2"/>
          <p:cNvSpPr/>
          <p:nvPr/>
        </p:nvSpPr>
        <p:spPr>
          <a:xfrm>
            <a:off x="0" y="5114330"/>
            <a:ext cx="9144000" cy="29170"/>
          </a:xfrm>
          <a:prstGeom prst="rect">
            <a:avLst/>
          </a:prstGeom>
          <a:gradFill rotWithShape="1">
            <a:gsLst>
              <a:gs pos="0">
                <a:srgbClr val="E8A020">
                  <a:alpha val="20000"/>
                </a:srgbClr>
              </a:gs>
              <a:gs pos="50000">
                <a:srgbClr val="E8A020"/>
              </a:gs>
              <a:gs pos="100000">
                <a:srgbClr val="E8A020">
                  <a:alpha val="20000"/>
                </a:srgbClr>
              </a:gs>
            </a:gsLst>
            <a:lin ang="0" scaled="1"/>
          </a:gradFill>
          <a:ln/>
        </p:spPr>
        <p:txBody>
          <a:bodyPr wrap="none" rtlCol="0" anchor="t"/>
          <a:lstStyle/>
          <a:p>
            <a:pPr marL="0" indent="0">
              <a:buNone/>
            </a:pPr>
            <a:endParaRPr lang="en-US" dirty="0"/>
          </a:p>
        </p:txBody>
      </p:sp>
      <p:sp>
        <p:nvSpPr>
          <p:cNvPr id="5" name="Text 3"/>
          <p:cNvSpPr/>
          <p:nvPr/>
        </p:nvSpPr>
        <p:spPr>
          <a:xfrm>
            <a:off x="277053" y="1097611"/>
            <a:ext cx="21580" cy="390950"/>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6" name="Text 4"/>
          <p:cNvSpPr/>
          <p:nvPr/>
        </p:nvSpPr>
        <p:spPr>
          <a:xfrm>
            <a:off x="271475" y="1633876"/>
            <a:ext cx="21580" cy="267024"/>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dirty="0"/>
          </a:p>
        </p:txBody>
      </p:sp>
      <p:sp>
        <p:nvSpPr>
          <p:cNvPr id="7" name="Text 5"/>
          <p:cNvSpPr/>
          <p:nvPr/>
        </p:nvSpPr>
        <p:spPr>
          <a:xfrm>
            <a:off x="265901" y="2147055"/>
            <a:ext cx="21580" cy="323099"/>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8" name="Text 6"/>
          <p:cNvSpPr/>
          <p:nvPr/>
        </p:nvSpPr>
        <p:spPr>
          <a:xfrm>
            <a:off x="274964" y="2612018"/>
            <a:ext cx="21580" cy="323099"/>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9" name="Text 7"/>
          <p:cNvSpPr/>
          <p:nvPr/>
        </p:nvSpPr>
        <p:spPr>
          <a:xfrm>
            <a:off x="269026" y="3080810"/>
            <a:ext cx="21580" cy="242749"/>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a:p>
        </p:txBody>
      </p:sp>
      <p:sp>
        <p:nvSpPr>
          <p:cNvPr id="10" name="Text 8"/>
          <p:cNvSpPr/>
          <p:nvPr/>
        </p:nvSpPr>
        <p:spPr>
          <a:xfrm>
            <a:off x="429220" y="159559"/>
            <a:ext cx="2659668" cy="230684"/>
          </a:xfrm>
          <a:prstGeom prst="roundRect">
            <a:avLst>
              <a:gd name="adj" fmla="val 19954"/>
            </a:avLst>
          </a:prstGeom>
          <a:solidFill>
            <a:srgbClr val="E8A020">
              <a:alpha val="12000"/>
            </a:srgbClr>
          </a:solidFill>
          <a:ln w="9525">
            <a:solidFill>
              <a:srgbClr val="E8A020">
                <a:alpha val="40000"/>
              </a:srgbClr>
            </a:solidFill>
          </a:ln>
        </p:spPr>
        <p:txBody>
          <a:bodyPr wrap="none" lIns="232638" tIns="29210" rIns="100330" bIns="29210" rtlCol="0" anchor="ctr"/>
          <a:lstStyle/>
          <a:p>
            <a:pPr marL="0" indent="0" algn="l">
              <a:buNone/>
            </a:pPr>
            <a:r>
              <a:rPr lang="en-US" sz="949" b="1" kern="0" spc="58" dirty="0">
                <a:solidFill>
                  <a:srgbClr val="E8A020"/>
                </a:solidFill>
                <a:latin typeface="Calibri Light" pitchFamily="34" charset="0"/>
                <a:ea typeface="Calibri Light" pitchFamily="34" charset="-122"/>
                <a:cs typeface="Calibri Light" pitchFamily="34" charset="-120"/>
              </a:rPr>
              <a:t>FSR  ·  PILLAR 3: READINESS ASSESSMENT</a:t>
            </a:r>
            <a:endParaRPr lang="en-US" sz="949"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0341" y="299600"/>
            <a:ext cx="132588" cy="132588"/>
          </a:xfrm>
          <a:prstGeom prst="rect">
            <a:avLst/>
          </a:prstGeom>
        </p:spPr>
      </p:pic>
      <p:sp>
        <p:nvSpPr>
          <p:cNvPr id="12" name="Text 9"/>
          <p:cNvSpPr/>
          <p:nvPr/>
        </p:nvSpPr>
        <p:spPr>
          <a:xfrm>
            <a:off x="278451" y="503337"/>
            <a:ext cx="8865549" cy="278904"/>
          </a:xfrm>
          <a:prstGeom prst="rect">
            <a:avLst/>
          </a:prstGeom>
          <a:noFill/>
          <a:ln/>
        </p:spPr>
        <p:txBody>
          <a:bodyPr wrap="none" lIns="0" tIns="0" rIns="0" bIns="0" rtlCol="0" anchor="t"/>
          <a:lstStyle/>
          <a:p>
            <a:pPr marL="0" indent="0" algn="l">
              <a:lnSpc>
                <a:spcPts val="2197"/>
              </a:lnSpc>
              <a:buNone/>
            </a:pPr>
            <a:r>
              <a:rPr lang="en-US" sz="1910" b="1" kern="0" spc="-19">
                <a:solidFill>
                  <a:srgbClr val="0D1B3E"/>
                </a:solidFill>
                <a:latin typeface="Calibri Light" pitchFamily="34" charset="0"/>
                <a:ea typeface="Calibri Light" pitchFamily="34" charset="-122"/>
                <a:cs typeface="Calibri Light" pitchFamily="34" charset="-120"/>
              </a:rPr>
              <a:t>Pillar 3 — Readiness Assessment</a:t>
            </a:r>
            <a:endParaRPr lang="en-US" sz="1910"/>
          </a:p>
        </p:txBody>
      </p:sp>
      <p:sp>
        <p:nvSpPr>
          <p:cNvPr id="13" name="Text 10"/>
          <p:cNvSpPr/>
          <p:nvPr/>
        </p:nvSpPr>
        <p:spPr>
          <a:xfrm>
            <a:off x="429220" y="825401"/>
            <a:ext cx="3714750" cy="13841"/>
          </a:xfrm>
          <a:prstGeom prst="roundRect">
            <a:avLst>
              <a:gd name="adj" fmla="val 100932"/>
            </a:avLst>
          </a:prstGeom>
          <a:gradFill rotWithShape="1">
            <a:gsLst>
              <a:gs pos="0">
                <a:srgbClr val="E8A020"/>
              </a:gs>
              <a:gs pos="100000">
                <a:srgbClr val="E8A020">
                  <a:alpha val="10000"/>
                </a:srgbClr>
              </a:gs>
            </a:gsLst>
            <a:lin ang="0" scaled="1"/>
          </a:gradFill>
          <a:ln/>
        </p:spPr>
        <p:txBody>
          <a:bodyPr wrap="none" rtlCol="0" anchor="t"/>
          <a:lstStyle/>
          <a:p>
            <a:pPr marL="0" indent="0">
              <a:buNone/>
            </a:pPr>
            <a:endParaRPr lang="en-US"/>
          </a:p>
        </p:txBody>
      </p:sp>
      <p:sp>
        <p:nvSpPr>
          <p:cNvPr id="14" name="Text 11"/>
          <p:cNvSpPr/>
          <p:nvPr/>
        </p:nvSpPr>
        <p:spPr>
          <a:xfrm>
            <a:off x="438021" y="887852"/>
            <a:ext cx="2075812" cy="178290"/>
          </a:xfrm>
          <a:prstGeom prst="rect">
            <a:avLst/>
          </a:prstGeom>
          <a:noFill/>
          <a:ln/>
        </p:spPr>
        <p:txBody>
          <a:bodyPr wrap="none" lIns="0" tIns="0" rIns="0" bIns="0" rtlCol="0" anchor="ctr"/>
          <a:lstStyle/>
          <a:p>
            <a:pPr marL="0" indent="0" algn="l">
              <a:lnSpc>
                <a:spcPts val="1872"/>
              </a:lnSpc>
              <a:spcBef>
                <a:spcPts val="364"/>
              </a:spcBef>
              <a:buNone/>
            </a:pPr>
            <a:r>
              <a:rPr lang="en-US" sz="1248" b="1" kern="0" spc="10" dirty="0">
                <a:solidFill>
                  <a:schemeClr val="accent2">
                    <a:lumMod val="75000"/>
                  </a:schemeClr>
                </a:solidFill>
                <a:latin typeface="Calibri Light" pitchFamily="34" charset="0"/>
                <a:ea typeface="Calibri Light" pitchFamily="34" charset="-122"/>
                <a:cs typeface="Calibri Light" pitchFamily="34" charset="-120"/>
              </a:rPr>
              <a:t>Honest Capacity Takes Courage</a:t>
            </a:r>
            <a:endParaRPr lang="en-US" sz="1248" dirty="0">
              <a:solidFill>
                <a:schemeClr val="accent2">
                  <a:lumMod val="75000"/>
                </a:schemeClr>
              </a:solidFill>
            </a:endParaRPr>
          </a:p>
        </p:txBody>
      </p:sp>
      <p:sp>
        <p:nvSpPr>
          <p:cNvPr id="15" name="Text 12"/>
          <p:cNvSpPr/>
          <p:nvPr/>
        </p:nvSpPr>
        <p:spPr>
          <a:xfrm>
            <a:off x="432445" y="1133959"/>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16" name="Text 13"/>
          <p:cNvSpPr/>
          <p:nvPr/>
        </p:nvSpPr>
        <p:spPr>
          <a:xfrm>
            <a:off x="553045" y="1282426"/>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1</a:t>
            </a:r>
            <a:endParaRPr lang="en-US" sz="806"/>
          </a:p>
        </p:txBody>
      </p:sp>
      <p:sp>
        <p:nvSpPr>
          <p:cNvPr id="17" name="Text 14"/>
          <p:cNvSpPr/>
          <p:nvPr/>
        </p:nvSpPr>
        <p:spPr>
          <a:xfrm>
            <a:off x="838795" y="123384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5302" y="1310430"/>
            <a:ext cx="132588" cy="132588"/>
          </a:xfrm>
          <a:prstGeom prst="rect">
            <a:avLst/>
          </a:prstGeom>
        </p:spPr>
      </p:pic>
      <p:sp>
        <p:nvSpPr>
          <p:cNvPr id="19" name="Text 15"/>
          <p:cNvSpPr/>
          <p:nvPr/>
        </p:nvSpPr>
        <p:spPr>
          <a:xfrm>
            <a:off x="1238845" y="1192119"/>
            <a:ext cx="6745218"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DATA READINESS</a:t>
            </a:r>
            <a:endParaRPr lang="en-US" sz="988" dirty="0">
              <a:solidFill>
                <a:schemeClr val="accent2">
                  <a:lumMod val="75000"/>
                </a:schemeClr>
              </a:solidFill>
            </a:endParaRPr>
          </a:p>
        </p:txBody>
      </p:sp>
      <p:sp>
        <p:nvSpPr>
          <p:cNvPr id="20" name="Text 16"/>
          <p:cNvSpPr/>
          <p:nvPr/>
        </p:nvSpPr>
        <p:spPr>
          <a:xfrm>
            <a:off x="1238845" y="1337119"/>
            <a:ext cx="6745218" cy="154484"/>
          </a:xfrm>
          <a:prstGeom prst="rect">
            <a:avLst/>
          </a:prstGeom>
          <a:noFill/>
          <a:ln/>
        </p:spPr>
        <p:txBody>
          <a:bodyPr wrap="non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Do you have the performance metrics funders require — collected </a:t>
            </a:r>
            <a:r>
              <a:rPr lang="en-US" sz="1131" b="1" dirty="0">
                <a:solidFill>
                  <a:srgbClr val="E8A020"/>
                </a:solidFill>
                <a:latin typeface="Calibri" pitchFamily="34" charset="0"/>
                <a:ea typeface="Calibri" pitchFamily="34" charset="-122"/>
                <a:cs typeface="Calibri" pitchFamily="34" charset="-120"/>
              </a:rPr>
              <a:t>before they ask</a:t>
            </a:r>
            <a:r>
              <a:rPr lang="en-US" sz="1131" dirty="0">
                <a:solidFill>
                  <a:srgbClr val="0D1B3E"/>
                </a:solidFill>
                <a:latin typeface="Calibri" pitchFamily="34" charset="0"/>
                <a:ea typeface="Calibri" pitchFamily="34" charset="-122"/>
                <a:cs typeface="Calibri" pitchFamily="34" charset="-120"/>
              </a:rPr>
              <a:t>?</a:t>
            </a:r>
            <a:endParaRPr lang="en-US" sz="1131" dirty="0"/>
          </a:p>
        </p:txBody>
      </p:sp>
      <p:sp>
        <p:nvSpPr>
          <p:cNvPr id="21" name="Text 17"/>
          <p:cNvSpPr/>
          <p:nvPr/>
        </p:nvSpPr>
        <p:spPr>
          <a:xfrm>
            <a:off x="423644" y="1668332"/>
            <a:ext cx="8285559" cy="410000"/>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22" name="Text 18"/>
          <p:cNvSpPr/>
          <p:nvPr/>
        </p:nvSpPr>
        <p:spPr>
          <a:xfrm>
            <a:off x="553045" y="1734426"/>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2</a:t>
            </a:r>
            <a:endParaRPr lang="en-US" sz="806"/>
          </a:p>
        </p:txBody>
      </p:sp>
      <p:sp>
        <p:nvSpPr>
          <p:cNvPr id="23" name="Text 19"/>
          <p:cNvSpPr/>
          <p:nvPr/>
        </p:nvSpPr>
        <p:spPr>
          <a:xfrm>
            <a:off x="838795" y="168584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5302" y="1762430"/>
            <a:ext cx="132588" cy="132588"/>
          </a:xfrm>
          <a:prstGeom prst="rect">
            <a:avLst/>
          </a:prstGeom>
        </p:spPr>
      </p:pic>
      <p:sp>
        <p:nvSpPr>
          <p:cNvPr id="25" name="Text 20"/>
          <p:cNvSpPr/>
          <p:nvPr/>
        </p:nvSpPr>
        <p:spPr>
          <a:xfrm>
            <a:off x="1201052" y="1681148"/>
            <a:ext cx="5828369" cy="218266"/>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PROGRAM READINESS</a:t>
            </a:r>
            <a:endParaRPr lang="en-US" sz="988" dirty="0">
              <a:solidFill>
                <a:schemeClr val="accent2">
                  <a:lumMod val="75000"/>
                </a:schemeClr>
              </a:solidFill>
            </a:endParaRPr>
          </a:p>
        </p:txBody>
      </p:sp>
      <p:sp>
        <p:nvSpPr>
          <p:cNvPr id="26" name="Text 21"/>
          <p:cNvSpPr/>
          <p:nvPr/>
        </p:nvSpPr>
        <p:spPr>
          <a:xfrm>
            <a:off x="1199815" y="1837461"/>
            <a:ext cx="7469398" cy="183125"/>
          </a:xfrm>
          <a:prstGeom prst="rect">
            <a:avLst/>
          </a:prstGeom>
          <a:noFill/>
          <a:ln/>
        </p:spPr>
        <p:txBody>
          <a:bodyPr wrap="squar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Is your model </a:t>
            </a:r>
            <a:r>
              <a:rPr lang="en-US" sz="1131" b="1" dirty="0">
                <a:solidFill>
                  <a:srgbClr val="E8A020"/>
                </a:solidFill>
                <a:latin typeface="Calibri" pitchFamily="34" charset="0"/>
                <a:ea typeface="Calibri" pitchFamily="34" charset="-122"/>
                <a:cs typeface="Calibri" pitchFamily="34" charset="-120"/>
              </a:rPr>
              <a:t>documented, evidence-informed, and fidelity-assured</a:t>
            </a:r>
            <a:r>
              <a:rPr lang="en-US" sz="1131" dirty="0">
                <a:solidFill>
                  <a:srgbClr val="0D1B3E"/>
                </a:solidFill>
                <a:latin typeface="Calibri" pitchFamily="34" charset="0"/>
                <a:ea typeface="Calibri" pitchFamily="34" charset="-122"/>
                <a:cs typeface="Calibri" pitchFamily="34" charset="-120"/>
              </a:rPr>
              <a:t>?</a:t>
            </a:r>
            <a:endParaRPr lang="en-US" sz="1131" dirty="0"/>
          </a:p>
        </p:txBody>
      </p:sp>
      <p:sp>
        <p:nvSpPr>
          <p:cNvPr id="27" name="Text 22"/>
          <p:cNvSpPr/>
          <p:nvPr/>
        </p:nvSpPr>
        <p:spPr>
          <a:xfrm>
            <a:off x="431657" y="2147338"/>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28" name="Text 23"/>
          <p:cNvSpPr/>
          <p:nvPr/>
        </p:nvSpPr>
        <p:spPr>
          <a:xfrm>
            <a:off x="553045" y="2186426"/>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3</a:t>
            </a:r>
            <a:endParaRPr lang="en-US" sz="806"/>
          </a:p>
        </p:txBody>
      </p:sp>
      <p:sp>
        <p:nvSpPr>
          <p:cNvPr id="29" name="Text 24"/>
          <p:cNvSpPr/>
          <p:nvPr/>
        </p:nvSpPr>
        <p:spPr>
          <a:xfrm>
            <a:off x="838795" y="213784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dirty="0"/>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5302" y="2214430"/>
            <a:ext cx="132588" cy="132588"/>
          </a:xfrm>
          <a:prstGeom prst="rect">
            <a:avLst/>
          </a:prstGeom>
        </p:spPr>
      </p:pic>
      <p:sp>
        <p:nvSpPr>
          <p:cNvPr id="31" name="Text 25"/>
          <p:cNvSpPr/>
          <p:nvPr/>
        </p:nvSpPr>
        <p:spPr>
          <a:xfrm>
            <a:off x="1238845" y="2140724"/>
            <a:ext cx="7014850" cy="144810"/>
          </a:xfrm>
          <a:prstGeom prst="rect">
            <a:avLst/>
          </a:prstGeom>
          <a:noFill/>
          <a:ln/>
        </p:spPr>
        <p:txBody>
          <a:bodyPr wrap="none" lIns="0" tIns="0" rIns="0" bIns="0" rtlCol="0" anchor="t"/>
          <a:lstStyle/>
          <a:p>
            <a:pPr marL="0" indent="0" algn="l">
              <a:lnSpc>
                <a:spcPts val="1482"/>
              </a:lnSpc>
              <a:buNone/>
            </a:pPr>
            <a:r>
              <a:rPr lang="en-US" sz="988" b="1" kern="0" spc="30">
                <a:solidFill>
                  <a:schemeClr val="accent2">
                    <a:lumMod val="75000"/>
                  </a:schemeClr>
                </a:solidFill>
                <a:latin typeface="Calibri Light" pitchFamily="34" charset="0"/>
                <a:ea typeface="Calibri Light" pitchFamily="34" charset="-122"/>
                <a:cs typeface="Calibri Light" pitchFamily="34" charset="-120"/>
              </a:rPr>
              <a:t>NARRATIVE READINESS</a:t>
            </a:r>
            <a:endParaRPr lang="en-US" sz="988">
              <a:solidFill>
                <a:schemeClr val="accent2">
                  <a:lumMod val="75000"/>
                </a:schemeClr>
              </a:solidFill>
            </a:endParaRPr>
          </a:p>
        </p:txBody>
      </p:sp>
      <p:sp>
        <p:nvSpPr>
          <p:cNvPr id="32" name="Text 26"/>
          <p:cNvSpPr/>
          <p:nvPr/>
        </p:nvSpPr>
        <p:spPr>
          <a:xfrm>
            <a:off x="1238845" y="2285724"/>
            <a:ext cx="7014850" cy="154484"/>
          </a:xfrm>
          <a:prstGeom prst="rect">
            <a:avLst/>
          </a:prstGeom>
          <a:noFill/>
          <a:ln/>
        </p:spPr>
        <p:txBody>
          <a:bodyPr wrap="non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Is your program story compelling, current, funder-appropriate, and </a:t>
            </a:r>
            <a:r>
              <a:rPr lang="en-US" sz="1131" b="1">
                <a:solidFill>
                  <a:srgbClr val="E8A020"/>
                </a:solidFill>
                <a:latin typeface="Calibri" pitchFamily="34" charset="0"/>
                <a:ea typeface="Calibri" pitchFamily="34" charset="-122"/>
                <a:cs typeface="Calibri" pitchFamily="34" charset="-120"/>
              </a:rPr>
              <a:t>told with data</a:t>
            </a:r>
            <a:r>
              <a:rPr lang="en-US" sz="1131">
                <a:solidFill>
                  <a:srgbClr val="0D1B3E"/>
                </a:solidFill>
                <a:latin typeface="Calibri" pitchFamily="34" charset="0"/>
                <a:ea typeface="Calibri" pitchFamily="34" charset="-122"/>
                <a:cs typeface="Calibri" pitchFamily="34" charset="-120"/>
              </a:rPr>
              <a:t>?</a:t>
            </a:r>
            <a:endParaRPr lang="en-US" sz="1131"/>
          </a:p>
        </p:txBody>
      </p:sp>
      <p:sp>
        <p:nvSpPr>
          <p:cNvPr id="33" name="Text 27"/>
          <p:cNvSpPr/>
          <p:nvPr/>
        </p:nvSpPr>
        <p:spPr>
          <a:xfrm>
            <a:off x="433701" y="2611364"/>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34" name="Text 28"/>
          <p:cNvSpPr/>
          <p:nvPr/>
        </p:nvSpPr>
        <p:spPr>
          <a:xfrm>
            <a:off x="553045" y="2666306"/>
            <a:ext cx="171450" cy="188595"/>
          </a:xfrm>
          <a:prstGeom prst="ellipse">
            <a:avLst/>
          </a:prstGeom>
          <a:solidFill>
            <a:srgbClr val="E8A020"/>
          </a:solidFill>
          <a:ln/>
        </p:spPr>
        <p:txBody>
          <a:bodyPr wrap="none" lIns="0" tIns="0" rIns="0" bIns="0" rtlCol="0" anchor="ctr"/>
          <a:lstStyle/>
          <a:p>
            <a:pPr marL="0" indent="0" algn="ctr">
              <a:buNone/>
            </a:pPr>
            <a:r>
              <a:rPr lang="en-US" sz="806" b="1" dirty="0">
                <a:solidFill>
                  <a:srgbClr val="FFFFFF"/>
                </a:solidFill>
                <a:latin typeface="Calibri" pitchFamily="34" charset="0"/>
                <a:ea typeface="Calibri" pitchFamily="34" charset="-122"/>
                <a:cs typeface="Calibri" pitchFamily="34" charset="-120"/>
              </a:rPr>
              <a:t>4</a:t>
            </a:r>
            <a:endParaRPr lang="en-US" sz="806" dirty="0"/>
          </a:p>
        </p:txBody>
      </p:sp>
      <p:sp>
        <p:nvSpPr>
          <p:cNvPr id="35" name="Text 29"/>
          <p:cNvSpPr/>
          <p:nvPr/>
        </p:nvSpPr>
        <p:spPr>
          <a:xfrm>
            <a:off x="838795" y="2667910"/>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dirty="0"/>
          </a:p>
        </p:txBody>
      </p:sp>
      <p:pic>
        <p:nvPicPr>
          <p:cNvPr id="3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5302" y="2738918"/>
            <a:ext cx="132588" cy="132588"/>
          </a:xfrm>
          <a:prstGeom prst="rect">
            <a:avLst/>
          </a:prstGeom>
        </p:spPr>
      </p:pic>
      <p:sp>
        <p:nvSpPr>
          <p:cNvPr id="37" name="Text 30"/>
          <p:cNvSpPr/>
          <p:nvPr/>
        </p:nvSpPr>
        <p:spPr>
          <a:xfrm>
            <a:off x="1238845" y="2626180"/>
            <a:ext cx="6309747"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STAFF READINESS</a:t>
            </a:r>
            <a:endParaRPr lang="en-US" sz="988" dirty="0">
              <a:solidFill>
                <a:schemeClr val="accent2">
                  <a:lumMod val="75000"/>
                </a:schemeClr>
              </a:solidFill>
            </a:endParaRPr>
          </a:p>
        </p:txBody>
      </p:sp>
      <p:sp>
        <p:nvSpPr>
          <p:cNvPr id="38" name="Text 31"/>
          <p:cNvSpPr/>
          <p:nvPr/>
        </p:nvSpPr>
        <p:spPr>
          <a:xfrm>
            <a:off x="1238845" y="2771180"/>
            <a:ext cx="6309747" cy="154484"/>
          </a:xfrm>
          <a:prstGeom prst="rect">
            <a:avLst/>
          </a:prstGeom>
          <a:noFill/>
          <a:ln/>
        </p:spPr>
        <p:txBody>
          <a:bodyPr wrap="non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Do you have the </a:t>
            </a:r>
            <a:r>
              <a:rPr lang="en-US" sz="1131" b="1" dirty="0">
                <a:solidFill>
                  <a:srgbClr val="E8A020"/>
                </a:solidFill>
                <a:latin typeface="Calibri" pitchFamily="34" charset="0"/>
                <a:ea typeface="Calibri" pitchFamily="34" charset="-122"/>
                <a:cs typeface="Calibri" pitchFamily="34" charset="-120"/>
              </a:rPr>
              <a:t>human capacity</a:t>
            </a:r>
            <a:r>
              <a:rPr lang="en-US" sz="1131" dirty="0">
                <a:solidFill>
                  <a:srgbClr val="0D1B3E"/>
                </a:solidFill>
                <a:latin typeface="Calibri" pitchFamily="34" charset="0"/>
                <a:ea typeface="Calibri" pitchFamily="34" charset="-122"/>
                <a:cs typeface="Calibri" pitchFamily="34" charset="-120"/>
              </a:rPr>
              <a:t> to write, deliver, manage, and report on this grant?</a:t>
            </a:r>
            <a:endParaRPr lang="en-US" sz="1131" dirty="0"/>
          </a:p>
        </p:txBody>
      </p:sp>
      <p:sp>
        <p:nvSpPr>
          <p:cNvPr id="39" name="Text 32"/>
          <p:cNvSpPr/>
          <p:nvPr/>
        </p:nvSpPr>
        <p:spPr>
          <a:xfrm>
            <a:off x="429223" y="3057788"/>
            <a:ext cx="8285559" cy="410000"/>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40" name="Text 33"/>
          <p:cNvSpPr/>
          <p:nvPr/>
        </p:nvSpPr>
        <p:spPr>
          <a:xfrm>
            <a:off x="553048" y="3140610"/>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5</a:t>
            </a:r>
            <a:endParaRPr lang="en-US" sz="806"/>
          </a:p>
        </p:txBody>
      </p:sp>
      <p:sp>
        <p:nvSpPr>
          <p:cNvPr id="41" name="Text 34"/>
          <p:cNvSpPr/>
          <p:nvPr/>
        </p:nvSpPr>
        <p:spPr>
          <a:xfrm>
            <a:off x="838798" y="3092033"/>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dirty="0"/>
          </a:p>
        </p:txBody>
      </p:sp>
      <p:pic>
        <p:nvPicPr>
          <p:cNvPr id="4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5305" y="3168614"/>
            <a:ext cx="132588" cy="132588"/>
          </a:xfrm>
          <a:prstGeom prst="rect">
            <a:avLst/>
          </a:prstGeom>
        </p:spPr>
      </p:pic>
      <p:sp>
        <p:nvSpPr>
          <p:cNvPr id="43" name="Text 35"/>
          <p:cNvSpPr/>
          <p:nvPr/>
        </p:nvSpPr>
        <p:spPr>
          <a:xfrm>
            <a:off x="1230823" y="3092033"/>
            <a:ext cx="1397955" cy="213296"/>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FINANCIAL READINESS</a:t>
            </a:r>
            <a:endParaRPr lang="en-US" sz="988" dirty="0">
              <a:solidFill>
                <a:schemeClr val="accent2">
                  <a:lumMod val="75000"/>
                </a:schemeClr>
              </a:solidFill>
            </a:endParaRPr>
          </a:p>
        </p:txBody>
      </p:sp>
      <p:sp>
        <p:nvSpPr>
          <p:cNvPr id="44" name="Text 36"/>
          <p:cNvSpPr/>
          <p:nvPr/>
        </p:nvSpPr>
        <p:spPr>
          <a:xfrm>
            <a:off x="1230823" y="3259414"/>
            <a:ext cx="6940572" cy="159598"/>
          </a:xfrm>
          <a:prstGeom prst="rect">
            <a:avLst/>
          </a:prstGeom>
          <a:noFill/>
          <a:ln/>
        </p:spPr>
        <p:txBody>
          <a:bodyPr wrap="squar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Can your </a:t>
            </a:r>
            <a:r>
              <a:rPr lang="en-US" sz="1131" b="1" dirty="0">
                <a:solidFill>
                  <a:srgbClr val="E8A020"/>
                </a:solidFill>
                <a:latin typeface="Calibri" pitchFamily="34" charset="0"/>
                <a:ea typeface="Calibri" pitchFamily="34" charset="-122"/>
                <a:cs typeface="Calibri" pitchFamily="34" charset="-120"/>
              </a:rPr>
              <a:t>fiscal infrastructure</a:t>
            </a:r>
            <a:r>
              <a:rPr lang="en-US" sz="1131" dirty="0">
                <a:solidFill>
                  <a:srgbClr val="0D1B3E"/>
                </a:solidFill>
                <a:latin typeface="Calibri" pitchFamily="34" charset="0"/>
                <a:ea typeface="Calibri" pitchFamily="34" charset="-122"/>
                <a:cs typeface="Calibri" pitchFamily="34" charset="-120"/>
              </a:rPr>
              <a:t> manage the grant’s budget, match, and reporting requirements?</a:t>
            </a:r>
            <a:endParaRPr lang="en-US" sz="1131" dirty="0"/>
          </a:p>
        </p:txBody>
      </p:sp>
      <p:sp>
        <p:nvSpPr>
          <p:cNvPr id="45" name="Text 37"/>
          <p:cNvSpPr/>
          <p:nvPr/>
        </p:nvSpPr>
        <p:spPr>
          <a:xfrm>
            <a:off x="298633" y="4118490"/>
            <a:ext cx="8285559" cy="326678"/>
          </a:xfrm>
          <a:prstGeom prst="roundRect">
            <a:avLst>
              <a:gd name="adj" fmla="val 17494"/>
            </a:avLst>
          </a:prstGeom>
          <a:solidFill>
            <a:srgbClr val="E8A020">
              <a:alpha val="10000"/>
            </a:srgbClr>
          </a:solidFill>
          <a:ln w="9525">
            <a:solidFill>
              <a:srgbClr val="E8A020">
                <a:alpha val="50000"/>
              </a:srgbClr>
            </a:solidFill>
          </a:ln>
        </p:spPr>
        <p:txBody>
          <a:bodyPr wrap="square" rtlCol="0" anchor="t"/>
          <a:lstStyle/>
          <a:p>
            <a:pPr marL="0" indent="0">
              <a:buNone/>
            </a:pPr>
            <a:endParaRPr lang="en-US" dirty="0"/>
          </a:p>
        </p:txBody>
      </p:sp>
      <p:sp>
        <p:nvSpPr>
          <p:cNvPr id="100" name="Row6_bg"/>
          <p:cNvSpPr/>
          <p:nvPr/>
        </p:nvSpPr>
        <p:spPr>
          <a:xfrm>
            <a:off x="429220" y="3509788"/>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101" name="Row6_circle"/>
          <p:cNvSpPr/>
          <p:nvPr/>
        </p:nvSpPr>
        <p:spPr>
          <a:xfrm>
            <a:off x="553045" y="3620490"/>
            <a:ext cx="171450" cy="188595"/>
          </a:xfrm>
          <a:prstGeom prst="ellipse">
            <a:avLst/>
          </a:prstGeom>
          <a:solidFill>
            <a:srgbClr val="E8A020"/>
          </a:solidFill>
          <a:ln/>
        </p:spPr>
        <p:txBody>
          <a:bodyPr wrap="none" lIns="0" tIns="0" rIns="0" bIns="0" rtlCol="0" anchor="ctr"/>
          <a:lstStyle/>
          <a:p>
            <a:pPr marL="0" indent="0" algn="ctr">
              <a:buNone/>
            </a:pPr>
            <a:r>
              <a:rPr lang="en-US" sz="806" b="1" dirty="0">
                <a:solidFill>
                  <a:srgbClr val="FFFFFF"/>
                </a:solidFill>
                <a:latin typeface="Calibri" pitchFamily="34" charset="0"/>
                <a:ea typeface="Calibri" pitchFamily="34" charset="-122"/>
                <a:cs typeface="Calibri" pitchFamily="34" charset="-120"/>
              </a:rPr>
              <a:t>6</a:t>
            </a:r>
            <a:endParaRPr lang="en-US" sz="806" dirty="0"/>
          </a:p>
        </p:txBody>
      </p:sp>
      <p:sp>
        <p:nvSpPr>
          <p:cNvPr id="102" name="Row6_icon_bg"/>
          <p:cNvSpPr/>
          <p:nvPr/>
        </p:nvSpPr>
        <p:spPr>
          <a:xfrm>
            <a:off x="838795" y="3582785"/>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103" name="Row6_icon"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302" y="3676368"/>
            <a:ext cx="132588" cy="132588"/>
          </a:xfrm>
          <a:prstGeom prst="rect">
            <a:avLst/>
          </a:prstGeom>
        </p:spPr>
      </p:pic>
      <p:sp>
        <p:nvSpPr>
          <p:cNvPr id="104" name="Row6_title"/>
          <p:cNvSpPr/>
          <p:nvPr/>
        </p:nvSpPr>
        <p:spPr>
          <a:xfrm>
            <a:off x="1238845" y="3574788"/>
            <a:ext cx="6745218" cy="144810"/>
          </a:xfrm>
          <a:prstGeom prst="rect">
            <a:avLst/>
          </a:prstGeom>
          <a:noFill/>
          <a:ln/>
        </p:spPr>
        <p:txBody>
          <a:bodyPr wrap="none" lIns="0" tIns="0" rIns="0" bIns="0" rtlCol="0" anchor="t"/>
          <a:lstStyle/>
          <a:p>
            <a:pPr marL="0" indent="0" algn="l">
              <a:lnSpc>
                <a:spcPts val="1482"/>
              </a:lnSpc>
              <a:buNone/>
            </a:pPr>
            <a:r>
              <a:rPr lang="en-US" sz="988" b="1" kern="0" spc="30">
                <a:solidFill>
                  <a:schemeClr val="accent2">
                    <a:lumMod val="75000"/>
                  </a:schemeClr>
                </a:solidFill>
                <a:latin typeface="Calibri Light" pitchFamily="34" charset="0"/>
                <a:ea typeface="Calibri Light" pitchFamily="34" charset="-122"/>
                <a:cs typeface="Calibri Light" pitchFamily="34" charset="-120"/>
              </a:rPr>
              <a:t>PARTNERSHIP READINESS</a:t>
            </a:r>
            <a:endParaRPr lang="en-US" sz="988">
              <a:solidFill>
                <a:schemeClr val="accent2">
                  <a:lumMod val="75000"/>
                </a:schemeClr>
              </a:solidFill>
            </a:endParaRPr>
          </a:p>
        </p:txBody>
      </p:sp>
      <p:sp>
        <p:nvSpPr>
          <p:cNvPr id="105" name="Row6_desc"/>
          <p:cNvSpPr/>
          <p:nvPr/>
        </p:nvSpPr>
        <p:spPr>
          <a:xfrm>
            <a:off x="1238845" y="3719788"/>
            <a:ext cx="6745218" cy="154484"/>
          </a:xfrm>
          <a:prstGeom prst="rect">
            <a:avLst/>
          </a:prstGeom>
          <a:noFill/>
          <a:ln/>
        </p:spPr>
        <p:txBody>
          <a:bodyPr wrap="non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Do you have </a:t>
            </a:r>
            <a:r>
              <a:rPr lang="en-US" sz="1131" b="1" dirty="0">
                <a:solidFill>
                  <a:srgbClr val="E8A020"/>
                </a:solidFill>
                <a:latin typeface="Calibri" pitchFamily="34" charset="0"/>
                <a:ea typeface="Calibri" pitchFamily="34" charset="-122"/>
                <a:cs typeface="Calibri" pitchFamily="34" charset="-120"/>
              </a:rPr>
              <a:t>executed MOUs</a:t>
            </a:r>
            <a:r>
              <a:rPr lang="en-US" sz="1131" dirty="0">
                <a:solidFill>
                  <a:srgbClr val="0D1B3E"/>
                </a:solidFill>
                <a:latin typeface="Calibri" pitchFamily="34" charset="0"/>
                <a:ea typeface="Calibri" pitchFamily="34" charset="-122"/>
                <a:cs typeface="Calibri" pitchFamily="34" charset="-120"/>
              </a:rPr>
              <a:t> with the partners required by the RFP?</a:t>
            </a:r>
            <a:endParaRPr lang="en-US" sz="1131" dirty="0"/>
          </a:p>
        </p:txBody>
      </p:sp>
      <p:sp>
        <p:nvSpPr>
          <p:cNvPr id="106" name="Row6_accent"/>
          <p:cNvSpPr/>
          <p:nvPr/>
        </p:nvSpPr>
        <p:spPr>
          <a:xfrm>
            <a:off x="260323" y="3531504"/>
            <a:ext cx="21580" cy="355409"/>
          </a:xfrm>
          <a:custGeom>
            <a:avLst/>
            <a:gdLst/>
            <a:ahLst/>
            <a:cxnLst/>
            <a:rect l="l" t="t" r="r" b="b"/>
            <a:pathLst>
              <a:path w="21580" h="390950">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pic>
        <p:nvPicPr>
          <p:cNvPr id="46"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7906" y="4220505"/>
            <a:ext cx="132588" cy="132588"/>
          </a:xfrm>
          <a:prstGeom prst="rect">
            <a:avLst/>
          </a:prstGeom>
        </p:spPr>
      </p:pic>
      <p:sp>
        <p:nvSpPr>
          <p:cNvPr id="47" name="Text 38"/>
          <p:cNvSpPr/>
          <p:nvPr/>
        </p:nvSpPr>
        <p:spPr>
          <a:xfrm>
            <a:off x="609531" y="4169840"/>
            <a:ext cx="5300615" cy="215645"/>
          </a:xfrm>
          <a:prstGeom prst="rect">
            <a:avLst/>
          </a:prstGeom>
          <a:noFill/>
          <a:ln/>
        </p:spPr>
        <p:txBody>
          <a:bodyPr wrap="none" lIns="0" tIns="0" rIns="0" bIns="0" rtlCol="0" anchor="ctr"/>
          <a:lstStyle/>
          <a:p>
            <a:pPr marL="0" indent="0" algn="l">
              <a:lnSpc>
                <a:spcPts val="1696"/>
              </a:lnSpc>
              <a:buNone/>
            </a:pPr>
            <a:r>
              <a:rPr lang="en-US" sz="1131" b="1" dirty="0">
                <a:solidFill>
                  <a:srgbClr val="E8A020"/>
                </a:solidFill>
                <a:latin typeface="Calibri" pitchFamily="34" charset="0"/>
                <a:ea typeface="Calibri" pitchFamily="34" charset="-122"/>
                <a:cs typeface="Calibri" pitchFamily="34" charset="-120"/>
              </a:rPr>
              <a:t>Readiness is not bragging</a:t>
            </a:r>
            <a:r>
              <a:rPr lang="en-US" sz="1131" dirty="0">
                <a:solidFill>
                  <a:srgbClr val="0D1B3E"/>
                </a:solidFill>
                <a:latin typeface="Calibri" pitchFamily="34" charset="0"/>
                <a:ea typeface="Calibri" pitchFamily="34" charset="-122"/>
                <a:cs typeface="Calibri" pitchFamily="34" charset="-120"/>
              </a:rPr>
              <a:t> — it is knowing your truth before the funder discovers it.</a:t>
            </a:r>
            <a:endParaRPr lang="en-US" sz="113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9937" y="66376"/>
            <a:ext cx="9144000" cy="5143500"/>
          </a:xfrm>
          <a:prstGeom prst="rect">
            <a:avLst/>
          </a:prstGeom>
          <a:gradFill rotWithShape="1">
            <a:gsLst>
              <a:gs pos="0">
                <a:srgbClr val="E8A02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0" y="0"/>
            <a:ext cx="9144000" cy="29170"/>
          </a:xfrm>
          <a:prstGeom prst="rect">
            <a:avLst/>
          </a:prstGeom>
          <a:gradFill rotWithShape="1">
            <a:gsLst>
              <a:gs pos="0">
                <a:srgbClr val="E8A020"/>
              </a:gs>
              <a:gs pos="100000">
                <a:srgbClr val="E8A020">
                  <a:alpha val="20000"/>
                </a:srgbClr>
              </a:gs>
            </a:gsLst>
            <a:lin ang="0" scaled="1"/>
          </a:gradFill>
          <a:ln/>
        </p:spPr>
        <p:txBody>
          <a:bodyPr wrap="none" rtlCol="0" anchor="t"/>
          <a:lstStyle/>
          <a:p>
            <a:pPr marL="0" indent="0">
              <a:buNone/>
            </a:pPr>
            <a:endParaRPr lang="en-US" dirty="0"/>
          </a:p>
        </p:txBody>
      </p:sp>
      <p:sp>
        <p:nvSpPr>
          <p:cNvPr id="4" name="Text 2"/>
          <p:cNvSpPr/>
          <p:nvPr/>
        </p:nvSpPr>
        <p:spPr>
          <a:xfrm>
            <a:off x="0" y="5114330"/>
            <a:ext cx="9144000" cy="29170"/>
          </a:xfrm>
          <a:prstGeom prst="rect">
            <a:avLst/>
          </a:prstGeom>
          <a:gradFill rotWithShape="1">
            <a:gsLst>
              <a:gs pos="0">
                <a:srgbClr val="E8A020">
                  <a:alpha val="20000"/>
                </a:srgbClr>
              </a:gs>
              <a:gs pos="50000">
                <a:srgbClr val="E8A020"/>
              </a:gs>
              <a:gs pos="100000">
                <a:srgbClr val="E8A020">
                  <a:alpha val="20000"/>
                </a:srgbClr>
              </a:gs>
            </a:gsLst>
            <a:lin ang="0" scaled="1"/>
          </a:gradFill>
          <a:ln/>
        </p:spPr>
        <p:txBody>
          <a:bodyPr wrap="none" rtlCol="0" anchor="t"/>
          <a:lstStyle/>
          <a:p>
            <a:pPr marL="0" indent="0">
              <a:buNone/>
            </a:pPr>
            <a:endParaRPr lang="en-US" dirty="0"/>
          </a:p>
        </p:txBody>
      </p:sp>
      <p:sp>
        <p:nvSpPr>
          <p:cNvPr id="5" name="Text 3"/>
          <p:cNvSpPr/>
          <p:nvPr/>
        </p:nvSpPr>
        <p:spPr>
          <a:xfrm>
            <a:off x="438745" y="1181249"/>
            <a:ext cx="21580" cy="390950"/>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dirty="0"/>
          </a:p>
        </p:txBody>
      </p:sp>
      <p:sp>
        <p:nvSpPr>
          <p:cNvPr id="6" name="Text 4"/>
          <p:cNvSpPr/>
          <p:nvPr/>
        </p:nvSpPr>
        <p:spPr>
          <a:xfrm>
            <a:off x="438745" y="1633249"/>
            <a:ext cx="21580" cy="390950"/>
          </a:xfrm>
          <a:custGeom>
            <a:avLst/>
            <a:gdLst/>
            <a:ahLst/>
            <a:cxnLst/>
            <a:rect l="l" t="t" r="r" b="b"/>
            <a:pathLst>
              <a:path w="21580" h="625078">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dirty="0"/>
          </a:p>
        </p:txBody>
      </p:sp>
      <p:sp>
        <p:nvSpPr>
          <p:cNvPr id="7" name="Text 5"/>
          <p:cNvSpPr/>
          <p:nvPr/>
        </p:nvSpPr>
        <p:spPr>
          <a:xfrm>
            <a:off x="438745" y="2085249"/>
            <a:ext cx="21580" cy="390950"/>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8" name="Text 6"/>
          <p:cNvSpPr/>
          <p:nvPr/>
        </p:nvSpPr>
        <p:spPr>
          <a:xfrm>
            <a:off x="438745" y="2537249"/>
            <a:ext cx="21580" cy="390950"/>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9" name="Text 7"/>
          <p:cNvSpPr/>
          <p:nvPr/>
        </p:nvSpPr>
        <p:spPr>
          <a:xfrm>
            <a:off x="438745" y="2989249"/>
            <a:ext cx="21580" cy="390950"/>
          </a:xfrm>
          <a:custGeom>
            <a:avLst/>
            <a:gdLst/>
            <a:ahLst/>
            <a:cxnLst/>
            <a:rect l="l" t="t" r="r" b="b"/>
            <a:pathLst>
              <a:path w="21580" h="625078">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a:p>
        </p:txBody>
      </p:sp>
      <p:sp>
        <p:nvSpPr>
          <p:cNvPr id="10" name="Text 8"/>
          <p:cNvSpPr/>
          <p:nvPr/>
        </p:nvSpPr>
        <p:spPr>
          <a:xfrm>
            <a:off x="429220" y="257770"/>
            <a:ext cx="2007465" cy="216396"/>
          </a:xfrm>
          <a:prstGeom prst="roundRect">
            <a:avLst>
              <a:gd name="adj" fmla="val 19954"/>
            </a:avLst>
          </a:prstGeom>
          <a:solidFill>
            <a:srgbClr val="E8A020">
              <a:alpha val="12000"/>
            </a:srgbClr>
          </a:solidFill>
          <a:ln w="9525">
            <a:solidFill>
              <a:srgbClr val="E8A020">
                <a:alpha val="40000"/>
              </a:srgbClr>
            </a:solidFill>
          </a:ln>
        </p:spPr>
        <p:txBody>
          <a:bodyPr wrap="none" lIns="232638" tIns="29210" rIns="100330" bIns="29210" rtlCol="0" anchor="ctr"/>
          <a:lstStyle/>
          <a:p>
            <a:pPr marL="0" indent="0" algn="l">
              <a:buNone/>
            </a:pPr>
            <a:r>
              <a:rPr lang="en-US" sz="949" b="1" kern="0" spc="58">
                <a:solidFill>
                  <a:srgbClr val="E8A020"/>
                </a:solidFill>
                <a:latin typeface="Calibri Light" pitchFamily="34" charset="0"/>
                <a:ea typeface="Calibri Light" pitchFamily="34" charset="-122"/>
                <a:cs typeface="Calibri Light" pitchFamily="34" charset="-120"/>
              </a:rPr>
              <a:t>FSR  ·  PILLARS 4 &amp; 5</a:t>
            </a:r>
            <a:endParaRPr lang="en-US" sz="949"/>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0341" y="299600"/>
            <a:ext cx="132588" cy="132588"/>
          </a:xfrm>
          <a:prstGeom prst="rect">
            <a:avLst/>
          </a:prstGeom>
        </p:spPr>
      </p:pic>
      <p:sp>
        <p:nvSpPr>
          <p:cNvPr id="12" name="Text 9"/>
          <p:cNvSpPr/>
          <p:nvPr/>
        </p:nvSpPr>
        <p:spPr>
          <a:xfrm>
            <a:off x="278451" y="503337"/>
            <a:ext cx="8865549" cy="278904"/>
          </a:xfrm>
          <a:prstGeom prst="rect">
            <a:avLst/>
          </a:prstGeom>
          <a:noFill/>
          <a:ln/>
        </p:spPr>
        <p:txBody>
          <a:bodyPr wrap="none" lIns="0" tIns="0" rIns="0" bIns="0" rtlCol="0" anchor="t"/>
          <a:lstStyle/>
          <a:p>
            <a:pPr marL="0" indent="0" algn="l">
              <a:lnSpc>
                <a:spcPts val="2197"/>
              </a:lnSpc>
              <a:buNone/>
            </a:pPr>
            <a:r>
              <a:rPr lang="en-US" sz="1910" b="1" kern="0" spc="-19">
                <a:solidFill>
                  <a:srgbClr val="0D1B3E"/>
                </a:solidFill>
                <a:latin typeface="Calibri Light" pitchFamily="34" charset="0"/>
                <a:ea typeface="Calibri Light" pitchFamily="34" charset="-122"/>
                <a:cs typeface="Calibri Light" pitchFamily="34" charset="-120"/>
              </a:rPr>
              <a:t>Pillars 4 &amp; 5 — From Response to Learning</a:t>
            </a:r>
            <a:endParaRPr lang="en-US" sz="1910"/>
          </a:p>
        </p:txBody>
      </p:sp>
      <p:sp>
        <p:nvSpPr>
          <p:cNvPr id="13" name="Text 10"/>
          <p:cNvSpPr/>
          <p:nvPr/>
        </p:nvSpPr>
        <p:spPr>
          <a:xfrm>
            <a:off x="429220" y="825401"/>
            <a:ext cx="3714750" cy="13841"/>
          </a:xfrm>
          <a:prstGeom prst="roundRect">
            <a:avLst>
              <a:gd name="adj" fmla="val 100932"/>
            </a:avLst>
          </a:prstGeom>
          <a:gradFill rotWithShape="1">
            <a:gsLst>
              <a:gs pos="0">
                <a:srgbClr val="E8A020"/>
              </a:gs>
              <a:gs pos="100000">
                <a:srgbClr val="E8A020">
                  <a:alpha val="10000"/>
                </a:srgbClr>
              </a:gs>
            </a:gsLst>
            <a:lin ang="0" scaled="1"/>
          </a:gradFill>
          <a:ln/>
        </p:spPr>
        <p:txBody>
          <a:bodyPr wrap="none" rtlCol="0" anchor="t"/>
          <a:lstStyle/>
          <a:p>
            <a:pPr marL="0" indent="0">
              <a:buNone/>
            </a:pPr>
            <a:endParaRPr lang="en-US"/>
          </a:p>
        </p:txBody>
      </p:sp>
      <p:sp>
        <p:nvSpPr>
          <p:cNvPr id="14" name="Text 11"/>
          <p:cNvSpPr/>
          <p:nvPr/>
        </p:nvSpPr>
        <p:spPr>
          <a:xfrm>
            <a:off x="375718" y="869367"/>
            <a:ext cx="3610843" cy="228135"/>
          </a:xfrm>
          <a:prstGeom prst="rect">
            <a:avLst/>
          </a:prstGeom>
          <a:noFill/>
          <a:ln/>
        </p:spPr>
        <p:txBody>
          <a:bodyPr wrap="none" lIns="0" tIns="0" rIns="0" bIns="0" rtlCol="0" anchor="t"/>
          <a:lstStyle/>
          <a:p>
            <a:pPr marL="0" indent="0" algn="l">
              <a:lnSpc>
                <a:spcPts val="1872"/>
              </a:lnSpc>
              <a:spcBef>
                <a:spcPts val="364"/>
              </a:spcBef>
              <a:buNone/>
            </a:pPr>
            <a:r>
              <a:rPr lang="en-US" sz="1248" b="1" kern="0" spc="10" dirty="0">
                <a:solidFill>
                  <a:schemeClr val="accent2">
                    <a:lumMod val="75000"/>
                  </a:schemeClr>
                </a:solidFill>
                <a:latin typeface="Calibri Light" pitchFamily="34" charset="0"/>
                <a:ea typeface="Calibri Light" pitchFamily="34" charset="-122"/>
                <a:cs typeface="Calibri Light" pitchFamily="34" charset="-120"/>
              </a:rPr>
              <a:t>The Complete Grant Lifecycle, Managed Strategically</a:t>
            </a:r>
            <a:endParaRPr lang="en-US" sz="1248" dirty="0">
              <a:solidFill>
                <a:schemeClr val="accent2">
                  <a:lumMod val="75000"/>
                </a:schemeClr>
              </a:solidFill>
            </a:endParaRPr>
          </a:p>
        </p:txBody>
      </p:sp>
      <p:sp>
        <p:nvSpPr>
          <p:cNvPr id="15" name="Text 12"/>
          <p:cNvSpPr/>
          <p:nvPr/>
        </p:nvSpPr>
        <p:spPr>
          <a:xfrm>
            <a:off x="429220" y="1171724"/>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16" name="Text 13"/>
          <p:cNvSpPr/>
          <p:nvPr/>
        </p:nvSpPr>
        <p:spPr>
          <a:xfrm>
            <a:off x="553045" y="1282426"/>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1</a:t>
            </a:r>
            <a:endParaRPr lang="en-US" sz="806"/>
          </a:p>
        </p:txBody>
      </p:sp>
      <p:sp>
        <p:nvSpPr>
          <p:cNvPr id="17" name="Text 14"/>
          <p:cNvSpPr/>
          <p:nvPr/>
        </p:nvSpPr>
        <p:spPr>
          <a:xfrm>
            <a:off x="838795" y="123384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5302" y="1310430"/>
            <a:ext cx="132588" cy="132588"/>
          </a:xfrm>
          <a:prstGeom prst="rect">
            <a:avLst/>
          </a:prstGeom>
        </p:spPr>
      </p:pic>
      <p:sp>
        <p:nvSpPr>
          <p:cNvPr id="19" name="Text 15"/>
          <p:cNvSpPr/>
          <p:nvPr/>
        </p:nvSpPr>
        <p:spPr>
          <a:xfrm>
            <a:off x="1249307" y="1236724"/>
            <a:ext cx="2364159"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APPLICATION MANAGEMENT</a:t>
            </a:r>
            <a:endParaRPr lang="en-US" sz="988" dirty="0">
              <a:solidFill>
                <a:schemeClr val="accent2">
                  <a:lumMod val="75000"/>
                </a:schemeClr>
              </a:solidFill>
            </a:endParaRPr>
          </a:p>
        </p:txBody>
      </p:sp>
      <p:sp>
        <p:nvSpPr>
          <p:cNvPr id="20" name="Text 16"/>
          <p:cNvSpPr/>
          <p:nvPr/>
        </p:nvSpPr>
        <p:spPr>
          <a:xfrm>
            <a:off x="1238845" y="1381724"/>
            <a:ext cx="6745218" cy="154484"/>
          </a:xfrm>
          <a:prstGeom prst="rect">
            <a:avLst/>
          </a:prstGeom>
          <a:noFill/>
          <a:ln/>
        </p:spPr>
        <p:txBody>
          <a:bodyPr wrap="non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Project management with </a:t>
            </a:r>
            <a:r>
              <a:rPr lang="en-US" sz="1131" b="1">
                <a:solidFill>
                  <a:srgbClr val="E8A020"/>
                </a:solidFill>
                <a:latin typeface="Calibri" pitchFamily="34" charset="0"/>
                <a:ea typeface="Calibri" pitchFamily="34" charset="-122"/>
                <a:cs typeface="Calibri" pitchFamily="34" charset="-120"/>
              </a:rPr>
              <a:t>roles, deadlines, and accountability</a:t>
            </a:r>
            <a:r>
              <a:rPr lang="en-US" sz="1131">
                <a:solidFill>
                  <a:srgbClr val="0D1B3E"/>
                </a:solidFill>
                <a:latin typeface="Calibri" pitchFamily="34" charset="0"/>
                <a:ea typeface="Calibri" pitchFamily="34" charset="-122"/>
                <a:cs typeface="Calibri" pitchFamily="34" charset="-120"/>
              </a:rPr>
              <a:t> — from first draft through submission</a:t>
            </a:r>
            <a:endParaRPr lang="en-US" sz="1131"/>
          </a:p>
        </p:txBody>
      </p:sp>
      <p:sp>
        <p:nvSpPr>
          <p:cNvPr id="21" name="Text 17"/>
          <p:cNvSpPr/>
          <p:nvPr/>
        </p:nvSpPr>
        <p:spPr>
          <a:xfrm>
            <a:off x="429220" y="1623724"/>
            <a:ext cx="8285559" cy="410000"/>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22" name="Text 18"/>
          <p:cNvSpPr/>
          <p:nvPr/>
        </p:nvSpPr>
        <p:spPr>
          <a:xfrm>
            <a:off x="553045" y="1734426"/>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2</a:t>
            </a:r>
            <a:endParaRPr lang="en-US" sz="806"/>
          </a:p>
        </p:txBody>
      </p:sp>
      <p:sp>
        <p:nvSpPr>
          <p:cNvPr id="23" name="Text 19"/>
          <p:cNvSpPr/>
          <p:nvPr/>
        </p:nvSpPr>
        <p:spPr>
          <a:xfrm>
            <a:off x="838795" y="168584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5302" y="1762430"/>
            <a:ext cx="132588" cy="132588"/>
          </a:xfrm>
          <a:prstGeom prst="rect">
            <a:avLst/>
          </a:prstGeom>
        </p:spPr>
      </p:pic>
      <p:sp>
        <p:nvSpPr>
          <p:cNvPr id="25" name="Text 20"/>
          <p:cNvSpPr/>
          <p:nvPr/>
        </p:nvSpPr>
        <p:spPr>
          <a:xfrm>
            <a:off x="1245880" y="1688724"/>
            <a:ext cx="2823310" cy="18288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QUALITY CONTROL &amp; REVIEW</a:t>
            </a:r>
            <a:endParaRPr lang="en-US" sz="988" dirty="0">
              <a:solidFill>
                <a:schemeClr val="accent2">
                  <a:lumMod val="75000"/>
                </a:schemeClr>
              </a:solidFill>
            </a:endParaRPr>
          </a:p>
        </p:txBody>
      </p:sp>
      <p:sp>
        <p:nvSpPr>
          <p:cNvPr id="26" name="Text 21"/>
          <p:cNvSpPr/>
          <p:nvPr/>
        </p:nvSpPr>
        <p:spPr>
          <a:xfrm>
            <a:off x="1238845" y="1833724"/>
            <a:ext cx="7469398" cy="324416"/>
          </a:xfrm>
          <a:prstGeom prst="rect">
            <a:avLst/>
          </a:prstGeom>
          <a:noFill/>
          <a:ln/>
        </p:spPr>
        <p:txBody>
          <a:bodyPr wrap="squar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Internal review protocol ensures </a:t>
            </a:r>
            <a:r>
              <a:rPr lang="en-US" sz="1131" b="1">
                <a:solidFill>
                  <a:srgbClr val="E8A020"/>
                </a:solidFill>
                <a:latin typeface="Calibri" pitchFamily="34" charset="0"/>
                <a:ea typeface="Calibri" pitchFamily="34" charset="-122"/>
                <a:cs typeface="Calibri" pitchFamily="34" charset="-120"/>
              </a:rPr>
              <a:t>every application meets your standard</a:t>
            </a:r>
            <a:r>
              <a:rPr lang="en-US" sz="1131">
                <a:solidFill>
                  <a:srgbClr val="0D1B3E"/>
                </a:solidFill>
                <a:latin typeface="Calibri" pitchFamily="34" charset="0"/>
                <a:ea typeface="Calibri" pitchFamily="34" charset="-122"/>
                <a:cs typeface="Calibri" pitchFamily="34" charset="-120"/>
              </a:rPr>
              <a:t> before it leaves the building</a:t>
            </a:r>
            <a:endParaRPr lang="en-US" sz="1131"/>
          </a:p>
        </p:txBody>
      </p:sp>
      <p:sp>
        <p:nvSpPr>
          <p:cNvPr id="27" name="Text 22"/>
          <p:cNvSpPr/>
          <p:nvPr/>
        </p:nvSpPr>
        <p:spPr>
          <a:xfrm>
            <a:off x="429220" y="2075724"/>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dirty="0"/>
          </a:p>
        </p:txBody>
      </p:sp>
      <p:sp>
        <p:nvSpPr>
          <p:cNvPr id="28" name="Text 23"/>
          <p:cNvSpPr/>
          <p:nvPr/>
        </p:nvSpPr>
        <p:spPr>
          <a:xfrm>
            <a:off x="553045" y="2186426"/>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3</a:t>
            </a:r>
            <a:endParaRPr lang="en-US" sz="806"/>
          </a:p>
        </p:txBody>
      </p:sp>
      <p:sp>
        <p:nvSpPr>
          <p:cNvPr id="29" name="Text 24"/>
          <p:cNvSpPr/>
          <p:nvPr/>
        </p:nvSpPr>
        <p:spPr>
          <a:xfrm>
            <a:off x="838795" y="213784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5302" y="2214430"/>
            <a:ext cx="132588" cy="132588"/>
          </a:xfrm>
          <a:prstGeom prst="rect">
            <a:avLst/>
          </a:prstGeom>
        </p:spPr>
      </p:pic>
      <p:sp>
        <p:nvSpPr>
          <p:cNvPr id="31" name="Text 25"/>
          <p:cNvSpPr/>
          <p:nvPr/>
        </p:nvSpPr>
        <p:spPr>
          <a:xfrm>
            <a:off x="1230936" y="2140724"/>
            <a:ext cx="2458661"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SUBMISSION &amp; FUNDER FOLLOW-UP</a:t>
            </a:r>
            <a:endParaRPr lang="en-US" sz="988" dirty="0">
              <a:solidFill>
                <a:schemeClr val="accent2">
                  <a:lumMod val="75000"/>
                </a:schemeClr>
              </a:solidFill>
            </a:endParaRPr>
          </a:p>
        </p:txBody>
      </p:sp>
      <p:sp>
        <p:nvSpPr>
          <p:cNvPr id="32" name="Text 26"/>
          <p:cNvSpPr/>
          <p:nvPr/>
        </p:nvSpPr>
        <p:spPr>
          <a:xfrm>
            <a:off x="1238845" y="2285724"/>
            <a:ext cx="7014850" cy="154484"/>
          </a:xfrm>
          <a:prstGeom prst="rect">
            <a:avLst/>
          </a:prstGeom>
          <a:noFill/>
          <a:ln/>
        </p:spPr>
        <p:txBody>
          <a:bodyPr wrap="non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Submission logistics, confirmation tracking, and post-submission </a:t>
            </a:r>
            <a:r>
              <a:rPr lang="en-US" sz="1131" b="1">
                <a:solidFill>
                  <a:srgbClr val="E8A020"/>
                </a:solidFill>
                <a:latin typeface="Calibri" pitchFamily="34" charset="0"/>
                <a:ea typeface="Calibri" pitchFamily="34" charset="-122"/>
                <a:cs typeface="Calibri" pitchFamily="34" charset="-120"/>
              </a:rPr>
              <a:t>relationship touchpoints</a:t>
            </a:r>
            <a:endParaRPr lang="en-US" sz="1131"/>
          </a:p>
        </p:txBody>
      </p:sp>
      <p:sp>
        <p:nvSpPr>
          <p:cNvPr id="33" name="Text 27"/>
          <p:cNvSpPr/>
          <p:nvPr/>
        </p:nvSpPr>
        <p:spPr>
          <a:xfrm>
            <a:off x="429220" y="2527724"/>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34" name="Text 28"/>
          <p:cNvSpPr/>
          <p:nvPr/>
        </p:nvSpPr>
        <p:spPr>
          <a:xfrm>
            <a:off x="553045" y="2638426"/>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4</a:t>
            </a:r>
            <a:endParaRPr lang="en-US" sz="806"/>
          </a:p>
        </p:txBody>
      </p:sp>
      <p:sp>
        <p:nvSpPr>
          <p:cNvPr id="35" name="Text 29"/>
          <p:cNvSpPr/>
          <p:nvPr/>
        </p:nvSpPr>
        <p:spPr>
          <a:xfrm>
            <a:off x="838795" y="258984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dirty="0"/>
          </a:p>
        </p:txBody>
      </p:sp>
      <p:pic>
        <p:nvPicPr>
          <p:cNvPr id="3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5302" y="2666430"/>
            <a:ext cx="132588" cy="132588"/>
          </a:xfrm>
          <a:prstGeom prst="rect">
            <a:avLst/>
          </a:prstGeom>
        </p:spPr>
      </p:pic>
      <p:sp>
        <p:nvSpPr>
          <p:cNvPr id="37" name="Text 30"/>
          <p:cNvSpPr/>
          <p:nvPr/>
        </p:nvSpPr>
        <p:spPr>
          <a:xfrm>
            <a:off x="1252855" y="2592724"/>
            <a:ext cx="2211527"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AWARD NEGOTIATION &amp; COMPLIANCE</a:t>
            </a:r>
            <a:endParaRPr lang="en-US" sz="988" dirty="0">
              <a:solidFill>
                <a:schemeClr val="accent2">
                  <a:lumMod val="75000"/>
                </a:schemeClr>
              </a:solidFill>
            </a:endParaRPr>
          </a:p>
        </p:txBody>
      </p:sp>
      <p:sp>
        <p:nvSpPr>
          <p:cNvPr id="38" name="Text 31"/>
          <p:cNvSpPr/>
          <p:nvPr/>
        </p:nvSpPr>
        <p:spPr>
          <a:xfrm>
            <a:off x="1238845" y="2737724"/>
            <a:ext cx="6309747" cy="154484"/>
          </a:xfrm>
          <a:prstGeom prst="rect">
            <a:avLst/>
          </a:prstGeom>
          <a:noFill/>
          <a:ln/>
        </p:spPr>
        <p:txBody>
          <a:bodyPr wrap="none" lIns="0" tIns="0" rIns="0" bIns="0" rtlCol="0" anchor="ctr"/>
          <a:lstStyle/>
          <a:p>
            <a:pPr marL="0" indent="0" algn="l">
              <a:lnSpc>
                <a:spcPts val="1583"/>
              </a:lnSpc>
              <a:buNone/>
            </a:pPr>
            <a:r>
              <a:rPr lang="en-US" sz="1131" b="1">
                <a:solidFill>
                  <a:srgbClr val="E8A020"/>
                </a:solidFill>
                <a:latin typeface="Calibri" pitchFamily="34" charset="0"/>
                <a:ea typeface="Calibri" pitchFamily="34" charset="-122"/>
                <a:cs typeface="Calibri" pitchFamily="34" charset="-120"/>
              </a:rPr>
              <a:t>MOA review</a:t>
            </a:r>
            <a:r>
              <a:rPr lang="en-US" sz="1131">
                <a:solidFill>
                  <a:srgbClr val="0D1B3E"/>
                </a:solidFill>
                <a:latin typeface="Calibri" pitchFamily="34" charset="0"/>
                <a:ea typeface="Calibri" pitchFamily="34" charset="-122"/>
                <a:cs typeface="Calibri" pitchFamily="34" charset="-120"/>
              </a:rPr>
              <a:t>, budget alignment, kickoff planning, and compliance setup for new awards</a:t>
            </a:r>
            <a:endParaRPr lang="en-US" sz="1131"/>
          </a:p>
        </p:txBody>
      </p:sp>
      <p:sp>
        <p:nvSpPr>
          <p:cNvPr id="39" name="Text 32"/>
          <p:cNvSpPr/>
          <p:nvPr/>
        </p:nvSpPr>
        <p:spPr>
          <a:xfrm>
            <a:off x="429220" y="2979724"/>
            <a:ext cx="8285559" cy="410000"/>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dirty="0"/>
          </a:p>
        </p:txBody>
      </p:sp>
      <p:sp>
        <p:nvSpPr>
          <p:cNvPr id="40" name="Text 33"/>
          <p:cNvSpPr/>
          <p:nvPr/>
        </p:nvSpPr>
        <p:spPr>
          <a:xfrm>
            <a:off x="553045" y="3090426"/>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5</a:t>
            </a:r>
            <a:endParaRPr lang="en-US" sz="806"/>
          </a:p>
        </p:txBody>
      </p:sp>
      <p:sp>
        <p:nvSpPr>
          <p:cNvPr id="41" name="Text 34"/>
          <p:cNvSpPr/>
          <p:nvPr/>
        </p:nvSpPr>
        <p:spPr>
          <a:xfrm>
            <a:off x="838795" y="304184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4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5302" y="3118430"/>
            <a:ext cx="132588" cy="132588"/>
          </a:xfrm>
          <a:prstGeom prst="rect">
            <a:avLst/>
          </a:prstGeom>
        </p:spPr>
      </p:pic>
      <p:sp>
        <p:nvSpPr>
          <p:cNvPr id="43" name="Text 35"/>
          <p:cNvSpPr/>
          <p:nvPr/>
        </p:nvSpPr>
        <p:spPr>
          <a:xfrm>
            <a:off x="1273756" y="3044724"/>
            <a:ext cx="2823310" cy="18288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WIN/LOSS ANALYSIS &amp; DEBRIEF</a:t>
            </a:r>
            <a:endParaRPr lang="en-US" sz="988" dirty="0">
              <a:solidFill>
                <a:schemeClr val="accent2">
                  <a:lumMod val="75000"/>
                </a:schemeClr>
              </a:solidFill>
            </a:endParaRPr>
          </a:p>
        </p:txBody>
      </p:sp>
      <p:sp>
        <p:nvSpPr>
          <p:cNvPr id="44" name="Text 36"/>
          <p:cNvSpPr/>
          <p:nvPr/>
        </p:nvSpPr>
        <p:spPr>
          <a:xfrm>
            <a:off x="1238845" y="3189724"/>
            <a:ext cx="7469398" cy="324416"/>
          </a:xfrm>
          <a:prstGeom prst="rect">
            <a:avLst/>
          </a:prstGeom>
          <a:noFill/>
          <a:ln/>
        </p:spPr>
        <p:txBody>
          <a:bodyPr wrap="squar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Structured debrief after </a:t>
            </a:r>
            <a:r>
              <a:rPr lang="en-US" sz="1131" b="1" dirty="0">
                <a:solidFill>
                  <a:srgbClr val="E8A020"/>
                </a:solidFill>
                <a:latin typeface="Calibri" pitchFamily="34" charset="0"/>
                <a:ea typeface="Calibri" pitchFamily="34" charset="-122"/>
                <a:cs typeface="Calibri" pitchFamily="34" charset="-120"/>
              </a:rPr>
              <a:t>every cycle</a:t>
            </a:r>
            <a:r>
              <a:rPr lang="en-US" sz="1131" dirty="0">
                <a:solidFill>
                  <a:srgbClr val="0D1B3E"/>
                </a:solidFill>
                <a:latin typeface="Calibri" pitchFamily="34" charset="0"/>
                <a:ea typeface="Calibri" pitchFamily="34" charset="-122"/>
                <a:cs typeface="Calibri" pitchFamily="34" charset="-120"/>
              </a:rPr>
              <a:t> — reviewer feedback and funder conversations drive future applications</a:t>
            </a:r>
            <a:endParaRPr lang="en-US" sz="1131" dirty="0"/>
          </a:p>
        </p:txBody>
      </p:sp>
      <p:sp>
        <p:nvSpPr>
          <p:cNvPr id="45" name="Text 37"/>
          <p:cNvSpPr/>
          <p:nvPr/>
        </p:nvSpPr>
        <p:spPr>
          <a:xfrm>
            <a:off x="375718" y="4038724"/>
            <a:ext cx="8285559" cy="326678"/>
          </a:xfrm>
          <a:prstGeom prst="roundRect">
            <a:avLst>
              <a:gd name="adj" fmla="val 17494"/>
            </a:avLst>
          </a:prstGeom>
          <a:solidFill>
            <a:srgbClr val="E8A020">
              <a:alpha val="10000"/>
            </a:srgbClr>
          </a:solidFill>
          <a:ln w="9525">
            <a:solidFill>
              <a:srgbClr val="E8A020">
                <a:alpha val="50000"/>
              </a:srgbClr>
            </a:solidFill>
          </a:ln>
        </p:spPr>
        <p:txBody>
          <a:bodyPr wrap="square" rtlCol="0" anchor="t"/>
          <a:lstStyle/>
          <a:p>
            <a:pPr marL="0" indent="0">
              <a:buNone/>
            </a:pPr>
            <a:endParaRPr lang="en-US"/>
          </a:p>
        </p:txBody>
      </p:sp>
      <p:sp>
        <p:nvSpPr>
          <p:cNvPr id="100" name="Row6_bg"/>
          <p:cNvSpPr/>
          <p:nvPr/>
        </p:nvSpPr>
        <p:spPr>
          <a:xfrm>
            <a:off x="445780" y="3431724"/>
            <a:ext cx="8285559" cy="410000"/>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101" name="Row6_circle"/>
          <p:cNvSpPr/>
          <p:nvPr/>
        </p:nvSpPr>
        <p:spPr>
          <a:xfrm>
            <a:off x="553045" y="3542426"/>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6</a:t>
            </a:r>
            <a:endParaRPr lang="en-US" sz="806"/>
          </a:p>
        </p:txBody>
      </p:sp>
      <p:sp>
        <p:nvSpPr>
          <p:cNvPr id="102" name="Row6_icon_bg"/>
          <p:cNvSpPr/>
          <p:nvPr/>
        </p:nvSpPr>
        <p:spPr>
          <a:xfrm>
            <a:off x="838795" y="349384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103" name="Row6_icon"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15302" y="3570430"/>
            <a:ext cx="132588" cy="132588"/>
          </a:xfrm>
          <a:prstGeom prst="rect">
            <a:avLst/>
          </a:prstGeom>
        </p:spPr>
      </p:pic>
      <p:sp>
        <p:nvSpPr>
          <p:cNvPr id="104" name="Row6_title"/>
          <p:cNvSpPr/>
          <p:nvPr/>
        </p:nvSpPr>
        <p:spPr>
          <a:xfrm>
            <a:off x="1266035" y="3496724"/>
            <a:ext cx="2364159" cy="144810"/>
          </a:xfrm>
          <a:prstGeom prst="rect">
            <a:avLst/>
          </a:prstGeom>
          <a:noFill/>
          <a:ln/>
        </p:spPr>
        <p:txBody>
          <a:bodyPr wrap="none" lIns="0" tIns="0" rIns="0" bIns="0" rtlCol="0" anchor="t"/>
          <a:lstStyle/>
          <a:p>
            <a:pPr marL="0" indent="0" algn="l">
              <a:lnSpc>
                <a:spcPts val="1482"/>
              </a:lnSpc>
              <a:buNone/>
            </a:pPr>
            <a:r>
              <a:rPr lang="en-US" sz="988" b="1" kern="0" spc="30">
                <a:solidFill>
                  <a:schemeClr val="accent2">
                    <a:lumMod val="75000"/>
                  </a:schemeClr>
                </a:solidFill>
                <a:latin typeface="Calibri Light" pitchFamily="34" charset="0"/>
                <a:ea typeface="Calibri Light" pitchFamily="34" charset="-122"/>
                <a:cs typeface="Calibri Light" pitchFamily="34" charset="-120"/>
              </a:rPr>
              <a:t>SYSTEM REVIEW &amp; PEER SHARING</a:t>
            </a:r>
            <a:endParaRPr lang="en-US" sz="988">
              <a:solidFill>
                <a:schemeClr val="accent2">
                  <a:lumMod val="75000"/>
                </a:schemeClr>
              </a:solidFill>
            </a:endParaRPr>
          </a:p>
        </p:txBody>
      </p:sp>
      <p:sp>
        <p:nvSpPr>
          <p:cNvPr id="105" name="Row6_desc"/>
          <p:cNvSpPr/>
          <p:nvPr/>
        </p:nvSpPr>
        <p:spPr>
          <a:xfrm>
            <a:off x="1238845" y="3641724"/>
            <a:ext cx="6745218" cy="154484"/>
          </a:xfrm>
          <a:prstGeom prst="rect">
            <a:avLst/>
          </a:prstGeom>
          <a:noFill/>
          <a:ln/>
        </p:spPr>
        <p:txBody>
          <a:bodyPr wrap="non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Annual FSR recalibration, IFC/OFA network feedback, and </a:t>
            </a:r>
            <a:r>
              <a:rPr lang="en-US" sz="1131" b="1">
                <a:solidFill>
                  <a:srgbClr val="E8A020"/>
                </a:solidFill>
                <a:latin typeface="Calibri" pitchFamily="34" charset="0"/>
                <a:ea typeface="Calibri" pitchFamily="34" charset="-122"/>
                <a:cs typeface="Calibri" pitchFamily="34" charset="-120"/>
              </a:rPr>
              <a:t>peer intelligence sharing</a:t>
            </a:r>
            <a:r>
              <a:rPr lang="en-US" sz="1131">
                <a:solidFill>
                  <a:srgbClr val="0D1B3E"/>
                </a:solidFill>
                <a:latin typeface="Calibri" pitchFamily="34" charset="0"/>
                <a:ea typeface="Calibri" pitchFamily="34" charset="-122"/>
                <a:cs typeface="Calibri" pitchFamily="34" charset="-120"/>
              </a:rPr>
              <a:t> across your network</a:t>
            </a:r>
            <a:endParaRPr lang="en-US" sz="1131"/>
          </a:p>
        </p:txBody>
      </p:sp>
      <p:sp>
        <p:nvSpPr>
          <p:cNvPr id="106" name="Row6_accent"/>
          <p:cNvSpPr/>
          <p:nvPr/>
        </p:nvSpPr>
        <p:spPr>
          <a:xfrm>
            <a:off x="438745" y="3441249"/>
            <a:ext cx="21580" cy="390950"/>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pic>
        <p:nvPicPr>
          <p:cNvPr id="46" name="Image 6"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53045" y="4135769"/>
            <a:ext cx="132588" cy="132588"/>
          </a:xfrm>
          <a:prstGeom prst="rect">
            <a:avLst/>
          </a:prstGeom>
        </p:spPr>
      </p:pic>
      <p:sp>
        <p:nvSpPr>
          <p:cNvPr id="47" name="Text 38"/>
          <p:cNvSpPr/>
          <p:nvPr/>
        </p:nvSpPr>
        <p:spPr>
          <a:xfrm>
            <a:off x="843707" y="4035578"/>
            <a:ext cx="7765034" cy="292025"/>
          </a:xfrm>
          <a:prstGeom prst="rect">
            <a:avLst/>
          </a:prstGeom>
          <a:noFill/>
          <a:ln/>
        </p:spPr>
        <p:txBody>
          <a:bodyPr wrap="none" lIns="0" tIns="0" rIns="0" bIns="0" rtlCol="0" anchor="ctr"/>
          <a:lstStyle/>
          <a:p>
            <a:pPr marL="0" indent="0" algn="l">
              <a:lnSpc>
                <a:spcPts val="1696"/>
              </a:lnSpc>
              <a:buNone/>
            </a:pPr>
            <a:r>
              <a:rPr lang="en-US" sz="1131" dirty="0">
                <a:solidFill>
                  <a:schemeClr val="accent2">
                    <a:lumMod val="75000"/>
                  </a:schemeClr>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Most programs invest everything in response </a:t>
            </a:r>
            <a:r>
              <a:rPr lang="en-US" sz="1131" dirty="0">
                <a:solidFill>
                  <a:srgbClr val="0D1B3E"/>
                </a:solidFill>
                <a:latin typeface="Calibri" pitchFamily="34" charset="0"/>
                <a:ea typeface="Calibri" pitchFamily="34" charset="-122"/>
                <a:cs typeface="Calibri" pitchFamily="34" charset="-120"/>
              </a:rPr>
              <a:t>— and skip learning entirely. Adaptation is what separates growth from repetition.</a:t>
            </a:r>
            <a:endParaRPr lang="en-US" sz="113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128239"/>
            <a:ext cx="9144000" cy="5143500"/>
          </a:xfrm>
          <a:prstGeom prst="rect">
            <a:avLst/>
          </a:prstGeom>
          <a:gradFill rotWithShape="1">
            <a:gsLst>
              <a:gs pos="0">
                <a:srgbClr val="E8A020">
                  <a:alpha val="6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6858000" y="0"/>
            <a:ext cx="2286000" cy="2286000"/>
          </a:xfrm>
          <a:prstGeom prst="rect">
            <a:avLst/>
          </a:prstGeom>
          <a:gradFill rotWithShape="1">
            <a:gsLst>
              <a:gs pos="0">
                <a:srgbClr val="E8A020">
                  <a:alpha val="8000"/>
                </a:srgbClr>
              </a:gs>
              <a:gs pos="70000">
                <a:srgbClr val="000000">
                  <a:alpha val="0"/>
                </a:srgbClr>
              </a:gs>
            </a:gsLst>
            <a:path path="circle">
              <a:fillToRect t="100000" r="100000"/>
            </a:path>
          </a:gradFill>
          <a:ln/>
        </p:spPr>
        <p:txBody>
          <a:bodyPr wrap="square" rtlCol="0" anchor="t"/>
          <a:lstStyle/>
          <a:p>
            <a:pPr marL="0" indent="0">
              <a:buNone/>
            </a:pPr>
            <a:endParaRPr lang="en-US" dirty="0"/>
          </a:p>
        </p:txBody>
      </p:sp>
      <p:sp>
        <p:nvSpPr>
          <p:cNvPr id="5" name="Text 3"/>
          <p:cNvSpPr/>
          <p:nvPr/>
        </p:nvSpPr>
        <p:spPr>
          <a:xfrm>
            <a:off x="0" y="3429000"/>
            <a:ext cx="1714500" cy="1714500"/>
          </a:xfrm>
          <a:prstGeom prst="rect">
            <a:avLst/>
          </a:prstGeom>
          <a:gradFill rotWithShape="1">
            <a:gsLst>
              <a:gs pos="0">
                <a:srgbClr val="0D1B3E">
                  <a:alpha val="5000"/>
                </a:srgbClr>
              </a:gs>
              <a:gs pos="70000">
                <a:srgbClr val="000000">
                  <a:alpha val="0"/>
                </a:srgbClr>
              </a:gs>
            </a:gsLst>
            <a:path path="circle">
              <a:fillToRect l="100000" b="100000"/>
            </a:path>
          </a:gradFill>
          <a:ln/>
        </p:spPr>
        <p:txBody>
          <a:bodyPr wrap="square" rtlCol="0" anchor="t"/>
          <a:lstStyle/>
          <a:p>
            <a:pPr marL="0" indent="0">
              <a:buNone/>
            </a:pPr>
            <a:endParaRPr lang="en-US" dirty="0"/>
          </a:p>
        </p:txBody>
      </p:sp>
      <p:sp>
        <p:nvSpPr>
          <p:cNvPr id="6" name="Text 4"/>
          <p:cNvSpPr/>
          <p:nvPr/>
        </p:nvSpPr>
        <p:spPr>
          <a:xfrm>
            <a:off x="352425" y="1260277"/>
            <a:ext cx="1615678" cy="21580"/>
          </a:xfrm>
          <a:custGeom>
            <a:avLst/>
            <a:gdLst/>
            <a:ahLst/>
            <a:cxnLst/>
            <a:rect l="l" t="t" r="r" b="b"/>
            <a:pathLst>
              <a:path w="1615678" h="21580">
                <a:moveTo>
                  <a:pt x="71120" y="0"/>
                </a:moveTo>
                <a:lnTo>
                  <a:pt x="1544558" y="0"/>
                </a:lnTo>
                <a:lnTo>
                  <a:pt x="1563960" y="2698"/>
                </a:lnTo>
                <a:lnTo>
                  <a:pt x="1571729" y="5395"/>
                </a:lnTo>
                <a:lnTo>
                  <a:pt x="1577506" y="8093"/>
                </a:lnTo>
                <a:lnTo>
                  <a:pt x="1582219" y="10790"/>
                </a:lnTo>
                <a:lnTo>
                  <a:pt x="1586230" y="13488"/>
                </a:lnTo>
                <a:lnTo>
                  <a:pt x="1589727" y="16185"/>
                </a:lnTo>
                <a:lnTo>
                  <a:pt x="1592821" y="18883"/>
                </a:lnTo>
                <a:lnTo>
                  <a:pt x="1595586"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gradFill rotWithShape="1">
            <a:gsLst>
              <a:gs pos="0">
                <a:srgbClr val="E8A02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2058144" y="1260277"/>
            <a:ext cx="1615831" cy="21580"/>
          </a:xfrm>
          <a:custGeom>
            <a:avLst/>
            <a:gdLst/>
            <a:ahLst/>
            <a:cxnLst/>
            <a:rect l="l" t="t" r="r" b="b"/>
            <a:pathLst>
              <a:path w="1615831" h="21580">
                <a:moveTo>
                  <a:pt x="71120" y="0"/>
                </a:moveTo>
                <a:lnTo>
                  <a:pt x="1544710" y="0"/>
                </a:lnTo>
                <a:lnTo>
                  <a:pt x="1564112" y="2698"/>
                </a:lnTo>
                <a:lnTo>
                  <a:pt x="1571882" y="5395"/>
                </a:lnTo>
                <a:lnTo>
                  <a:pt x="1577659" y="8093"/>
                </a:lnTo>
                <a:lnTo>
                  <a:pt x="1582371" y="10790"/>
                </a:lnTo>
                <a:lnTo>
                  <a:pt x="1586382" y="13488"/>
                </a:lnTo>
                <a:lnTo>
                  <a:pt x="1589879" y="16185"/>
                </a:lnTo>
                <a:lnTo>
                  <a:pt x="1592973" y="18883"/>
                </a:lnTo>
                <a:lnTo>
                  <a:pt x="1595738"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gradFill rotWithShape="1">
            <a:gsLst>
              <a:gs pos="0">
                <a:srgbClr val="E8A02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8" name="Text 6"/>
          <p:cNvSpPr/>
          <p:nvPr/>
        </p:nvSpPr>
        <p:spPr>
          <a:xfrm>
            <a:off x="3764012" y="1260277"/>
            <a:ext cx="1615831" cy="21580"/>
          </a:xfrm>
          <a:custGeom>
            <a:avLst/>
            <a:gdLst/>
            <a:ahLst/>
            <a:cxnLst/>
            <a:rect l="l" t="t" r="r" b="b"/>
            <a:pathLst>
              <a:path w="1615831" h="21580">
                <a:moveTo>
                  <a:pt x="71120" y="0"/>
                </a:moveTo>
                <a:lnTo>
                  <a:pt x="1544710" y="0"/>
                </a:lnTo>
                <a:lnTo>
                  <a:pt x="1564112" y="2698"/>
                </a:lnTo>
                <a:lnTo>
                  <a:pt x="1571882" y="5395"/>
                </a:lnTo>
                <a:lnTo>
                  <a:pt x="1577659" y="8093"/>
                </a:lnTo>
                <a:lnTo>
                  <a:pt x="1582371" y="10790"/>
                </a:lnTo>
                <a:lnTo>
                  <a:pt x="1586382" y="13488"/>
                </a:lnTo>
                <a:lnTo>
                  <a:pt x="1589879" y="16185"/>
                </a:lnTo>
                <a:lnTo>
                  <a:pt x="1592973" y="18883"/>
                </a:lnTo>
                <a:lnTo>
                  <a:pt x="1595738"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gradFill rotWithShape="1">
            <a:gsLst>
              <a:gs pos="0">
                <a:srgbClr val="E8A02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9" name="Text 7"/>
          <p:cNvSpPr/>
          <p:nvPr/>
        </p:nvSpPr>
        <p:spPr>
          <a:xfrm>
            <a:off x="5469880" y="1260277"/>
            <a:ext cx="1615831" cy="21580"/>
          </a:xfrm>
          <a:custGeom>
            <a:avLst/>
            <a:gdLst/>
            <a:ahLst/>
            <a:cxnLst/>
            <a:rect l="l" t="t" r="r" b="b"/>
            <a:pathLst>
              <a:path w="1615831" h="21580">
                <a:moveTo>
                  <a:pt x="71120" y="0"/>
                </a:moveTo>
                <a:lnTo>
                  <a:pt x="1544710" y="0"/>
                </a:lnTo>
                <a:lnTo>
                  <a:pt x="1564112" y="2698"/>
                </a:lnTo>
                <a:lnTo>
                  <a:pt x="1571882" y="5395"/>
                </a:lnTo>
                <a:lnTo>
                  <a:pt x="1577659" y="8093"/>
                </a:lnTo>
                <a:lnTo>
                  <a:pt x="1582371" y="10790"/>
                </a:lnTo>
                <a:lnTo>
                  <a:pt x="1586382" y="13488"/>
                </a:lnTo>
                <a:lnTo>
                  <a:pt x="1589879" y="16185"/>
                </a:lnTo>
                <a:lnTo>
                  <a:pt x="1592973" y="18883"/>
                </a:lnTo>
                <a:lnTo>
                  <a:pt x="1595738"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gradFill rotWithShape="1">
            <a:gsLst>
              <a:gs pos="0">
                <a:srgbClr val="E8A02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10" name="Text 8"/>
          <p:cNvSpPr/>
          <p:nvPr/>
        </p:nvSpPr>
        <p:spPr>
          <a:xfrm>
            <a:off x="7175748" y="1260277"/>
            <a:ext cx="1615678" cy="21580"/>
          </a:xfrm>
          <a:custGeom>
            <a:avLst/>
            <a:gdLst/>
            <a:ahLst/>
            <a:cxnLst/>
            <a:rect l="l" t="t" r="r" b="b"/>
            <a:pathLst>
              <a:path w="1615678" h="21580">
                <a:moveTo>
                  <a:pt x="71120" y="0"/>
                </a:moveTo>
                <a:lnTo>
                  <a:pt x="1544558" y="0"/>
                </a:lnTo>
                <a:lnTo>
                  <a:pt x="1563960" y="2698"/>
                </a:lnTo>
                <a:lnTo>
                  <a:pt x="1571729" y="5395"/>
                </a:lnTo>
                <a:lnTo>
                  <a:pt x="1577506" y="8093"/>
                </a:lnTo>
                <a:lnTo>
                  <a:pt x="1582219" y="10790"/>
                </a:lnTo>
                <a:lnTo>
                  <a:pt x="1586230" y="13488"/>
                </a:lnTo>
                <a:lnTo>
                  <a:pt x="1589727" y="16185"/>
                </a:lnTo>
                <a:lnTo>
                  <a:pt x="1592821" y="18883"/>
                </a:lnTo>
                <a:lnTo>
                  <a:pt x="1595586"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gradFill rotWithShape="1">
            <a:gsLst>
              <a:gs pos="0">
                <a:srgbClr val="E8A02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11" name="Text 9"/>
          <p:cNvSpPr/>
          <p:nvPr/>
        </p:nvSpPr>
        <p:spPr>
          <a:xfrm>
            <a:off x="342900" y="228600"/>
            <a:ext cx="1639788" cy="193997"/>
          </a:xfrm>
          <a:prstGeom prst="roundRect">
            <a:avLst>
              <a:gd name="adj" fmla="val 15057"/>
            </a:avLst>
          </a:prstGeom>
          <a:solidFill>
            <a:srgbClr val="E8A020"/>
          </a:solidFill>
          <a:ln/>
        </p:spPr>
        <p:txBody>
          <a:bodyPr wrap="none" lIns="0" tIns="0" rIns="0" bIns="0" rtlCol="0" anchor="ctr"/>
          <a:lstStyle/>
          <a:p>
            <a:pPr marL="0" indent="0" algn="ctr">
              <a:buNone/>
            </a:pPr>
            <a:r>
              <a:rPr lang="en-US" sz="620" b="1" dirty="0">
                <a:solidFill>
                  <a:srgbClr val="FFFFFF"/>
                </a:solidFill>
                <a:latin typeface="Calibri" pitchFamily="34" charset="0"/>
                <a:ea typeface="Calibri" pitchFamily="34" charset="-122"/>
                <a:cs typeface="Calibri" pitchFamily="34" charset="-120"/>
              </a:rPr>
              <a:t>✏️ SELF-ASSESSMENT ACTIVITY</a:t>
            </a:r>
            <a:endParaRPr lang="en-US" sz="620" dirty="0"/>
          </a:p>
        </p:txBody>
      </p:sp>
      <p:sp>
        <p:nvSpPr>
          <p:cNvPr id="12" name="Text 10"/>
          <p:cNvSpPr/>
          <p:nvPr/>
        </p:nvSpPr>
        <p:spPr>
          <a:xfrm>
            <a:off x="2069009" y="247204"/>
            <a:ext cx="1316891" cy="139005"/>
          </a:xfrm>
          <a:prstGeom prst="rect">
            <a:avLst/>
          </a:prstGeom>
          <a:noFill/>
          <a:ln/>
        </p:spPr>
        <p:txBody>
          <a:bodyPr wrap="none" lIns="0" tIns="0" rIns="0" bIns="0" rtlCol="0" anchor="ctr"/>
          <a:lstStyle/>
          <a:p>
            <a:pPr marL="0" indent="0" algn="l">
              <a:lnSpc>
                <a:spcPts val="1095"/>
              </a:lnSpc>
              <a:buNone/>
            </a:pPr>
            <a:r>
              <a:rPr lang="en-US" sz="730" dirty="0">
                <a:solidFill>
                  <a:srgbClr val="64748B"/>
                </a:solidFill>
                <a:latin typeface="Calibri" pitchFamily="34" charset="0"/>
                <a:ea typeface="Calibri" pitchFamily="34" charset="-122"/>
                <a:cs typeface="Calibri" pitchFamily="34" charset="-120"/>
              </a:rPr>
              <a:t>Min 33–37  ·  Individual Work</a:t>
            </a:r>
            <a:endParaRPr lang="en-US" sz="730" dirty="0"/>
          </a:p>
        </p:txBody>
      </p:sp>
      <p:sp>
        <p:nvSpPr>
          <p:cNvPr id="13" name="Text 11"/>
          <p:cNvSpPr/>
          <p:nvPr/>
        </p:nvSpPr>
        <p:spPr>
          <a:xfrm>
            <a:off x="342900" y="568049"/>
            <a:ext cx="3633359" cy="213122"/>
          </a:xfrm>
          <a:prstGeom prst="rect">
            <a:avLst/>
          </a:prstGeom>
          <a:noFill/>
          <a:ln/>
        </p:spPr>
        <p:txBody>
          <a:bodyPr wrap="none" lIns="0" tIns="0" rIns="0" bIns="0" rtlCol="0" anchor="t"/>
          <a:lstStyle/>
          <a:p>
            <a:pPr marL="0" indent="0" algn="l">
              <a:lnSpc>
                <a:spcPts val="1679"/>
              </a:lnSpc>
              <a:buNone/>
            </a:pPr>
            <a:r>
              <a:rPr lang="en-US" sz="1460" dirty="0">
                <a:solidFill>
                  <a:schemeClr val="accent2">
                    <a:lumMod val="75000"/>
                  </a:schemeClr>
                </a:solidFill>
                <a:latin typeface="Calibri Light" pitchFamily="34" charset="0"/>
                <a:ea typeface="Calibri Light" pitchFamily="34" charset="-122"/>
                <a:cs typeface="Calibri Light" pitchFamily="34" charset="-120"/>
              </a:rPr>
              <a:t>Where Does Your Program Stand Today?</a:t>
            </a:r>
            <a:endParaRPr lang="en-US" sz="1460" dirty="0">
              <a:solidFill>
                <a:schemeClr val="accent2">
                  <a:lumMod val="75000"/>
                </a:schemeClr>
              </a:solidFill>
            </a:endParaRPr>
          </a:p>
        </p:txBody>
      </p:sp>
      <p:sp>
        <p:nvSpPr>
          <p:cNvPr id="14" name="Text 12"/>
          <p:cNvSpPr/>
          <p:nvPr/>
        </p:nvSpPr>
        <p:spPr>
          <a:xfrm>
            <a:off x="8083153" y="257770"/>
            <a:ext cx="789742" cy="118021"/>
          </a:xfrm>
          <a:prstGeom prst="rect">
            <a:avLst/>
          </a:prstGeom>
          <a:noFill/>
          <a:ln/>
        </p:spPr>
        <p:txBody>
          <a:bodyPr wrap="none" lIns="0" tIns="0" rIns="0" bIns="0" rtlCol="0" anchor="t"/>
          <a:lstStyle/>
          <a:p>
            <a:pPr marL="0" indent="0" algn="l">
              <a:lnSpc>
                <a:spcPts val="930"/>
              </a:lnSpc>
              <a:buNone/>
            </a:pPr>
            <a:r>
              <a:rPr lang="en-US" sz="620" kern="0" spc="43" dirty="0">
                <a:solidFill>
                  <a:srgbClr val="64748B"/>
                </a:solidFill>
                <a:latin typeface="Calibri" pitchFamily="34" charset="0"/>
                <a:ea typeface="Calibri" pitchFamily="34" charset="-122"/>
                <a:cs typeface="Calibri" pitchFamily="34" charset="-120"/>
              </a:rPr>
              <a:t>SCORING SCALE</a:t>
            </a:r>
            <a:endParaRPr lang="en-US" sz="620" dirty="0"/>
          </a:p>
        </p:txBody>
      </p:sp>
      <p:sp>
        <p:nvSpPr>
          <p:cNvPr id="15" name="Text 13"/>
          <p:cNvSpPr/>
          <p:nvPr/>
        </p:nvSpPr>
        <p:spPr>
          <a:xfrm>
            <a:off x="8268891" y="425053"/>
            <a:ext cx="52879" cy="129480"/>
          </a:xfrm>
          <a:prstGeom prst="rect">
            <a:avLst/>
          </a:prstGeom>
          <a:noFill/>
          <a:ln/>
        </p:spPr>
        <p:txBody>
          <a:bodyPr wrap="none" lIns="0" tIns="0" rIns="0" bIns="0" rtlCol="0" anchor="ctr"/>
          <a:lstStyle/>
          <a:p>
            <a:pPr marL="0" indent="0" algn="l">
              <a:lnSpc>
                <a:spcPts val="1020"/>
              </a:lnSpc>
              <a:buNone/>
            </a:pPr>
            <a:r>
              <a:rPr lang="en-US" sz="680" dirty="0">
                <a:solidFill>
                  <a:srgbClr val="64748B"/>
                </a:solidFill>
                <a:latin typeface="Calibri" pitchFamily="34" charset="0"/>
                <a:ea typeface="Calibri" pitchFamily="34" charset="-122"/>
                <a:cs typeface="Calibri" pitchFamily="34" charset="-120"/>
              </a:rPr>
              <a:t>1</a:t>
            </a:r>
            <a:endParaRPr lang="en-US" sz="680" dirty="0"/>
          </a:p>
        </p:txBody>
      </p:sp>
      <p:sp>
        <p:nvSpPr>
          <p:cNvPr id="16" name="Text 14"/>
          <p:cNvSpPr/>
          <p:nvPr/>
        </p:nvSpPr>
        <p:spPr>
          <a:xfrm>
            <a:off x="8360122" y="472083"/>
            <a:ext cx="35421" cy="35421"/>
          </a:xfrm>
          <a:prstGeom prst="ellipse">
            <a:avLst/>
          </a:prstGeom>
          <a:solidFill>
            <a:srgbClr val="FFFFFF"/>
          </a:solidFill>
          <a:ln w="9525">
            <a:solidFill>
              <a:srgbClr val="E8A020">
                <a:alpha val="40000"/>
              </a:srgbClr>
            </a:solidFill>
          </a:ln>
        </p:spPr>
        <p:txBody>
          <a:bodyPr wrap="none" rtlCol="0" anchor="t"/>
          <a:lstStyle/>
          <a:p>
            <a:pPr marL="0" indent="0">
              <a:buNone/>
            </a:pPr>
            <a:endParaRPr lang="en-US" dirty="0"/>
          </a:p>
        </p:txBody>
      </p:sp>
      <p:sp>
        <p:nvSpPr>
          <p:cNvPr id="17" name="Text 15"/>
          <p:cNvSpPr/>
          <p:nvPr/>
        </p:nvSpPr>
        <p:spPr>
          <a:xfrm>
            <a:off x="8438704" y="472083"/>
            <a:ext cx="35421" cy="35421"/>
          </a:xfrm>
          <a:prstGeom prst="ellipse">
            <a:avLst/>
          </a:prstGeom>
          <a:solidFill>
            <a:srgbClr val="FFFFFF"/>
          </a:solidFill>
          <a:ln w="9525">
            <a:solidFill>
              <a:srgbClr val="E8A020">
                <a:alpha val="50000"/>
              </a:srgbClr>
            </a:solidFill>
          </a:ln>
        </p:spPr>
        <p:txBody>
          <a:bodyPr wrap="none" rtlCol="0" anchor="t"/>
          <a:lstStyle/>
          <a:p>
            <a:pPr marL="0" indent="0">
              <a:buNone/>
            </a:pPr>
            <a:endParaRPr lang="en-US" dirty="0"/>
          </a:p>
        </p:txBody>
      </p:sp>
      <p:sp>
        <p:nvSpPr>
          <p:cNvPr id="18" name="Text 16"/>
          <p:cNvSpPr/>
          <p:nvPr/>
        </p:nvSpPr>
        <p:spPr>
          <a:xfrm>
            <a:off x="8517285" y="472083"/>
            <a:ext cx="35421" cy="35421"/>
          </a:xfrm>
          <a:prstGeom prst="ellipse">
            <a:avLst/>
          </a:prstGeom>
          <a:solidFill>
            <a:srgbClr val="FFFFFF"/>
          </a:solidFill>
          <a:ln w="9525">
            <a:solidFill>
              <a:srgbClr val="E8A020">
                <a:alpha val="65000"/>
              </a:srgbClr>
            </a:solidFill>
          </a:ln>
        </p:spPr>
        <p:txBody>
          <a:bodyPr wrap="none" rtlCol="0" anchor="t"/>
          <a:lstStyle/>
          <a:p>
            <a:pPr marL="0" indent="0">
              <a:buNone/>
            </a:pPr>
            <a:endParaRPr lang="en-US" dirty="0"/>
          </a:p>
        </p:txBody>
      </p:sp>
      <p:sp>
        <p:nvSpPr>
          <p:cNvPr id="19" name="Text 17"/>
          <p:cNvSpPr/>
          <p:nvPr/>
        </p:nvSpPr>
        <p:spPr>
          <a:xfrm>
            <a:off x="8595866" y="472083"/>
            <a:ext cx="35421" cy="35421"/>
          </a:xfrm>
          <a:prstGeom prst="ellipse">
            <a:avLst/>
          </a:prstGeom>
          <a:solidFill>
            <a:srgbClr val="E8A020">
              <a:alpha val="50000"/>
            </a:srgbClr>
          </a:solidFill>
          <a:ln w="9525">
            <a:solidFill>
              <a:srgbClr val="E8A020">
                <a:alpha val="85000"/>
              </a:srgbClr>
            </a:solidFill>
          </a:ln>
        </p:spPr>
        <p:txBody>
          <a:bodyPr wrap="none" rtlCol="0" anchor="t"/>
          <a:lstStyle/>
          <a:p>
            <a:pPr marL="0" indent="0">
              <a:buNone/>
            </a:pPr>
            <a:endParaRPr lang="en-US" dirty="0"/>
          </a:p>
        </p:txBody>
      </p:sp>
      <p:sp>
        <p:nvSpPr>
          <p:cNvPr id="20" name="Text 18"/>
          <p:cNvSpPr/>
          <p:nvPr/>
        </p:nvSpPr>
        <p:spPr>
          <a:xfrm>
            <a:off x="8674447" y="472083"/>
            <a:ext cx="35421" cy="35421"/>
          </a:xfrm>
          <a:prstGeom prst="ellipse">
            <a:avLst/>
          </a:prstGeom>
          <a:solidFill>
            <a:srgbClr val="E8A020"/>
          </a:solidFill>
          <a:ln w="9525">
            <a:solidFill>
              <a:srgbClr val="E8A020"/>
            </a:solidFill>
          </a:ln>
        </p:spPr>
        <p:txBody>
          <a:bodyPr wrap="none" rtlCol="0" anchor="t"/>
          <a:lstStyle/>
          <a:p>
            <a:pPr marL="0" indent="0">
              <a:buNone/>
            </a:pPr>
            <a:endParaRPr lang="en-US" dirty="0"/>
          </a:p>
        </p:txBody>
      </p:sp>
      <p:sp>
        <p:nvSpPr>
          <p:cNvPr id="21" name="Text 19"/>
          <p:cNvSpPr/>
          <p:nvPr/>
        </p:nvSpPr>
        <p:spPr>
          <a:xfrm>
            <a:off x="8753029" y="425053"/>
            <a:ext cx="52879" cy="129480"/>
          </a:xfrm>
          <a:prstGeom prst="rect">
            <a:avLst/>
          </a:prstGeom>
          <a:noFill/>
          <a:ln/>
        </p:spPr>
        <p:txBody>
          <a:bodyPr wrap="none" lIns="0" tIns="0" rIns="0" bIns="0" rtlCol="0" anchor="ctr"/>
          <a:lstStyle/>
          <a:p>
            <a:pPr marL="0" indent="0" algn="l">
              <a:lnSpc>
                <a:spcPts val="1020"/>
              </a:lnSpc>
              <a:buNone/>
            </a:pPr>
            <a:r>
              <a:rPr lang="en-US" sz="680" dirty="0">
                <a:solidFill>
                  <a:srgbClr val="64748B"/>
                </a:solidFill>
                <a:latin typeface="Calibri" pitchFamily="34" charset="0"/>
                <a:ea typeface="Calibri" pitchFamily="34" charset="-122"/>
                <a:cs typeface="Calibri" pitchFamily="34" charset="-120"/>
              </a:rPr>
              <a:t>5</a:t>
            </a:r>
            <a:endParaRPr lang="en-US" sz="680" dirty="0"/>
          </a:p>
        </p:txBody>
      </p:sp>
      <p:sp>
        <p:nvSpPr>
          <p:cNvPr id="22" name="Text 20"/>
          <p:cNvSpPr/>
          <p:nvPr/>
        </p:nvSpPr>
        <p:spPr>
          <a:xfrm>
            <a:off x="7658100" y="597545"/>
            <a:ext cx="352946" cy="224091"/>
          </a:xfrm>
          <a:prstGeom prst="rect">
            <a:avLst/>
          </a:prstGeom>
          <a:noFill/>
          <a:ln/>
        </p:spPr>
        <p:txBody>
          <a:bodyPr wrap="square" lIns="0" tIns="0" rIns="0" bIns="0" rtlCol="0" anchor="ctr"/>
          <a:lstStyle/>
          <a:p>
            <a:pPr marL="0" indent="0" algn="l">
              <a:lnSpc>
                <a:spcPts val="840"/>
              </a:lnSpc>
              <a:buNone/>
            </a:pPr>
            <a:r>
              <a:rPr lang="en-US" sz="560" dirty="0">
                <a:solidFill>
                  <a:srgbClr val="64748B"/>
                </a:solidFill>
                <a:latin typeface="Calibri" pitchFamily="34" charset="0"/>
                <a:ea typeface="Calibri" pitchFamily="34" charset="-122"/>
                <a:cs typeface="Calibri" pitchFamily="34" charset="-120"/>
              </a:rPr>
              <a:t>Does not exist</a:t>
            </a:r>
            <a:endParaRPr lang="en-US" sz="560" dirty="0"/>
          </a:p>
        </p:txBody>
      </p:sp>
      <p:sp>
        <p:nvSpPr>
          <p:cNvPr id="23" name="Text 21"/>
          <p:cNvSpPr/>
          <p:nvPr/>
        </p:nvSpPr>
        <p:spPr>
          <a:xfrm>
            <a:off x="8004125" y="597545"/>
            <a:ext cx="261711" cy="224091"/>
          </a:xfrm>
          <a:prstGeom prst="rect">
            <a:avLst/>
          </a:prstGeom>
          <a:noFill/>
          <a:ln/>
        </p:spPr>
        <p:txBody>
          <a:bodyPr wrap="square" lIns="0" tIns="0" rIns="0" bIns="0" rtlCol="0" anchor="ctr"/>
          <a:lstStyle/>
          <a:p>
            <a:pPr marL="0" indent="0" algn="l">
              <a:lnSpc>
                <a:spcPts val="840"/>
              </a:lnSpc>
              <a:buNone/>
            </a:pPr>
            <a:r>
              <a:rPr lang="en-US" sz="560" dirty="0">
                <a:solidFill>
                  <a:srgbClr val="64748B"/>
                </a:solidFill>
                <a:latin typeface="Calibri" pitchFamily="34" charset="0"/>
                <a:ea typeface="Calibri" pitchFamily="34" charset="-122"/>
                <a:cs typeface="Calibri" pitchFamily="34" charset="-120"/>
              </a:rPr>
              <a:t>Informal</a:t>
            </a:r>
            <a:endParaRPr lang="en-US" sz="560" dirty="0"/>
          </a:p>
        </p:txBody>
      </p:sp>
      <p:sp>
        <p:nvSpPr>
          <p:cNvPr id="24" name="Text 22"/>
          <p:cNvSpPr/>
          <p:nvPr/>
        </p:nvSpPr>
        <p:spPr>
          <a:xfrm>
            <a:off x="8260705" y="597545"/>
            <a:ext cx="551203" cy="224091"/>
          </a:xfrm>
          <a:prstGeom prst="rect">
            <a:avLst/>
          </a:prstGeom>
          <a:noFill/>
          <a:ln/>
        </p:spPr>
        <p:txBody>
          <a:bodyPr wrap="square" lIns="0" tIns="0" rIns="0" bIns="0" rtlCol="0" anchor="ctr"/>
          <a:lstStyle/>
          <a:p>
            <a:pPr marL="0" indent="0" algn="l">
              <a:lnSpc>
                <a:spcPts val="840"/>
              </a:lnSpc>
              <a:buNone/>
            </a:pPr>
            <a:r>
              <a:rPr lang="en-US" sz="560" b="1" dirty="0">
                <a:solidFill>
                  <a:srgbClr val="E8A020"/>
                </a:solidFill>
                <a:latin typeface="Calibri" pitchFamily="34" charset="0"/>
                <a:ea typeface="Calibri" pitchFamily="34" charset="-122"/>
                <a:cs typeface="Calibri" pitchFamily="34" charset="-120"/>
              </a:rPr>
              <a:t>Institutionalized</a:t>
            </a:r>
            <a:endParaRPr lang="en-US" sz="560" dirty="0"/>
          </a:p>
        </p:txBody>
      </p:sp>
      <p:sp>
        <p:nvSpPr>
          <p:cNvPr id="25" name="Text 23"/>
          <p:cNvSpPr/>
          <p:nvPr/>
        </p:nvSpPr>
        <p:spPr>
          <a:xfrm>
            <a:off x="342900" y="911275"/>
            <a:ext cx="8627364" cy="280000"/>
          </a:xfrm>
          <a:prstGeom prst="rect">
            <a:avLst/>
          </a:prstGeom>
          <a:solidFill>
            <a:srgbClr val="F0F4F8">
              <a:alpha val="90000"/>
            </a:srgbClr>
          </a:solidFill>
          <a:ln/>
        </p:spPr>
        <p:txBody>
          <a:bodyPr wrap="none" lIns="114300" tIns="49530" rIns="114300" bIns="49530" rtlCol="0" anchor="t"/>
          <a:lstStyle/>
          <a:p>
            <a:pPr marL="0" indent="0" algn="l">
              <a:lnSpc>
                <a:spcPts val="1106"/>
              </a:lnSpc>
              <a:buNone/>
            </a:pPr>
            <a:r>
              <a:rPr lang="en-US" sz="1027">
                <a:solidFill>
                  <a:srgbClr val="64748B"/>
                </a:solidFill>
                <a:latin typeface="Calibri" pitchFamily="34" charset="0"/>
                <a:ea typeface="Calibri" pitchFamily="34" charset="-122"/>
                <a:cs typeface="Calibri" pitchFamily="34" charset="-120"/>
              </a:rPr>
              <a:t>Rate your program on each of the five FSR pillars using the </a:t>
            </a:r>
            <a:r>
              <a:rPr lang="en-US" sz="1027" b="1">
                <a:solidFill>
                  <a:srgbClr val="0D1B3E"/>
                </a:solidFill>
                <a:latin typeface="Calibri" pitchFamily="34" charset="0"/>
                <a:ea typeface="Calibri" pitchFamily="34" charset="-122"/>
                <a:cs typeface="Calibri" pitchFamily="34" charset="-120"/>
              </a:rPr>
              <a:t>1–5 scale</a:t>
            </a:r>
            <a:r>
              <a:rPr lang="en-US" sz="1027">
                <a:solidFill>
                  <a:srgbClr val="64748B"/>
                </a:solidFill>
                <a:latin typeface="Calibri" pitchFamily="34" charset="0"/>
                <a:ea typeface="Calibri" pitchFamily="34" charset="-122"/>
                <a:cs typeface="Calibri" pitchFamily="34" charset="-120"/>
              </a:rPr>
              <a:t> above. Circle your score on your handout — you will return to these scores in </a:t>
            </a:r>
            <a:r>
              <a:rPr lang="en-US" sz="1027" b="1">
                <a:solidFill>
                  <a:srgbClr val="E8A020"/>
                </a:solidFill>
                <a:latin typeface="Calibri" pitchFamily="34" charset="0"/>
                <a:ea typeface="Calibri" pitchFamily="34" charset="-122"/>
                <a:cs typeface="Calibri" pitchFamily="34" charset="-120"/>
              </a:rPr>
              <a:t>Section 5</a:t>
            </a:r>
            <a:r>
              <a:rPr lang="en-US" sz="1027">
                <a:solidFill>
                  <a:srgbClr val="64748B"/>
                </a:solidFill>
                <a:latin typeface="Calibri" pitchFamily="34" charset="0"/>
                <a:ea typeface="Calibri" pitchFamily="34" charset="-122"/>
                <a:cs typeface="Calibri" pitchFamily="34" charset="-120"/>
              </a:rPr>
              <a:t>.</a:t>
            </a:r>
            <a:endParaRPr lang="en-US" sz="1027"/>
          </a:p>
        </p:txBody>
      </p:sp>
      <p:sp>
        <p:nvSpPr>
          <p:cNvPr id="26" name="Text 24"/>
          <p:cNvSpPr/>
          <p:nvPr/>
        </p:nvSpPr>
        <p:spPr>
          <a:xfrm>
            <a:off x="342900" y="911275"/>
            <a:ext cx="19050" cy="239167"/>
          </a:xfrm>
          <a:prstGeom prst="rect">
            <a:avLst/>
          </a:prstGeom>
          <a:solidFill>
            <a:srgbClr val="E8A020"/>
          </a:solidFill>
          <a:ln/>
        </p:spPr>
        <p:txBody>
          <a:bodyPr wrap="none" rtlCol="0" anchor="t"/>
          <a:lstStyle/>
          <a:p>
            <a:pPr marL="0" indent="0">
              <a:buNone/>
            </a:pPr>
            <a:endParaRPr lang="en-US" dirty="0"/>
          </a:p>
        </p:txBody>
      </p:sp>
      <p:sp>
        <p:nvSpPr>
          <p:cNvPr id="27" name="Text 25"/>
          <p:cNvSpPr/>
          <p:nvPr/>
        </p:nvSpPr>
        <p:spPr>
          <a:xfrm>
            <a:off x="342900" y="1250752"/>
            <a:ext cx="1634728" cy="3212455"/>
          </a:xfrm>
          <a:prstGeom prst="roundRect">
            <a:avLst>
              <a:gd name="adj" fmla="val 4351"/>
            </a:avLst>
          </a:prstGeom>
          <a:solidFill>
            <a:srgbClr val="F0F4F8"/>
          </a:solidFill>
          <a:ln w="9525">
            <a:solidFill>
              <a:srgbClr val="E8A020">
                <a:alpha val="35000"/>
              </a:srgbClr>
            </a:solidFill>
          </a:ln>
        </p:spPr>
        <p:txBody>
          <a:bodyPr wrap="square" rtlCol="0" anchor="t"/>
          <a:lstStyle/>
          <a:p>
            <a:pPr marL="0" indent="0">
              <a:buNone/>
            </a:pPr>
            <a:endParaRPr lang="en-US" dirty="0"/>
          </a:p>
        </p:txBody>
      </p:sp>
      <p:sp>
        <p:nvSpPr>
          <p:cNvPr id="28" name="Text 26"/>
          <p:cNvSpPr/>
          <p:nvPr/>
        </p:nvSpPr>
        <p:spPr>
          <a:xfrm>
            <a:off x="452735" y="1437084"/>
            <a:ext cx="228600" cy="228600"/>
          </a:xfrm>
          <a:prstGeom prst="roundRect">
            <a:avLst>
              <a:gd name="adj" fmla="val 25000"/>
            </a:avLst>
          </a:prstGeom>
          <a:solidFill>
            <a:srgbClr val="E8A020">
              <a:alpha val="15000"/>
            </a:srgbClr>
          </a:solidFill>
          <a:ln/>
        </p:spPr>
        <p:txBody>
          <a:bodyPr wrap="none" rtlCol="0" anchor="t"/>
          <a:lstStyle/>
          <a:p>
            <a:pPr marL="0" indent="0">
              <a:buNone/>
            </a:pPr>
            <a:endParaRPr lang="en-US" dirty="0"/>
          </a:p>
        </p:txBody>
      </p:sp>
      <p:pic>
        <p:nvPicPr>
          <p:cNvPr id="2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0741" y="1485090"/>
            <a:ext cx="132588" cy="132588"/>
          </a:xfrm>
          <a:prstGeom prst="rect">
            <a:avLst/>
          </a:prstGeom>
        </p:spPr>
      </p:pic>
      <p:sp>
        <p:nvSpPr>
          <p:cNvPr id="30" name="Text 27"/>
          <p:cNvSpPr/>
          <p:nvPr/>
        </p:nvSpPr>
        <p:spPr>
          <a:xfrm>
            <a:off x="710900" y="1360587"/>
            <a:ext cx="1216728" cy="140000"/>
          </a:xfrm>
          <a:prstGeom prst="rect">
            <a:avLst/>
          </a:prstGeom>
          <a:noFill/>
          <a:ln/>
        </p:spPr>
        <p:txBody>
          <a:bodyPr wrap="none" lIns="0" tIns="0" rIns="0" bIns="0" rtlCol="0" anchor="t"/>
          <a:lstStyle/>
          <a:p>
            <a:pPr marL="0" indent="0" algn="l">
              <a:lnSpc>
                <a:spcPts val="1310"/>
              </a:lnSpc>
              <a:buNone/>
            </a:pPr>
            <a:r>
              <a:rPr lang="en-US" sz="800" b="1" kern="0" spc="50">
                <a:solidFill>
                  <a:srgbClr val="E8A020"/>
                </a:solidFill>
                <a:latin typeface="Calibri Light" pitchFamily="34" charset="0"/>
                <a:ea typeface="Calibri Light" pitchFamily="34" charset="-122"/>
                <a:cs typeface="Calibri Light" pitchFamily="34" charset="-120"/>
              </a:rPr>
              <a:t>PILLAR 1</a:t>
            </a:r>
            <a:endParaRPr lang="en-US" sz="800"/>
          </a:p>
        </p:txBody>
      </p:sp>
      <p:sp>
        <p:nvSpPr>
          <p:cNvPr id="31" name="Text 28"/>
          <p:cNvSpPr/>
          <p:nvPr/>
        </p:nvSpPr>
        <p:spPr>
          <a:xfrm>
            <a:off x="710900" y="1486198"/>
            <a:ext cx="1216728" cy="340000"/>
          </a:xfrm>
          <a:prstGeom prst="rect">
            <a:avLst/>
          </a:prstGeom>
          <a:noFill/>
          <a:ln/>
        </p:spPr>
        <p:txBody>
          <a:bodyPr wrap="square" lIns="0" tIns="0" rIns="0" bIns="0" rtlCol="0" anchor="ctr"/>
          <a:lstStyle/>
          <a:p>
            <a:pPr marL="0" indent="0" algn="l">
              <a:lnSpc>
                <a:spcPts val="1310"/>
              </a:lnSpc>
              <a:buNone/>
            </a:pPr>
            <a:r>
              <a:rPr lang="en-US" sz="1100" b="1">
                <a:solidFill>
                  <a:srgbClr val="0D1B3E"/>
                </a:solidFill>
                <a:latin typeface="Calibri Light" pitchFamily="34" charset="0"/>
                <a:ea typeface="Calibri Light" pitchFamily="34" charset="-122"/>
                <a:cs typeface="Calibri Light" pitchFamily="34" charset="-120"/>
              </a:rPr>
              <a:t>Environmental</a:t>
            </a:r>
            <a:br/>
            <a:r>
              <a:rPr lang="en-US" sz="1100" b="1">
                <a:solidFill>
                  <a:srgbClr val="0D1B3E"/>
                </a:solidFill>
                <a:latin typeface="Calibri Light" pitchFamily="34" charset="0"/>
                <a:ea typeface="Calibri Light" pitchFamily="34" charset="-122"/>
                <a:cs typeface="Calibri Light" pitchFamily="34" charset="-120"/>
              </a:rPr>
              <a:t>Scanning</a:t>
            </a:r>
            <a:endParaRPr lang="en-US" sz="1100"/>
          </a:p>
        </p:txBody>
      </p:sp>
      <p:sp>
        <p:nvSpPr>
          <p:cNvPr id="32" name="Text 29"/>
          <p:cNvSpPr/>
          <p:nvPr/>
        </p:nvSpPr>
        <p:spPr>
          <a:xfrm>
            <a:off x="452900"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33" name="Text 30"/>
          <p:cNvSpPr/>
          <p:nvPr/>
        </p:nvSpPr>
        <p:spPr>
          <a:xfrm>
            <a:off x="685900"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34" name="Text 31"/>
          <p:cNvSpPr/>
          <p:nvPr/>
        </p:nvSpPr>
        <p:spPr>
          <a:xfrm>
            <a:off x="918900"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35" name="Text 32"/>
          <p:cNvSpPr/>
          <p:nvPr/>
        </p:nvSpPr>
        <p:spPr>
          <a:xfrm>
            <a:off x="1151900"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36" name="Text 33"/>
          <p:cNvSpPr/>
          <p:nvPr/>
        </p:nvSpPr>
        <p:spPr>
          <a:xfrm>
            <a:off x="1384900"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37" name="Text 34"/>
          <p:cNvSpPr/>
          <p:nvPr/>
        </p:nvSpPr>
        <p:spPr>
          <a:xfrm>
            <a:off x="522900"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1</a:t>
            </a:r>
            <a:endParaRPr lang="en-US" sz="660"/>
          </a:p>
        </p:txBody>
      </p:sp>
      <p:sp>
        <p:nvSpPr>
          <p:cNvPr id="38" name="Text 35"/>
          <p:cNvSpPr/>
          <p:nvPr/>
        </p:nvSpPr>
        <p:spPr>
          <a:xfrm>
            <a:off x="755900"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2</a:t>
            </a:r>
            <a:endParaRPr lang="en-US" sz="660"/>
          </a:p>
        </p:txBody>
      </p:sp>
      <p:sp>
        <p:nvSpPr>
          <p:cNvPr id="39" name="Text 36"/>
          <p:cNvSpPr/>
          <p:nvPr/>
        </p:nvSpPr>
        <p:spPr>
          <a:xfrm>
            <a:off x="988900"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3</a:t>
            </a:r>
            <a:endParaRPr lang="en-US" sz="660"/>
          </a:p>
        </p:txBody>
      </p:sp>
      <p:sp>
        <p:nvSpPr>
          <p:cNvPr id="40" name="Text 37"/>
          <p:cNvSpPr/>
          <p:nvPr/>
        </p:nvSpPr>
        <p:spPr>
          <a:xfrm>
            <a:off x="1221900"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4</a:t>
            </a:r>
            <a:endParaRPr lang="en-US" sz="660"/>
          </a:p>
        </p:txBody>
      </p:sp>
      <p:sp>
        <p:nvSpPr>
          <p:cNvPr id="41" name="Text 38"/>
          <p:cNvSpPr/>
          <p:nvPr/>
        </p:nvSpPr>
        <p:spPr>
          <a:xfrm>
            <a:off x="1454900"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5</a:t>
            </a:r>
            <a:endParaRPr lang="en-US" sz="660"/>
          </a:p>
        </p:txBody>
      </p:sp>
      <p:sp>
        <p:nvSpPr>
          <p:cNvPr id="42" name="Text 39"/>
          <p:cNvSpPr/>
          <p:nvPr/>
        </p:nvSpPr>
        <p:spPr>
          <a:xfrm>
            <a:off x="452900" y="2224980"/>
            <a:ext cx="1414728" cy="551674"/>
          </a:xfrm>
          <a:prstGeom prst="rect">
            <a:avLst/>
          </a:prstGeom>
          <a:noFill/>
          <a:ln/>
        </p:spPr>
        <p:txBody>
          <a:bodyPr wrap="square" lIns="0" tIns="0" rIns="0" bIns="0" rtlCol="0" anchor="t"/>
          <a:lstStyle/>
          <a:p>
            <a:pPr marL="0" indent="0" algn="l">
              <a:lnSpc>
                <a:spcPts val="1310"/>
              </a:lnSpc>
              <a:buNone/>
            </a:pPr>
            <a:r>
              <a:rPr lang="en-US" sz="1200" dirty="0">
                <a:solidFill>
                  <a:srgbClr val="64748B"/>
                </a:solidFill>
                <a:latin typeface="Calibri" pitchFamily="34" charset="0"/>
                <a:ea typeface="Calibri" pitchFamily="34" charset="-122"/>
                <a:cs typeface="Calibri" pitchFamily="34" charset="-120"/>
              </a:rPr>
              <a:t>Monitoring federal, foundation &amp; policy landscapes continuously</a:t>
            </a:r>
            <a:endParaRPr lang="en-US" sz="1200" dirty="0"/>
          </a:p>
        </p:txBody>
      </p:sp>
      <p:sp>
        <p:nvSpPr>
          <p:cNvPr id="43" name="Text 40"/>
          <p:cNvSpPr/>
          <p:nvPr/>
        </p:nvSpPr>
        <p:spPr>
          <a:xfrm>
            <a:off x="2048619" y="1250752"/>
            <a:ext cx="1634877" cy="3212455"/>
          </a:xfrm>
          <a:prstGeom prst="roundRect">
            <a:avLst>
              <a:gd name="adj" fmla="val 4350"/>
            </a:avLst>
          </a:prstGeom>
          <a:solidFill>
            <a:srgbClr val="F0F4F8"/>
          </a:solidFill>
          <a:ln w="9525">
            <a:solidFill>
              <a:srgbClr val="E8A020">
                <a:alpha val="35000"/>
              </a:srgbClr>
            </a:solidFill>
          </a:ln>
        </p:spPr>
        <p:txBody>
          <a:bodyPr wrap="square" rtlCol="0" anchor="t"/>
          <a:lstStyle/>
          <a:p>
            <a:pPr marL="0" indent="0">
              <a:buNone/>
            </a:pPr>
            <a:endParaRPr lang="en-US" dirty="0"/>
          </a:p>
        </p:txBody>
      </p:sp>
      <p:sp>
        <p:nvSpPr>
          <p:cNvPr id="44" name="Text 41"/>
          <p:cNvSpPr/>
          <p:nvPr/>
        </p:nvSpPr>
        <p:spPr>
          <a:xfrm>
            <a:off x="2158454" y="1437084"/>
            <a:ext cx="228600" cy="228600"/>
          </a:xfrm>
          <a:prstGeom prst="roundRect">
            <a:avLst>
              <a:gd name="adj" fmla="val 25000"/>
            </a:avLst>
          </a:prstGeom>
          <a:solidFill>
            <a:srgbClr val="E8A020">
              <a:alpha val="15000"/>
            </a:srgbClr>
          </a:solidFill>
          <a:ln/>
        </p:spPr>
        <p:txBody>
          <a:bodyPr wrap="none" rtlCol="0" anchor="t"/>
          <a:lstStyle/>
          <a:p>
            <a:pPr marL="0" indent="0">
              <a:buNone/>
            </a:pPr>
            <a:endParaRPr lang="en-US" dirty="0"/>
          </a:p>
        </p:txBody>
      </p:sp>
      <p:pic>
        <p:nvPicPr>
          <p:cNvPr id="4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06460" y="1485090"/>
            <a:ext cx="132588" cy="132588"/>
          </a:xfrm>
          <a:prstGeom prst="rect">
            <a:avLst/>
          </a:prstGeom>
        </p:spPr>
      </p:pic>
      <p:sp>
        <p:nvSpPr>
          <p:cNvPr id="46" name="Text 42"/>
          <p:cNvSpPr/>
          <p:nvPr/>
        </p:nvSpPr>
        <p:spPr>
          <a:xfrm>
            <a:off x="2416619" y="1360587"/>
            <a:ext cx="1216877" cy="140000"/>
          </a:xfrm>
          <a:prstGeom prst="rect">
            <a:avLst/>
          </a:prstGeom>
          <a:noFill/>
          <a:ln/>
        </p:spPr>
        <p:txBody>
          <a:bodyPr wrap="none" lIns="0" tIns="0" rIns="0" bIns="0" rtlCol="0" anchor="t"/>
          <a:lstStyle/>
          <a:p>
            <a:pPr marL="0" indent="0" algn="l">
              <a:lnSpc>
                <a:spcPts val="1310"/>
              </a:lnSpc>
              <a:buNone/>
            </a:pPr>
            <a:r>
              <a:rPr lang="en-US" sz="800" b="1" kern="0" spc="50">
                <a:solidFill>
                  <a:srgbClr val="E8A020"/>
                </a:solidFill>
                <a:latin typeface="Calibri Light" pitchFamily="34" charset="0"/>
                <a:ea typeface="Calibri Light" pitchFamily="34" charset="-122"/>
                <a:cs typeface="Calibri Light" pitchFamily="34" charset="-120"/>
              </a:rPr>
              <a:t>PILLAR 2</a:t>
            </a:r>
            <a:endParaRPr lang="en-US" sz="800"/>
          </a:p>
        </p:txBody>
      </p:sp>
      <p:sp>
        <p:nvSpPr>
          <p:cNvPr id="47" name="Text 43"/>
          <p:cNvSpPr/>
          <p:nvPr/>
        </p:nvSpPr>
        <p:spPr>
          <a:xfrm>
            <a:off x="2416619" y="1486198"/>
            <a:ext cx="1216877" cy="340000"/>
          </a:xfrm>
          <a:prstGeom prst="rect">
            <a:avLst/>
          </a:prstGeom>
          <a:noFill/>
          <a:ln/>
        </p:spPr>
        <p:txBody>
          <a:bodyPr wrap="square" lIns="0" tIns="0" rIns="0" bIns="0" rtlCol="0" anchor="ctr"/>
          <a:lstStyle/>
          <a:p>
            <a:pPr marL="0" indent="0" algn="l">
              <a:lnSpc>
                <a:spcPts val="1310"/>
              </a:lnSpc>
              <a:buNone/>
            </a:pPr>
            <a:r>
              <a:rPr lang="en-US" sz="1100" b="1">
                <a:solidFill>
                  <a:srgbClr val="0D1B3E"/>
                </a:solidFill>
                <a:latin typeface="Calibri Light" pitchFamily="34" charset="0"/>
                <a:ea typeface="Calibri Light" pitchFamily="34" charset="-122"/>
                <a:cs typeface="Calibri Light" pitchFamily="34" charset="-120"/>
              </a:rPr>
              <a:t>Opportunity</a:t>
            </a:r>
            <a:br/>
            <a:r>
              <a:rPr lang="en-US" sz="1100" b="1">
                <a:solidFill>
                  <a:srgbClr val="0D1B3E"/>
                </a:solidFill>
                <a:latin typeface="Calibri Light" pitchFamily="34" charset="0"/>
                <a:ea typeface="Calibri Light" pitchFamily="34" charset="-122"/>
                <a:cs typeface="Calibri Light" pitchFamily="34" charset="-120"/>
              </a:rPr>
              <a:t>Intelligence</a:t>
            </a:r>
            <a:endParaRPr lang="en-US" sz="1100"/>
          </a:p>
        </p:txBody>
      </p:sp>
      <p:sp>
        <p:nvSpPr>
          <p:cNvPr id="48" name="Text 44"/>
          <p:cNvSpPr/>
          <p:nvPr/>
        </p:nvSpPr>
        <p:spPr>
          <a:xfrm>
            <a:off x="2158619"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49" name="Text 45"/>
          <p:cNvSpPr/>
          <p:nvPr/>
        </p:nvSpPr>
        <p:spPr>
          <a:xfrm>
            <a:off x="2391619"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50" name="Text 46"/>
          <p:cNvSpPr/>
          <p:nvPr/>
        </p:nvSpPr>
        <p:spPr>
          <a:xfrm>
            <a:off x="2624619"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51" name="Text 47"/>
          <p:cNvSpPr/>
          <p:nvPr/>
        </p:nvSpPr>
        <p:spPr>
          <a:xfrm>
            <a:off x="2857619"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52" name="Text 48"/>
          <p:cNvSpPr/>
          <p:nvPr/>
        </p:nvSpPr>
        <p:spPr>
          <a:xfrm>
            <a:off x="3090619"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53" name="Text 49"/>
          <p:cNvSpPr/>
          <p:nvPr/>
        </p:nvSpPr>
        <p:spPr>
          <a:xfrm>
            <a:off x="2228619"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1</a:t>
            </a:r>
            <a:endParaRPr lang="en-US" sz="660"/>
          </a:p>
        </p:txBody>
      </p:sp>
      <p:sp>
        <p:nvSpPr>
          <p:cNvPr id="54" name="Text 50"/>
          <p:cNvSpPr/>
          <p:nvPr/>
        </p:nvSpPr>
        <p:spPr>
          <a:xfrm>
            <a:off x="2461619"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2</a:t>
            </a:r>
            <a:endParaRPr lang="en-US" sz="660"/>
          </a:p>
        </p:txBody>
      </p:sp>
      <p:sp>
        <p:nvSpPr>
          <p:cNvPr id="55" name="Text 51"/>
          <p:cNvSpPr/>
          <p:nvPr/>
        </p:nvSpPr>
        <p:spPr>
          <a:xfrm>
            <a:off x="2694619"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3</a:t>
            </a:r>
            <a:endParaRPr lang="en-US" sz="660"/>
          </a:p>
        </p:txBody>
      </p:sp>
      <p:sp>
        <p:nvSpPr>
          <p:cNvPr id="56" name="Text 52"/>
          <p:cNvSpPr/>
          <p:nvPr/>
        </p:nvSpPr>
        <p:spPr>
          <a:xfrm>
            <a:off x="2927619"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4</a:t>
            </a:r>
            <a:endParaRPr lang="en-US" sz="660"/>
          </a:p>
        </p:txBody>
      </p:sp>
      <p:sp>
        <p:nvSpPr>
          <p:cNvPr id="57" name="Text 53"/>
          <p:cNvSpPr/>
          <p:nvPr/>
        </p:nvSpPr>
        <p:spPr>
          <a:xfrm>
            <a:off x="3160619"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5</a:t>
            </a:r>
            <a:endParaRPr lang="en-US" sz="660"/>
          </a:p>
        </p:txBody>
      </p:sp>
      <p:sp>
        <p:nvSpPr>
          <p:cNvPr id="58" name="Text 54"/>
          <p:cNvSpPr/>
          <p:nvPr/>
        </p:nvSpPr>
        <p:spPr>
          <a:xfrm>
            <a:off x="2158619" y="2224980"/>
            <a:ext cx="1414877" cy="551674"/>
          </a:xfrm>
          <a:prstGeom prst="rect">
            <a:avLst/>
          </a:prstGeom>
          <a:noFill/>
          <a:ln/>
        </p:spPr>
        <p:txBody>
          <a:bodyPr wrap="square" lIns="0" tIns="0" rIns="0" bIns="0" rtlCol="0" anchor="t"/>
          <a:lstStyle/>
          <a:p>
            <a:pPr marL="0" indent="0" algn="l">
              <a:lnSpc>
                <a:spcPts val="1310"/>
              </a:lnSpc>
              <a:buNone/>
            </a:pPr>
            <a:r>
              <a:rPr lang="en-US" sz="1200">
                <a:solidFill>
                  <a:srgbClr val="64748B"/>
                </a:solidFill>
                <a:latin typeface="Calibri" pitchFamily="34" charset="0"/>
                <a:ea typeface="Calibri" pitchFamily="34" charset="-122"/>
                <a:cs typeface="Calibri" pitchFamily="34" charset="-120"/>
              </a:rPr>
              <a:t>Scoring &amp; filtering opportunities with a documented decision protocol</a:t>
            </a:r>
            <a:endParaRPr lang="en-US" sz="1200"/>
          </a:p>
        </p:txBody>
      </p:sp>
      <p:sp>
        <p:nvSpPr>
          <p:cNvPr id="59" name="Text 55"/>
          <p:cNvSpPr/>
          <p:nvPr/>
        </p:nvSpPr>
        <p:spPr>
          <a:xfrm>
            <a:off x="3754487" y="1250752"/>
            <a:ext cx="1634877" cy="3212455"/>
          </a:xfrm>
          <a:prstGeom prst="roundRect">
            <a:avLst>
              <a:gd name="adj" fmla="val 4350"/>
            </a:avLst>
          </a:prstGeom>
          <a:solidFill>
            <a:srgbClr val="F0F4F8"/>
          </a:solidFill>
          <a:ln w="9525">
            <a:solidFill>
              <a:srgbClr val="E8A020">
                <a:alpha val="35000"/>
              </a:srgbClr>
            </a:solidFill>
          </a:ln>
        </p:spPr>
        <p:txBody>
          <a:bodyPr wrap="square" rtlCol="0" anchor="t"/>
          <a:lstStyle/>
          <a:p>
            <a:pPr marL="0" indent="0">
              <a:buNone/>
            </a:pPr>
            <a:endParaRPr lang="en-US" dirty="0"/>
          </a:p>
        </p:txBody>
      </p:sp>
      <p:sp>
        <p:nvSpPr>
          <p:cNvPr id="60" name="Text 56"/>
          <p:cNvSpPr/>
          <p:nvPr/>
        </p:nvSpPr>
        <p:spPr>
          <a:xfrm>
            <a:off x="3864322" y="1437084"/>
            <a:ext cx="228600" cy="228600"/>
          </a:xfrm>
          <a:prstGeom prst="roundRect">
            <a:avLst>
              <a:gd name="adj" fmla="val 25000"/>
            </a:avLst>
          </a:prstGeom>
          <a:solidFill>
            <a:srgbClr val="E8A020">
              <a:alpha val="15000"/>
            </a:srgbClr>
          </a:solidFill>
          <a:ln/>
        </p:spPr>
        <p:txBody>
          <a:bodyPr wrap="none" rtlCol="0" anchor="t"/>
          <a:lstStyle/>
          <a:p>
            <a:pPr marL="0" indent="0">
              <a:buNone/>
            </a:pPr>
            <a:endParaRPr lang="en-US" dirty="0"/>
          </a:p>
        </p:txBody>
      </p:sp>
      <p:pic>
        <p:nvPicPr>
          <p:cNvPr id="6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12328" y="1485090"/>
            <a:ext cx="132588" cy="132588"/>
          </a:xfrm>
          <a:prstGeom prst="rect">
            <a:avLst/>
          </a:prstGeom>
        </p:spPr>
      </p:pic>
      <p:sp>
        <p:nvSpPr>
          <p:cNvPr id="62" name="Text 57"/>
          <p:cNvSpPr/>
          <p:nvPr/>
        </p:nvSpPr>
        <p:spPr>
          <a:xfrm>
            <a:off x="4122487" y="1360587"/>
            <a:ext cx="1216877" cy="140000"/>
          </a:xfrm>
          <a:prstGeom prst="rect">
            <a:avLst/>
          </a:prstGeom>
          <a:noFill/>
          <a:ln/>
        </p:spPr>
        <p:txBody>
          <a:bodyPr wrap="none" lIns="0" tIns="0" rIns="0" bIns="0" rtlCol="0" anchor="t"/>
          <a:lstStyle/>
          <a:p>
            <a:pPr marL="0" indent="0" algn="l">
              <a:lnSpc>
                <a:spcPts val="1310"/>
              </a:lnSpc>
              <a:buNone/>
            </a:pPr>
            <a:r>
              <a:rPr lang="en-US" sz="800" b="1" kern="0" spc="50">
                <a:solidFill>
                  <a:srgbClr val="E8A020"/>
                </a:solidFill>
                <a:latin typeface="Calibri Light" pitchFamily="34" charset="0"/>
                <a:ea typeface="Calibri Light" pitchFamily="34" charset="-122"/>
                <a:cs typeface="Calibri Light" pitchFamily="34" charset="-120"/>
              </a:rPr>
              <a:t>PILLAR 3</a:t>
            </a:r>
            <a:endParaRPr lang="en-US" sz="800"/>
          </a:p>
        </p:txBody>
      </p:sp>
      <p:sp>
        <p:nvSpPr>
          <p:cNvPr id="63" name="Text 58"/>
          <p:cNvSpPr/>
          <p:nvPr/>
        </p:nvSpPr>
        <p:spPr>
          <a:xfrm>
            <a:off x="4122487" y="1486198"/>
            <a:ext cx="1216877" cy="340000"/>
          </a:xfrm>
          <a:prstGeom prst="rect">
            <a:avLst/>
          </a:prstGeom>
          <a:noFill/>
          <a:ln/>
        </p:spPr>
        <p:txBody>
          <a:bodyPr wrap="square" lIns="0" tIns="0" rIns="0" bIns="0" rtlCol="0" anchor="ctr"/>
          <a:lstStyle/>
          <a:p>
            <a:pPr marL="0" indent="0" algn="l">
              <a:lnSpc>
                <a:spcPts val="1310"/>
              </a:lnSpc>
              <a:buNone/>
            </a:pPr>
            <a:r>
              <a:rPr lang="en-US" sz="1100" b="1">
                <a:solidFill>
                  <a:srgbClr val="0D1B3E"/>
                </a:solidFill>
                <a:latin typeface="Calibri Light" pitchFamily="34" charset="0"/>
                <a:ea typeface="Calibri Light" pitchFamily="34" charset="-122"/>
                <a:cs typeface="Calibri Light" pitchFamily="34" charset="-120"/>
              </a:rPr>
              <a:t>Readiness</a:t>
            </a:r>
            <a:br/>
            <a:r>
              <a:rPr lang="en-US" sz="1100" b="1">
                <a:solidFill>
                  <a:srgbClr val="0D1B3E"/>
                </a:solidFill>
                <a:latin typeface="Calibri Light" pitchFamily="34" charset="0"/>
                <a:ea typeface="Calibri Light" pitchFamily="34" charset="-122"/>
                <a:cs typeface="Calibri Light" pitchFamily="34" charset="-120"/>
              </a:rPr>
              <a:t>Assessment</a:t>
            </a:r>
            <a:endParaRPr lang="en-US" sz="1100"/>
          </a:p>
        </p:txBody>
      </p:sp>
      <p:sp>
        <p:nvSpPr>
          <p:cNvPr id="64" name="Text 59"/>
          <p:cNvSpPr/>
          <p:nvPr/>
        </p:nvSpPr>
        <p:spPr>
          <a:xfrm>
            <a:off x="3864487"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65" name="Text 60"/>
          <p:cNvSpPr/>
          <p:nvPr/>
        </p:nvSpPr>
        <p:spPr>
          <a:xfrm>
            <a:off x="4097487"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66" name="Text 61"/>
          <p:cNvSpPr/>
          <p:nvPr/>
        </p:nvSpPr>
        <p:spPr>
          <a:xfrm>
            <a:off x="4330487"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67" name="Text 62"/>
          <p:cNvSpPr/>
          <p:nvPr/>
        </p:nvSpPr>
        <p:spPr>
          <a:xfrm>
            <a:off x="4563487"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68" name="Text 63"/>
          <p:cNvSpPr/>
          <p:nvPr/>
        </p:nvSpPr>
        <p:spPr>
          <a:xfrm>
            <a:off x="4796487"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69" name="Text 64"/>
          <p:cNvSpPr/>
          <p:nvPr/>
        </p:nvSpPr>
        <p:spPr>
          <a:xfrm>
            <a:off x="3934487"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1</a:t>
            </a:r>
            <a:endParaRPr lang="en-US" sz="660"/>
          </a:p>
        </p:txBody>
      </p:sp>
      <p:sp>
        <p:nvSpPr>
          <p:cNvPr id="70" name="Text 65"/>
          <p:cNvSpPr/>
          <p:nvPr/>
        </p:nvSpPr>
        <p:spPr>
          <a:xfrm>
            <a:off x="4167487"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2</a:t>
            </a:r>
            <a:endParaRPr lang="en-US" sz="660"/>
          </a:p>
        </p:txBody>
      </p:sp>
      <p:sp>
        <p:nvSpPr>
          <p:cNvPr id="71" name="Text 66"/>
          <p:cNvSpPr/>
          <p:nvPr/>
        </p:nvSpPr>
        <p:spPr>
          <a:xfrm>
            <a:off x="4400487"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3</a:t>
            </a:r>
            <a:endParaRPr lang="en-US" sz="660"/>
          </a:p>
        </p:txBody>
      </p:sp>
      <p:sp>
        <p:nvSpPr>
          <p:cNvPr id="72" name="Text 67"/>
          <p:cNvSpPr/>
          <p:nvPr/>
        </p:nvSpPr>
        <p:spPr>
          <a:xfrm>
            <a:off x="4633487"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4</a:t>
            </a:r>
            <a:endParaRPr lang="en-US" sz="660"/>
          </a:p>
        </p:txBody>
      </p:sp>
      <p:sp>
        <p:nvSpPr>
          <p:cNvPr id="73" name="Text 68"/>
          <p:cNvSpPr/>
          <p:nvPr/>
        </p:nvSpPr>
        <p:spPr>
          <a:xfrm>
            <a:off x="4866487"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5</a:t>
            </a:r>
            <a:endParaRPr lang="en-US" sz="660"/>
          </a:p>
        </p:txBody>
      </p:sp>
      <p:sp>
        <p:nvSpPr>
          <p:cNvPr id="74" name="Text 69"/>
          <p:cNvSpPr/>
          <p:nvPr/>
        </p:nvSpPr>
        <p:spPr>
          <a:xfrm>
            <a:off x="3864487" y="2224980"/>
            <a:ext cx="1414877" cy="551674"/>
          </a:xfrm>
          <a:prstGeom prst="rect">
            <a:avLst/>
          </a:prstGeom>
          <a:noFill/>
          <a:ln/>
        </p:spPr>
        <p:txBody>
          <a:bodyPr wrap="square" lIns="0" tIns="0" rIns="0" bIns="0" rtlCol="0" anchor="t"/>
          <a:lstStyle/>
          <a:p>
            <a:pPr marL="0" indent="0" algn="l">
              <a:lnSpc>
                <a:spcPts val="1310"/>
              </a:lnSpc>
              <a:buNone/>
            </a:pPr>
            <a:r>
              <a:rPr lang="en-US" sz="1200">
                <a:solidFill>
                  <a:srgbClr val="64748B"/>
                </a:solidFill>
                <a:latin typeface="Calibri" pitchFamily="34" charset="0"/>
                <a:ea typeface="Calibri" pitchFamily="34" charset="-122"/>
                <a:cs typeface="Calibri" pitchFamily="34" charset="-120"/>
              </a:rPr>
              <a:t>Honestly assessing program, data, staff &amp; financial capacity before applying</a:t>
            </a:r>
            <a:endParaRPr lang="en-US" sz="1200"/>
          </a:p>
        </p:txBody>
      </p:sp>
      <p:sp>
        <p:nvSpPr>
          <p:cNvPr id="75" name="Text 70"/>
          <p:cNvSpPr/>
          <p:nvPr/>
        </p:nvSpPr>
        <p:spPr>
          <a:xfrm>
            <a:off x="5460355" y="1250752"/>
            <a:ext cx="1634877" cy="3212455"/>
          </a:xfrm>
          <a:prstGeom prst="roundRect">
            <a:avLst>
              <a:gd name="adj" fmla="val 4350"/>
            </a:avLst>
          </a:prstGeom>
          <a:solidFill>
            <a:srgbClr val="F0F4F8"/>
          </a:solidFill>
          <a:ln w="9525">
            <a:solidFill>
              <a:srgbClr val="E8A020">
                <a:alpha val="35000"/>
              </a:srgbClr>
            </a:solidFill>
          </a:ln>
        </p:spPr>
        <p:txBody>
          <a:bodyPr wrap="square" rtlCol="0" anchor="t"/>
          <a:lstStyle/>
          <a:p>
            <a:pPr marL="0" indent="0">
              <a:buNone/>
            </a:pPr>
            <a:endParaRPr lang="en-US" dirty="0"/>
          </a:p>
        </p:txBody>
      </p:sp>
      <p:sp>
        <p:nvSpPr>
          <p:cNvPr id="76" name="Text 71"/>
          <p:cNvSpPr/>
          <p:nvPr/>
        </p:nvSpPr>
        <p:spPr>
          <a:xfrm>
            <a:off x="5570190" y="1437084"/>
            <a:ext cx="228600" cy="228600"/>
          </a:xfrm>
          <a:prstGeom prst="roundRect">
            <a:avLst>
              <a:gd name="adj" fmla="val 25000"/>
            </a:avLst>
          </a:prstGeom>
          <a:solidFill>
            <a:srgbClr val="E8A020">
              <a:alpha val="15000"/>
            </a:srgbClr>
          </a:solidFill>
          <a:ln/>
        </p:spPr>
        <p:txBody>
          <a:bodyPr wrap="none" rtlCol="0" anchor="t"/>
          <a:lstStyle/>
          <a:p>
            <a:pPr marL="0" indent="0">
              <a:buNone/>
            </a:pPr>
            <a:endParaRPr lang="en-US" dirty="0"/>
          </a:p>
        </p:txBody>
      </p:sp>
      <p:pic>
        <p:nvPicPr>
          <p:cNvPr id="7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18196" y="1485090"/>
            <a:ext cx="132588" cy="132588"/>
          </a:xfrm>
          <a:prstGeom prst="rect">
            <a:avLst/>
          </a:prstGeom>
        </p:spPr>
      </p:pic>
      <p:sp>
        <p:nvSpPr>
          <p:cNvPr id="78" name="Text 72"/>
          <p:cNvSpPr/>
          <p:nvPr/>
        </p:nvSpPr>
        <p:spPr>
          <a:xfrm>
            <a:off x="5828355" y="1360587"/>
            <a:ext cx="1216877" cy="140000"/>
          </a:xfrm>
          <a:prstGeom prst="rect">
            <a:avLst/>
          </a:prstGeom>
          <a:noFill/>
          <a:ln/>
        </p:spPr>
        <p:txBody>
          <a:bodyPr wrap="none" lIns="0" tIns="0" rIns="0" bIns="0" rtlCol="0" anchor="t"/>
          <a:lstStyle/>
          <a:p>
            <a:pPr marL="0" indent="0" algn="l">
              <a:lnSpc>
                <a:spcPts val="1310"/>
              </a:lnSpc>
              <a:buNone/>
            </a:pPr>
            <a:r>
              <a:rPr lang="en-US" sz="800" b="1" kern="0" spc="50">
                <a:solidFill>
                  <a:srgbClr val="E8A020"/>
                </a:solidFill>
                <a:latin typeface="Calibri Light" pitchFamily="34" charset="0"/>
                <a:ea typeface="Calibri Light" pitchFamily="34" charset="-122"/>
                <a:cs typeface="Calibri Light" pitchFamily="34" charset="-120"/>
              </a:rPr>
              <a:t>PILLAR 4</a:t>
            </a:r>
            <a:endParaRPr lang="en-US" sz="800"/>
          </a:p>
        </p:txBody>
      </p:sp>
      <p:sp>
        <p:nvSpPr>
          <p:cNvPr id="79" name="Text 73"/>
          <p:cNvSpPr/>
          <p:nvPr/>
        </p:nvSpPr>
        <p:spPr>
          <a:xfrm>
            <a:off x="5828355" y="1486198"/>
            <a:ext cx="1216877" cy="340000"/>
          </a:xfrm>
          <a:prstGeom prst="rect">
            <a:avLst/>
          </a:prstGeom>
          <a:noFill/>
          <a:ln/>
        </p:spPr>
        <p:txBody>
          <a:bodyPr wrap="square" lIns="0" tIns="0" rIns="0" bIns="0" rtlCol="0" anchor="ctr"/>
          <a:lstStyle/>
          <a:p>
            <a:pPr marL="0" indent="0" algn="l">
              <a:lnSpc>
                <a:spcPts val="1310"/>
              </a:lnSpc>
              <a:buNone/>
            </a:pPr>
            <a:r>
              <a:rPr lang="en-US" sz="1100" b="1">
                <a:solidFill>
                  <a:srgbClr val="0D1B3E"/>
                </a:solidFill>
                <a:latin typeface="Calibri Light" pitchFamily="34" charset="0"/>
                <a:ea typeface="Calibri Light" pitchFamily="34" charset="-122"/>
                <a:cs typeface="Calibri Light" pitchFamily="34" charset="-120"/>
              </a:rPr>
              <a:t>Response</a:t>
            </a:r>
            <a:br/>
            <a:r>
              <a:rPr lang="en-US" sz="1100" b="1">
                <a:solidFill>
                  <a:srgbClr val="0D1B3E"/>
                </a:solidFill>
                <a:latin typeface="Calibri Light" pitchFamily="34" charset="0"/>
                <a:ea typeface="Calibri Light" pitchFamily="34" charset="-122"/>
                <a:cs typeface="Calibri Light" pitchFamily="34" charset="-120"/>
              </a:rPr>
              <a:t>Coordination</a:t>
            </a:r>
            <a:endParaRPr lang="en-US" sz="1100"/>
          </a:p>
        </p:txBody>
      </p:sp>
      <p:sp>
        <p:nvSpPr>
          <p:cNvPr id="80" name="Text 74"/>
          <p:cNvSpPr/>
          <p:nvPr/>
        </p:nvSpPr>
        <p:spPr>
          <a:xfrm>
            <a:off x="5570355"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81" name="Text 75"/>
          <p:cNvSpPr/>
          <p:nvPr/>
        </p:nvSpPr>
        <p:spPr>
          <a:xfrm>
            <a:off x="5803355"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82" name="Text 76"/>
          <p:cNvSpPr/>
          <p:nvPr/>
        </p:nvSpPr>
        <p:spPr>
          <a:xfrm>
            <a:off x="6036355"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83" name="Text 77"/>
          <p:cNvSpPr/>
          <p:nvPr/>
        </p:nvSpPr>
        <p:spPr>
          <a:xfrm>
            <a:off x="6269355"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84" name="Text 78"/>
          <p:cNvSpPr/>
          <p:nvPr/>
        </p:nvSpPr>
        <p:spPr>
          <a:xfrm>
            <a:off x="6502355"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85" name="Text 79"/>
          <p:cNvSpPr/>
          <p:nvPr/>
        </p:nvSpPr>
        <p:spPr>
          <a:xfrm>
            <a:off x="5640355"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1</a:t>
            </a:r>
            <a:endParaRPr lang="en-US" sz="660"/>
          </a:p>
        </p:txBody>
      </p:sp>
      <p:sp>
        <p:nvSpPr>
          <p:cNvPr id="86" name="Text 80"/>
          <p:cNvSpPr/>
          <p:nvPr/>
        </p:nvSpPr>
        <p:spPr>
          <a:xfrm>
            <a:off x="5873355"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2</a:t>
            </a:r>
            <a:endParaRPr lang="en-US" sz="660"/>
          </a:p>
        </p:txBody>
      </p:sp>
      <p:sp>
        <p:nvSpPr>
          <p:cNvPr id="87" name="Text 81"/>
          <p:cNvSpPr/>
          <p:nvPr/>
        </p:nvSpPr>
        <p:spPr>
          <a:xfrm>
            <a:off x="6106355"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3</a:t>
            </a:r>
            <a:endParaRPr lang="en-US" sz="660"/>
          </a:p>
        </p:txBody>
      </p:sp>
      <p:sp>
        <p:nvSpPr>
          <p:cNvPr id="88" name="Text 82"/>
          <p:cNvSpPr/>
          <p:nvPr/>
        </p:nvSpPr>
        <p:spPr>
          <a:xfrm>
            <a:off x="6339355"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4</a:t>
            </a:r>
            <a:endParaRPr lang="en-US" sz="660"/>
          </a:p>
        </p:txBody>
      </p:sp>
      <p:sp>
        <p:nvSpPr>
          <p:cNvPr id="89" name="Text 83"/>
          <p:cNvSpPr/>
          <p:nvPr/>
        </p:nvSpPr>
        <p:spPr>
          <a:xfrm>
            <a:off x="6572355"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5</a:t>
            </a:r>
            <a:endParaRPr lang="en-US" sz="660"/>
          </a:p>
        </p:txBody>
      </p:sp>
      <p:sp>
        <p:nvSpPr>
          <p:cNvPr id="90" name="Text 84"/>
          <p:cNvSpPr/>
          <p:nvPr/>
        </p:nvSpPr>
        <p:spPr>
          <a:xfrm>
            <a:off x="5570355" y="2224980"/>
            <a:ext cx="1414877" cy="551674"/>
          </a:xfrm>
          <a:prstGeom prst="rect">
            <a:avLst/>
          </a:prstGeom>
          <a:noFill/>
          <a:ln/>
        </p:spPr>
        <p:txBody>
          <a:bodyPr wrap="square" lIns="0" tIns="0" rIns="0" bIns="0" rtlCol="0" anchor="t"/>
          <a:lstStyle/>
          <a:p>
            <a:pPr marL="0" indent="0" algn="l">
              <a:lnSpc>
                <a:spcPts val="1310"/>
              </a:lnSpc>
              <a:buNone/>
            </a:pPr>
            <a:r>
              <a:rPr lang="en-US" sz="1200">
                <a:solidFill>
                  <a:srgbClr val="64748B"/>
                </a:solidFill>
                <a:latin typeface="Calibri" pitchFamily="34" charset="0"/>
                <a:ea typeface="Calibri" pitchFamily="34" charset="-122"/>
                <a:cs typeface="Calibri" pitchFamily="34" charset="-120"/>
              </a:rPr>
              <a:t>Managing applications with structured roles, reviews &amp; submission logistics</a:t>
            </a:r>
            <a:endParaRPr lang="en-US" sz="1200"/>
          </a:p>
        </p:txBody>
      </p:sp>
      <p:sp>
        <p:nvSpPr>
          <p:cNvPr id="91" name="Text 85"/>
          <p:cNvSpPr/>
          <p:nvPr/>
        </p:nvSpPr>
        <p:spPr>
          <a:xfrm>
            <a:off x="7166223" y="1250752"/>
            <a:ext cx="1634728" cy="3212455"/>
          </a:xfrm>
          <a:prstGeom prst="roundRect">
            <a:avLst>
              <a:gd name="adj" fmla="val 4351"/>
            </a:avLst>
          </a:prstGeom>
          <a:solidFill>
            <a:srgbClr val="F0F4F8"/>
          </a:solidFill>
          <a:ln w="9525">
            <a:solidFill>
              <a:srgbClr val="E8A020">
                <a:alpha val="50000"/>
              </a:srgbClr>
            </a:solidFill>
          </a:ln>
        </p:spPr>
        <p:txBody>
          <a:bodyPr wrap="square" rtlCol="0" anchor="t"/>
          <a:lstStyle/>
          <a:p>
            <a:pPr marL="0" indent="0">
              <a:buNone/>
            </a:pPr>
            <a:endParaRPr lang="en-US" dirty="0"/>
          </a:p>
        </p:txBody>
      </p:sp>
      <p:sp>
        <p:nvSpPr>
          <p:cNvPr id="92" name="Text 86"/>
          <p:cNvSpPr/>
          <p:nvPr/>
        </p:nvSpPr>
        <p:spPr>
          <a:xfrm>
            <a:off x="7175748" y="1260277"/>
            <a:ext cx="1615678" cy="3193405"/>
          </a:xfrm>
          <a:prstGeom prst="roundRect">
            <a:avLst>
              <a:gd name="adj" fmla="val 4402"/>
            </a:avLst>
          </a:prstGeom>
          <a:solidFill>
            <a:srgbClr val="E8A020">
              <a:alpha val="5000"/>
            </a:srgbClr>
          </a:solidFill>
          <a:ln/>
        </p:spPr>
        <p:txBody>
          <a:bodyPr wrap="square" rtlCol="0" anchor="t"/>
          <a:lstStyle/>
          <a:p>
            <a:pPr marL="0" indent="0">
              <a:buNone/>
            </a:pPr>
            <a:endParaRPr lang="en-US" dirty="0"/>
          </a:p>
        </p:txBody>
      </p:sp>
      <p:sp>
        <p:nvSpPr>
          <p:cNvPr id="93" name="Text 87"/>
          <p:cNvSpPr/>
          <p:nvPr/>
        </p:nvSpPr>
        <p:spPr>
          <a:xfrm>
            <a:off x="7276058" y="1437084"/>
            <a:ext cx="228600" cy="228600"/>
          </a:xfrm>
          <a:prstGeom prst="roundRect">
            <a:avLst>
              <a:gd name="adj" fmla="val 25000"/>
            </a:avLst>
          </a:prstGeom>
          <a:solidFill>
            <a:srgbClr val="E8A020">
              <a:alpha val="20000"/>
            </a:srgbClr>
          </a:solidFill>
          <a:ln/>
        </p:spPr>
        <p:txBody>
          <a:bodyPr wrap="none" rtlCol="0" anchor="t"/>
          <a:lstStyle/>
          <a:p>
            <a:pPr marL="0" indent="0">
              <a:buNone/>
            </a:pPr>
            <a:endParaRPr lang="en-US" dirty="0"/>
          </a:p>
        </p:txBody>
      </p:sp>
      <p:pic>
        <p:nvPicPr>
          <p:cNvPr id="9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24064" y="1485090"/>
            <a:ext cx="132588" cy="132588"/>
          </a:xfrm>
          <a:prstGeom prst="rect">
            <a:avLst/>
          </a:prstGeom>
        </p:spPr>
      </p:pic>
      <p:sp>
        <p:nvSpPr>
          <p:cNvPr id="95" name="Text 88"/>
          <p:cNvSpPr/>
          <p:nvPr/>
        </p:nvSpPr>
        <p:spPr>
          <a:xfrm>
            <a:off x="7534223" y="1360587"/>
            <a:ext cx="1216728" cy="140000"/>
          </a:xfrm>
          <a:prstGeom prst="rect">
            <a:avLst/>
          </a:prstGeom>
          <a:noFill/>
          <a:ln/>
        </p:spPr>
        <p:txBody>
          <a:bodyPr wrap="none" lIns="0" tIns="0" rIns="0" bIns="0" rtlCol="0" anchor="t"/>
          <a:lstStyle/>
          <a:p>
            <a:pPr marL="0" indent="0" algn="l">
              <a:lnSpc>
                <a:spcPts val="1310"/>
              </a:lnSpc>
              <a:buNone/>
            </a:pPr>
            <a:r>
              <a:rPr lang="en-US" sz="800" b="1" kern="0" spc="50">
                <a:solidFill>
                  <a:srgbClr val="E8A020"/>
                </a:solidFill>
                <a:latin typeface="Calibri Light" pitchFamily="34" charset="0"/>
                <a:ea typeface="Calibri Light" pitchFamily="34" charset="-122"/>
                <a:cs typeface="Calibri Light" pitchFamily="34" charset="-120"/>
              </a:rPr>
              <a:t>PILLAR 5</a:t>
            </a:r>
            <a:endParaRPr lang="en-US" sz="800"/>
          </a:p>
        </p:txBody>
      </p:sp>
      <p:sp>
        <p:nvSpPr>
          <p:cNvPr id="96" name="Text 89"/>
          <p:cNvSpPr/>
          <p:nvPr/>
        </p:nvSpPr>
        <p:spPr>
          <a:xfrm>
            <a:off x="7534223" y="1486198"/>
            <a:ext cx="1216728" cy="340000"/>
          </a:xfrm>
          <a:prstGeom prst="rect">
            <a:avLst/>
          </a:prstGeom>
          <a:noFill/>
          <a:ln/>
        </p:spPr>
        <p:txBody>
          <a:bodyPr wrap="square" lIns="0" tIns="0" rIns="0" bIns="0" rtlCol="0" anchor="ctr"/>
          <a:lstStyle/>
          <a:p>
            <a:pPr marL="0" indent="0" algn="l">
              <a:lnSpc>
                <a:spcPts val="1310"/>
              </a:lnSpc>
              <a:buNone/>
            </a:pPr>
            <a:r>
              <a:rPr lang="en-US" sz="1100" b="1">
                <a:solidFill>
                  <a:srgbClr val="0D1B3E"/>
                </a:solidFill>
                <a:latin typeface="Calibri Light" pitchFamily="34" charset="0"/>
                <a:ea typeface="Calibri Light" pitchFamily="34" charset="-122"/>
                <a:cs typeface="Calibri Light" pitchFamily="34" charset="-120"/>
              </a:rPr>
              <a:t>Learning &amp;</a:t>
            </a:r>
            <a:br/>
            <a:r>
              <a:rPr lang="en-US" sz="1100" b="1">
                <a:solidFill>
                  <a:srgbClr val="0D1B3E"/>
                </a:solidFill>
                <a:latin typeface="Calibri Light" pitchFamily="34" charset="0"/>
                <a:ea typeface="Calibri Light" pitchFamily="34" charset="-122"/>
                <a:cs typeface="Calibri Light" pitchFamily="34" charset="-120"/>
              </a:rPr>
              <a:t>Adaptation</a:t>
            </a:r>
            <a:endParaRPr lang="en-US" sz="1100"/>
          </a:p>
        </p:txBody>
      </p:sp>
      <p:sp>
        <p:nvSpPr>
          <p:cNvPr id="97" name="Text 90"/>
          <p:cNvSpPr/>
          <p:nvPr/>
        </p:nvSpPr>
        <p:spPr>
          <a:xfrm>
            <a:off x="7276223"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98" name="Text 91"/>
          <p:cNvSpPr/>
          <p:nvPr/>
        </p:nvSpPr>
        <p:spPr>
          <a:xfrm>
            <a:off x="7509223"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99" name="Text 92"/>
          <p:cNvSpPr/>
          <p:nvPr/>
        </p:nvSpPr>
        <p:spPr>
          <a:xfrm>
            <a:off x="7742223"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100" name="Text 93"/>
          <p:cNvSpPr/>
          <p:nvPr/>
        </p:nvSpPr>
        <p:spPr>
          <a:xfrm>
            <a:off x="7975223"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101" name="Text 94"/>
          <p:cNvSpPr/>
          <p:nvPr/>
        </p:nvSpPr>
        <p:spPr>
          <a:xfrm>
            <a:off x="8208223" y="1828502"/>
            <a:ext cx="195000" cy="195000"/>
          </a:xfrm>
          <a:prstGeom prst="ellipse">
            <a:avLst/>
          </a:prstGeom>
          <a:solidFill>
            <a:srgbClr val="FFFFFF"/>
          </a:solidFill>
          <a:ln w="9525">
            <a:solidFill>
              <a:srgbClr val="E8A020">
                <a:alpha val="60000"/>
              </a:srgbClr>
            </a:solidFill>
          </a:ln>
        </p:spPr>
        <p:txBody>
          <a:bodyPr wrap="none" rtlCol="0" anchor="t"/>
          <a:lstStyle/>
          <a:p>
            <a:pPr marL="0" indent="0">
              <a:buNone/>
            </a:pPr>
            <a:endParaRPr lang="en-US" dirty="0"/>
          </a:p>
        </p:txBody>
      </p:sp>
      <p:sp>
        <p:nvSpPr>
          <p:cNvPr id="102" name="Text 95"/>
          <p:cNvSpPr/>
          <p:nvPr/>
        </p:nvSpPr>
        <p:spPr>
          <a:xfrm>
            <a:off x="7346223"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1</a:t>
            </a:r>
            <a:endParaRPr lang="en-US" sz="660"/>
          </a:p>
        </p:txBody>
      </p:sp>
      <p:sp>
        <p:nvSpPr>
          <p:cNvPr id="103" name="Text 96"/>
          <p:cNvSpPr/>
          <p:nvPr/>
        </p:nvSpPr>
        <p:spPr>
          <a:xfrm>
            <a:off x="7579223"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2</a:t>
            </a:r>
            <a:endParaRPr lang="en-US" sz="660"/>
          </a:p>
        </p:txBody>
      </p:sp>
      <p:sp>
        <p:nvSpPr>
          <p:cNvPr id="104" name="Text 97"/>
          <p:cNvSpPr/>
          <p:nvPr/>
        </p:nvSpPr>
        <p:spPr>
          <a:xfrm>
            <a:off x="7812223"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3</a:t>
            </a:r>
            <a:endParaRPr lang="en-US" sz="660"/>
          </a:p>
        </p:txBody>
      </p:sp>
      <p:sp>
        <p:nvSpPr>
          <p:cNvPr id="105" name="Text 98"/>
          <p:cNvSpPr/>
          <p:nvPr/>
        </p:nvSpPr>
        <p:spPr>
          <a:xfrm>
            <a:off x="8045223"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4</a:t>
            </a:r>
            <a:endParaRPr lang="en-US" sz="660"/>
          </a:p>
        </p:txBody>
      </p:sp>
      <p:sp>
        <p:nvSpPr>
          <p:cNvPr id="106" name="Text 99"/>
          <p:cNvSpPr/>
          <p:nvPr/>
        </p:nvSpPr>
        <p:spPr>
          <a:xfrm>
            <a:off x="8278223" y="2053502"/>
            <a:ext cx="55000" cy="110000"/>
          </a:xfrm>
          <a:prstGeom prst="rect">
            <a:avLst/>
          </a:prstGeom>
          <a:noFill/>
          <a:ln/>
        </p:spPr>
        <p:txBody>
          <a:bodyPr wrap="none" lIns="0" tIns="0" rIns="0" bIns="0" rtlCol="0" anchor="ctr"/>
          <a:lstStyle/>
          <a:p>
            <a:pPr marL="0" indent="0" algn="l">
              <a:lnSpc>
                <a:spcPts val="765"/>
              </a:lnSpc>
              <a:buNone/>
            </a:pPr>
            <a:r>
              <a:rPr lang="en-US" sz="660">
                <a:solidFill>
                  <a:srgbClr val="64748B"/>
                </a:solidFill>
                <a:latin typeface="Calibri" pitchFamily="34" charset="0"/>
                <a:ea typeface="Calibri" pitchFamily="34" charset="-122"/>
                <a:cs typeface="Calibri" pitchFamily="34" charset="-120"/>
              </a:rPr>
              <a:t>5</a:t>
            </a:r>
            <a:endParaRPr lang="en-US" sz="660"/>
          </a:p>
        </p:txBody>
      </p:sp>
      <p:sp>
        <p:nvSpPr>
          <p:cNvPr id="107" name="Text 100"/>
          <p:cNvSpPr/>
          <p:nvPr/>
        </p:nvSpPr>
        <p:spPr>
          <a:xfrm>
            <a:off x="7276223" y="2224980"/>
            <a:ext cx="1414728" cy="551674"/>
          </a:xfrm>
          <a:prstGeom prst="rect">
            <a:avLst/>
          </a:prstGeom>
          <a:noFill/>
          <a:ln/>
        </p:spPr>
        <p:txBody>
          <a:bodyPr wrap="square" lIns="0" tIns="0" rIns="0" bIns="0" rtlCol="0" anchor="t"/>
          <a:lstStyle/>
          <a:p>
            <a:pPr marL="0" indent="0" algn="l">
              <a:lnSpc>
                <a:spcPts val="1310"/>
              </a:lnSpc>
              <a:buNone/>
            </a:pPr>
            <a:r>
              <a:rPr lang="en-US" sz="1200">
                <a:solidFill>
                  <a:srgbClr val="64748B"/>
                </a:solidFill>
                <a:latin typeface="Calibri" pitchFamily="34" charset="0"/>
                <a:ea typeface="Calibri" pitchFamily="34" charset="-122"/>
                <a:cs typeface="Calibri" pitchFamily="34" charset="-120"/>
              </a:rPr>
              <a:t>Debriefing every cycle, integrating feedback &amp; improving continuously</a:t>
            </a:r>
            <a:endParaRPr lang="en-US" sz="1200"/>
          </a:p>
        </p:txBody>
      </p:sp>
      <p:sp>
        <p:nvSpPr>
          <p:cNvPr id="108" name="Text 101"/>
          <p:cNvSpPr/>
          <p:nvPr/>
        </p:nvSpPr>
        <p:spPr>
          <a:xfrm>
            <a:off x="233957" y="4563517"/>
            <a:ext cx="8458200" cy="408533"/>
          </a:xfrm>
          <a:prstGeom prst="roundRect">
            <a:avLst>
              <a:gd name="adj" fmla="val 13989"/>
            </a:avLst>
          </a:prstGeom>
          <a:gradFill rotWithShape="1">
            <a:gsLst>
              <a:gs pos="0">
                <a:srgbClr val="E8A020">
                  <a:alpha val="18000"/>
                </a:srgbClr>
              </a:gs>
              <a:gs pos="100000">
                <a:srgbClr val="E8A020">
                  <a:alpha val="7000"/>
                </a:srgbClr>
              </a:gs>
            </a:gsLst>
            <a:lin ang="0" scaled="1"/>
          </a:gradFill>
          <a:ln w="9525">
            <a:solidFill>
              <a:srgbClr val="E8A020">
                <a:alpha val="45000"/>
              </a:srgbClr>
            </a:solidFill>
          </a:ln>
        </p:spPr>
        <p:txBody>
          <a:bodyPr wrap="square" rtlCol="0" anchor="t"/>
          <a:lstStyle/>
          <a:p>
            <a:pPr marL="0" indent="0">
              <a:buNone/>
            </a:pPr>
            <a:endParaRPr lang="en-US" dirty="0"/>
          </a:p>
        </p:txBody>
      </p:sp>
      <p:sp>
        <p:nvSpPr>
          <p:cNvPr id="110" name="Text 102"/>
          <p:cNvSpPr/>
          <p:nvPr/>
        </p:nvSpPr>
        <p:spPr>
          <a:xfrm>
            <a:off x="550784" y="4578689"/>
            <a:ext cx="5200000" cy="300000"/>
          </a:xfrm>
          <a:prstGeom prst="rect">
            <a:avLst/>
          </a:prstGeom>
          <a:noFill/>
          <a:ln/>
        </p:spPr>
        <p:txBody>
          <a:bodyPr wrap="none" lIns="0" tIns="0" rIns="0" bIns="0" rtlCol="0" anchor="ctr"/>
          <a:lstStyle/>
          <a:p>
            <a:pPr marL="0" indent="0" algn="l">
              <a:lnSpc>
                <a:spcPts val="2340"/>
              </a:lnSpc>
              <a:buNone/>
            </a:pPr>
            <a:r>
              <a:rPr lang="en-US" sz="1400" b="1" i="1" dirty="0">
                <a:solidFill>
                  <a:schemeClr val="accent2">
                    <a:lumMod val="75000"/>
                  </a:schemeClr>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What is your lowest-scoring pillar?</a:t>
            </a:r>
            <a:r>
              <a:rPr lang="en-US" sz="1400" b="1" dirty="0">
                <a:solidFill>
                  <a:schemeClr val="accent2">
                    <a:lumMod val="75000"/>
                  </a:schemeClr>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 </a:t>
            </a:r>
            <a:r>
              <a:rPr lang="en-US" sz="1400" b="1" i="1" dirty="0">
                <a:solidFill>
                  <a:schemeClr val="accent2">
                    <a:lumMod val="75000"/>
                  </a:schemeClr>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 </a:t>
            </a:r>
            <a:r>
              <a:rPr lang="en-US" sz="1400" i="1" dirty="0">
                <a:solidFill>
                  <a:srgbClr val="0D1B3E"/>
                </a:solidFill>
                <a:latin typeface="Calibri" pitchFamily="34" charset="0"/>
                <a:ea typeface="Calibri" pitchFamily="34" charset="-122"/>
                <a:cs typeface="Calibri" pitchFamily="34" charset="-120"/>
              </a:rPr>
              <a:t>That is where your 90-day plan begins.</a:t>
            </a:r>
            <a:endParaRPr lang="en-US" sz="1400" dirty="0"/>
          </a:p>
        </p:txBody>
      </p:sp>
      <p:sp>
        <p:nvSpPr>
          <p:cNvPr id="111" name="Text 103"/>
          <p:cNvSpPr/>
          <p:nvPr/>
        </p:nvSpPr>
        <p:spPr>
          <a:xfrm>
            <a:off x="7600801" y="4653409"/>
            <a:ext cx="7590" cy="228600"/>
          </a:xfrm>
          <a:prstGeom prst="rect">
            <a:avLst/>
          </a:prstGeom>
          <a:solidFill>
            <a:srgbClr val="E8A020">
              <a:alpha val="40000"/>
            </a:srgbClr>
          </a:solidFill>
          <a:ln/>
        </p:spPr>
        <p:txBody>
          <a:bodyPr wrap="none" rtlCol="0" anchor="t"/>
          <a:lstStyle/>
          <a:p>
            <a:pPr marL="0" indent="0">
              <a:buNone/>
            </a:pPr>
            <a:endParaRPr lang="en-US" dirty="0"/>
          </a:p>
        </p:txBody>
      </p:sp>
      <p:sp>
        <p:nvSpPr>
          <p:cNvPr id="112" name="Text 104"/>
          <p:cNvSpPr/>
          <p:nvPr/>
        </p:nvSpPr>
        <p:spPr>
          <a:xfrm>
            <a:off x="7610428" y="4644033"/>
            <a:ext cx="912197" cy="118021"/>
          </a:xfrm>
          <a:prstGeom prst="rect">
            <a:avLst/>
          </a:prstGeom>
          <a:noFill/>
          <a:ln/>
        </p:spPr>
        <p:txBody>
          <a:bodyPr wrap="none" lIns="0" tIns="0" rIns="0" bIns="0" rtlCol="0" anchor="t"/>
          <a:lstStyle/>
          <a:p>
            <a:pPr marL="0" indent="0" algn="r">
              <a:lnSpc>
                <a:spcPts val="930"/>
              </a:lnSpc>
              <a:buNone/>
            </a:pPr>
            <a:r>
              <a:rPr lang="en-US" sz="1000" kern="0" spc="43" dirty="0">
                <a:solidFill>
                  <a:srgbClr val="64748B"/>
                </a:solidFill>
                <a:latin typeface="Calibri" pitchFamily="34" charset="0"/>
                <a:ea typeface="Calibri" pitchFamily="34" charset="-122"/>
                <a:cs typeface="Calibri" pitchFamily="34" charset="-120"/>
              </a:rPr>
              <a:t>WRITE SCORES ON</a:t>
            </a:r>
            <a:endParaRPr lang="en-US" sz="1000" dirty="0"/>
          </a:p>
        </p:txBody>
      </p:sp>
      <p:sp>
        <p:nvSpPr>
          <p:cNvPr id="113" name="Text 105"/>
          <p:cNvSpPr/>
          <p:nvPr/>
        </p:nvSpPr>
        <p:spPr>
          <a:xfrm>
            <a:off x="7100000" y="4762054"/>
            <a:ext cx="1500000" cy="129480"/>
          </a:xfrm>
          <a:prstGeom prst="rect">
            <a:avLst/>
          </a:prstGeom>
          <a:noFill/>
          <a:ln/>
        </p:spPr>
        <p:txBody>
          <a:bodyPr wrap="none" lIns="0" tIns="0" rIns="0" bIns="0" rtlCol="0" anchor="t"/>
          <a:lstStyle/>
          <a:p>
            <a:pPr marL="0" indent="0" algn="r">
              <a:lnSpc>
                <a:spcPts val="1020"/>
              </a:lnSpc>
              <a:buNone/>
            </a:pPr>
            <a:r>
              <a:rPr lang="en-US" sz="884" b="1">
                <a:solidFill>
                  <a:srgbClr val="E8A020"/>
                </a:solidFill>
                <a:latin typeface="Calibri" pitchFamily="34" charset="0"/>
                <a:ea typeface="Calibri" pitchFamily="34" charset="-122"/>
                <a:cs typeface="Calibri" pitchFamily="34" charset="-120"/>
              </a:rPr>
              <a:t>your handout</a:t>
            </a:r>
            <a:r>
              <a:rPr lang="en-US" sz="884" b="0">
                <a:solidFill>
                  <a:srgbClr val="64748B"/>
                </a:solidFill>
                <a:latin typeface="Calibri" pitchFamily="34" charset="0"/>
                <a:ea typeface="Calibri" pitchFamily="34" charset="-122"/>
                <a:cs typeface="Calibri" pitchFamily="34" charset="-120"/>
              </a:rPr>
              <a:t>  ·  Section 1</a:t>
            </a:r>
            <a:endParaRPr lang="en-US" sz="884"/>
          </a:p>
        </p:txBody>
      </p:sp>
      <p:pic>
        <p:nvPicPr>
          <p:cNvPr id="114"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533739" y="4701415"/>
            <a:ext cx="132588" cy="13258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Learning Check 2.1">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2</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1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 fatherhood practitioner at a mid-sized CBO discovers through ProPublica’s 990 Explorer that a regional foundation has shifted its giving priorities from youth services to family economic stability — six months before their next RFP cycle opens. This practitioner is operating within which FSR pillar?</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Environmental Scanning — monitoring the funding landscape before opportunities are publicly announced</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Opportunity Intelligence — scoring a specific funding opportunity against organizational readiness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Response Coordination — preparing a proposal submission for a specific grant</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Continuous Learning — applying lessons from a previous grant cycle to future strategy</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2.1</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Learning Check 2.2">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2</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2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 Responsible Fatherhood program scores a new DOL workforce grant opportunity using the Opportunity Intelligence framework: Mission Fit = High, Funder Relationship = None, Data Readiness = Low, Staff Capacity = Moderate. Using the FSR decision protocol, what is the MOST appropriate decision?</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Pass entirely — the low data readiness alone should disqualify any application</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Go — the high mission fit should override all other scoring dimensions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Not Yet — begin cultivating the funder relationship and closing data gaps for the next cycle</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Go — but submit a reduced scope proposal that matches current staff capacity</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2.2</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Learning Check 2.3">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2</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3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During a quarterly readiness assessment, a fatherhood program director discovers that outcome data hasn’t been updated in 8 months, the budget template hasn’t been revised since the prior grant cycle, and the program narrative still references a previous funder’s priorities. A strong RFP arrives next month. Which FSR principle does this situation MOST clearly violate?</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Portfolio Diversification — because the organization should have been pursuing multiple funders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Readiness must be continuous, not event-driven — the organization treated readiness as something to address only when a deadline appeared</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Relationship Before Application — because the organization hasn’t cultivated the funder relationship</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Intelligence Over Instinct — because the organization made gut-feel decisions about which data to maintain</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2.3</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FFFFFF"/>
              </a:gs>
              <a:gs pos="25000">
                <a:srgbClr val="000000">
                  <a:alpha val="0"/>
                </a:srgbClr>
              </a:gs>
              <a:gs pos="50000">
                <a:srgbClr val="000000">
                  <a:alpha val="0"/>
                </a:srgbClr>
              </a:gs>
              <a:gs pos="75000">
                <a:srgbClr val="E8A020">
                  <a:alpha val="2000"/>
                </a:srgbClr>
              </a:gs>
              <a:gs pos="100000">
                <a:srgbClr val="E8A020">
                  <a:alpha val="2000"/>
                </a:srgbClr>
              </a:gs>
            </a:gsLst>
            <a:lin ang="5400000" scaled="1"/>
          </a:gradFill>
          <a:ln/>
        </p:spPr>
        <p:txBody>
          <a:bodyPr wrap="square" rtlCol="0" anchor="t"/>
          <a:lstStyle/>
          <a:p>
            <a:pPr marL="0" indent="0">
              <a:buNone/>
            </a:pPr>
            <a:endParaRPr lang="en-US" dirty="0"/>
          </a:p>
        </p:txBody>
      </p:sp>
      <p:sp>
        <p:nvSpPr>
          <p:cNvPr id="3" name="Text 1"/>
          <p:cNvSpPr/>
          <p:nvPr/>
        </p:nvSpPr>
        <p:spPr>
          <a:xfrm>
            <a:off x="3429000" y="1428750"/>
            <a:ext cx="2286000" cy="2286000"/>
          </a:xfrm>
          <a:prstGeom prst="ellipse">
            <a:avLst/>
          </a:prstGeom>
          <a:noFill/>
          <a:ln w="9525">
            <a:solidFill>
              <a:srgbClr val="E8A020">
                <a:alpha val="7000"/>
              </a:srgbClr>
            </a:solidFill>
          </a:ln>
        </p:spPr>
        <p:txBody>
          <a:bodyPr wrap="square" rtlCol="0" anchor="t"/>
          <a:lstStyle/>
          <a:p>
            <a:pPr marL="0" indent="0">
              <a:buNone/>
            </a:pPr>
            <a:endParaRPr lang="en-US" dirty="0"/>
          </a:p>
        </p:txBody>
      </p:sp>
      <p:sp>
        <p:nvSpPr>
          <p:cNvPr id="4" name="Text 2"/>
          <p:cNvSpPr/>
          <p:nvPr/>
        </p:nvSpPr>
        <p:spPr>
          <a:xfrm>
            <a:off x="4572000" y="2571750"/>
            <a:ext cx="3286716" cy="2571750"/>
          </a:xfrm>
          <a:prstGeom prst="ellipse">
            <a:avLst/>
          </a:prstGeom>
          <a:noFill/>
          <a:ln w="9525">
            <a:solidFill>
              <a:srgbClr val="E8A020">
                <a:alpha val="7000"/>
              </a:srgbClr>
            </a:solidFill>
          </a:ln>
        </p:spPr>
        <p:txBody>
          <a:bodyPr wrap="square" rtlCol="0" anchor="t"/>
          <a:lstStyle/>
          <a:p>
            <a:pPr marL="0" indent="0">
              <a:buNone/>
            </a:pPr>
            <a:endParaRPr lang="en-US" dirty="0"/>
          </a:p>
        </p:txBody>
      </p:sp>
      <p:sp>
        <p:nvSpPr>
          <p:cNvPr id="5" name="Text 3"/>
          <p:cNvSpPr/>
          <p:nvPr/>
        </p:nvSpPr>
        <p:spPr>
          <a:xfrm>
            <a:off x="4572000" y="2571750"/>
            <a:ext cx="4286250" cy="2571750"/>
          </a:xfrm>
          <a:prstGeom prst="ellipse">
            <a:avLst/>
          </a:prstGeom>
          <a:noFill/>
          <a:ln w="9525">
            <a:solidFill>
              <a:srgbClr val="E8A020">
                <a:alpha val="7000"/>
              </a:srgbClr>
            </a:solidFill>
          </a:ln>
        </p:spPr>
        <p:txBody>
          <a:bodyPr wrap="square" rtlCol="0" anchor="t"/>
          <a:lstStyle/>
          <a:p>
            <a:pPr marL="0" indent="0">
              <a:buNone/>
            </a:pPr>
            <a:endParaRPr lang="en-US" dirty="0"/>
          </a:p>
        </p:txBody>
      </p:sp>
      <p:sp>
        <p:nvSpPr>
          <p:cNvPr id="6" name="Text 4"/>
          <p:cNvSpPr/>
          <p:nvPr/>
        </p:nvSpPr>
        <p:spPr>
          <a:xfrm>
            <a:off x="4572000" y="2571750"/>
            <a:ext cx="4572000" cy="2571750"/>
          </a:xfrm>
          <a:prstGeom prst="ellipse">
            <a:avLst/>
          </a:prstGeom>
          <a:noFill/>
          <a:ln w="9525">
            <a:solidFill>
              <a:srgbClr val="E8A020">
                <a:alpha val="7000"/>
              </a:srgbClr>
            </a:solidFill>
          </a:ln>
        </p:spPr>
        <p:txBody>
          <a:bodyPr wrap="square" rtlCol="0" anchor="t"/>
          <a:lstStyle/>
          <a:p>
            <a:pPr marL="0" indent="0">
              <a:buNone/>
            </a:pPr>
            <a:endParaRPr lang="en-US" dirty="0"/>
          </a:p>
        </p:txBody>
      </p:sp>
      <p:sp>
        <p:nvSpPr>
          <p:cNvPr id="7" name="Text 5"/>
          <p:cNvSpPr/>
          <p:nvPr/>
        </p:nvSpPr>
        <p:spPr>
          <a:xfrm>
            <a:off x="4572000" y="2571750"/>
            <a:ext cx="4572000" cy="2571750"/>
          </a:xfrm>
          <a:prstGeom prst="ellipse">
            <a:avLst/>
          </a:prstGeom>
          <a:noFill/>
          <a:ln w="9525">
            <a:solidFill>
              <a:srgbClr val="E8A020">
                <a:alpha val="7000"/>
              </a:srgbClr>
            </a:solidFill>
          </a:ln>
        </p:spPr>
        <p:txBody>
          <a:bodyPr wrap="square" rtlCol="0" anchor="t"/>
          <a:lstStyle/>
          <a:p>
            <a:pPr marL="0" indent="0">
              <a:buNone/>
            </a:pPr>
            <a:endParaRPr lang="en-US" dirty="0"/>
          </a:p>
        </p:txBody>
      </p:sp>
      <p:sp>
        <p:nvSpPr>
          <p:cNvPr id="8" name="Text 6"/>
          <p:cNvSpPr/>
          <p:nvPr/>
        </p:nvSpPr>
        <p:spPr>
          <a:xfrm>
            <a:off x="4572000" y="2571750"/>
            <a:ext cx="3429000" cy="2571750"/>
          </a:xfrm>
          <a:prstGeom prst="ellipse">
            <a:avLst/>
          </a:prstGeom>
          <a:gradFill rotWithShape="1">
            <a:gsLst>
              <a:gs pos="0">
                <a:srgbClr val="E8A020">
                  <a:alpha val="7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9" name="Text 7"/>
          <p:cNvSpPr/>
          <p:nvPr/>
        </p:nvSpPr>
        <p:spPr>
          <a:xfrm>
            <a:off x="285750" y="285750"/>
            <a:ext cx="342900" cy="13841"/>
          </a:xfrm>
          <a:prstGeom prst="rect">
            <a:avLst/>
          </a:prstGeom>
          <a:solidFill>
            <a:srgbClr val="E8A020">
              <a:alpha val="30000"/>
            </a:srgbClr>
          </a:solidFill>
          <a:ln/>
        </p:spPr>
        <p:txBody>
          <a:bodyPr wrap="none" rtlCol="0" anchor="t"/>
          <a:lstStyle/>
          <a:p>
            <a:pPr marL="0" indent="0">
              <a:buNone/>
            </a:pPr>
            <a:endParaRPr lang="en-US" dirty="0"/>
          </a:p>
        </p:txBody>
      </p:sp>
      <p:sp>
        <p:nvSpPr>
          <p:cNvPr id="10" name="Text 8"/>
          <p:cNvSpPr/>
          <p:nvPr/>
        </p:nvSpPr>
        <p:spPr>
          <a:xfrm>
            <a:off x="285750" y="285750"/>
            <a:ext cx="13841" cy="342900"/>
          </a:xfrm>
          <a:prstGeom prst="rect">
            <a:avLst/>
          </a:prstGeom>
          <a:solidFill>
            <a:srgbClr val="E8A020">
              <a:alpha val="30000"/>
            </a:srgbClr>
          </a:solidFill>
          <a:ln/>
        </p:spPr>
        <p:txBody>
          <a:bodyPr wrap="square" rtlCol="0" anchor="t"/>
          <a:lstStyle/>
          <a:p>
            <a:pPr marL="0" indent="0">
              <a:buNone/>
            </a:pPr>
            <a:endParaRPr lang="en-US" dirty="0"/>
          </a:p>
        </p:txBody>
      </p:sp>
      <p:sp>
        <p:nvSpPr>
          <p:cNvPr id="11" name="Text 9"/>
          <p:cNvSpPr/>
          <p:nvPr/>
        </p:nvSpPr>
        <p:spPr>
          <a:xfrm>
            <a:off x="8515350" y="4843909"/>
            <a:ext cx="342900" cy="13841"/>
          </a:xfrm>
          <a:prstGeom prst="rect">
            <a:avLst/>
          </a:prstGeom>
          <a:solidFill>
            <a:srgbClr val="E8A020">
              <a:alpha val="20000"/>
            </a:srgbClr>
          </a:solidFill>
          <a:ln/>
        </p:spPr>
        <p:txBody>
          <a:bodyPr wrap="none" rtlCol="0" anchor="t"/>
          <a:lstStyle/>
          <a:p>
            <a:pPr marL="0" indent="0">
              <a:buNone/>
            </a:pPr>
            <a:endParaRPr lang="en-US" dirty="0"/>
          </a:p>
        </p:txBody>
      </p:sp>
      <p:sp>
        <p:nvSpPr>
          <p:cNvPr id="12" name="Text 10"/>
          <p:cNvSpPr/>
          <p:nvPr/>
        </p:nvSpPr>
        <p:spPr>
          <a:xfrm>
            <a:off x="8844409" y="4514850"/>
            <a:ext cx="13841" cy="342900"/>
          </a:xfrm>
          <a:prstGeom prst="rect">
            <a:avLst/>
          </a:prstGeom>
          <a:solidFill>
            <a:srgbClr val="E8A020">
              <a:alpha val="20000"/>
            </a:srgbClr>
          </a:solidFill>
          <a:ln/>
        </p:spPr>
        <p:txBody>
          <a:bodyPr wrap="square" rtlCol="0" anchor="t"/>
          <a:lstStyle/>
          <a:p>
            <a:pPr marL="0" indent="0">
              <a:buNone/>
            </a:pPr>
            <a:endParaRPr lang="en-US" dirty="0"/>
          </a:p>
        </p:txBody>
      </p:sp>
      <p:sp>
        <p:nvSpPr>
          <p:cNvPr id="13" name="Text 11"/>
          <p:cNvSpPr/>
          <p:nvPr/>
        </p:nvSpPr>
        <p:spPr>
          <a:xfrm>
            <a:off x="0" y="0"/>
            <a:ext cx="43160" cy="5143500"/>
          </a:xfrm>
          <a:prstGeom prst="rect">
            <a:avLst/>
          </a:prstGeom>
          <a:gradFill rotWithShape="1">
            <a:gsLst>
              <a:gs pos="0">
                <a:srgbClr val="000000">
                  <a:alpha val="0"/>
                </a:srgbClr>
              </a:gs>
              <a:gs pos="30000">
                <a:srgbClr val="E8A020"/>
              </a:gs>
              <a:gs pos="70000">
                <a:srgbClr val="E8A020"/>
              </a:gs>
              <a:gs pos="100000">
                <a:srgbClr val="000000">
                  <a:alpha val="0"/>
                </a:srgbClr>
              </a:gs>
            </a:gsLst>
            <a:lin ang="5400000" scaled="1"/>
          </a:gradFill>
          <a:ln/>
        </p:spPr>
        <p:txBody>
          <a:bodyPr wrap="square" rtlCol="0" anchor="t"/>
          <a:lstStyle/>
          <a:p>
            <a:pPr marL="0" indent="0">
              <a:buNone/>
            </a:pPr>
            <a:endParaRPr lang="en-US" dirty="0"/>
          </a:p>
        </p:txBody>
      </p:sp>
      <p:sp>
        <p:nvSpPr>
          <p:cNvPr id="14" name="Text 12"/>
          <p:cNvSpPr/>
          <p:nvPr/>
        </p:nvSpPr>
        <p:spPr>
          <a:xfrm>
            <a:off x="3979441" y="1383030"/>
            <a:ext cx="1244374" cy="2286000"/>
          </a:xfrm>
          <a:prstGeom prst="rect">
            <a:avLst/>
          </a:prstGeom>
          <a:noFill/>
          <a:ln/>
        </p:spPr>
        <p:txBody>
          <a:bodyPr wrap="none" lIns="0" tIns="0" rIns="0" bIns="0" rtlCol="0" anchor="t"/>
          <a:lstStyle/>
          <a:p>
            <a:pPr marL="0" indent="0" algn="l">
              <a:lnSpc>
                <a:spcPts val="18000"/>
              </a:lnSpc>
              <a:buNone/>
            </a:pPr>
            <a:r>
              <a:rPr lang="en-US" sz="18000" kern="0" spc="-680" dirty="0">
                <a:solidFill>
                  <a:srgbClr val="E8A020">
                    <a:alpha val="4000"/>
                  </a:srgbClr>
                </a:solidFill>
                <a:latin typeface="Calibri Light" pitchFamily="34" charset="0"/>
                <a:ea typeface="Calibri Light" pitchFamily="34" charset="-122"/>
                <a:cs typeface="Calibri Light" pitchFamily="34" charset="-120"/>
              </a:rPr>
              <a:t>3</a:t>
            </a:r>
            <a:endParaRPr lang="en-US" sz="18000" dirty="0"/>
          </a:p>
        </p:txBody>
      </p:sp>
      <p:sp>
        <p:nvSpPr>
          <p:cNvPr id="15" name="Text 13"/>
          <p:cNvSpPr/>
          <p:nvPr/>
        </p:nvSpPr>
        <p:spPr>
          <a:xfrm>
            <a:off x="8115746" y="257770"/>
            <a:ext cx="699061" cy="244376"/>
          </a:xfrm>
          <a:prstGeom prst="roundRect">
            <a:avLst>
              <a:gd name="adj" fmla="val 17669"/>
            </a:avLst>
          </a:prstGeom>
          <a:solidFill>
            <a:srgbClr val="1A2D5A">
              <a:alpha val="85000"/>
            </a:srgbClr>
          </a:solidFill>
          <a:ln w="9525">
            <a:solidFill>
              <a:srgbClr val="8FA3C8">
                <a:alpha val="20000"/>
              </a:srgbClr>
            </a:solidFill>
          </a:ln>
        </p:spPr>
        <p:txBody>
          <a:bodyPr wrap="none" lIns="100330" tIns="43180" rIns="100330" bIns="43180" rtlCol="0" anchor="t"/>
          <a:lstStyle/>
          <a:p>
            <a:pPr marL="0" indent="0" algn="l">
              <a:buNone/>
            </a:pPr>
            <a:r>
              <a:rPr lang="en-US" sz="730" kern="0" spc="29" dirty="0">
                <a:solidFill>
                  <a:srgbClr val="8FA3C8"/>
                </a:solidFill>
                <a:latin typeface="Calibri" pitchFamily="34" charset="0"/>
                <a:ea typeface="Calibri" pitchFamily="34" charset="-122"/>
                <a:cs typeface="Calibri" pitchFamily="34" charset="-120"/>
              </a:rPr>
              <a:t>Min 37–50</a:t>
            </a:r>
            <a:endParaRPr lang="en-US" sz="730" dirty="0"/>
          </a:p>
        </p:txBody>
      </p:sp>
      <p:sp>
        <p:nvSpPr>
          <p:cNvPr id="16" name="Text 14"/>
          <p:cNvSpPr/>
          <p:nvPr/>
        </p:nvSpPr>
        <p:spPr>
          <a:xfrm>
            <a:off x="457200" y="271760"/>
            <a:ext cx="824755" cy="228898"/>
          </a:xfrm>
          <a:prstGeom prst="roundRect">
            <a:avLst>
              <a:gd name="adj" fmla="val 12761"/>
            </a:avLst>
          </a:prstGeom>
          <a:solidFill>
            <a:srgbClr val="E8A020">
              <a:alpha val="10000"/>
            </a:srgbClr>
          </a:solidFill>
          <a:ln w="9525">
            <a:solidFill>
              <a:srgbClr val="E8A020">
                <a:alpha val="25000"/>
              </a:srgbClr>
            </a:solidFill>
          </a:ln>
        </p:spPr>
        <p:txBody>
          <a:bodyPr wrap="none" lIns="100330" tIns="35560" rIns="100330" bIns="35560" rtlCol="0" anchor="t"/>
          <a:lstStyle/>
          <a:p>
            <a:pPr marL="0" indent="0" algn="l">
              <a:buNone/>
            </a:pPr>
            <a:r>
              <a:rPr lang="en-US" sz="730" b="1" kern="0" spc="88" dirty="0">
                <a:solidFill>
                  <a:srgbClr val="E8A020"/>
                </a:solidFill>
                <a:latin typeface="Calibri" pitchFamily="34" charset="0"/>
                <a:ea typeface="Calibri" pitchFamily="34" charset="-122"/>
                <a:cs typeface="Calibri" pitchFamily="34" charset="-120"/>
              </a:rPr>
              <a:t>SECTION 3</a:t>
            </a:r>
            <a:endParaRPr lang="en-US" sz="730" dirty="0"/>
          </a:p>
        </p:txBody>
      </p:sp>
      <p:sp>
        <p:nvSpPr>
          <p:cNvPr id="17" name="Text 15"/>
          <p:cNvSpPr/>
          <p:nvPr/>
        </p:nvSpPr>
        <p:spPr>
          <a:xfrm>
            <a:off x="4142888" y="1135261"/>
            <a:ext cx="858076" cy="1572220"/>
          </a:xfrm>
          <a:prstGeom prst="rect">
            <a:avLst/>
          </a:prstGeom>
          <a:noFill/>
          <a:ln/>
          <a:effectLst>
            <a:outerShdw blurRad="228600" dist="29210" dir="5400000" algn="bl" rotWithShape="0">
              <a:srgbClr val="E8A020">
                <a:alpha val="12000"/>
              </a:srgbClr>
            </a:outerShdw>
          </a:effectLst>
        </p:spPr>
        <p:txBody>
          <a:bodyPr wrap="none" lIns="0" tIns="0" rIns="0" bIns="0" rtlCol="0" anchor="t"/>
          <a:lstStyle/>
          <a:p>
            <a:pPr marL="0" indent="0" algn="ctr">
              <a:lnSpc>
                <a:spcPts val="12380"/>
              </a:lnSpc>
              <a:buNone/>
            </a:pPr>
            <a:r>
              <a:rPr lang="en-US" sz="12380" kern="0" spc="-450" dirty="0">
                <a:solidFill>
                  <a:srgbClr val="E8A020">
                    <a:alpha val="92000"/>
                  </a:srgbClr>
                </a:solidFill>
                <a:effectLst>
                  <a:glow rad="1428750">
                    <a:srgbClr val="E8A020">
                      <a:alpha val="5400"/>
                    </a:srgbClr>
                  </a:glow>
                </a:effectLst>
                <a:latin typeface="Calibri Light" pitchFamily="34" charset="0"/>
                <a:ea typeface="Calibri Light" pitchFamily="34" charset="-122"/>
                <a:cs typeface="Calibri Light" pitchFamily="34" charset="-120"/>
              </a:rPr>
              <a:t>3</a:t>
            </a:r>
            <a:endParaRPr lang="en-US" sz="12380" dirty="0"/>
          </a:p>
        </p:txBody>
      </p:sp>
      <p:sp>
        <p:nvSpPr>
          <p:cNvPr id="18" name="Text 16"/>
          <p:cNvSpPr/>
          <p:nvPr/>
        </p:nvSpPr>
        <p:spPr>
          <a:xfrm>
            <a:off x="3571875" y="2650331"/>
            <a:ext cx="2000250" cy="13841"/>
          </a:xfrm>
          <a:prstGeom prst="roundRect">
            <a:avLst>
              <a:gd name="adj" fmla="val 100932"/>
            </a:avLst>
          </a:prstGeom>
          <a:gradFill rotWithShape="1">
            <a:gsLst>
              <a:gs pos="0">
                <a:srgbClr val="E8A020"/>
              </a:gs>
              <a:gs pos="100000">
                <a:srgbClr val="E8A020">
                  <a:alpha val="20000"/>
                </a:srgbClr>
              </a:gs>
            </a:gsLst>
            <a:lin ang="0" scaled="1"/>
          </a:gradFill>
          <a:ln/>
        </p:spPr>
        <p:txBody>
          <a:bodyPr wrap="none" rtlCol="0" anchor="t"/>
          <a:lstStyle/>
          <a:p>
            <a:pPr marL="0" indent="0">
              <a:buNone/>
            </a:pPr>
            <a:endParaRPr lang="en-US" dirty="0"/>
          </a:p>
        </p:txBody>
      </p:sp>
      <p:sp>
        <p:nvSpPr>
          <p:cNvPr id="19" name="Text 17"/>
          <p:cNvSpPr/>
          <p:nvPr/>
        </p:nvSpPr>
        <p:spPr>
          <a:xfrm>
            <a:off x="1968241" y="2892772"/>
            <a:ext cx="5207370" cy="378172"/>
          </a:xfrm>
          <a:prstGeom prst="rect">
            <a:avLst/>
          </a:prstGeom>
          <a:noFill/>
          <a:ln/>
        </p:spPr>
        <p:txBody>
          <a:bodyPr wrap="none" lIns="0" tIns="0" rIns="0" bIns="0" rtlCol="0" anchor="t"/>
          <a:lstStyle/>
          <a:p>
            <a:pPr marL="0" indent="0" algn="ctr">
              <a:lnSpc>
                <a:spcPts val="2978"/>
              </a:lnSpc>
              <a:spcAft>
                <a:spcPts val="900"/>
              </a:spcAft>
              <a:buNone/>
            </a:pPr>
            <a:r>
              <a:rPr lang="en-US" sz="2590" kern="0" spc="-30" dirty="0">
                <a:solidFill>
                  <a:srgbClr val="F0F4FF"/>
                </a:solidFill>
                <a:latin typeface="Calibri Light" pitchFamily="34" charset="0"/>
                <a:ea typeface="Calibri Light" pitchFamily="34" charset="-122"/>
                <a:cs typeface="Calibri Light" pitchFamily="34" charset="-120"/>
              </a:rPr>
              <a:t>Navigating the Funding Landscape</a:t>
            </a:r>
            <a:endParaRPr lang="en-US" sz="2590" dirty="0"/>
          </a:p>
        </p:txBody>
      </p:sp>
      <p:sp>
        <p:nvSpPr>
          <p:cNvPr id="20" name="Text 18"/>
          <p:cNvSpPr/>
          <p:nvPr/>
        </p:nvSpPr>
        <p:spPr>
          <a:xfrm>
            <a:off x="2531745" y="3385245"/>
            <a:ext cx="4080510" cy="399425"/>
          </a:xfrm>
          <a:prstGeom prst="rect">
            <a:avLst/>
          </a:prstGeom>
          <a:noFill/>
          <a:ln/>
        </p:spPr>
        <p:txBody>
          <a:bodyPr wrap="square" lIns="0" tIns="0" rIns="0" bIns="0" rtlCol="0" anchor="t"/>
          <a:lstStyle/>
          <a:p>
            <a:pPr marL="0" indent="0" algn="ctr">
              <a:lnSpc>
                <a:spcPts val="1498"/>
              </a:lnSpc>
              <a:spcAft>
                <a:spcPts val="1800"/>
              </a:spcAft>
              <a:buNone/>
            </a:pPr>
            <a:r>
              <a:rPr lang="en-US" sz="1200" dirty="0">
                <a:solidFill>
                  <a:srgbClr val="8FA3C8"/>
                </a:solidFill>
                <a:latin typeface="Calibri" pitchFamily="34" charset="0"/>
                <a:ea typeface="Calibri" pitchFamily="34" charset="-122"/>
                <a:cs typeface="Calibri" pitchFamily="34" charset="-120"/>
              </a:rPr>
              <a:t>Key Concepts for Proactive Funding Practice</a:t>
            </a:r>
            <a:endParaRPr lang="en-US" sz="1200" dirty="0"/>
          </a:p>
        </p:txBody>
      </p:sp>
      <p:sp>
        <p:nvSpPr>
          <p:cNvPr id="21" name="Text 19"/>
          <p:cNvSpPr/>
          <p:nvPr/>
        </p:nvSpPr>
        <p:spPr>
          <a:xfrm>
            <a:off x="3928765" y="3994249"/>
            <a:ext cx="1286470" cy="13841"/>
          </a:xfrm>
          <a:prstGeom prst="roundRect">
            <a:avLst>
              <a:gd name="adj" fmla="val 100932"/>
            </a:avLst>
          </a:prstGeom>
          <a:gradFill rotWithShape="1">
            <a:gsLst>
              <a:gs pos="0">
                <a:srgbClr val="E8A020">
                  <a:alpha val="50000"/>
                </a:srgbClr>
              </a:gs>
              <a:gs pos="100000">
                <a:srgbClr val="E8A020">
                  <a:alpha val="10000"/>
                </a:srgbClr>
              </a:gs>
            </a:gsLst>
            <a:lin ang="0" scaled="1"/>
          </a:gradFill>
          <a:ln/>
        </p:spPr>
        <p:txBody>
          <a:bodyPr wrap="none" rtlCol="0" anchor="t"/>
          <a:lstStyle/>
          <a:p>
            <a:pPr marL="0" indent="0">
              <a:buNone/>
            </a:pPr>
            <a:endParaRPr lang="en-US" dirty="0"/>
          </a:p>
        </p:txBody>
      </p:sp>
      <p:sp>
        <p:nvSpPr>
          <p:cNvPr id="22" name="Text 20"/>
          <p:cNvSpPr/>
          <p:nvPr/>
        </p:nvSpPr>
        <p:spPr>
          <a:xfrm>
            <a:off x="2381027" y="4656832"/>
            <a:ext cx="1253603" cy="228898"/>
          </a:xfrm>
          <a:prstGeom prst="roundRect">
            <a:avLst>
              <a:gd name="adj" fmla="val 62696"/>
            </a:avLst>
          </a:prstGeom>
          <a:solidFill>
            <a:srgbClr val="1A2D5A">
              <a:alpha val="60000"/>
            </a:srgbClr>
          </a:solidFill>
          <a:ln w="9525">
            <a:solidFill>
              <a:srgbClr val="8FA3C8">
                <a:alpha val="15000"/>
              </a:srgbClr>
            </a:solidFill>
          </a:ln>
        </p:spPr>
        <p:txBody>
          <a:bodyPr wrap="none" lIns="220861" tIns="35560" rIns="114300" bIns="35560" rtlCol="0" anchor="ctr"/>
          <a:lstStyle/>
          <a:p>
            <a:pPr marL="0" indent="0" algn="l">
              <a:buNone/>
            </a:pPr>
            <a:r>
              <a:rPr lang="en-US" sz="1050" dirty="0">
                <a:solidFill>
                  <a:srgbClr val="8FA3C8"/>
                </a:solidFill>
                <a:latin typeface="Calibri" pitchFamily="34" charset="0"/>
                <a:ea typeface="Calibri" pitchFamily="34" charset="-122"/>
                <a:cs typeface="Calibri" pitchFamily="34" charset="-120"/>
              </a:rPr>
              <a:t>Building Blocks</a:t>
            </a:r>
            <a:endParaRPr lang="en-US" sz="1050" dirty="0"/>
          </a:p>
        </p:txBody>
      </p:sp>
      <p:sp>
        <p:nvSpPr>
          <p:cNvPr id="23" name="Text 21"/>
          <p:cNvSpPr/>
          <p:nvPr/>
        </p:nvSpPr>
        <p:spPr>
          <a:xfrm>
            <a:off x="2504852" y="4746575"/>
            <a:ext cx="49411" cy="49411"/>
          </a:xfrm>
          <a:prstGeom prst="ellipse">
            <a:avLst/>
          </a:prstGeom>
          <a:solidFill>
            <a:srgbClr val="E8A020"/>
          </a:solidFill>
          <a:ln/>
        </p:spPr>
        <p:txBody>
          <a:bodyPr wrap="none" rtlCol="0" anchor="t"/>
          <a:lstStyle/>
          <a:p>
            <a:pPr marL="0" indent="0">
              <a:buNone/>
            </a:pPr>
            <a:endParaRPr lang="en-US" dirty="0"/>
          </a:p>
        </p:txBody>
      </p:sp>
      <p:sp>
        <p:nvSpPr>
          <p:cNvPr id="24" name="Text 22"/>
          <p:cNvSpPr/>
          <p:nvPr/>
        </p:nvSpPr>
        <p:spPr>
          <a:xfrm>
            <a:off x="3696370" y="4767411"/>
            <a:ext cx="200620" cy="7590"/>
          </a:xfrm>
          <a:prstGeom prst="rect">
            <a:avLst/>
          </a:prstGeom>
          <a:solidFill>
            <a:srgbClr val="8FA3C8">
              <a:alpha val="25000"/>
            </a:srgbClr>
          </a:solidFill>
          <a:ln/>
        </p:spPr>
        <p:txBody>
          <a:bodyPr wrap="none" rtlCol="0" anchor="t"/>
          <a:lstStyle/>
          <a:p>
            <a:pPr marL="0" indent="0">
              <a:buNone/>
            </a:pPr>
            <a:endParaRPr lang="en-US" dirty="0"/>
          </a:p>
        </p:txBody>
      </p:sp>
      <p:sp>
        <p:nvSpPr>
          <p:cNvPr id="25" name="Text 23"/>
          <p:cNvSpPr/>
          <p:nvPr/>
        </p:nvSpPr>
        <p:spPr>
          <a:xfrm>
            <a:off x="3983310" y="4656832"/>
            <a:ext cx="1111818" cy="228898"/>
          </a:xfrm>
          <a:prstGeom prst="roundRect">
            <a:avLst>
              <a:gd name="adj" fmla="val 62696"/>
            </a:avLst>
          </a:prstGeom>
          <a:solidFill>
            <a:srgbClr val="1A2D5A">
              <a:alpha val="60000"/>
            </a:srgbClr>
          </a:solidFill>
          <a:ln w="9525">
            <a:solidFill>
              <a:srgbClr val="8FA3C8">
                <a:alpha val="15000"/>
              </a:srgbClr>
            </a:solidFill>
          </a:ln>
        </p:spPr>
        <p:txBody>
          <a:bodyPr wrap="none" lIns="220861" tIns="35560" rIns="114300" bIns="35560" rtlCol="0" anchor="ctr"/>
          <a:lstStyle/>
          <a:p>
            <a:pPr marL="0" indent="0" algn="l">
              <a:buNone/>
            </a:pPr>
            <a:r>
              <a:rPr lang="en-US" sz="1050">
                <a:solidFill>
                  <a:srgbClr val="8FA3C8"/>
                </a:solidFill>
                <a:latin typeface="Calibri" pitchFamily="34" charset="0"/>
                <a:ea typeface="Calibri" pitchFamily="34" charset="-122"/>
                <a:cs typeface="Calibri" pitchFamily="34" charset="-120"/>
              </a:rPr>
              <a:t>Systems Thinking</a:t>
            </a:r>
            <a:endParaRPr lang="en-US" sz="1050" dirty="0"/>
          </a:p>
        </p:txBody>
      </p:sp>
      <p:sp>
        <p:nvSpPr>
          <p:cNvPr id="26" name="Text 24"/>
          <p:cNvSpPr/>
          <p:nvPr/>
        </p:nvSpPr>
        <p:spPr>
          <a:xfrm>
            <a:off x="4107135" y="4746575"/>
            <a:ext cx="49411" cy="49411"/>
          </a:xfrm>
          <a:prstGeom prst="ellipse">
            <a:avLst/>
          </a:prstGeom>
          <a:solidFill>
            <a:srgbClr val="E8A020"/>
          </a:solidFill>
          <a:ln/>
        </p:spPr>
        <p:txBody>
          <a:bodyPr wrap="none" rtlCol="0" anchor="t"/>
          <a:lstStyle/>
          <a:p>
            <a:pPr marL="0" indent="0">
              <a:buNone/>
            </a:pPr>
            <a:endParaRPr lang="en-US" dirty="0"/>
          </a:p>
        </p:txBody>
      </p:sp>
      <p:sp>
        <p:nvSpPr>
          <p:cNvPr id="27" name="Text 25"/>
          <p:cNvSpPr/>
          <p:nvPr/>
        </p:nvSpPr>
        <p:spPr>
          <a:xfrm>
            <a:off x="5159648" y="4767411"/>
            <a:ext cx="200620" cy="7590"/>
          </a:xfrm>
          <a:prstGeom prst="rect">
            <a:avLst/>
          </a:prstGeom>
          <a:solidFill>
            <a:srgbClr val="8FA3C8">
              <a:alpha val="25000"/>
            </a:srgbClr>
          </a:solidFill>
          <a:ln/>
        </p:spPr>
        <p:txBody>
          <a:bodyPr wrap="none" rtlCol="0" anchor="t"/>
          <a:lstStyle/>
          <a:p>
            <a:pPr marL="0" indent="0">
              <a:buNone/>
            </a:pPr>
            <a:endParaRPr lang="en-US" dirty="0"/>
          </a:p>
        </p:txBody>
      </p:sp>
      <p:sp>
        <p:nvSpPr>
          <p:cNvPr id="28" name="Text 26"/>
          <p:cNvSpPr/>
          <p:nvPr/>
        </p:nvSpPr>
        <p:spPr>
          <a:xfrm>
            <a:off x="5481760" y="4656832"/>
            <a:ext cx="1342712" cy="228898"/>
          </a:xfrm>
          <a:prstGeom prst="roundRect">
            <a:avLst>
              <a:gd name="adj" fmla="val 62696"/>
            </a:avLst>
          </a:prstGeom>
          <a:solidFill>
            <a:srgbClr val="1A2D5A">
              <a:alpha val="60000"/>
            </a:srgbClr>
          </a:solidFill>
          <a:ln w="9525">
            <a:solidFill>
              <a:srgbClr val="8FA3C8">
                <a:alpha val="15000"/>
              </a:srgbClr>
            </a:solidFill>
          </a:ln>
        </p:spPr>
        <p:txBody>
          <a:bodyPr wrap="none" lIns="220861" tIns="35560" rIns="114300" bIns="35560" rtlCol="0" anchor="ctr"/>
          <a:lstStyle/>
          <a:p>
            <a:pPr marL="0" indent="0" algn="l">
              <a:buNone/>
            </a:pPr>
            <a:r>
              <a:rPr lang="en-US" sz="1050" dirty="0">
                <a:solidFill>
                  <a:srgbClr val="8FA3C8"/>
                </a:solidFill>
                <a:latin typeface="Calibri" pitchFamily="34" charset="0"/>
                <a:ea typeface="Calibri" pitchFamily="34" charset="-122"/>
                <a:cs typeface="Calibri" pitchFamily="34" charset="-120"/>
              </a:rPr>
              <a:t>Benchmarks</a:t>
            </a:r>
            <a:endParaRPr lang="en-US" sz="1050" dirty="0"/>
          </a:p>
        </p:txBody>
      </p:sp>
      <p:sp>
        <p:nvSpPr>
          <p:cNvPr id="29" name="Text 27"/>
          <p:cNvSpPr/>
          <p:nvPr/>
        </p:nvSpPr>
        <p:spPr>
          <a:xfrm>
            <a:off x="5570413" y="4746575"/>
            <a:ext cx="49411" cy="49411"/>
          </a:xfrm>
          <a:prstGeom prst="ellipse">
            <a:avLst/>
          </a:prstGeom>
          <a:solidFill>
            <a:srgbClr val="E8A020"/>
          </a:solidFill>
          <a:ln/>
        </p:spPr>
        <p:txBody>
          <a:bodyPr wrap="none" rtlCol="0" anchor="t"/>
          <a:lstStyle/>
          <a:p>
            <a:pPr marL="0" indent="0">
              <a:buNone/>
            </a:pPr>
            <a:endParaRPr lang="en-US" dirty="0"/>
          </a:p>
        </p:txBody>
      </p:sp>
      <p:pic>
        <p:nvPicPr>
          <p:cNvPr id="30" name="Image 0" descr="preencoded.png"/>
          <p:cNvPicPr>
            <a:picLocks noChangeAspect="1"/>
          </p:cNvPicPr>
          <p:nvPr/>
        </p:nvPicPr>
        <p:blipFill>
          <a:blip>
            <a:alphaModFix amt="18000"/>
            <a:extLst>
              <a:ext uri="{96DAC541-7B7A-43D3-8B79-37D633B846F1}">
                <asvg:svgBlip xmlns:asvg="http://schemas.microsoft.com/office/drawing/2016/SVG/main" r:embed="rId3"/>
              </a:ext>
            </a:extLst>
          </a:blip>
          <a:stretch>
            <a:fillRect/>
          </a:stretch>
        </p:blipFill>
        <p:spPr>
          <a:xfrm>
            <a:off x="4496767" y="257770"/>
            <a:ext cx="150465" cy="150465"/>
          </a:xfrm>
          <a:prstGeom prst="rect">
            <a:avLst/>
          </a:prstGeom>
        </p:spPr>
      </p:pic>
      <p:sp>
        <p:nvSpPr>
          <p:cNvPr id="31" name="Text 28"/>
          <p:cNvSpPr/>
          <p:nvPr/>
        </p:nvSpPr>
        <p:spPr>
          <a:xfrm>
            <a:off x="0" y="5121920"/>
            <a:ext cx="9144000" cy="21580"/>
          </a:xfrm>
          <a:prstGeom prst="rect">
            <a:avLst/>
          </a:prstGeom>
          <a:gradFill rotWithShape="1">
            <a:gsLst>
              <a:gs pos="0">
                <a:srgbClr val="E8A020"/>
              </a:gs>
              <a:gs pos="60000">
                <a:srgbClr val="E8A020">
                  <a:alpha val="30000"/>
                </a:srgbClr>
              </a:gs>
              <a:gs pos="100000">
                <a:srgbClr val="000000">
                  <a:alpha val="0"/>
                </a:srgbClr>
              </a:gs>
            </a:gsLst>
            <a:lin ang="0" scaled="1"/>
          </a:gradFill>
          <a:ln/>
        </p:spPr>
        <p:txBody>
          <a:bodyPr wrap="none" rtlCol="0" anchor="t"/>
          <a:lstStyle/>
          <a:p>
            <a:pPr marL="0" indent="0">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695" y="-89446"/>
            <a:ext cx="2913560" cy="5143500"/>
          </a:xfrm>
          <a:prstGeom prst="rect">
            <a:avLst/>
          </a:prstGeom>
          <a:gradFill rotWithShape="1">
            <a:gsLst>
              <a:gs pos="0">
                <a:srgbClr val="E8A02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solidFill>
                <a:schemeClr val="accent2">
                  <a:lumMod val="75000"/>
                </a:schemeClr>
              </a:solidFill>
            </a:endParaRPr>
          </a:p>
        </p:txBody>
      </p:sp>
      <p:sp>
        <p:nvSpPr>
          <p:cNvPr id="3" name="Text 1"/>
          <p:cNvSpPr/>
          <p:nvPr/>
        </p:nvSpPr>
        <p:spPr>
          <a:xfrm>
            <a:off x="0" y="0"/>
            <a:ext cx="9144000" cy="29170"/>
          </a:xfrm>
          <a:prstGeom prst="rect">
            <a:avLst/>
          </a:prstGeom>
          <a:gradFill rotWithShape="1">
            <a:gsLst>
              <a:gs pos="0">
                <a:srgbClr val="E8A020"/>
              </a:gs>
              <a:gs pos="100000">
                <a:srgbClr val="E8A020">
                  <a:alpha val="20000"/>
                </a:srgbClr>
              </a:gs>
            </a:gsLst>
            <a:lin ang="0" scaled="1"/>
          </a:gradFill>
          <a:ln/>
        </p:spPr>
        <p:txBody>
          <a:bodyPr wrap="none" rtlCol="0" anchor="t"/>
          <a:lstStyle/>
          <a:p>
            <a:pPr marL="0" indent="0">
              <a:buNone/>
            </a:pPr>
            <a:endParaRPr lang="en-US" dirty="0"/>
          </a:p>
        </p:txBody>
      </p:sp>
      <p:sp>
        <p:nvSpPr>
          <p:cNvPr id="4" name="Text 2"/>
          <p:cNvSpPr/>
          <p:nvPr/>
        </p:nvSpPr>
        <p:spPr>
          <a:xfrm>
            <a:off x="0" y="5114330"/>
            <a:ext cx="9144000" cy="29170"/>
          </a:xfrm>
          <a:prstGeom prst="rect">
            <a:avLst/>
          </a:prstGeom>
          <a:gradFill rotWithShape="1">
            <a:gsLst>
              <a:gs pos="0">
                <a:srgbClr val="E8A020">
                  <a:alpha val="20000"/>
                </a:srgbClr>
              </a:gs>
              <a:gs pos="50000">
                <a:srgbClr val="E8A020"/>
              </a:gs>
              <a:gs pos="100000">
                <a:srgbClr val="E8A020">
                  <a:alpha val="20000"/>
                </a:srgbClr>
              </a:gs>
            </a:gsLst>
            <a:lin ang="0" scaled="1"/>
          </a:gradFill>
          <a:ln/>
        </p:spPr>
        <p:txBody>
          <a:bodyPr wrap="none" rtlCol="0" anchor="t"/>
          <a:lstStyle/>
          <a:p>
            <a:pPr marL="0" indent="0">
              <a:buNone/>
            </a:pPr>
            <a:endParaRPr lang="en-US" dirty="0"/>
          </a:p>
        </p:txBody>
      </p:sp>
      <p:sp>
        <p:nvSpPr>
          <p:cNvPr id="5" name="Text 3"/>
          <p:cNvSpPr/>
          <p:nvPr/>
        </p:nvSpPr>
        <p:spPr>
          <a:xfrm>
            <a:off x="438745" y="1181249"/>
            <a:ext cx="21580" cy="470594"/>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dirty="0"/>
          </a:p>
        </p:txBody>
      </p:sp>
      <p:sp>
        <p:nvSpPr>
          <p:cNvPr id="6" name="Text 4"/>
          <p:cNvSpPr/>
          <p:nvPr/>
        </p:nvSpPr>
        <p:spPr>
          <a:xfrm>
            <a:off x="438745" y="1735634"/>
            <a:ext cx="21580" cy="625078"/>
          </a:xfrm>
          <a:custGeom>
            <a:avLst/>
            <a:gdLst/>
            <a:ahLst/>
            <a:cxnLst/>
            <a:rect l="l" t="t" r="r" b="b"/>
            <a:pathLst>
              <a:path w="21580" h="625078">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dirty="0"/>
          </a:p>
        </p:txBody>
      </p:sp>
      <p:sp>
        <p:nvSpPr>
          <p:cNvPr id="7" name="Text 5"/>
          <p:cNvSpPr/>
          <p:nvPr/>
        </p:nvSpPr>
        <p:spPr>
          <a:xfrm>
            <a:off x="438745" y="2444502"/>
            <a:ext cx="21580" cy="470594"/>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dirty="0"/>
          </a:p>
        </p:txBody>
      </p:sp>
      <p:sp>
        <p:nvSpPr>
          <p:cNvPr id="8" name="Text 6"/>
          <p:cNvSpPr/>
          <p:nvPr/>
        </p:nvSpPr>
        <p:spPr>
          <a:xfrm>
            <a:off x="438745" y="2998887"/>
            <a:ext cx="21580" cy="470594"/>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dirty="0"/>
          </a:p>
        </p:txBody>
      </p:sp>
      <p:sp>
        <p:nvSpPr>
          <p:cNvPr id="9" name="Text 7"/>
          <p:cNvSpPr/>
          <p:nvPr/>
        </p:nvSpPr>
        <p:spPr>
          <a:xfrm>
            <a:off x="438745" y="3553271"/>
            <a:ext cx="21580" cy="625078"/>
          </a:xfrm>
          <a:custGeom>
            <a:avLst/>
            <a:gdLst/>
            <a:ahLst/>
            <a:cxnLst/>
            <a:rect l="l" t="t" r="r" b="b"/>
            <a:pathLst>
              <a:path w="21580" h="625078">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dirty="0"/>
          </a:p>
        </p:txBody>
      </p:sp>
      <p:sp>
        <p:nvSpPr>
          <p:cNvPr id="10" name="Text 8"/>
          <p:cNvSpPr/>
          <p:nvPr/>
        </p:nvSpPr>
        <p:spPr>
          <a:xfrm>
            <a:off x="429220" y="159504"/>
            <a:ext cx="2681970" cy="204083"/>
          </a:xfrm>
          <a:prstGeom prst="roundRect">
            <a:avLst>
              <a:gd name="adj" fmla="val 19954"/>
            </a:avLst>
          </a:prstGeom>
          <a:solidFill>
            <a:srgbClr val="E8A020">
              <a:alpha val="12000"/>
            </a:srgbClr>
          </a:solidFill>
          <a:ln w="9525">
            <a:solidFill>
              <a:srgbClr val="E8A020">
                <a:alpha val="40000"/>
              </a:srgbClr>
            </a:solidFill>
          </a:ln>
        </p:spPr>
        <p:txBody>
          <a:bodyPr wrap="none" lIns="232638" tIns="29210" rIns="100330" bIns="29210" rtlCol="0" anchor="ctr"/>
          <a:lstStyle/>
          <a:p>
            <a:pPr marL="0" indent="0" algn="l">
              <a:buNone/>
            </a:pPr>
            <a:r>
              <a:rPr lang="en-US" sz="949" b="1" kern="0" spc="58">
                <a:solidFill>
                  <a:srgbClr val="E8A020"/>
                </a:solidFill>
                <a:latin typeface="Calibri Light" pitchFamily="34" charset="0"/>
                <a:ea typeface="Calibri Light" pitchFamily="34" charset="-122"/>
                <a:cs typeface="Calibri Light" pitchFamily="34" charset="-120"/>
              </a:rPr>
              <a:t>SECTION 3  ·  PRACTICE &amp; SUSTAINABILITY</a:t>
            </a:r>
            <a:endParaRPr lang="en-US" sz="949"/>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0341" y="199235"/>
            <a:ext cx="132588" cy="132588"/>
          </a:xfrm>
          <a:prstGeom prst="rect">
            <a:avLst/>
          </a:prstGeom>
        </p:spPr>
      </p:pic>
      <p:sp>
        <p:nvSpPr>
          <p:cNvPr id="12" name="Text 9"/>
          <p:cNvSpPr/>
          <p:nvPr/>
        </p:nvSpPr>
        <p:spPr>
          <a:xfrm>
            <a:off x="278452" y="464025"/>
            <a:ext cx="3167276" cy="278904"/>
          </a:xfrm>
          <a:prstGeom prst="rect">
            <a:avLst/>
          </a:prstGeom>
          <a:noFill/>
          <a:ln/>
        </p:spPr>
        <p:txBody>
          <a:bodyPr wrap="none" lIns="0" tIns="0" rIns="0" bIns="0" rtlCol="0" anchor="t"/>
          <a:lstStyle/>
          <a:p>
            <a:pPr marL="0" indent="0" algn="l">
              <a:lnSpc>
                <a:spcPts val="2197"/>
              </a:lnSpc>
              <a:buNone/>
            </a:pPr>
            <a:r>
              <a:rPr lang="en-US" sz="1910" b="1" kern="0" spc="-19" dirty="0">
                <a:solidFill>
                  <a:srgbClr val="0D1B3E"/>
                </a:solidFill>
                <a:latin typeface="Calibri Light" pitchFamily="34" charset="0"/>
                <a:ea typeface="Calibri Light" pitchFamily="34" charset="-122"/>
                <a:cs typeface="Calibri Light" pitchFamily="34" charset="-120"/>
              </a:rPr>
              <a:t>Building Blocks &amp; Sustainability</a:t>
            </a:r>
            <a:endParaRPr lang="en-US" sz="1910" dirty="0"/>
          </a:p>
        </p:txBody>
      </p:sp>
      <p:sp>
        <p:nvSpPr>
          <p:cNvPr id="13" name="Text 10"/>
          <p:cNvSpPr/>
          <p:nvPr/>
        </p:nvSpPr>
        <p:spPr>
          <a:xfrm>
            <a:off x="429220" y="825401"/>
            <a:ext cx="3714750" cy="13841"/>
          </a:xfrm>
          <a:prstGeom prst="roundRect">
            <a:avLst>
              <a:gd name="adj" fmla="val 100932"/>
            </a:avLst>
          </a:prstGeom>
          <a:gradFill rotWithShape="1">
            <a:gsLst>
              <a:gs pos="0">
                <a:srgbClr val="E8A020"/>
              </a:gs>
              <a:gs pos="100000">
                <a:srgbClr val="E8A020">
                  <a:alpha val="10000"/>
                </a:srgbClr>
              </a:gs>
            </a:gsLst>
            <a:lin ang="0" scaled="1"/>
          </a:gradFill>
          <a:ln/>
        </p:spPr>
        <p:txBody>
          <a:bodyPr wrap="none" rtlCol="0" anchor="t"/>
          <a:lstStyle/>
          <a:p>
            <a:pPr marL="0" indent="0">
              <a:buNone/>
            </a:pPr>
            <a:endParaRPr lang="en-US"/>
          </a:p>
        </p:txBody>
      </p:sp>
      <p:sp>
        <p:nvSpPr>
          <p:cNvPr id="14" name="Text 11"/>
          <p:cNvSpPr/>
          <p:nvPr/>
        </p:nvSpPr>
        <p:spPr>
          <a:xfrm>
            <a:off x="381580" y="885505"/>
            <a:ext cx="2612954" cy="232142"/>
          </a:xfrm>
          <a:prstGeom prst="rect">
            <a:avLst/>
          </a:prstGeom>
          <a:noFill/>
          <a:ln/>
        </p:spPr>
        <p:txBody>
          <a:bodyPr wrap="none" lIns="0" tIns="0" rIns="0" bIns="0" rtlCol="0" anchor="t"/>
          <a:lstStyle/>
          <a:p>
            <a:pPr marL="0" indent="0" algn="l">
              <a:lnSpc>
                <a:spcPts val="1872"/>
              </a:lnSpc>
              <a:spcBef>
                <a:spcPts val="364"/>
              </a:spcBef>
              <a:buNone/>
            </a:pPr>
            <a:r>
              <a:rPr lang="en-US" sz="1248" b="1" kern="0" spc="10" dirty="0">
                <a:solidFill>
                  <a:schemeClr val="accent2">
                    <a:lumMod val="75000"/>
                  </a:schemeClr>
                </a:solidFill>
                <a:latin typeface="Calibri Light" pitchFamily="34" charset="0"/>
                <a:ea typeface="Calibri Light" pitchFamily="34" charset="-122"/>
                <a:cs typeface="Calibri Light" pitchFamily="34" charset="-120"/>
              </a:rPr>
              <a:t>Tools, Systems &amp; Long-Term Thinking</a:t>
            </a:r>
            <a:endParaRPr lang="en-US" sz="1248" dirty="0">
              <a:solidFill>
                <a:schemeClr val="accent2">
                  <a:lumMod val="75000"/>
                </a:schemeClr>
              </a:solidFill>
            </a:endParaRPr>
          </a:p>
        </p:txBody>
      </p:sp>
      <p:sp>
        <p:nvSpPr>
          <p:cNvPr id="15" name="Text 12"/>
          <p:cNvSpPr/>
          <p:nvPr/>
        </p:nvSpPr>
        <p:spPr>
          <a:xfrm>
            <a:off x="429220" y="1171724"/>
            <a:ext cx="8285559" cy="489645"/>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16" name="Text 13"/>
          <p:cNvSpPr/>
          <p:nvPr/>
        </p:nvSpPr>
        <p:spPr>
          <a:xfrm>
            <a:off x="553045" y="1330970"/>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1</a:t>
            </a:r>
            <a:endParaRPr lang="en-US" sz="806"/>
          </a:p>
        </p:txBody>
      </p:sp>
      <p:sp>
        <p:nvSpPr>
          <p:cNvPr id="17" name="Text 14"/>
          <p:cNvSpPr/>
          <p:nvPr/>
        </p:nvSpPr>
        <p:spPr>
          <a:xfrm>
            <a:off x="838795" y="126756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5302" y="1344076"/>
            <a:ext cx="132588" cy="132588"/>
          </a:xfrm>
          <a:prstGeom prst="rect">
            <a:avLst/>
          </a:prstGeom>
        </p:spPr>
      </p:pic>
      <p:sp>
        <p:nvSpPr>
          <p:cNvPr id="19" name="Text 15"/>
          <p:cNvSpPr/>
          <p:nvPr/>
        </p:nvSpPr>
        <p:spPr>
          <a:xfrm>
            <a:off x="1250837" y="1219051"/>
            <a:ext cx="2149235"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FUNDING DEVELOPMENT PLAN</a:t>
            </a:r>
            <a:endParaRPr lang="en-US" sz="988" dirty="0">
              <a:solidFill>
                <a:schemeClr val="accent2">
                  <a:lumMod val="75000"/>
                </a:schemeClr>
              </a:solidFill>
            </a:endParaRPr>
          </a:p>
        </p:txBody>
      </p:sp>
      <p:sp>
        <p:nvSpPr>
          <p:cNvPr id="20" name="Text 16"/>
          <p:cNvSpPr/>
          <p:nvPr/>
        </p:nvSpPr>
        <p:spPr>
          <a:xfrm>
            <a:off x="1238845" y="1418630"/>
            <a:ext cx="6745218" cy="154484"/>
          </a:xfrm>
          <a:prstGeom prst="rect">
            <a:avLst/>
          </a:prstGeom>
          <a:noFill/>
          <a:ln/>
        </p:spPr>
        <p:txBody>
          <a:bodyPr wrap="non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Start with a simple 6-month plan identifying </a:t>
            </a:r>
            <a:r>
              <a:rPr lang="en-US" sz="1131" b="1">
                <a:solidFill>
                  <a:srgbClr val="E8A020"/>
                </a:solidFill>
                <a:latin typeface="Calibri" pitchFamily="34" charset="0"/>
                <a:ea typeface="Calibri" pitchFamily="34" charset="-122"/>
                <a:cs typeface="Calibri" pitchFamily="34" charset="-120"/>
              </a:rPr>
              <a:t>3–5 funder targets</a:t>
            </a:r>
            <a:r>
              <a:rPr lang="en-US" sz="1131">
                <a:solidFill>
                  <a:srgbClr val="0D1B3E"/>
                </a:solidFill>
                <a:latin typeface="Calibri" pitchFamily="34" charset="0"/>
                <a:ea typeface="Calibri" pitchFamily="34" charset="-122"/>
                <a:cs typeface="Calibri" pitchFamily="34" charset="-120"/>
              </a:rPr>
              <a:t> and key deadlines — expand as capacity grows</a:t>
            </a:r>
            <a:endParaRPr lang="en-US" sz="1131"/>
          </a:p>
        </p:txBody>
      </p:sp>
      <p:sp>
        <p:nvSpPr>
          <p:cNvPr id="21" name="Text 17"/>
          <p:cNvSpPr/>
          <p:nvPr/>
        </p:nvSpPr>
        <p:spPr>
          <a:xfrm>
            <a:off x="429220" y="1726109"/>
            <a:ext cx="8285559" cy="644128"/>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22" name="Text 18"/>
          <p:cNvSpPr/>
          <p:nvPr/>
        </p:nvSpPr>
        <p:spPr>
          <a:xfrm>
            <a:off x="553045" y="1885355"/>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2</a:t>
            </a:r>
            <a:endParaRPr lang="en-US" sz="806"/>
          </a:p>
        </p:txBody>
      </p:sp>
      <p:sp>
        <p:nvSpPr>
          <p:cNvPr id="23" name="Text 19"/>
          <p:cNvSpPr/>
          <p:nvPr/>
        </p:nvSpPr>
        <p:spPr>
          <a:xfrm>
            <a:off x="838795" y="1821954"/>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5302" y="1898460"/>
            <a:ext cx="132588" cy="132588"/>
          </a:xfrm>
          <a:prstGeom prst="rect">
            <a:avLst/>
          </a:prstGeom>
        </p:spPr>
      </p:pic>
      <p:sp>
        <p:nvSpPr>
          <p:cNvPr id="25" name="Text 20"/>
          <p:cNvSpPr/>
          <p:nvPr/>
        </p:nvSpPr>
        <p:spPr>
          <a:xfrm>
            <a:off x="1262215" y="1754421"/>
            <a:ext cx="2566647" cy="18288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FUNDER CULTIVATION CALENDAR</a:t>
            </a:r>
            <a:endParaRPr lang="en-US" sz="988" dirty="0">
              <a:solidFill>
                <a:schemeClr val="accent2">
                  <a:lumMod val="75000"/>
                </a:schemeClr>
              </a:solidFill>
            </a:endParaRPr>
          </a:p>
        </p:txBody>
      </p:sp>
      <p:sp>
        <p:nvSpPr>
          <p:cNvPr id="26" name="Text 21"/>
          <p:cNvSpPr/>
          <p:nvPr/>
        </p:nvSpPr>
        <p:spPr>
          <a:xfrm>
            <a:off x="1223183" y="1979827"/>
            <a:ext cx="5591277" cy="221581"/>
          </a:xfrm>
          <a:prstGeom prst="rect">
            <a:avLst/>
          </a:prstGeom>
          <a:noFill/>
          <a:ln/>
        </p:spPr>
        <p:txBody>
          <a:bodyPr wrap="squar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Begin with 2–3 priority funders and schedule </a:t>
            </a:r>
            <a:r>
              <a:rPr lang="en-US" sz="1131" b="1" dirty="0">
                <a:solidFill>
                  <a:srgbClr val="E8A020"/>
                </a:solidFill>
                <a:latin typeface="Calibri" pitchFamily="34" charset="0"/>
                <a:ea typeface="Calibri" pitchFamily="34" charset="-122"/>
                <a:cs typeface="Calibri" pitchFamily="34" charset="-120"/>
              </a:rPr>
              <a:t>quarterly check-ins</a:t>
            </a:r>
            <a:r>
              <a:rPr lang="en-US" sz="1131" dirty="0">
                <a:solidFill>
                  <a:srgbClr val="0D1B3E"/>
                </a:solidFill>
                <a:latin typeface="Calibri" pitchFamily="34" charset="0"/>
                <a:ea typeface="Calibri" pitchFamily="34" charset="-122"/>
                <a:cs typeface="Calibri" pitchFamily="34" charset="-120"/>
              </a:rPr>
              <a:t> — even a spreadsheet works</a:t>
            </a:r>
            <a:endParaRPr lang="en-US" sz="1131" dirty="0"/>
          </a:p>
        </p:txBody>
      </p:sp>
      <p:sp>
        <p:nvSpPr>
          <p:cNvPr id="27" name="Text 22"/>
          <p:cNvSpPr/>
          <p:nvPr/>
        </p:nvSpPr>
        <p:spPr>
          <a:xfrm>
            <a:off x="429220" y="2434977"/>
            <a:ext cx="8285559" cy="489645"/>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28" name="Text 23"/>
          <p:cNvSpPr/>
          <p:nvPr/>
        </p:nvSpPr>
        <p:spPr>
          <a:xfrm>
            <a:off x="553045" y="2594223"/>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3</a:t>
            </a:r>
            <a:endParaRPr lang="en-US" sz="806"/>
          </a:p>
        </p:txBody>
      </p:sp>
      <p:sp>
        <p:nvSpPr>
          <p:cNvPr id="29" name="Text 24"/>
          <p:cNvSpPr/>
          <p:nvPr/>
        </p:nvSpPr>
        <p:spPr>
          <a:xfrm>
            <a:off x="838795" y="2530822"/>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5302" y="2607329"/>
            <a:ext cx="132588" cy="132588"/>
          </a:xfrm>
          <a:prstGeom prst="rect">
            <a:avLst/>
          </a:prstGeom>
        </p:spPr>
      </p:pic>
      <p:sp>
        <p:nvSpPr>
          <p:cNvPr id="31" name="Text 25"/>
          <p:cNvSpPr/>
          <p:nvPr/>
        </p:nvSpPr>
        <p:spPr>
          <a:xfrm>
            <a:off x="1286937" y="2482304"/>
            <a:ext cx="2235146"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EMBED FSR IN CULTURE</a:t>
            </a:r>
            <a:endParaRPr lang="en-US" sz="988" dirty="0">
              <a:solidFill>
                <a:schemeClr val="accent2">
                  <a:lumMod val="75000"/>
                </a:schemeClr>
              </a:solidFill>
            </a:endParaRPr>
          </a:p>
        </p:txBody>
      </p:sp>
      <p:sp>
        <p:nvSpPr>
          <p:cNvPr id="32" name="Text 26"/>
          <p:cNvSpPr/>
          <p:nvPr/>
        </p:nvSpPr>
        <p:spPr>
          <a:xfrm>
            <a:off x="1277877" y="2681883"/>
            <a:ext cx="7014850" cy="154484"/>
          </a:xfrm>
          <a:prstGeom prst="rect">
            <a:avLst/>
          </a:prstGeom>
          <a:noFill/>
          <a:ln/>
        </p:spPr>
        <p:txBody>
          <a:bodyPr wrap="non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Make funding surveillance everyone’s job — train staff to </a:t>
            </a:r>
            <a:r>
              <a:rPr lang="en-US" sz="1131" b="1" dirty="0">
                <a:solidFill>
                  <a:srgbClr val="E8A020"/>
                </a:solidFill>
                <a:latin typeface="Calibri" pitchFamily="34" charset="0"/>
                <a:ea typeface="Calibri" pitchFamily="34" charset="-122"/>
                <a:cs typeface="Calibri" pitchFamily="34" charset="-120"/>
              </a:rPr>
              <a:t>spot and flag opportunities</a:t>
            </a:r>
            <a:r>
              <a:rPr lang="en-US" sz="1131" dirty="0">
                <a:solidFill>
                  <a:srgbClr val="0D1B3E"/>
                </a:solidFill>
                <a:latin typeface="Calibri" pitchFamily="34" charset="0"/>
                <a:ea typeface="Calibri" pitchFamily="34" charset="-122"/>
                <a:cs typeface="Calibri" pitchFamily="34" charset="-120"/>
              </a:rPr>
              <a:t> organization-wide</a:t>
            </a:r>
            <a:endParaRPr lang="en-US" sz="1131" dirty="0"/>
          </a:p>
        </p:txBody>
      </p:sp>
      <p:sp>
        <p:nvSpPr>
          <p:cNvPr id="33" name="Text 27"/>
          <p:cNvSpPr/>
          <p:nvPr/>
        </p:nvSpPr>
        <p:spPr>
          <a:xfrm>
            <a:off x="429220" y="2989362"/>
            <a:ext cx="8285559" cy="489645"/>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34" name="Text 28"/>
          <p:cNvSpPr/>
          <p:nvPr/>
        </p:nvSpPr>
        <p:spPr>
          <a:xfrm>
            <a:off x="553045" y="3148608"/>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4</a:t>
            </a:r>
            <a:endParaRPr lang="en-US" sz="806"/>
          </a:p>
        </p:txBody>
      </p:sp>
      <p:sp>
        <p:nvSpPr>
          <p:cNvPr id="35" name="Text 29"/>
          <p:cNvSpPr/>
          <p:nvPr/>
        </p:nvSpPr>
        <p:spPr>
          <a:xfrm>
            <a:off x="838795" y="3085207"/>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3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5302" y="3161714"/>
            <a:ext cx="132588" cy="132588"/>
          </a:xfrm>
          <a:prstGeom prst="rect">
            <a:avLst/>
          </a:prstGeom>
        </p:spPr>
      </p:pic>
      <p:sp>
        <p:nvSpPr>
          <p:cNvPr id="37" name="Text 30"/>
          <p:cNvSpPr/>
          <p:nvPr/>
        </p:nvSpPr>
        <p:spPr>
          <a:xfrm>
            <a:off x="1266410" y="3036689"/>
            <a:ext cx="2010479"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MULTI-YEAR FINANCIAL PLANNING</a:t>
            </a:r>
            <a:endParaRPr lang="en-US" sz="988" dirty="0">
              <a:solidFill>
                <a:schemeClr val="accent2">
                  <a:lumMod val="75000"/>
                </a:schemeClr>
              </a:solidFill>
            </a:endParaRPr>
          </a:p>
        </p:txBody>
      </p:sp>
      <p:sp>
        <p:nvSpPr>
          <p:cNvPr id="38" name="Text 31"/>
          <p:cNvSpPr/>
          <p:nvPr/>
        </p:nvSpPr>
        <p:spPr>
          <a:xfrm>
            <a:off x="1277877" y="3236268"/>
            <a:ext cx="6309747" cy="154484"/>
          </a:xfrm>
          <a:prstGeom prst="rect">
            <a:avLst/>
          </a:prstGeom>
          <a:noFill/>
          <a:ln/>
        </p:spPr>
        <p:txBody>
          <a:bodyPr wrap="non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Project revenue 2–3 years out and align program growth with </a:t>
            </a:r>
            <a:r>
              <a:rPr lang="en-US" sz="1131" b="1" dirty="0">
                <a:solidFill>
                  <a:srgbClr val="E8A020"/>
                </a:solidFill>
                <a:latin typeface="Calibri" pitchFamily="34" charset="0"/>
                <a:ea typeface="Calibri" pitchFamily="34" charset="-122"/>
                <a:cs typeface="Calibri" pitchFamily="34" charset="-120"/>
              </a:rPr>
              <a:t>realistic funding timelines</a:t>
            </a:r>
            <a:endParaRPr lang="en-US" sz="1131" dirty="0"/>
          </a:p>
        </p:txBody>
      </p:sp>
      <p:sp>
        <p:nvSpPr>
          <p:cNvPr id="39" name="Text 32"/>
          <p:cNvSpPr/>
          <p:nvPr/>
        </p:nvSpPr>
        <p:spPr>
          <a:xfrm>
            <a:off x="429220" y="3573025"/>
            <a:ext cx="8285559" cy="585571"/>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40" name="Text 33"/>
          <p:cNvSpPr/>
          <p:nvPr/>
        </p:nvSpPr>
        <p:spPr>
          <a:xfrm>
            <a:off x="553045" y="3702993"/>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5</a:t>
            </a:r>
            <a:endParaRPr lang="en-US" sz="806"/>
          </a:p>
        </p:txBody>
      </p:sp>
      <p:sp>
        <p:nvSpPr>
          <p:cNvPr id="41" name="Text 34"/>
          <p:cNvSpPr/>
          <p:nvPr/>
        </p:nvSpPr>
        <p:spPr>
          <a:xfrm>
            <a:off x="838795" y="3639592"/>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4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5302" y="3716098"/>
            <a:ext cx="132588" cy="132588"/>
          </a:xfrm>
          <a:prstGeom prst="rect">
            <a:avLst/>
          </a:prstGeom>
        </p:spPr>
      </p:pic>
      <p:sp>
        <p:nvSpPr>
          <p:cNvPr id="43" name="Text 35"/>
          <p:cNvSpPr/>
          <p:nvPr/>
        </p:nvSpPr>
        <p:spPr>
          <a:xfrm>
            <a:off x="1307311" y="3591074"/>
            <a:ext cx="2566647" cy="18288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SUSTAINABILITY IS A SYSTEM</a:t>
            </a:r>
            <a:endParaRPr lang="en-US" sz="988" dirty="0">
              <a:solidFill>
                <a:schemeClr val="accent2">
                  <a:lumMod val="75000"/>
                </a:schemeClr>
              </a:solidFill>
            </a:endParaRPr>
          </a:p>
        </p:txBody>
      </p:sp>
      <p:sp>
        <p:nvSpPr>
          <p:cNvPr id="44" name="Text 36"/>
          <p:cNvSpPr/>
          <p:nvPr/>
        </p:nvSpPr>
        <p:spPr>
          <a:xfrm>
            <a:off x="1238845" y="3807535"/>
            <a:ext cx="7469398" cy="201437"/>
          </a:xfrm>
          <a:prstGeom prst="rect">
            <a:avLst/>
          </a:prstGeom>
          <a:noFill/>
          <a:ln/>
        </p:spPr>
        <p:txBody>
          <a:bodyPr wrap="squar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These tools plus a sustainability mindset create </a:t>
            </a:r>
            <a:r>
              <a:rPr lang="en-US" sz="1131" b="1" dirty="0">
                <a:solidFill>
                  <a:srgbClr val="E8A020"/>
                </a:solidFill>
                <a:latin typeface="Calibri" pitchFamily="34" charset="0"/>
                <a:ea typeface="Calibri" pitchFamily="34" charset="-122"/>
                <a:cs typeface="Calibri" pitchFamily="34" charset="-120"/>
              </a:rPr>
              <a:t>funding resilience</a:t>
            </a:r>
            <a:r>
              <a:rPr lang="en-US" sz="1131" dirty="0">
                <a:solidFill>
                  <a:srgbClr val="0D1B3E"/>
                </a:solidFill>
                <a:latin typeface="Calibri" pitchFamily="34" charset="0"/>
                <a:ea typeface="Calibri" pitchFamily="34" charset="-122"/>
                <a:cs typeface="Calibri" pitchFamily="34" charset="-120"/>
              </a:rPr>
              <a:t> that outlasts any single grant cycle</a:t>
            </a:r>
            <a:endParaRPr lang="en-US" sz="1131" dirty="0"/>
          </a:p>
        </p:txBody>
      </p:sp>
      <p:sp>
        <p:nvSpPr>
          <p:cNvPr id="45" name="Text 37"/>
          <p:cNvSpPr/>
          <p:nvPr/>
        </p:nvSpPr>
        <p:spPr>
          <a:xfrm>
            <a:off x="375718" y="4543385"/>
            <a:ext cx="8285559" cy="434809"/>
          </a:xfrm>
          <a:prstGeom prst="roundRect">
            <a:avLst>
              <a:gd name="adj" fmla="val 17494"/>
            </a:avLst>
          </a:prstGeom>
          <a:solidFill>
            <a:srgbClr val="E8A020">
              <a:alpha val="10000"/>
            </a:srgbClr>
          </a:solidFill>
          <a:ln w="9525">
            <a:solidFill>
              <a:srgbClr val="E8A020">
                <a:alpha val="50000"/>
              </a:srgbClr>
            </a:solidFill>
          </a:ln>
        </p:spPr>
        <p:txBody>
          <a:bodyPr wrap="square" rtlCol="0" anchor="ctr"/>
          <a:lstStyle/>
          <a:p>
            <a:pPr marL="0" indent="0">
              <a:buNone/>
            </a:pPr>
            <a:endParaRPr lang="en-US"/>
          </a:p>
        </p:txBody>
      </p:sp>
      <p:pic>
        <p:nvPicPr>
          <p:cNvPr id="4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2082" y="4713247"/>
            <a:ext cx="132588" cy="132588"/>
          </a:xfrm>
          <a:prstGeom prst="rect">
            <a:avLst/>
          </a:prstGeom>
        </p:spPr>
      </p:pic>
      <p:sp>
        <p:nvSpPr>
          <p:cNvPr id="47" name="Text 38"/>
          <p:cNvSpPr/>
          <p:nvPr/>
        </p:nvSpPr>
        <p:spPr>
          <a:xfrm>
            <a:off x="882739" y="4627512"/>
            <a:ext cx="7629179" cy="268308"/>
          </a:xfrm>
          <a:prstGeom prst="rect">
            <a:avLst/>
          </a:prstGeom>
          <a:noFill/>
          <a:ln/>
        </p:spPr>
        <p:txBody>
          <a:bodyPr wrap="none" lIns="0" tIns="0" rIns="0" bIns="0" rtlCol="0" anchor="ctr"/>
          <a:lstStyle/>
          <a:p>
            <a:pPr marL="0" indent="0" algn="l">
              <a:lnSpc>
                <a:spcPts val="1696"/>
              </a:lnSpc>
              <a:buNone/>
            </a:pPr>
            <a:r>
              <a:rPr lang="en-US" sz="1400" b="1" dirty="0">
                <a:solidFill>
                  <a:srgbClr val="E8A020"/>
                </a:solidFill>
                <a:latin typeface="Calibri" pitchFamily="34" charset="0"/>
                <a:ea typeface="Calibri" pitchFamily="34" charset="-122"/>
                <a:cs typeface="Calibri" pitchFamily="34" charset="-120"/>
              </a:rPr>
              <a:t>Start with one tool.</a:t>
            </a:r>
            <a:r>
              <a:rPr lang="en-US" sz="1400" dirty="0">
                <a:solidFill>
                  <a:srgbClr val="0D1B3E"/>
                </a:solidFill>
                <a:latin typeface="Calibri" pitchFamily="34" charset="0"/>
                <a:ea typeface="Calibri" pitchFamily="34" charset="-122"/>
                <a:cs typeface="Calibri" pitchFamily="34" charset="-120"/>
              </a:rPr>
              <a:t> Add sustainability thinking early. The system compounds over time.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E8A020">
                  <a:alpha val="6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0" y="0"/>
            <a:ext cx="9144000" cy="5143500"/>
          </a:xfrm>
          <a:prstGeom prst="rect">
            <a:avLst/>
          </a:prstGeom>
          <a:gradFill rotWithShape="1">
            <a:gsLst>
              <a:gs pos="0">
                <a:srgbClr val="E8A020">
                  <a:alpha val="8000"/>
                </a:srgbClr>
              </a:gs>
              <a:gs pos="65000">
                <a:srgbClr val="000000">
                  <a:alpha val="0"/>
                </a:srgbClr>
              </a:gs>
            </a:gsLst>
            <a:path path="circle">
              <a:fillToRect l="50000" t="-10000" r="50000" b="110000"/>
            </a:path>
          </a:gradFill>
          <a:ln/>
        </p:spPr>
        <p:txBody>
          <a:bodyPr wrap="square" rtlCol="0" anchor="t"/>
          <a:lstStyle/>
          <a:p>
            <a:pPr marL="0" indent="0">
              <a:buNone/>
            </a:pPr>
            <a:endParaRPr lang="en-US" dirty="0"/>
          </a:p>
        </p:txBody>
      </p:sp>
      <p:sp>
        <p:nvSpPr>
          <p:cNvPr id="5" name="Text 3"/>
          <p:cNvSpPr/>
          <p:nvPr/>
        </p:nvSpPr>
        <p:spPr>
          <a:xfrm>
            <a:off x="0" y="0"/>
            <a:ext cx="9144000" cy="29170"/>
          </a:xfrm>
          <a:prstGeom prst="rect">
            <a:avLst/>
          </a:prstGeom>
          <a:gradFill rotWithShape="1">
            <a:gsLst>
              <a:gs pos="0">
                <a:srgbClr val="000000">
                  <a:alpha val="0"/>
                </a:srgbClr>
              </a:gs>
              <a:gs pos="33333">
                <a:srgbClr val="E8A020"/>
              </a:gs>
              <a:gs pos="66667">
                <a:srgbClr val="E8A020"/>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0" y="4771430"/>
            <a:ext cx="9144000" cy="372070"/>
          </a:xfrm>
          <a:prstGeom prst="rect">
            <a:avLst/>
          </a:prstGeom>
          <a:gradFill rotWithShape="1">
            <a:gsLst>
              <a:gs pos="0">
                <a:srgbClr val="E8A020">
                  <a:alpha val="18000"/>
                </a:srgbClr>
              </a:gs>
              <a:gs pos="100000">
                <a:srgbClr val="E8A020">
                  <a:alpha val="8000"/>
                </a:srgbClr>
              </a:gs>
            </a:gsLst>
            <a:lin ang="0" scaled="1"/>
          </a:gradFill>
          <a:ln/>
        </p:spPr>
        <p:txBody>
          <a:bodyPr wrap="square" rtlCol="0" anchor="t"/>
          <a:lstStyle/>
          <a:p>
            <a:pPr marL="0" indent="0">
              <a:buNone/>
            </a:pPr>
            <a:endParaRPr lang="en-US" dirty="0"/>
          </a:p>
        </p:txBody>
      </p:sp>
      <p:sp>
        <p:nvSpPr>
          <p:cNvPr id="7" name="Text 5"/>
          <p:cNvSpPr/>
          <p:nvPr/>
        </p:nvSpPr>
        <p:spPr>
          <a:xfrm>
            <a:off x="0" y="4771430"/>
            <a:ext cx="9144000" cy="9525"/>
          </a:xfrm>
          <a:prstGeom prst="rect">
            <a:avLst/>
          </a:prstGeom>
          <a:solidFill>
            <a:srgbClr val="E8A020">
              <a:alpha val="40000"/>
            </a:srgbClr>
          </a:solidFill>
          <a:ln/>
        </p:spPr>
        <p:txBody>
          <a:bodyPr wrap="non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6619" y="4895933"/>
            <a:ext cx="132588" cy="132588"/>
          </a:xfrm>
          <a:prstGeom prst="rect">
            <a:avLst/>
          </a:prstGeom>
        </p:spPr>
      </p:pic>
      <p:sp>
        <p:nvSpPr>
          <p:cNvPr id="9" name="Text 6"/>
          <p:cNvSpPr/>
          <p:nvPr/>
        </p:nvSpPr>
        <p:spPr>
          <a:xfrm>
            <a:off x="572095" y="4882158"/>
            <a:ext cx="1678037" cy="159990"/>
          </a:xfrm>
          <a:prstGeom prst="rect">
            <a:avLst/>
          </a:prstGeom>
          <a:noFill/>
          <a:ln/>
        </p:spPr>
        <p:txBody>
          <a:bodyPr wrap="none" lIns="0" tIns="0" rIns="0" bIns="0" rtlCol="0" anchor="ctr"/>
          <a:lstStyle/>
          <a:p>
            <a:pPr marL="0" indent="0" algn="l">
              <a:lnSpc>
                <a:spcPts val="1638"/>
              </a:lnSpc>
              <a:buNone/>
            </a:pPr>
            <a:r>
              <a:rPr lang="en-US" sz="1400" i="1" dirty="0">
                <a:solidFill>
                  <a:schemeClr val="accent2">
                    <a:lumMod val="75000"/>
                  </a:schemeClr>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Start</a:t>
            </a:r>
            <a:r>
              <a:rPr lang="en-US" sz="1092" i="1" dirty="0">
                <a:solidFill>
                  <a:srgbClr val="E8A020"/>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 </a:t>
            </a:r>
            <a:r>
              <a:rPr lang="en-US" sz="1092" i="1" dirty="0">
                <a:solidFill>
                  <a:schemeClr val="accent2">
                    <a:lumMod val="75000"/>
                  </a:schemeClr>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where you are</a:t>
            </a:r>
            <a:r>
              <a:rPr lang="en-US" sz="1092" i="1" dirty="0">
                <a:solidFill>
                  <a:srgbClr val="E8A020"/>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a:t>
            </a:r>
            <a:endParaRPr lang="en-US" sz="1092" dirty="0">
              <a:effectLst>
                <a:outerShdw blurRad="38100" dist="38100" dir="2700000" algn="tl">
                  <a:srgbClr val="000000">
                    <a:alpha val="43137"/>
                  </a:srgbClr>
                </a:outerShdw>
              </a:effectLst>
            </a:endParaRPr>
          </a:p>
        </p:txBody>
      </p:sp>
      <p:sp>
        <p:nvSpPr>
          <p:cNvPr id="10" name="Text 7"/>
          <p:cNvSpPr/>
          <p:nvPr/>
        </p:nvSpPr>
        <p:spPr>
          <a:xfrm>
            <a:off x="2183904" y="4947642"/>
            <a:ext cx="29170" cy="29170"/>
          </a:xfrm>
          <a:prstGeom prst="ellipse">
            <a:avLst/>
          </a:prstGeom>
          <a:solidFill>
            <a:srgbClr val="E8A020">
              <a:alpha val="50000"/>
            </a:srgbClr>
          </a:solidFill>
          <a:ln/>
        </p:spPr>
        <p:txBody>
          <a:bodyPr wrap="none" rtlCol="0" anchor="t"/>
          <a:lstStyle/>
          <a:p>
            <a:pPr marL="0" indent="0">
              <a:buNone/>
            </a:pPr>
            <a:endParaRPr lang="en-US" dirty="0"/>
          </a:p>
        </p:txBody>
      </p:sp>
      <p:sp>
        <p:nvSpPr>
          <p:cNvPr id="11" name="Text 8"/>
          <p:cNvSpPr/>
          <p:nvPr/>
        </p:nvSpPr>
        <p:spPr>
          <a:xfrm>
            <a:off x="2299395" y="4882158"/>
            <a:ext cx="1778719" cy="159990"/>
          </a:xfrm>
          <a:prstGeom prst="rect">
            <a:avLst/>
          </a:prstGeom>
          <a:noFill/>
          <a:ln/>
        </p:spPr>
        <p:txBody>
          <a:bodyPr wrap="none" lIns="0" tIns="0" rIns="0" bIns="0" rtlCol="0" anchor="ctr"/>
          <a:lstStyle/>
          <a:p>
            <a:pPr marL="0" indent="0" algn="l">
              <a:lnSpc>
                <a:spcPts val="1638"/>
              </a:lnSpc>
              <a:buNone/>
            </a:pPr>
            <a:r>
              <a:rPr lang="en-US" sz="1200" i="1" dirty="0">
                <a:solidFill>
                  <a:srgbClr val="64748B"/>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Build over time</a:t>
            </a:r>
            <a:r>
              <a:rPr lang="en-US" sz="1092" i="1" dirty="0">
                <a:solidFill>
                  <a:srgbClr val="64748B"/>
                </a:solidFill>
                <a:latin typeface="Calibri" pitchFamily="34" charset="0"/>
                <a:ea typeface="Calibri" pitchFamily="34" charset="-122"/>
                <a:cs typeface="Calibri" pitchFamily="34" charset="-120"/>
              </a:rPr>
              <a:t>.</a:t>
            </a:r>
            <a:endParaRPr lang="en-US" sz="1092" dirty="0"/>
          </a:p>
        </p:txBody>
      </p:sp>
      <p:sp>
        <p:nvSpPr>
          <p:cNvPr id="12" name="Text 9"/>
          <p:cNvSpPr/>
          <p:nvPr/>
        </p:nvSpPr>
        <p:spPr>
          <a:xfrm>
            <a:off x="409575" y="819150"/>
            <a:ext cx="1970780" cy="21580"/>
          </a:xfrm>
          <a:custGeom>
            <a:avLst/>
            <a:gdLst/>
            <a:ahLst/>
            <a:cxnLst/>
            <a:rect l="l" t="t" r="r" b="b"/>
            <a:pathLst>
              <a:path w="1970780" h="21580">
                <a:moveTo>
                  <a:pt x="86360" y="0"/>
                </a:moveTo>
                <a:lnTo>
                  <a:pt x="1884420" y="0"/>
                </a:lnTo>
                <a:lnTo>
                  <a:pt x="1905835" y="2698"/>
                </a:lnTo>
                <a:lnTo>
                  <a:pt x="1914465" y="5395"/>
                </a:lnTo>
                <a:lnTo>
                  <a:pt x="1920920" y="8093"/>
                </a:lnTo>
                <a:lnTo>
                  <a:pt x="1926219" y="10790"/>
                </a:lnTo>
                <a:lnTo>
                  <a:pt x="1930762" y="13488"/>
                </a:lnTo>
                <a:lnTo>
                  <a:pt x="1934754" y="16185"/>
                </a:lnTo>
                <a:lnTo>
                  <a:pt x="1938316" y="18883"/>
                </a:lnTo>
                <a:lnTo>
                  <a:pt x="1941530" y="21580"/>
                </a:lnTo>
                <a:lnTo>
                  <a:pt x="29250" y="21580"/>
                </a:lnTo>
                <a:lnTo>
                  <a:pt x="32463" y="18883"/>
                </a:lnTo>
                <a:lnTo>
                  <a:pt x="36026" y="16185"/>
                </a:lnTo>
                <a:lnTo>
                  <a:pt x="40017" y="13488"/>
                </a:lnTo>
                <a:lnTo>
                  <a:pt x="44560" y="10790"/>
                </a:lnTo>
                <a:lnTo>
                  <a:pt x="49860" y="8093"/>
                </a:lnTo>
                <a:lnTo>
                  <a:pt x="56315" y="5395"/>
                </a:lnTo>
                <a:lnTo>
                  <a:pt x="64944" y="2698"/>
                </a:lnTo>
                <a:close/>
              </a:path>
            </a:pathLst>
          </a:custGeom>
          <a:gradFill rotWithShape="1">
            <a:gsLst>
              <a:gs pos="0">
                <a:srgbClr val="E8A020"/>
              </a:gs>
              <a:gs pos="100000">
                <a:srgbClr val="E8A020">
                  <a:alpha val="30000"/>
                </a:srgbClr>
              </a:gs>
            </a:gsLst>
            <a:lin ang="0" scaled="1"/>
          </a:gradFill>
          <a:ln/>
        </p:spPr>
        <p:txBody>
          <a:bodyPr wrap="none" rtlCol="0" anchor="t"/>
          <a:lstStyle/>
          <a:p>
            <a:pPr marL="0" indent="0">
              <a:buNone/>
            </a:pPr>
            <a:endParaRPr lang="en-US" dirty="0"/>
          </a:p>
        </p:txBody>
      </p:sp>
      <p:sp>
        <p:nvSpPr>
          <p:cNvPr id="13" name="Text 10"/>
          <p:cNvSpPr/>
          <p:nvPr/>
        </p:nvSpPr>
        <p:spPr>
          <a:xfrm>
            <a:off x="1879997" y="4204392"/>
            <a:ext cx="714970" cy="714970"/>
          </a:xfrm>
          <a:prstGeom prst="ellipse">
            <a:avLst/>
          </a:prstGeom>
          <a:gradFill rotWithShape="1">
            <a:gsLst>
              <a:gs pos="0">
                <a:srgbClr val="E8A020">
                  <a:alpha val="7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14" name="Text 11"/>
          <p:cNvSpPr/>
          <p:nvPr/>
        </p:nvSpPr>
        <p:spPr>
          <a:xfrm>
            <a:off x="2527548" y="819150"/>
            <a:ext cx="1970780" cy="21580"/>
          </a:xfrm>
          <a:custGeom>
            <a:avLst/>
            <a:gdLst/>
            <a:ahLst/>
            <a:cxnLst/>
            <a:rect l="l" t="t" r="r" b="b"/>
            <a:pathLst>
              <a:path w="1970780" h="21580">
                <a:moveTo>
                  <a:pt x="86360" y="0"/>
                </a:moveTo>
                <a:lnTo>
                  <a:pt x="1884420" y="0"/>
                </a:lnTo>
                <a:lnTo>
                  <a:pt x="1905835" y="2698"/>
                </a:lnTo>
                <a:lnTo>
                  <a:pt x="1914465" y="5395"/>
                </a:lnTo>
                <a:lnTo>
                  <a:pt x="1920920" y="8093"/>
                </a:lnTo>
                <a:lnTo>
                  <a:pt x="1926219" y="10790"/>
                </a:lnTo>
                <a:lnTo>
                  <a:pt x="1930762" y="13488"/>
                </a:lnTo>
                <a:lnTo>
                  <a:pt x="1934754" y="16185"/>
                </a:lnTo>
                <a:lnTo>
                  <a:pt x="1938316" y="18883"/>
                </a:lnTo>
                <a:lnTo>
                  <a:pt x="1941530" y="21580"/>
                </a:lnTo>
                <a:lnTo>
                  <a:pt x="29250" y="21580"/>
                </a:lnTo>
                <a:lnTo>
                  <a:pt x="32463" y="18883"/>
                </a:lnTo>
                <a:lnTo>
                  <a:pt x="36026" y="16185"/>
                </a:lnTo>
                <a:lnTo>
                  <a:pt x="40017" y="13488"/>
                </a:lnTo>
                <a:lnTo>
                  <a:pt x="44560" y="10790"/>
                </a:lnTo>
                <a:lnTo>
                  <a:pt x="49860" y="8093"/>
                </a:lnTo>
                <a:lnTo>
                  <a:pt x="56315" y="5395"/>
                </a:lnTo>
                <a:lnTo>
                  <a:pt x="64944" y="2698"/>
                </a:lnTo>
                <a:close/>
              </a:path>
            </a:pathLst>
          </a:custGeom>
          <a:gradFill rotWithShape="1">
            <a:gsLst>
              <a:gs pos="0">
                <a:srgbClr val="E8A020"/>
              </a:gs>
              <a:gs pos="100000">
                <a:srgbClr val="E8A020">
                  <a:alpha val="30000"/>
                </a:srgbClr>
              </a:gs>
            </a:gsLst>
            <a:lin ang="0" scaled="1"/>
          </a:gradFill>
          <a:ln/>
        </p:spPr>
        <p:txBody>
          <a:bodyPr wrap="none" rtlCol="0" anchor="t"/>
          <a:lstStyle/>
          <a:p>
            <a:pPr marL="0" indent="0">
              <a:buNone/>
            </a:pPr>
            <a:endParaRPr lang="en-US" dirty="0"/>
          </a:p>
        </p:txBody>
      </p:sp>
      <p:sp>
        <p:nvSpPr>
          <p:cNvPr id="15" name="Text 12"/>
          <p:cNvSpPr/>
          <p:nvPr/>
        </p:nvSpPr>
        <p:spPr>
          <a:xfrm>
            <a:off x="3997970" y="4204392"/>
            <a:ext cx="714970" cy="714970"/>
          </a:xfrm>
          <a:prstGeom prst="ellipse">
            <a:avLst/>
          </a:prstGeom>
          <a:gradFill rotWithShape="1">
            <a:gsLst>
              <a:gs pos="0">
                <a:srgbClr val="E8A020">
                  <a:alpha val="7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16" name="Text 13"/>
          <p:cNvSpPr/>
          <p:nvPr/>
        </p:nvSpPr>
        <p:spPr>
          <a:xfrm>
            <a:off x="4645521" y="819150"/>
            <a:ext cx="1970780" cy="21580"/>
          </a:xfrm>
          <a:custGeom>
            <a:avLst/>
            <a:gdLst/>
            <a:ahLst/>
            <a:cxnLst/>
            <a:rect l="l" t="t" r="r" b="b"/>
            <a:pathLst>
              <a:path w="1970780" h="21580">
                <a:moveTo>
                  <a:pt x="86360" y="0"/>
                </a:moveTo>
                <a:lnTo>
                  <a:pt x="1884420" y="0"/>
                </a:lnTo>
                <a:lnTo>
                  <a:pt x="1905835" y="2698"/>
                </a:lnTo>
                <a:lnTo>
                  <a:pt x="1914465" y="5395"/>
                </a:lnTo>
                <a:lnTo>
                  <a:pt x="1920920" y="8093"/>
                </a:lnTo>
                <a:lnTo>
                  <a:pt x="1926219" y="10790"/>
                </a:lnTo>
                <a:lnTo>
                  <a:pt x="1930762" y="13488"/>
                </a:lnTo>
                <a:lnTo>
                  <a:pt x="1934754" y="16185"/>
                </a:lnTo>
                <a:lnTo>
                  <a:pt x="1938316" y="18883"/>
                </a:lnTo>
                <a:lnTo>
                  <a:pt x="1941530" y="21580"/>
                </a:lnTo>
                <a:lnTo>
                  <a:pt x="29250" y="21580"/>
                </a:lnTo>
                <a:lnTo>
                  <a:pt x="32463" y="18883"/>
                </a:lnTo>
                <a:lnTo>
                  <a:pt x="36026" y="16185"/>
                </a:lnTo>
                <a:lnTo>
                  <a:pt x="40017" y="13488"/>
                </a:lnTo>
                <a:lnTo>
                  <a:pt x="44560" y="10790"/>
                </a:lnTo>
                <a:lnTo>
                  <a:pt x="49860" y="8093"/>
                </a:lnTo>
                <a:lnTo>
                  <a:pt x="56315" y="5395"/>
                </a:lnTo>
                <a:lnTo>
                  <a:pt x="64944" y="2698"/>
                </a:lnTo>
                <a:close/>
              </a:path>
            </a:pathLst>
          </a:custGeom>
          <a:gradFill rotWithShape="1">
            <a:gsLst>
              <a:gs pos="0">
                <a:srgbClr val="E8A020"/>
              </a:gs>
              <a:gs pos="100000">
                <a:srgbClr val="E8A020">
                  <a:alpha val="30000"/>
                </a:srgbClr>
              </a:gs>
            </a:gsLst>
            <a:lin ang="0" scaled="1"/>
          </a:gradFill>
          <a:ln/>
        </p:spPr>
        <p:txBody>
          <a:bodyPr wrap="none" rtlCol="0" anchor="t"/>
          <a:lstStyle/>
          <a:p>
            <a:pPr marL="0" indent="0">
              <a:buNone/>
            </a:pPr>
            <a:endParaRPr lang="en-US" dirty="0"/>
          </a:p>
        </p:txBody>
      </p:sp>
      <p:sp>
        <p:nvSpPr>
          <p:cNvPr id="17" name="Text 14"/>
          <p:cNvSpPr/>
          <p:nvPr/>
        </p:nvSpPr>
        <p:spPr>
          <a:xfrm>
            <a:off x="6115943" y="4204392"/>
            <a:ext cx="714970" cy="714970"/>
          </a:xfrm>
          <a:prstGeom prst="ellipse">
            <a:avLst/>
          </a:prstGeom>
          <a:gradFill rotWithShape="1">
            <a:gsLst>
              <a:gs pos="0">
                <a:srgbClr val="E8A020">
                  <a:alpha val="7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18" name="Text 15"/>
          <p:cNvSpPr/>
          <p:nvPr/>
        </p:nvSpPr>
        <p:spPr>
          <a:xfrm>
            <a:off x="6763494" y="819150"/>
            <a:ext cx="1970932" cy="21580"/>
          </a:xfrm>
          <a:custGeom>
            <a:avLst/>
            <a:gdLst/>
            <a:ahLst/>
            <a:cxnLst/>
            <a:rect l="l" t="t" r="r" b="b"/>
            <a:pathLst>
              <a:path w="1970932" h="21580">
                <a:moveTo>
                  <a:pt x="86360" y="0"/>
                </a:moveTo>
                <a:lnTo>
                  <a:pt x="1884572" y="0"/>
                </a:lnTo>
                <a:lnTo>
                  <a:pt x="1905988" y="2698"/>
                </a:lnTo>
                <a:lnTo>
                  <a:pt x="1914617" y="5395"/>
                </a:lnTo>
                <a:lnTo>
                  <a:pt x="1921072" y="8093"/>
                </a:lnTo>
                <a:lnTo>
                  <a:pt x="1926372" y="10790"/>
                </a:lnTo>
                <a:lnTo>
                  <a:pt x="1930915" y="13488"/>
                </a:lnTo>
                <a:lnTo>
                  <a:pt x="1934906" y="16185"/>
                </a:lnTo>
                <a:lnTo>
                  <a:pt x="1938469" y="18883"/>
                </a:lnTo>
                <a:lnTo>
                  <a:pt x="1941682" y="21580"/>
                </a:lnTo>
                <a:lnTo>
                  <a:pt x="29250" y="21580"/>
                </a:lnTo>
                <a:lnTo>
                  <a:pt x="32463" y="18883"/>
                </a:lnTo>
                <a:lnTo>
                  <a:pt x="36026" y="16185"/>
                </a:lnTo>
                <a:lnTo>
                  <a:pt x="40017" y="13488"/>
                </a:lnTo>
                <a:lnTo>
                  <a:pt x="44560" y="10790"/>
                </a:lnTo>
                <a:lnTo>
                  <a:pt x="49860" y="8093"/>
                </a:lnTo>
                <a:lnTo>
                  <a:pt x="56315" y="5395"/>
                </a:lnTo>
                <a:lnTo>
                  <a:pt x="64944" y="2698"/>
                </a:lnTo>
                <a:close/>
              </a:path>
            </a:pathLst>
          </a:custGeom>
          <a:gradFill rotWithShape="1">
            <a:gsLst>
              <a:gs pos="0">
                <a:srgbClr val="E8A020"/>
              </a:gs>
              <a:gs pos="100000">
                <a:srgbClr val="E8A020">
                  <a:alpha val="30000"/>
                </a:srgbClr>
              </a:gs>
            </a:gsLst>
            <a:lin ang="0" scaled="1"/>
          </a:gradFill>
          <a:ln/>
        </p:spPr>
        <p:txBody>
          <a:bodyPr wrap="none" rtlCol="0" anchor="t"/>
          <a:lstStyle/>
          <a:p>
            <a:pPr marL="0" indent="0">
              <a:buNone/>
            </a:pPr>
            <a:endParaRPr lang="en-US" dirty="0"/>
          </a:p>
        </p:txBody>
      </p:sp>
      <p:sp>
        <p:nvSpPr>
          <p:cNvPr id="19" name="Text 16"/>
          <p:cNvSpPr/>
          <p:nvPr/>
        </p:nvSpPr>
        <p:spPr>
          <a:xfrm>
            <a:off x="8234068" y="4204392"/>
            <a:ext cx="714970" cy="714970"/>
          </a:xfrm>
          <a:prstGeom prst="ellipse">
            <a:avLst/>
          </a:prstGeom>
          <a:gradFill rotWithShape="1">
            <a:gsLst>
              <a:gs pos="0">
                <a:srgbClr val="E8A020">
                  <a:alpha val="7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20" name="Text 17"/>
          <p:cNvSpPr/>
          <p:nvPr/>
        </p:nvSpPr>
        <p:spPr>
          <a:xfrm>
            <a:off x="400050" y="257770"/>
            <a:ext cx="5182106" cy="129480"/>
          </a:xfrm>
          <a:prstGeom prst="rect">
            <a:avLst/>
          </a:prstGeom>
          <a:noFill/>
          <a:ln/>
        </p:spPr>
        <p:txBody>
          <a:bodyPr wrap="none" lIns="0" tIns="0" rIns="0" bIns="0" rtlCol="0" anchor="t"/>
          <a:lstStyle/>
          <a:p>
            <a:pPr marL="0" indent="0" algn="l">
              <a:lnSpc>
                <a:spcPts val="1326"/>
              </a:lnSpc>
              <a:buNone/>
            </a:pPr>
            <a:r>
              <a:rPr lang="en-US" sz="884" b="1" kern="0" spc="60">
                <a:solidFill>
                  <a:srgbClr val="E8A020">
                    <a:alpha val="85000"/>
                  </a:srgbClr>
                </a:solidFill>
                <a:latin typeface="Calibri Light" pitchFamily="34" charset="0"/>
                <a:ea typeface="Calibri Light" pitchFamily="34" charset="-122"/>
                <a:cs typeface="Calibri Light" pitchFamily="34" charset="-120"/>
              </a:rPr>
              <a:t>SUSTAINABILITY</a:t>
            </a:r>
            <a:endParaRPr lang="en-US" sz="884"/>
          </a:p>
        </p:txBody>
      </p:sp>
      <p:sp>
        <p:nvSpPr>
          <p:cNvPr id="21" name="Text 18"/>
          <p:cNvSpPr/>
          <p:nvPr/>
        </p:nvSpPr>
        <p:spPr>
          <a:xfrm>
            <a:off x="400050" y="387251"/>
            <a:ext cx="5040776" cy="278904"/>
          </a:xfrm>
          <a:prstGeom prst="rect">
            <a:avLst/>
          </a:prstGeom>
          <a:noFill/>
          <a:ln/>
        </p:spPr>
        <p:txBody>
          <a:bodyPr wrap="none" lIns="0" tIns="0" rIns="0" bIns="0" rtlCol="0" anchor="t"/>
          <a:lstStyle/>
          <a:p>
            <a:pPr marL="0" indent="0" algn="l">
              <a:lnSpc>
                <a:spcPts val="2197"/>
              </a:lnSpc>
              <a:buNone/>
            </a:pPr>
            <a:r>
              <a:rPr lang="en-US" sz="1910" kern="0" spc="-19" dirty="0">
                <a:solidFill>
                  <a:srgbClr val="0D1B3E"/>
                </a:solidFill>
                <a:latin typeface="Calibri Light" pitchFamily="34" charset="0"/>
                <a:ea typeface="Calibri Light" pitchFamily="34" charset="-122"/>
                <a:cs typeface="Calibri Light" pitchFamily="34" charset="-120"/>
              </a:rPr>
              <a:t>Sustainability </a:t>
            </a:r>
            <a:r>
              <a:rPr lang="en-US" sz="1910" b="1" kern="0" spc="-19" dirty="0">
                <a:solidFill>
                  <a:srgbClr val="E8A020"/>
                </a:solidFill>
                <a:latin typeface="Calibri Light" pitchFamily="34" charset="0"/>
                <a:ea typeface="Calibri Light" pitchFamily="34" charset="-122"/>
                <a:cs typeface="Calibri Light" pitchFamily="34" charset="-120"/>
              </a:rPr>
              <a:t>Benchmarks</a:t>
            </a:r>
            <a:r>
              <a:rPr lang="en-US" sz="1910" kern="0" spc="-19" dirty="0">
                <a:solidFill>
                  <a:srgbClr val="0D1B3E"/>
                </a:solidFill>
                <a:latin typeface="Calibri Light" pitchFamily="34" charset="0"/>
                <a:ea typeface="Calibri Light" pitchFamily="34" charset="-122"/>
                <a:cs typeface="Calibri Light" pitchFamily="34" charset="-120"/>
              </a:rPr>
              <a:t> for RF Programs</a:t>
            </a:r>
            <a:endParaRPr lang="en-US" sz="1910" dirty="0"/>
          </a:p>
        </p:txBody>
      </p:sp>
      <p:sp>
        <p:nvSpPr>
          <p:cNvPr id="22" name="Text 19"/>
          <p:cNvSpPr/>
          <p:nvPr/>
        </p:nvSpPr>
        <p:spPr>
          <a:xfrm>
            <a:off x="7387530" y="286941"/>
            <a:ext cx="1356420" cy="234851"/>
          </a:xfrm>
          <a:prstGeom prst="roundRect">
            <a:avLst>
              <a:gd name="adj" fmla="val 61107"/>
            </a:avLst>
          </a:prstGeom>
          <a:solidFill>
            <a:srgbClr val="E8A020">
              <a:alpha val="15000"/>
            </a:srgbClr>
          </a:solidFill>
          <a:ln w="9525">
            <a:solidFill>
              <a:srgbClr val="E8A020">
                <a:alpha val="45000"/>
              </a:srgbClr>
            </a:solidFill>
          </a:ln>
        </p:spPr>
        <p:txBody>
          <a:bodyPr wrap="none" rtlCol="0" anchor="t"/>
          <a:lstStyle/>
          <a:p>
            <a:pPr marL="0" indent="0">
              <a:buNone/>
            </a:pPr>
            <a:endParaRPr lang="en-US" dirty="0"/>
          </a:p>
        </p:txBody>
      </p:sp>
      <p:pic>
        <p:nvPicPr>
          <p:cNvPr id="2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8651" y="337998"/>
            <a:ext cx="132588" cy="132588"/>
          </a:xfrm>
          <a:prstGeom prst="rect">
            <a:avLst/>
          </a:prstGeom>
        </p:spPr>
      </p:pic>
      <p:sp>
        <p:nvSpPr>
          <p:cNvPr id="24" name="Text 20"/>
          <p:cNvSpPr/>
          <p:nvPr/>
        </p:nvSpPr>
        <p:spPr>
          <a:xfrm>
            <a:off x="7629674" y="339626"/>
            <a:ext cx="1104885" cy="129480"/>
          </a:xfrm>
          <a:prstGeom prst="rect">
            <a:avLst/>
          </a:prstGeom>
          <a:noFill/>
          <a:ln/>
        </p:spPr>
        <p:txBody>
          <a:bodyPr wrap="none" lIns="0" tIns="0" rIns="0" bIns="0" rtlCol="0" anchor="ctr"/>
          <a:lstStyle/>
          <a:p>
            <a:pPr marL="0" indent="0" algn="l">
              <a:lnSpc>
                <a:spcPts val="1326"/>
              </a:lnSpc>
              <a:buNone/>
            </a:pPr>
            <a:r>
              <a:rPr lang="en-US" sz="884" b="1">
                <a:solidFill>
                  <a:srgbClr val="E8A020"/>
                </a:solidFill>
                <a:latin typeface="Calibri" pitchFamily="34" charset="0"/>
                <a:ea typeface="Calibri" pitchFamily="34" charset="-122"/>
                <a:cs typeface="Calibri" pitchFamily="34" charset="-120"/>
              </a:rPr>
              <a:t>4 KEY BENCHMARKS</a:t>
            </a:r>
            <a:endParaRPr lang="en-US" sz="884"/>
          </a:p>
        </p:txBody>
      </p:sp>
      <p:sp>
        <p:nvSpPr>
          <p:cNvPr id="25" name="Text 21"/>
          <p:cNvSpPr/>
          <p:nvPr/>
        </p:nvSpPr>
        <p:spPr>
          <a:xfrm>
            <a:off x="400050" y="809625"/>
            <a:ext cx="1989832" cy="3904655"/>
          </a:xfrm>
          <a:prstGeom prst="roundRect">
            <a:avLst>
              <a:gd name="adj" fmla="val 4340"/>
            </a:avLst>
          </a:prstGeom>
          <a:solidFill>
            <a:srgbClr val="F0F4F8"/>
          </a:solidFill>
          <a:ln w="9525">
            <a:solidFill>
              <a:srgbClr val="E8A020">
                <a:alpha val="45000"/>
              </a:srgbClr>
            </a:solidFill>
          </a:ln>
        </p:spPr>
        <p:txBody>
          <a:bodyPr wrap="square" rtlCol="0" anchor="t"/>
          <a:lstStyle/>
          <a:p>
            <a:pPr marL="0" indent="0">
              <a:buNone/>
            </a:pPr>
            <a:endParaRPr lang="en-US" dirty="0"/>
          </a:p>
        </p:txBody>
      </p:sp>
      <p:sp>
        <p:nvSpPr>
          <p:cNvPr id="26" name="Text 22"/>
          <p:cNvSpPr/>
          <p:nvPr/>
        </p:nvSpPr>
        <p:spPr>
          <a:xfrm>
            <a:off x="610195" y="1047750"/>
            <a:ext cx="257770" cy="25777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2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2712" y="1110267"/>
            <a:ext cx="132588" cy="132588"/>
          </a:xfrm>
          <a:prstGeom prst="rect">
            <a:avLst/>
          </a:prstGeom>
        </p:spPr>
      </p:pic>
      <p:sp>
        <p:nvSpPr>
          <p:cNvPr id="28" name="Text 23"/>
          <p:cNvSpPr/>
          <p:nvPr/>
        </p:nvSpPr>
        <p:spPr>
          <a:xfrm>
            <a:off x="610195" y="1405682"/>
            <a:ext cx="1600932" cy="525378"/>
          </a:xfrm>
          <a:prstGeom prst="rect">
            <a:avLst/>
          </a:prstGeom>
          <a:noFill/>
          <a:ln/>
        </p:spPr>
        <p:txBody>
          <a:bodyPr wrap="square" lIns="0" tIns="0" rIns="0" bIns="0" rtlCol="0" anchor="ctr"/>
          <a:lstStyle/>
          <a:p>
            <a:pPr marL="0" indent="0" algn="l">
              <a:lnSpc>
                <a:spcPts val="2360"/>
              </a:lnSpc>
              <a:buNone/>
            </a:pPr>
            <a:r>
              <a:rPr lang="en-US" sz="2360" b="1" kern="0" spc="-47" dirty="0">
                <a:solidFill>
                  <a:srgbClr val="E8A020"/>
                </a:solidFill>
                <a:latin typeface="Calibri" pitchFamily="34" charset="0"/>
                <a:ea typeface="Calibri" pitchFamily="34" charset="-122"/>
                <a:cs typeface="Calibri" pitchFamily="34" charset="-120"/>
              </a:rPr>
              <a:t>6–12</a:t>
            </a:r>
            <a:br/>
            <a:r>
              <a:rPr lang="en-US" sz="1580" b="1" kern="0" spc="-47" dirty="0">
                <a:solidFill>
                  <a:srgbClr val="E8A020"/>
                </a:solidFill>
                <a:latin typeface="Calibri" pitchFamily="34" charset="0"/>
                <a:ea typeface="Calibri" pitchFamily="34" charset="-122"/>
                <a:cs typeface="Calibri" pitchFamily="34" charset="-120"/>
              </a:rPr>
              <a:t>Months</a:t>
            </a:r>
            <a:endParaRPr lang="en-US" sz="2360" dirty="0"/>
          </a:p>
        </p:txBody>
      </p:sp>
      <p:sp>
        <p:nvSpPr>
          <p:cNvPr id="29" name="Text 24"/>
          <p:cNvSpPr/>
          <p:nvPr/>
        </p:nvSpPr>
        <p:spPr>
          <a:xfrm>
            <a:off x="610195" y="1977033"/>
            <a:ext cx="1600932" cy="649456"/>
          </a:xfrm>
          <a:prstGeom prst="rect">
            <a:avLst/>
          </a:prstGeom>
          <a:noFill/>
          <a:ln/>
        </p:spPr>
        <p:txBody>
          <a:bodyPr wrap="square" lIns="0" tIns="0" rIns="0" bIns="0" rtlCol="0" anchor="t"/>
          <a:lstStyle/>
          <a:p>
            <a:pPr marL="0" indent="0" algn="l">
              <a:lnSpc>
                <a:spcPts val="1583"/>
              </a:lnSpc>
              <a:buNone/>
            </a:pPr>
            <a:r>
              <a:rPr lang="en-US" sz="1092">
                <a:solidFill>
                  <a:srgbClr val="64748B"/>
                </a:solidFill>
                <a:latin typeface="Calibri" pitchFamily="34" charset="0"/>
                <a:ea typeface="Calibri" pitchFamily="34" charset="-122"/>
                <a:cs typeface="Calibri" pitchFamily="34" charset="-120"/>
              </a:rPr>
              <a:t>Start where you are — even 1–3 months of reserve matters for a small CBO running on a single grant</a:t>
            </a:r>
            <a:endParaRPr lang="en-US" sz="1092"/>
          </a:p>
        </p:txBody>
      </p:sp>
      <p:sp>
        <p:nvSpPr>
          <p:cNvPr id="30" name="Text 25"/>
          <p:cNvSpPr/>
          <p:nvPr/>
        </p:nvSpPr>
        <p:spPr>
          <a:xfrm>
            <a:off x="698897" y="4386114"/>
            <a:ext cx="1180192" cy="118021"/>
          </a:xfrm>
          <a:prstGeom prst="rect">
            <a:avLst/>
          </a:prstGeom>
          <a:noFill/>
          <a:ln/>
        </p:spPr>
        <p:txBody>
          <a:bodyPr wrap="none" lIns="0" tIns="0" rIns="0" bIns="0" rtlCol="0" anchor="ctr"/>
          <a:lstStyle/>
          <a:p>
            <a:pPr marL="0" indent="0" algn="l">
              <a:lnSpc>
                <a:spcPts val="1209"/>
              </a:lnSpc>
              <a:buNone/>
            </a:pPr>
            <a:r>
              <a:rPr lang="en-US" sz="806" b="1" kern="0" spc="20">
                <a:solidFill>
                  <a:srgbClr val="E8A020">
                    <a:alpha val="70000"/>
                  </a:srgbClr>
                </a:solidFill>
                <a:latin typeface="Calibri" pitchFamily="34" charset="0"/>
                <a:ea typeface="Calibri" pitchFamily="34" charset="-122"/>
                <a:cs typeface="Calibri" pitchFamily="34" charset="-120"/>
              </a:rPr>
              <a:t>FINANCIAL RESILIENCE</a:t>
            </a:r>
            <a:endParaRPr lang="en-US" sz="806"/>
          </a:p>
        </p:txBody>
      </p:sp>
      <p:pic>
        <p:nvPicPr>
          <p:cNvPr id="31" name="Image 3" descr="preencoded.png"/>
          <p:cNvPicPr>
            <a:picLocks noChangeAspect="1"/>
          </p:cNvPicPr>
          <p:nvPr/>
        </p:nvPicPr>
        <p:blipFill>
          <a:blip>
            <a:alphaModFix amt="70000"/>
            <a:extLst>
              <a:ext uri="{96DAC541-7B7A-43D3-8B79-37D633B846F1}">
                <asvg:svgBlip xmlns:asvg="http://schemas.microsoft.com/office/drawing/2016/SVG/main" r:embed="rId6"/>
              </a:ext>
            </a:extLst>
          </a:blip>
          <a:stretch>
            <a:fillRect/>
          </a:stretch>
        </p:blipFill>
        <p:spPr>
          <a:xfrm>
            <a:off x="570542" y="4378756"/>
            <a:ext cx="132588" cy="132588"/>
          </a:xfrm>
          <a:prstGeom prst="rect">
            <a:avLst/>
          </a:prstGeom>
        </p:spPr>
      </p:pic>
      <p:sp>
        <p:nvSpPr>
          <p:cNvPr id="32" name="Text 26"/>
          <p:cNvSpPr/>
          <p:nvPr/>
        </p:nvSpPr>
        <p:spPr>
          <a:xfrm>
            <a:off x="2518023" y="809625"/>
            <a:ext cx="1989832" cy="3904655"/>
          </a:xfrm>
          <a:prstGeom prst="roundRect">
            <a:avLst>
              <a:gd name="adj" fmla="val 4340"/>
            </a:avLst>
          </a:prstGeom>
          <a:solidFill>
            <a:srgbClr val="F0F4F8"/>
          </a:solidFill>
          <a:ln w="9525">
            <a:solidFill>
              <a:srgbClr val="E8A020">
                <a:alpha val="45000"/>
              </a:srgbClr>
            </a:solidFill>
          </a:ln>
        </p:spPr>
        <p:txBody>
          <a:bodyPr wrap="square" rtlCol="0" anchor="t"/>
          <a:lstStyle/>
          <a:p>
            <a:pPr marL="0" indent="0">
              <a:buNone/>
            </a:pPr>
            <a:endParaRPr lang="en-US" dirty="0"/>
          </a:p>
        </p:txBody>
      </p:sp>
      <p:sp>
        <p:nvSpPr>
          <p:cNvPr id="33" name="Text 27"/>
          <p:cNvSpPr/>
          <p:nvPr/>
        </p:nvSpPr>
        <p:spPr>
          <a:xfrm>
            <a:off x="2728168" y="1047750"/>
            <a:ext cx="257770" cy="25777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3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90685" y="1110267"/>
            <a:ext cx="132588" cy="132588"/>
          </a:xfrm>
          <a:prstGeom prst="rect">
            <a:avLst/>
          </a:prstGeom>
        </p:spPr>
      </p:pic>
      <p:sp>
        <p:nvSpPr>
          <p:cNvPr id="35" name="Text 28"/>
          <p:cNvSpPr/>
          <p:nvPr/>
        </p:nvSpPr>
        <p:spPr>
          <a:xfrm>
            <a:off x="2728168" y="1405682"/>
            <a:ext cx="1648018" cy="314920"/>
          </a:xfrm>
          <a:prstGeom prst="rect">
            <a:avLst/>
          </a:prstGeom>
          <a:noFill/>
          <a:ln/>
        </p:spPr>
        <p:txBody>
          <a:bodyPr wrap="none" lIns="0" tIns="0" rIns="0" bIns="0" rtlCol="0" anchor="t"/>
          <a:lstStyle/>
          <a:p>
            <a:pPr marL="0" indent="0" algn="l">
              <a:lnSpc>
                <a:spcPts val="2480"/>
              </a:lnSpc>
              <a:buNone/>
            </a:pPr>
            <a:r>
              <a:rPr lang="en-US" sz="2480" b="1" kern="0" spc="-50" dirty="0">
                <a:solidFill>
                  <a:srgbClr val="E8A020"/>
                </a:solidFill>
                <a:latin typeface="Calibri" pitchFamily="34" charset="0"/>
                <a:ea typeface="Calibri" pitchFamily="34" charset="-122"/>
                <a:cs typeface="Calibri" pitchFamily="34" charset="-120"/>
              </a:rPr>
              <a:t>40/30/30</a:t>
            </a:r>
            <a:endParaRPr lang="en-US" sz="2480" dirty="0"/>
          </a:p>
        </p:txBody>
      </p:sp>
      <p:sp>
        <p:nvSpPr>
          <p:cNvPr id="36" name="Text 29"/>
          <p:cNvSpPr/>
          <p:nvPr/>
        </p:nvSpPr>
        <p:spPr>
          <a:xfrm>
            <a:off x="2728168" y="1763613"/>
            <a:ext cx="616744" cy="43160"/>
          </a:xfrm>
          <a:prstGeom prst="roundRect">
            <a:avLst>
              <a:gd name="adj" fmla="val 50023"/>
            </a:avLst>
          </a:prstGeom>
          <a:solidFill>
            <a:srgbClr val="E8A020"/>
          </a:solidFill>
          <a:ln/>
        </p:spPr>
        <p:txBody>
          <a:bodyPr wrap="none" rtlCol="0" anchor="t"/>
          <a:lstStyle/>
          <a:p>
            <a:pPr marL="0" indent="0">
              <a:buNone/>
            </a:pPr>
            <a:endParaRPr lang="en-US" dirty="0"/>
          </a:p>
        </p:txBody>
      </p:sp>
      <p:sp>
        <p:nvSpPr>
          <p:cNvPr id="37" name="Text 30"/>
          <p:cNvSpPr/>
          <p:nvPr/>
        </p:nvSpPr>
        <p:spPr>
          <a:xfrm>
            <a:off x="3358753" y="1763613"/>
            <a:ext cx="462558" cy="43160"/>
          </a:xfrm>
          <a:prstGeom prst="rect">
            <a:avLst/>
          </a:prstGeom>
          <a:solidFill>
            <a:srgbClr val="E8A020">
              <a:alpha val="50000"/>
            </a:srgbClr>
          </a:solidFill>
          <a:ln/>
        </p:spPr>
        <p:txBody>
          <a:bodyPr wrap="none" rtlCol="0" anchor="t"/>
          <a:lstStyle/>
          <a:p>
            <a:pPr marL="0" indent="0">
              <a:buNone/>
            </a:pPr>
            <a:endParaRPr lang="en-US" dirty="0"/>
          </a:p>
        </p:txBody>
      </p:sp>
      <p:sp>
        <p:nvSpPr>
          <p:cNvPr id="38" name="Text 31"/>
          <p:cNvSpPr/>
          <p:nvPr/>
        </p:nvSpPr>
        <p:spPr>
          <a:xfrm>
            <a:off x="3835152" y="1763613"/>
            <a:ext cx="462558" cy="43160"/>
          </a:xfrm>
          <a:prstGeom prst="rect">
            <a:avLst/>
          </a:prstGeom>
          <a:solidFill>
            <a:srgbClr val="E8A020">
              <a:alpha val="25000"/>
            </a:srgbClr>
          </a:solidFill>
          <a:ln/>
        </p:spPr>
        <p:txBody>
          <a:bodyPr wrap="none" rtlCol="0" anchor="t"/>
          <a:lstStyle/>
          <a:p>
            <a:pPr marL="0" indent="0">
              <a:buNone/>
            </a:pPr>
            <a:endParaRPr lang="en-US" dirty="0"/>
          </a:p>
        </p:txBody>
      </p:sp>
      <p:sp>
        <p:nvSpPr>
          <p:cNvPr id="39" name="Text 32"/>
          <p:cNvSpPr/>
          <p:nvPr/>
        </p:nvSpPr>
        <p:spPr>
          <a:xfrm>
            <a:off x="2728168" y="1849785"/>
            <a:ext cx="455771" cy="106710"/>
          </a:xfrm>
          <a:prstGeom prst="rect">
            <a:avLst/>
          </a:prstGeom>
          <a:noFill/>
          <a:ln/>
        </p:spPr>
        <p:txBody>
          <a:bodyPr wrap="none" lIns="0" tIns="0" rIns="0" bIns="0" rtlCol="0" anchor="ctr"/>
          <a:lstStyle/>
          <a:p>
            <a:pPr marL="0" indent="0" algn="l">
              <a:lnSpc>
                <a:spcPts val="1092"/>
              </a:lnSpc>
              <a:buNone/>
            </a:pPr>
            <a:r>
              <a:rPr lang="en-US" sz="728" b="1">
                <a:solidFill>
                  <a:srgbClr val="E8A020"/>
                </a:solidFill>
                <a:latin typeface="Calibri" pitchFamily="34" charset="0"/>
                <a:ea typeface="Calibri" pitchFamily="34" charset="-122"/>
                <a:cs typeface="Calibri" pitchFamily="34" charset="-120"/>
              </a:rPr>
              <a:t>40% Federal</a:t>
            </a:r>
            <a:endParaRPr lang="en-US" sz="728"/>
          </a:p>
        </p:txBody>
      </p:sp>
      <p:sp>
        <p:nvSpPr>
          <p:cNvPr id="40" name="Text 33"/>
          <p:cNvSpPr/>
          <p:nvPr/>
        </p:nvSpPr>
        <p:spPr>
          <a:xfrm>
            <a:off x="3199656" y="1849785"/>
            <a:ext cx="603111" cy="106710"/>
          </a:xfrm>
          <a:prstGeom prst="rect">
            <a:avLst/>
          </a:prstGeom>
          <a:noFill/>
          <a:ln/>
        </p:spPr>
        <p:txBody>
          <a:bodyPr wrap="none" lIns="0" tIns="0" rIns="0" bIns="0" rtlCol="0" anchor="ctr"/>
          <a:lstStyle/>
          <a:p>
            <a:pPr marL="0" indent="0" algn="l">
              <a:lnSpc>
                <a:spcPts val="1092"/>
              </a:lnSpc>
              <a:buNone/>
            </a:pPr>
            <a:r>
              <a:rPr lang="en-US" sz="728" b="1">
                <a:solidFill>
                  <a:srgbClr val="E8A020">
                    <a:alpha val="70000"/>
                  </a:srgbClr>
                </a:solidFill>
                <a:latin typeface="Calibri" pitchFamily="34" charset="0"/>
                <a:ea typeface="Calibri" pitchFamily="34" charset="-122"/>
                <a:cs typeface="Calibri" pitchFamily="34" charset="-120"/>
              </a:rPr>
              <a:t>30% Foundation</a:t>
            </a:r>
            <a:endParaRPr lang="en-US" sz="728"/>
          </a:p>
        </p:txBody>
      </p:sp>
      <p:sp>
        <p:nvSpPr>
          <p:cNvPr id="41" name="Text 34"/>
          <p:cNvSpPr/>
          <p:nvPr/>
        </p:nvSpPr>
        <p:spPr>
          <a:xfrm>
            <a:off x="3805089" y="1849785"/>
            <a:ext cx="373425" cy="106710"/>
          </a:xfrm>
          <a:prstGeom prst="rect">
            <a:avLst/>
          </a:prstGeom>
          <a:noFill/>
          <a:ln/>
        </p:spPr>
        <p:txBody>
          <a:bodyPr wrap="none" lIns="0" tIns="0" rIns="0" bIns="0" rtlCol="0" anchor="ctr"/>
          <a:lstStyle/>
          <a:p>
            <a:pPr marL="0" indent="0" algn="l">
              <a:lnSpc>
                <a:spcPts val="1092"/>
              </a:lnSpc>
              <a:buNone/>
            </a:pPr>
            <a:r>
              <a:rPr lang="en-US" sz="728">
                <a:solidFill>
                  <a:srgbClr val="E8A020">
                    <a:alpha val="50000"/>
                  </a:srgbClr>
                </a:solidFill>
                <a:latin typeface="Calibri" pitchFamily="34" charset="0"/>
                <a:ea typeface="Calibri" pitchFamily="34" charset="-122"/>
                <a:cs typeface="Calibri" pitchFamily="34" charset="-120"/>
              </a:rPr>
              <a:t>30% Other</a:t>
            </a:r>
            <a:endParaRPr lang="en-US" sz="728"/>
          </a:p>
        </p:txBody>
      </p:sp>
      <p:sp>
        <p:nvSpPr>
          <p:cNvPr id="42" name="Text 35"/>
          <p:cNvSpPr/>
          <p:nvPr/>
        </p:nvSpPr>
        <p:spPr>
          <a:xfrm>
            <a:off x="2728168" y="2027486"/>
            <a:ext cx="1600932" cy="487092"/>
          </a:xfrm>
          <a:prstGeom prst="rect">
            <a:avLst/>
          </a:prstGeom>
          <a:noFill/>
          <a:ln/>
        </p:spPr>
        <p:txBody>
          <a:bodyPr wrap="square" lIns="0" tIns="0" rIns="0" bIns="0" rtlCol="0" anchor="t"/>
          <a:lstStyle/>
          <a:p>
            <a:pPr marL="0" indent="0" algn="l">
              <a:lnSpc>
                <a:spcPts val="1583"/>
              </a:lnSpc>
              <a:buNone/>
            </a:pPr>
            <a:r>
              <a:rPr lang="en-US" sz="1092">
                <a:solidFill>
                  <a:srgbClr val="64748B"/>
                </a:solidFill>
                <a:latin typeface="Calibri" pitchFamily="34" charset="0"/>
                <a:ea typeface="Calibri" pitchFamily="34" charset="-122"/>
                <a:cs typeface="Calibri" pitchFamily="34" charset="-120"/>
              </a:rPr>
              <a:t>Illustrative long-term portfolio goal — if you have one funder today, adding a second is real progress</a:t>
            </a:r>
            <a:endParaRPr lang="en-US" sz="1092"/>
          </a:p>
        </p:txBody>
      </p:sp>
      <p:sp>
        <p:nvSpPr>
          <p:cNvPr id="43" name="Text 36"/>
          <p:cNvSpPr/>
          <p:nvPr/>
        </p:nvSpPr>
        <p:spPr>
          <a:xfrm>
            <a:off x="2816870" y="4386114"/>
            <a:ext cx="877491" cy="118021"/>
          </a:xfrm>
          <a:prstGeom prst="rect">
            <a:avLst/>
          </a:prstGeom>
          <a:noFill/>
          <a:ln/>
        </p:spPr>
        <p:txBody>
          <a:bodyPr wrap="none" lIns="0" tIns="0" rIns="0" bIns="0" rtlCol="0" anchor="ctr"/>
          <a:lstStyle/>
          <a:p>
            <a:pPr marL="0" indent="0" algn="l">
              <a:lnSpc>
                <a:spcPts val="1209"/>
              </a:lnSpc>
              <a:buNone/>
            </a:pPr>
            <a:r>
              <a:rPr lang="en-US" sz="806" b="1" kern="0" spc="20">
                <a:solidFill>
                  <a:srgbClr val="E8A020">
                    <a:alpha val="70000"/>
                  </a:srgbClr>
                </a:solidFill>
                <a:latin typeface="Calibri" pitchFamily="34" charset="0"/>
                <a:ea typeface="Calibri" pitchFamily="34" charset="-122"/>
                <a:cs typeface="Calibri" pitchFamily="34" charset="-120"/>
              </a:rPr>
              <a:t>DIVERSIFICATION</a:t>
            </a:r>
            <a:endParaRPr lang="en-US" sz="806"/>
          </a:p>
        </p:txBody>
      </p:sp>
      <p:pic>
        <p:nvPicPr>
          <p:cNvPr id="44" name="Image 5" descr="preencoded.png"/>
          <p:cNvPicPr>
            <a:picLocks noChangeAspect="1"/>
          </p:cNvPicPr>
          <p:nvPr/>
        </p:nvPicPr>
        <p:blipFill>
          <a:blip>
            <a:alphaModFix amt="70000"/>
            <a:extLst>
              <a:ext uri="{96DAC541-7B7A-43D3-8B79-37D633B846F1}">
                <asvg:svgBlip xmlns:asvg="http://schemas.microsoft.com/office/drawing/2016/SVG/main" r:embed="rId8"/>
              </a:ext>
            </a:extLst>
          </a:blip>
          <a:stretch>
            <a:fillRect/>
          </a:stretch>
        </p:blipFill>
        <p:spPr>
          <a:xfrm>
            <a:off x="2688515" y="4378756"/>
            <a:ext cx="132588" cy="132588"/>
          </a:xfrm>
          <a:prstGeom prst="rect">
            <a:avLst/>
          </a:prstGeom>
        </p:spPr>
      </p:pic>
      <p:sp>
        <p:nvSpPr>
          <p:cNvPr id="45" name="Text 37"/>
          <p:cNvSpPr/>
          <p:nvPr/>
        </p:nvSpPr>
        <p:spPr>
          <a:xfrm>
            <a:off x="4635996" y="809625"/>
            <a:ext cx="1989832" cy="3904655"/>
          </a:xfrm>
          <a:prstGeom prst="roundRect">
            <a:avLst>
              <a:gd name="adj" fmla="val 4340"/>
            </a:avLst>
          </a:prstGeom>
          <a:solidFill>
            <a:srgbClr val="F0F4F8"/>
          </a:solidFill>
          <a:ln w="9525">
            <a:solidFill>
              <a:srgbClr val="E8A020">
                <a:alpha val="45000"/>
              </a:srgbClr>
            </a:solidFill>
          </a:ln>
        </p:spPr>
        <p:txBody>
          <a:bodyPr wrap="square" rtlCol="0" anchor="t"/>
          <a:lstStyle/>
          <a:p>
            <a:pPr marL="0" indent="0">
              <a:buNone/>
            </a:pPr>
            <a:endParaRPr lang="en-US" dirty="0"/>
          </a:p>
        </p:txBody>
      </p:sp>
      <p:sp>
        <p:nvSpPr>
          <p:cNvPr id="46" name="Text 38"/>
          <p:cNvSpPr/>
          <p:nvPr/>
        </p:nvSpPr>
        <p:spPr>
          <a:xfrm>
            <a:off x="4846141" y="1047750"/>
            <a:ext cx="257770" cy="25777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47"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08658" y="1110267"/>
            <a:ext cx="132588" cy="132588"/>
          </a:xfrm>
          <a:prstGeom prst="rect">
            <a:avLst/>
          </a:prstGeom>
        </p:spPr>
      </p:pic>
      <p:sp>
        <p:nvSpPr>
          <p:cNvPr id="48" name="Text 39"/>
          <p:cNvSpPr/>
          <p:nvPr/>
        </p:nvSpPr>
        <p:spPr>
          <a:xfrm>
            <a:off x="4846141" y="1405682"/>
            <a:ext cx="1648018" cy="372070"/>
          </a:xfrm>
          <a:prstGeom prst="rect">
            <a:avLst/>
          </a:prstGeom>
          <a:noFill/>
          <a:ln/>
        </p:spPr>
        <p:txBody>
          <a:bodyPr wrap="none" lIns="0" tIns="0" rIns="0" bIns="0" rtlCol="0" anchor="t"/>
          <a:lstStyle/>
          <a:p>
            <a:pPr marL="0" indent="0" algn="l">
              <a:lnSpc>
                <a:spcPts val="2930"/>
              </a:lnSpc>
              <a:buNone/>
            </a:pPr>
            <a:r>
              <a:rPr lang="en-US" sz="2930" b="1" kern="0" spc="-59" dirty="0">
                <a:solidFill>
                  <a:srgbClr val="E8A020"/>
                </a:solidFill>
                <a:latin typeface="Calibri" pitchFamily="34" charset="0"/>
                <a:ea typeface="Calibri" pitchFamily="34" charset="-122"/>
                <a:cs typeface="Calibri" pitchFamily="34" charset="-120"/>
              </a:rPr>
              <a:t>3+</a:t>
            </a:r>
            <a:endParaRPr lang="en-US" sz="2930" dirty="0"/>
          </a:p>
        </p:txBody>
      </p:sp>
      <p:sp>
        <p:nvSpPr>
          <p:cNvPr id="49" name="Text 40"/>
          <p:cNvSpPr/>
          <p:nvPr/>
        </p:nvSpPr>
        <p:spPr>
          <a:xfrm>
            <a:off x="4846141" y="1819573"/>
            <a:ext cx="1726496" cy="139005"/>
          </a:xfrm>
          <a:prstGeom prst="rect">
            <a:avLst/>
          </a:prstGeom>
          <a:noFill/>
          <a:ln/>
        </p:spPr>
        <p:txBody>
          <a:bodyPr wrap="none" lIns="0" tIns="0" rIns="0" bIns="0" rtlCol="0" anchor="t"/>
          <a:lstStyle/>
          <a:p>
            <a:pPr marL="0" indent="0" algn="l">
              <a:lnSpc>
                <a:spcPts val="1423"/>
              </a:lnSpc>
              <a:buNone/>
            </a:pPr>
            <a:r>
              <a:rPr lang="en-US" sz="949" b="1" kern="0" spc="30">
                <a:solidFill>
                  <a:srgbClr val="E8A020">
                    <a:alpha val="75000"/>
                  </a:srgbClr>
                </a:solidFill>
                <a:latin typeface="Calibri" pitchFamily="34" charset="0"/>
                <a:ea typeface="Calibri" pitchFamily="34" charset="-122"/>
                <a:cs typeface="Calibri" pitchFamily="34" charset="-120"/>
              </a:rPr>
              <a:t>BOARD MEMBERS</a:t>
            </a:r>
            <a:endParaRPr lang="en-US" sz="949"/>
          </a:p>
        </p:txBody>
      </p:sp>
      <p:sp>
        <p:nvSpPr>
          <p:cNvPr id="50" name="Text 41"/>
          <p:cNvSpPr/>
          <p:nvPr/>
        </p:nvSpPr>
        <p:spPr>
          <a:xfrm>
            <a:off x="4846141" y="2029569"/>
            <a:ext cx="1600932" cy="649456"/>
          </a:xfrm>
          <a:prstGeom prst="rect">
            <a:avLst/>
          </a:prstGeom>
          <a:noFill/>
          <a:ln/>
        </p:spPr>
        <p:txBody>
          <a:bodyPr wrap="square" lIns="0" tIns="0" rIns="0" bIns="0" rtlCol="0" anchor="t"/>
          <a:lstStyle/>
          <a:p>
            <a:pPr marL="0" indent="0" algn="l">
              <a:lnSpc>
                <a:spcPts val="1583"/>
              </a:lnSpc>
              <a:buNone/>
            </a:pPr>
            <a:r>
              <a:rPr lang="en-US" sz="1092">
                <a:solidFill>
                  <a:srgbClr val="64748B"/>
                </a:solidFill>
                <a:latin typeface="Calibri" pitchFamily="34" charset="0"/>
                <a:ea typeface="Calibri" pitchFamily="34" charset="-122"/>
                <a:cs typeface="Calibri" pitchFamily="34" charset="-120"/>
              </a:rPr>
              <a:t>For a small volunteer board, even one champion who understands your funding picture is a strong starting point</a:t>
            </a:r>
            <a:endParaRPr lang="en-US" sz="1092"/>
          </a:p>
        </p:txBody>
      </p:sp>
      <p:sp>
        <p:nvSpPr>
          <p:cNvPr id="51" name="Text 42"/>
          <p:cNvSpPr/>
          <p:nvPr/>
        </p:nvSpPr>
        <p:spPr>
          <a:xfrm>
            <a:off x="4934843" y="4386114"/>
            <a:ext cx="706249" cy="118021"/>
          </a:xfrm>
          <a:prstGeom prst="rect">
            <a:avLst/>
          </a:prstGeom>
          <a:noFill/>
          <a:ln/>
        </p:spPr>
        <p:txBody>
          <a:bodyPr wrap="none" lIns="0" tIns="0" rIns="0" bIns="0" rtlCol="0" anchor="ctr"/>
          <a:lstStyle/>
          <a:p>
            <a:pPr marL="0" indent="0" algn="l">
              <a:lnSpc>
                <a:spcPts val="1209"/>
              </a:lnSpc>
              <a:buNone/>
            </a:pPr>
            <a:r>
              <a:rPr lang="en-US" sz="806" b="1" kern="0" spc="20">
                <a:solidFill>
                  <a:srgbClr val="E8A020">
                    <a:alpha val="70000"/>
                  </a:srgbClr>
                </a:solidFill>
                <a:latin typeface="Calibri" pitchFamily="34" charset="0"/>
                <a:ea typeface="Calibri" pitchFamily="34" charset="-122"/>
                <a:cs typeface="Calibri" pitchFamily="34" charset="-120"/>
              </a:rPr>
              <a:t>GOVERNANCE</a:t>
            </a:r>
            <a:endParaRPr lang="en-US" sz="806"/>
          </a:p>
        </p:txBody>
      </p:sp>
      <p:pic>
        <p:nvPicPr>
          <p:cNvPr id="52" name="Image 7" descr="preencoded.png"/>
          <p:cNvPicPr>
            <a:picLocks noChangeAspect="1"/>
          </p:cNvPicPr>
          <p:nvPr/>
        </p:nvPicPr>
        <p:blipFill>
          <a:blip>
            <a:alphaModFix amt="70000"/>
            <a:extLst>
              <a:ext uri="{96DAC541-7B7A-43D3-8B79-37D633B846F1}">
                <asvg:svgBlip xmlns:asvg="http://schemas.microsoft.com/office/drawing/2016/SVG/main" r:embed="rId10"/>
              </a:ext>
            </a:extLst>
          </a:blip>
          <a:stretch>
            <a:fillRect/>
          </a:stretch>
        </p:blipFill>
        <p:spPr>
          <a:xfrm>
            <a:off x="4806488" y="4378756"/>
            <a:ext cx="132588" cy="132588"/>
          </a:xfrm>
          <a:prstGeom prst="rect">
            <a:avLst/>
          </a:prstGeom>
        </p:spPr>
      </p:pic>
      <p:sp>
        <p:nvSpPr>
          <p:cNvPr id="53" name="Text 43"/>
          <p:cNvSpPr/>
          <p:nvPr/>
        </p:nvSpPr>
        <p:spPr>
          <a:xfrm>
            <a:off x="6753969" y="809625"/>
            <a:ext cx="1989981" cy="3904655"/>
          </a:xfrm>
          <a:prstGeom prst="roundRect">
            <a:avLst>
              <a:gd name="adj" fmla="val 4340"/>
            </a:avLst>
          </a:prstGeom>
          <a:solidFill>
            <a:srgbClr val="F0F4F8"/>
          </a:solidFill>
          <a:ln w="9525">
            <a:solidFill>
              <a:srgbClr val="E8A020">
                <a:alpha val="45000"/>
              </a:srgbClr>
            </a:solidFill>
          </a:ln>
        </p:spPr>
        <p:txBody>
          <a:bodyPr wrap="square" rtlCol="0" anchor="t"/>
          <a:lstStyle/>
          <a:p>
            <a:pPr marL="0" indent="0">
              <a:buNone/>
            </a:pPr>
            <a:endParaRPr lang="en-US" dirty="0"/>
          </a:p>
        </p:txBody>
      </p:sp>
      <p:sp>
        <p:nvSpPr>
          <p:cNvPr id="54" name="Text 44"/>
          <p:cNvSpPr/>
          <p:nvPr/>
        </p:nvSpPr>
        <p:spPr>
          <a:xfrm>
            <a:off x="6964114" y="1047750"/>
            <a:ext cx="257770" cy="257770"/>
          </a:xfrm>
          <a:prstGeom prst="roundRect">
            <a:avLst>
              <a:gd name="adj" fmla="val 22171"/>
            </a:avLst>
          </a:prstGeom>
          <a:solidFill>
            <a:srgbClr val="E8A020">
              <a:alpha val="15000"/>
            </a:srgbClr>
          </a:solidFill>
          <a:ln/>
        </p:spPr>
        <p:txBody>
          <a:bodyPr wrap="none" rtlCol="0" anchor="t"/>
          <a:lstStyle/>
          <a:p>
            <a:pPr marL="0" indent="0">
              <a:buNone/>
            </a:pPr>
            <a:endParaRPr lang="en-US" dirty="0"/>
          </a:p>
        </p:txBody>
      </p:sp>
      <p:pic>
        <p:nvPicPr>
          <p:cNvPr id="55"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026631" y="1110267"/>
            <a:ext cx="132588" cy="132588"/>
          </a:xfrm>
          <a:prstGeom prst="rect">
            <a:avLst/>
          </a:prstGeom>
        </p:spPr>
      </p:pic>
      <p:sp>
        <p:nvSpPr>
          <p:cNvPr id="56" name="Text 45"/>
          <p:cNvSpPr/>
          <p:nvPr/>
        </p:nvSpPr>
        <p:spPr>
          <a:xfrm>
            <a:off x="6964114" y="1405682"/>
            <a:ext cx="1648175" cy="372070"/>
          </a:xfrm>
          <a:prstGeom prst="rect">
            <a:avLst/>
          </a:prstGeom>
          <a:noFill/>
          <a:ln/>
        </p:spPr>
        <p:txBody>
          <a:bodyPr wrap="none" lIns="0" tIns="0" rIns="0" bIns="0" rtlCol="0" anchor="t"/>
          <a:lstStyle/>
          <a:p>
            <a:pPr marL="0" indent="0" algn="l">
              <a:lnSpc>
                <a:spcPts val="2930"/>
              </a:lnSpc>
              <a:buNone/>
            </a:pPr>
            <a:r>
              <a:rPr lang="en-US" sz="2930" b="1" kern="0" spc="-59" dirty="0">
                <a:solidFill>
                  <a:srgbClr val="E8A020"/>
                </a:solidFill>
                <a:latin typeface="Calibri" pitchFamily="34" charset="0"/>
                <a:ea typeface="Calibri" pitchFamily="34" charset="-122"/>
                <a:cs typeface="Calibri" pitchFamily="34" charset="-120"/>
              </a:rPr>
              <a:t>1×</a:t>
            </a:r>
            <a:endParaRPr lang="en-US" sz="2930" dirty="0"/>
          </a:p>
        </p:txBody>
      </p:sp>
      <p:sp>
        <p:nvSpPr>
          <p:cNvPr id="57" name="Text 46"/>
          <p:cNvSpPr/>
          <p:nvPr/>
        </p:nvSpPr>
        <p:spPr>
          <a:xfrm>
            <a:off x="6964114" y="1819573"/>
            <a:ext cx="1726659" cy="139005"/>
          </a:xfrm>
          <a:prstGeom prst="rect">
            <a:avLst/>
          </a:prstGeom>
          <a:noFill/>
          <a:ln/>
        </p:spPr>
        <p:txBody>
          <a:bodyPr wrap="none" lIns="0" tIns="0" rIns="0" bIns="0" rtlCol="0" anchor="t"/>
          <a:lstStyle/>
          <a:p>
            <a:pPr marL="0" indent="0" algn="l">
              <a:lnSpc>
                <a:spcPts val="1423"/>
              </a:lnSpc>
              <a:buNone/>
            </a:pPr>
            <a:r>
              <a:rPr lang="en-US" sz="949" b="1" kern="0" spc="30">
                <a:solidFill>
                  <a:srgbClr val="E8A020">
                    <a:alpha val="75000"/>
                  </a:srgbClr>
                </a:solidFill>
                <a:latin typeface="Calibri" pitchFamily="34" charset="0"/>
                <a:ea typeface="Calibri" pitchFamily="34" charset="-122"/>
                <a:cs typeface="Calibri" pitchFamily="34" charset="-120"/>
              </a:rPr>
              <a:t>ANNUALLY</a:t>
            </a:r>
            <a:endParaRPr lang="en-US" sz="949"/>
          </a:p>
        </p:txBody>
      </p:sp>
      <p:sp>
        <p:nvSpPr>
          <p:cNvPr id="58" name="Text 47"/>
          <p:cNvSpPr/>
          <p:nvPr/>
        </p:nvSpPr>
        <p:spPr>
          <a:xfrm>
            <a:off x="6964114" y="2029569"/>
            <a:ext cx="1601084" cy="649456"/>
          </a:xfrm>
          <a:prstGeom prst="rect">
            <a:avLst/>
          </a:prstGeom>
          <a:noFill/>
          <a:ln/>
        </p:spPr>
        <p:txBody>
          <a:bodyPr wrap="square" lIns="0" tIns="0" rIns="0" bIns="0" rtlCol="0" anchor="t"/>
          <a:lstStyle/>
          <a:p>
            <a:pPr marL="0" indent="0" algn="l">
              <a:lnSpc>
                <a:spcPts val="1583"/>
              </a:lnSpc>
              <a:buNone/>
            </a:pPr>
            <a:r>
              <a:rPr lang="en-US" sz="1092">
                <a:solidFill>
                  <a:srgbClr val="64748B"/>
                </a:solidFill>
                <a:latin typeface="Calibri" pitchFamily="34" charset="0"/>
                <a:ea typeface="Calibri" pitchFamily="34" charset="-122"/>
                <a:cs typeface="Calibri" pitchFamily="34" charset="-120"/>
              </a:rPr>
              <a:t>A brief annual check-in on funding health — even a 2-page self-assessment counts for a 2–5 staff organization</a:t>
            </a:r>
            <a:endParaRPr lang="en-US" sz="1092"/>
          </a:p>
        </p:txBody>
      </p:sp>
      <p:sp>
        <p:nvSpPr>
          <p:cNvPr id="59" name="Text 48"/>
          <p:cNvSpPr/>
          <p:nvPr/>
        </p:nvSpPr>
        <p:spPr>
          <a:xfrm>
            <a:off x="7052816" y="4386114"/>
            <a:ext cx="857027" cy="118021"/>
          </a:xfrm>
          <a:prstGeom prst="rect">
            <a:avLst/>
          </a:prstGeom>
          <a:noFill/>
          <a:ln/>
        </p:spPr>
        <p:txBody>
          <a:bodyPr wrap="none" lIns="0" tIns="0" rIns="0" bIns="0" rtlCol="0" anchor="ctr"/>
          <a:lstStyle/>
          <a:p>
            <a:pPr marL="0" indent="0" algn="l">
              <a:lnSpc>
                <a:spcPts val="1209"/>
              </a:lnSpc>
              <a:buNone/>
            </a:pPr>
            <a:r>
              <a:rPr lang="en-US" sz="806" b="1" kern="0" spc="20">
                <a:solidFill>
                  <a:srgbClr val="E8A020">
                    <a:alpha val="70000"/>
                  </a:srgbClr>
                </a:solidFill>
                <a:latin typeface="Calibri" pitchFamily="34" charset="0"/>
                <a:ea typeface="Calibri" pitchFamily="34" charset="-122"/>
                <a:cs typeface="Calibri" pitchFamily="34" charset="-120"/>
              </a:rPr>
              <a:t>FSR CADENCE</a:t>
            </a:r>
            <a:endParaRPr lang="en-US" sz="806"/>
          </a:p>
        </p:txBody>
      </p:sp>
      <p:pic>
        <p:nvPicPr>
          <p:cNvPr id="60" name="Image 9" descr="preencoded.png"/>
          <p:cNvPicPr>
            <a:picLocks noChangeAspect="1"/>
          </p:cNvPicPr>
          <p:nvPr/>
        </p:nvPicPr>
        <p:blipFill>
          <a:blip>
            <a:alphaModFix amt="70000"/>
            <a:extLst>
              <a:ext uri="{96DAC541-7B7A-43D3-8B79-37D633B846F1}">
                <asvg:svgBlip xmlns:asvg="http://schemas.microsoft.com/office/drawing/2016/SVG/main" r:embed="rId12"/>
              </a:ext>
            </a:extLst>
          </a:blip>
          <a:stretch>
            <a:fillRect/>
          </a:stretch>
        </p:blipFill>
        <p:spPr>
          <a:xfrm>
            <a:off x="6924461" y="4378756"/>
            <a:ext cx="132588" cy="13258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Learning Check 3.1">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3</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1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 small fatherhood program with 3 staff members currently operates on a single $250,000 OFA grant that covers 95% of its annual budget. The program director wants to work toward funding sustainability but feels overwhelmed by the benchmarks. Based on the sustainability framework, what is the MOST realistic and impactful first step?</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Immediately restructure the budget to achieve the 40/30/30 federal-foundation-other portfolio split</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Build a 6–12 month operating reserve before attempting any funding diversification</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Recruit 3 or more board members with funding expertise before pursuing new grants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Add even one additional funding source — moving from total single-funder dependence is meaningful progress toward diversification</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3.1</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Learning Check 3.2">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3</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2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 fatherhood program coordinator has been the sole person responsible for all grant writing, funder research, and compliance reporting for three years. The program director wants to embed FSR into the organizational culture rather than keeping it as one person’s job. Which strategy BEST reflects the ‘Embed FSR in Culture’ building block?</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Hire a dedicated grant writer so the coordinator can focus on funder research exclusively</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Train all program staff to identify and flag funding opportunities as part of their regular work — making surveillance everyone’s responsibility</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Create a quarterly internal newsletter summarizing available grants for staff awareness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Ask the board of directors to assume primary responsibility for environmental scanning activities</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3.2</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Learning Check 3.3">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r>
              <a:rPr lang="en-US" dirty="0"/>
              <a:t> as</a:t>
            </a:r>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3</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3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 Responsible Fatherhood program reviews its sustainability dashboard after one year of tracking. The data shows: 2-month operating reserve, two funding sources (OFA at 70%, one foundation at 30%), 1 board member engaged in funding strategy, and no formal FSR system review completed. Which benchmark gap represents the GREATEST immediate strategic vulnerability?</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The 70/30 funding concentration — because losing the dominant funder would threaten the organization’s survival</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The 2-month operating reserve — because it falls well below the 6–12 month target</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Having only 1 board member engaged — because governance oversight of funding strategy is insufficient</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The missing annual FSR review — because the system can’t improve without formal recalibration</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3.3</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000000">
                  <a:alpha val="0"/>
                </a:srgbClr>
              </a:gs>
              <a:gs pos="50000">
                <a:srgbClr val="000000">
                  <a:alpha val="0"/>
                </a:srgbClr>
              </a:gs>
              <a:gs pos="100000">
                <a:srgbClr val="FFFFFF">
                  <a:alpha val="1000"/>
                </a:srgbClr>
              </a:gs>
            </a:gsLst>
            <a:lin ang="5400000" scaled="1"/>
          </a:gradFill>
          <a:ln/>
        </p:spPr>
        <p:txBody>
          <a:bodyPr wrap="square" rtlCol="0" anchor="t"/>
          <a:lstStyle/>
          <a:p>
            <a:pPr marL="0" indent="0">
              <a:buNone/>
            </a:pPr>
            <a:endParaRPr lang="en-US" dirty="0"/>
          </a:p>
        </p:txBody>
      </p:sp>
      <p:sp>
        <p:nvSpPr>
          <p:cNvPr id="3" name="Text 1"/>
          <p:cNvSpPr/>
          <p:nvPr/>
        </p:nvSpPr>
        <p:spPr>
          <a:xfrm>
            <a:off x="4572000" y="2571750"/>
            <a:ext cx="3429000" cy="2571750"/>
          </a:xfrm>
          <a:prstGeom prst="rect">
            <a:avLst/>
          </a:prstGeom>
          <a:gradFill rotWithShape="1">
            <a:gsLst>
              <a:gs pos="0">
                <a:srgbClr val="E8A020">
                  <a:alpha val="10000"/>
                </a:srgbClr>
              </a:gs>
              <a:gs pos="45000">
                <a:srgbClr val="E8A020">
                  <a:alpha val="4000"/>
                </a:srgbClr>
              </a:gs>
              <a:gs pos="72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4" name="Text 2"/>
          <p:cNvSpPr/>
          <p:nvPr/>
        </p:nvSpPr>
        <p:spPr>
          <a:xfrm>
            <a:off x="0" y="2567955"/>
            <a:ext cx="2286000" cy="7590"/>
          </a:xfrm>
          <a:prstGeom prst="rect">
            <a:avLst/>
          </a:prstGeom>
          <a:gradFill rotWithShape="1">
            <a:gsLst>
              <a:gs pos="0">
                <a:srgbClr val="000000">
                  <a:alpha val="0"/>
                </a:srgbClr>
              </a:gs>
              <a:gs pos="50000">
                <a:srgbClr val="E8A020">
                  <a:alpha val="18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6858000" y="2567955"/>
            <a:ext cx="2286000" cy="7590"/>
          </a:xfrm>
          <a:prstGeom prst="rect">
            <a:avLst/>
          </a:prstGeom>
          <a:gradFill rotWithShape="1">
            <a:gsLst>
              <a:gs pos="0">
                <a:srgbClr val="000000">
                  <a:alpha val="0"/>
                </a:srgbClr>
              </a:gs>
              <a:gs pos="50000">
                <a:srgbClr val="E8A020">
                  <a:alpha val="18000"/>
                </a:srgbClr>
              </a:gs>
              <a:gs pos="100000">
                <a:srgbClr val="000000">
                  <a:alpha val="0"/>
                </a:srgbClr>
              </a:gs>
            </a:gsLst>
            <a:lin ang="10800000" scaled="1"/>
          </a:gradFill>
          <a:ln/>
        </p:spPr>
        <p:txBody>
          <a:bodyPr wrap="none" rtlCol="0" anchor="t"/>
          <a:lstStyle/>
          <a:p>
            <a:pPr marL="0" indent="0">
              <a:buNone/>
            </a:pPr>
            <a:endParaRPr lang="en-US" dirty="0"/>
          </a:p>
        </p:txBody>
      </p:sp>
      <p:sp>
        <p:nvSpPr>
          <p:cNvPr id="6" name="Text 4"/>
          <p:cNvSpPr/>
          <p:nvPr/>
        </p:nvSpPr>
        <p:spPr>
          <a:xfrm>
            <a:off x="0" y="0"/>
            <a:ext cx="35421" cy="5143500"/>
          </a:xfrm>
          <a:prstGeom prst="rect">
            <a:avLst/>
          </a:prstGeom>
          <a:gradFill rotWithShape="1">
            <a:gsLst>
              <a:gs pos="0">
                <a:srgbClr val="000000">
                  <a:alpha val="0"/>
                </a:srgbClr>
              </a:gs>
              <a:gs pos="30000">
                <a:srgbClr val="E8A020">
                  <a:alpha val="70000"/>
                </a:srgbClr>
              </a:gs>
              <a:gs pos="70000">
                <a:srgbClr val="E8A020">
                  <a:alpha val="70000"/>
                </a:srgbClr>
              </a:gs>
              <a:gs pos="100000">
                <a:srgbClr val="000000">
                  <a:alpha val="0"/>
                </a:srgbClr>
              </a:gs>
            </a:gsLst>
            <a:lin ang="5400000" scaled="1"/>
          </a:gradFill>
          <a:ln/>
        </p:spPr>
        <p:txBody>
          <a:bodyPr wrap="square" rtlCol="0" anchor="t"/>
          <a:lstStyle/>
          <a:p>
            <a:pPr marL="0" indent="0">
              <a:buNone/>
            </a:pPr>
            <a:endParaRPr lang="en-US" dirty="0"/>
          </a:p>
        </p:txBody>
      </p:sp>
      <p:sp>
        <p:nvSpPr>
          <p:cNvPr id="7" name="Text 5"/>
          <p:cNvSpPr/>
          <p:nvPr/>
        </p:nvSpPr>
        <p:spPr>
          <a:xfrm>
            <a:off x="8848725" y="4514850"/>
            <a:ext cx="9525" cy="342900"/>
          </a:xfrm>
          <a:prstGeom prst="rect">
            <a:avLst/>
          </a:prstGeom>
          <a:solidFill>
            <a:srgbClr val="E8A020">
              <a:alpha val="40000"/>
            </a:srgbClr>
          </a:solidFill>
          <a:ln/>
        </p:spPr>
        <p:txBody>
          <a:bodyPr wrap="square" rtlCol="0" anchor="t"/>
          <a:lstStyle/>
          <a:p>
            <a:pPr marL="0" indent="0">
              <a:buNone/>
            </a:pPr>
            <a:endParaRPr lang="en-US" dirty="0"/>
          </a:p>
        </p:txBody>
      </p:sp>
      <p:sp>
        <p:nvSpPr>
          <p:cNvPr id="8" name="Text 6"/>
          <p:cNvSpPr/>
          <p:nvPr/>
        </p:nvSpPr>
        <p:spPr>
          <a:xfrm>
            <a:off x="468511" y="2132633"/>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9" name="Text 7"/>
          <p:cNvSpPr/>
          <p:nvPr/>
        </p:nvSpPr>
        <p:spPr>
          <a:xfrm>
            <a:off x="639812" y="2132633"/>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10" name="Text 8"/>
          <p:cNvSpPr/>
          <p:nvPr/>
        </p:nvSpPr>
        <p:spPr>
          <a:xfrm>
            <a:off x="811113" y="2132633"/>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11" name="Text 9"/>
          <p:cNvSpPr/>
          <p:nvPr/>
        </p:nvSpPr>
        <p:spPr>
          <a:xfrm>
            <a:off x="982414" y="2132633"/>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12" name="Text 10"/>
          <p:cNvSpPr/>
          <p:nvPr/>
        </p:nvSpPr>
        <p:spPr>
          <a:xfrm>
            <a:off x="468511" y="2303934"/>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13" name="Text 11"/>
          <p:cNvSpPr/>
          <p:nvPr/>
        </p:nvSpPr>
        <p:spPr>
          <a:xfrm>
            <a:off x="639812" y="2303934"/>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14" name="Text 12"/>
          <p:cNvSpPr/>
          <p:nvPr/>
        </p:nvSpPr>
        <p:spPr>
          <a:xfrm>
            <a:off x="811113" y="2303934"/>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15" name="Text 13"/>
          <p:cNvSpPr/>
          <p:nvPr/>
        </p:nvSpPr>
        <p:spPr>
          <a:xfrm>
            <a:off x="982414" y="2303934"/>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16" name="Text 14"/>
          <p:cNvSpPr/>
          <p:nvPr/>
        </p:nvSpPr>
        <p:spPr>
          <a:xfrm>
            <a:off x="468511" y="2475235"/>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17" name="Text 15"/>
          <p:cNvSpPr/>
          <p:nvPr/>
        </p:nvSpPr>
        <p:spPr>
          <a:xfrm>
            <a:off x="639812" y="2475235"/>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18" name="Text 16"/>
          <p:cNvSpPr/>
          <p:nvPr/>
        </p:nvSpPr>
        <p:spPr>
          <a:xfrm>
            <a:off x="811113" y="2475235"/>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19" name="Text 17"/>
          <p:cNvSpPr/>
          <p:nvPr/>
        </p:nvSpPr>
        <p:spPr>
          <a:xfrm>
            <a:off x="982414" y="2475235"/>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20" name="Text 18"/>
          <p:cNvSpPr/>
          <p:nvPr/>
        </p:nvSpPr>
        <p:spPr>
          <a:xfrm>
            <a:off x="468511" y="2646536"/>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21" name="Text 19"/>
          <p:cNvSpPr/>
          <p:nvPr/>
        </p:nvSpPr>
        <p:spPr>
          <a:xfrm>
            <a:off x="639812" y="2646536"/>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22" name="Text 20"/>
          <p:cNvSpPr/>
          <p:nvPr/>
        </p:nvSpPr>
        <p:spPr>
          <a:xfrm>
            <a:off x="811113" y="2646536"/>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23" name="Text 21"/>
          <p:cNvSpPr/>
          <p:nvPr/>
        </p:nvSpPr>
        <p:spPr>
          <a:xfrm>
            <a:off x="982414" y="2646536"/>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24" name="Text 22"/>
          <p:cNvSpPr/>
          <p:nvPr/>
        </p:nvSpPr>
        <p:spPr>
          <a:xfrm>
            <a:off x="468511" y="2817837"/>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25" name="Text 23"/>
          <p:cNvSpPr/>
          <p:nvPr/>
        </p:nvSpPr>
        <p:spPr>
          <a:xfrm>
            <a:off x="639812" y="2817837"/>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26" name="Text 24"/>
          <p:cNvSpPr/>
          <p:nvPr/>
        </p:nvSpPr>
        <p:spPr>
          <a:xfrm>
            <a:off x="811113" y="2817837"/>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27" name="Text 25"/>
          <p:cNvSpPr/>
          <p:nvPr/>
        </p:nvSpPr>
        <p:spPr>
          <a:xfrm>
            <a:off x="982414" y="2817837"/>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28" name="Text 26"/>
          <p:cNvSpPr/>
          <p:nvPr/>
        </p:nvSpPr>
        <p:spPr>
          <a:xfrm>
            <a:off x="468511" y="2989138"/>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29" name="Text 27"/>
          <p:cNvSpPr/>
          <p:nvPr/>
        </p:nvSpPr>
        <p:spPr>
          <a:xfrm>
            <a:off x="639812" y="2989138"/>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30" name="Text 28"/>
          <p:cNvSpPr/>
          <p:nvPr/>
        </p:nvSpPr>
        <p:spPr>
          <a:xfrm>
            <a:off x="811113" y="2989138"/>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31" name="Text 29"/>
          <p:cNvSpPr/>
          <p:nvPr/>
        </p:nvSpPr>
        <p:spPr>
          <a:xfrm>
            <a:off x="982414" y="2989138"/>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32" name="Text 30"/>
          <p:cNvSpPr/>
          <p:nvPr/>
        </p:nvSpPr>
        <p:spPr>
          <a:xfrm>
            <a:off x="8139857" y="2132633"/>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33" name="Text 31"/>
          <p:cNvSpPr/>
          <p:nvPr/>
        </p:nvSpPr>
        <p:spPr>
          <a:xfrm>
            <a:off x="8311158" y="2132633"/>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34" name="Text 32"/>
          <p:cNvSpPr/>
          <p:nvPr/>
        </p:nvSpPr>
        <p:spPr>
          <a:xfrm>
            <a:off x="8482459" y="2132633"/>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35" name="Text 33"/>
          <p:cNvSpPr/>
          <p:nvPr/>
        </p:nvSpPr>
        <p:spPr>
          <a:xfrm>
            <a:off x="8653760" y="2132633"/>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36" name="Text 34"/>
          <p:cNvSpPr/>
          <p:nvPr/>
        </p:nvSpPr>
        <p:spPr>
          <a:xfrm>
            <a:off x="8139857" y="2303934"/>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37" name="Text 35"/>
          <p:cNvSpPr/>
          <p:nvPr/>
        </p:nvSpPr>
        <p:spPr>
          <a:xfrm>
            <a:off x="8311158" y="2303934"/>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38" name="Text 36"/>
          <p:cNvSpPr/>
          <p:nvPr/>
        </p:nvSpPr>
        <p:spPr>
          <a:xfrm>
            <a:off x="8482459" y="2303934"/>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39" name="Text 37"/>
          <p:cNvSpPr/>
          <p:nvPr/>
        </p:nvSpPr>
        <p:spPr>
          <a:xfrm>
            <a:off x="8653760" y="2303934"/>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40" name="Text 38"/>
          <p:cNvSpPr/>
          <p:nvPr/>
        </p:nvSpPr>
        <p:spPr>
          <a:xfrm>
            <a:off x="8139857" y="2475235"/>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41" name="Text 39"/>
          <p:cNvSpPr/>
          <p:nvPr/>
        </p:nvSpPr>
        <p:spPr>
          <a:xfrm>
            <a:off x="8311158" y="2475235"/>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42" name="Text 40"/>
          <p:cNvSpPr/>
          <p:nvPr/>
        </p:nvSpPr>
        <p:spPr>
          <a:xfrm>
            <a:off x="8482459" y="2475235"/>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43" name="Text 41"/>
          <p:cNvSpPr/>
          <p:nvPr/>
        </p:nvSpPr>
        <p:spPr>
          <a:xfrm>
            <a:off x="8653760" y="2475235"/>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44" name="Text 42"/>
          <p:cNvSpPr/>
          <p:nvPr/>
        </p:nvSpPr>
        <p:spPr>
          <a:xfrm>
            <a:off x="8139857" y="2646536"/>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45" name="Text 43"/>
          <p:cNvSpPr/>
          <p:nvPr/>
        </p:nvSpPr>
        <p:spPr>
          <a:xfrm>
            <a:off x="8311158" y="2646536"/>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46" name="Text 44"/>
          <p:cNvSpPr/>
          <p:nvPr/>
        </p:nvSpPr>
        <p:spPr>
          <a:xfrm>
            <a:off x="8482459" y="2646536"/>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47" name="Text 45"/>
          <p:cNvSpPr/>
          <p:nvPr/>
        </p:nvSpPr>
        <p:spPr>
          <a:xfrm>
            <a:off x="8653760" y="2646536"/>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48" name="Text 46"/>
          <p:cNvSpPr/>
          <p:nvPr/>
        </p:nvSpPr>
        <p:spPr>
          <a:xfrm>
            <a:off x="8139857" y="2817837"/>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49" name="Text 47"/>
          <p:cNvSpPr/>
          <p:nvPr/>
        </p:nvSpPr>
        <p:spPr>
          <a:xfrm>
            <a:off x="8311158" y="2817837"/>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50" name="Text 48"/>
          <p:cNvSpPr/>
          <p:nvPr/>
        </p:nvSpPr>
        <p:spPr>
          <a:xfrm>
            <a:off x="8482459" y="2817837"/>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51" name="Text 49"/>
          <p:cNvSpPr/>
          <p:nvPr/>
        </p:nvSpPr>
        <p:spPr>
          <a:xfrm>
            <a:off x="8653760" y="2817837"/>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52" name="Text 50"/>
          <p:cNvSpPr/>
          <p:nvPr/>
        </p:nvSpPr>
        <p:spPr>
          <a:xfrm>
            <a:off x="8139857" y="2989138"/>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53" name="Text 51"/>
          <p:cNvSpPr/>
          <p:nvPr/>
        </p:nvSpPr>
        <p:spPr>
          <a:xfrm>
            <a:off x="8311158" y="2989138"/>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54" name="Text 52"/>
          <p:cNvSpPr/>
          <p:nvPr/>
        </p:nvSpPr>
        <p:spPr>
          <a:xfrm>
            <a:off x="8482459" y="2989138"/>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55" name="Text 53"/>
          <p:cNvSpPr/>
          <p:nvPr/>
        </p:nvSpPr>
        <p:spPr>
          <a:xfrm>
            <a:off x="8653760" y="2989138"/>
            <a:ext cx="21580" cy="21580"/>
          </a:xfrm>
          <a:prstGeom prst="ellipse">
            <a:avLst/>
          </a:prstGeom>
          <a:solidFill>
            <a:srgbClr val="E8A020">
              <a:alpha val="12000"/>
            </a:srgbClr>
          </a:solidFill>
          <a:ln/>
        </p:spPr>
        <p:txBody>
          <a:bodyPr wrap="none" rtlCol="0" anchor="t"/>
          <a:lstStyle/>
          <a:p>
            <a:pPr marL="0" indent="0">
              <a:buNone/>
            </a:pPr>
            <a:endParaRPr lang="en-US" dirty="0"/>
          </a:p>
        </p:txBody>
      </p:sp>
      <p:sp>
        <p:nvSpPr>
          <p:cNvPr id="56" name="Text 54"/>
          <p:cNvSpPr/>
          <p:nvPr/>
        </p:nvSpPr>
        <p:spPr>
          <a:xfrm>
            <a:off x="8334375" y="257770"/>
            <a:ext cx="481310" cy="118021"/>
          </a:xfrm>
          <a:prstGeom prst="rect">
            <a:avLst/>
          </a:prstGeom>
          <a:noFill/>
          <a:ln/>
        </p:spPr>
        <p:txBody>
          <a:bodyPr wrap="none" lIns="0" tIns="0" rIns="0" bIns="0" rtlCol="0" anchor="t"/>
          <a:lstStyle/>
          <a:p>
            <a:pPr marL="0" indent="0" algn="l">
              <a:lnSpc>
                <a:spcPts val="930"/>
              </a:lnSpc>
              <a:buNone/>
            </a:pPr>
            <a:r>
              <a:rPr lang="en-US" sz="620" kern="0" spc="99" dirty="0">
                <a:solidFill>
                  <a:srgbClr val="8FA3C8"/>
                </a:solidFill>
                <a:latin typeface="Calibri" pitchFamily="34" charset="0"/>
                <a:ea typeface="Calibri" pitchFamily="34" charset="-122"/>
                <a:cs typeface="Calibri" pitchFamily="34" charset="-120"/>
              </a:rPr>
              <a:t>SECTION</a:t>
            </a:r>
            <a:endParaRPr lang="en-US" sz="620" dirty="0"/>
          </a:p>
        </p:txBody>
      </p:sp>
      <p:sp>
        <p:nvSpPr>
          <p:cNvPr id="57" name="Text 55"/>
          <p:cNvSpPr/>
          <p:nvPr/>
        </p:nvSpPr>
        <p:spPr>
          <a:xfrm>
            <a:off x="8216652" y="404961"/>
            <a:ext cx="610806" cy="159990"/>
          </a:xfrm>
          <a:prstGeom prst="rect">
            <a:avLst/>
          </a:prstGeom>
          <a:noFill/>
          <a:ln/>
        </p:spPr>
        <p:txBody>
          <a:bodyPr wrap="none" lIns="0" tIns="0" rIns="0" bIns="0" rtlCol="0" anchor="t"/>
          <a:lstStyle/>
          <a:p>
            <a:pPr marL="0" indent="0" algn="l">
              <a:lnSpc>
                <a:spcPts val="1260"/>
              </a:lnSpc>
              <a:buNone/>
            </a:pPr>
            <a:r>
              <a:rPr lang="en-US" sz="840" kern="0" spc="50" dirty="0">
                <a:solidFill>
                  <a:srgbClr val="E8A020"/>
                </a:solidFill>
                <a:latin typeface="Calibri Light" pitchFamily="34" charset="0"/>
                <a:ea typeface="Calibri Light" pitchFamily="34" charset="-122"/>
                <a:cs typeface="Calibri Light" pitchFamily="34" charset="-120"/>
              </a:rPr>
              <a:t>Min 50–67</a:t>
            </a:r>
            <a:endParaRPr lang="en-US" sz="840" dirty="0"/>
          </a:p>
        </p:txBody>
      </p:sp>
      <p:sp>
        <p:nvSpPr>
          <p:cNvPr id="58" name="Text 56"/>
          <p:cNvSpPr/>
          <p:nvPr/>
        </p:nvSpPr>
        <p:spPr>
          <a:xfrm>
            <a:off x="8216652" y="607963"/>
            <a:ext cx="555278" cy="7590"/>
          </a:xfrm>
          <a:prstGeom prst="rect">
            <a:avLst/>
          </a:prstGeom>
          <a:solidFill>
            <a:srgbClr val="E8A020">
              <a:alpha val="40000"/>
            </a:srgbClr>
          </a:solidFill>
          <a:ln/>
        </p:spPr>
        <p:txBody>
          <a:bodyPr wrap="none" rtlCol="0" anchor="t"/>
          <a:lstStyle/>
          <a:p>
            <a:pPr marL="0" indent="0">
              <a:buNone/>
            </a:pPr>
            <a:endParaRPr lang="en-US" dirty="0"/>
          </a:p>
        </p:txBody>
      </p:sp>
      <p:sp>
        <p:nvSpPr>
          <p:cNvPr id="59" name="Text 57"/>
          <p:cNvSpPr/>
          <p:nvPr/>
        </p:nvSpPr>
        <p:spPr>
          <a:xfrm>
            <a:off x="4279776" y="937022"/>
            <a:ext cx="584448" cy="1057870"/>
          </a:xfrm>
          <a:prstGeom prst="rect">
            <a:avLst/>
          </a:prstGeom>
          <a:noFill/>
          <a:ln/>
        </p:spPr>
        <p:txBody>
          <a:bodyPr wrap="none" lIns="0" tIns="0" rIns="0" bIns="0" rtlCol="0" anchor="t"/>
          <a:lstStyle/>
          <a:p>
            <a:pPr marL="0" indent="0" algn="ctr">
              <a:lnSpc>
                <a:spcPts val="8330"/>
              </a:lnSpc>
              <a:buNone/>
            </a:pPr>
            <a:r>
              <a:rPr lang="en-US" sz="8330" kern="0" spc="-250" dirty="0">
                <a:solidFill>
                  <a:srgbClr val="E8A020"/>
                </a:solidFill>
                <a:effectLst>
                  <a:glow rad="2143125">
                    <a:srgbClr val="E8A020">
                      <a:alpha val="3600"/>
                    </a:srgbClr>
                  </a:glow>
                </a:effectLst>
                <a:latin typeface="Calibri Light" pitchFamily="34" charset="0"/>
                <a:ea typeface="Calibri Light" pitchFamily="34" charset="-122"/>
                <a:cs typeface="Calibri Light" pitchFamily="34" charset="-120"/>
              </a:rPr>
              <a:t>4</a:t>
            </a:r>
            <a:endParaRPr lang="en-US" sz="8330" dirty="0"/>
          </a:p>
        </p:txBody>
      </p:sp>
      <p:sp>
        <p:nvSpPr>
          <p:cNvPr id="60" name="Text 58"/>
          <p:cNvSpPr/>
          <p:nvPr/>
        </p:nvSpPr>
        <p:spPr>
          <a:xfrm>
            <a:off x="4286250" y="2024062"/>
            <a:ext cx="571500" cy="13841"/>
          </a:xfrm>
          <a:prstGeom prst="rect">
            <a:avLst/>
          </a:prstGeom>
          <a:solidFill>
            <a:srgbClr val="E8A020">
              <a:alpha val="85000"/>
            </a:srgbClr>
          </a:solidFill>
          <a:ln/>
        </p:spPr>
        <p:txBody>
          <a:bodyPr wrap="none" rtlCol="0" anchor="t"/>
          <a:lstStyle/>
          <a:p>
            <a:pPr marL="0" indent="0">
              <a:buNone/>
            </a:pPr>
            <a:endParaRPr lang="en-US" dirty="0"/>
          </a:p>
        </p:txBody>
      </p:sp>
      <p:sp>
        <p:nvSpPr>
          <p:cNvPr id="61" name="Text 59"/>
          <p:cNvSpPr/>
          <p:nvPr/>
        </p:nvSpPr>
        <p:spPr>
          <a:xfrm>
            <a:off x="3983151" y="2266504"/>
            <a:ext cx="1177549" cy="219373"/>
          </a:xfrm>
          <a:prstGeom prst="roundRect">
            <a:avLst>
              <a:gd name="adj" fmla="val 6368"/>
            </a:avLst>
          </a:prstGeom>
          <a:solidFill>
            <a:srgbClr val="E8A020">
              <a:alpha val="6000"/>
            </a:srgbClr>
          </a:solidFill>
          <a:ln w="9525">
            <a:solidFill>
              <a:srgbClr val="E8A020">
                <a:alpha val="45000"/>
              </a:srgbClr>
            </a:solidFill>
          </a:ln>
        </p:spPr>
        <p:txBody>
          <a:bodyPr wrap="none" lIns="128270" tIns="35560" rIns="128270" bIns="35560" rtlCol="0" anchor="t"/>
          <a:lstStyle/>
          <a:p>
            <a:pPr marL="0" indent="0" algn="ctr">
              <a:buNone/>
            </a:pPr>
            <a:r>
              <a:rPr lang="en-US" sz="680" b="1" kern="0" spc="150" dirty="0">
                <a:solidFill>
                  <a:srgbClr val="E8A020"/>
                </a:solidFill>
                <a:latin typeface="Calibri" pitchFamily="34" charset="0"/>
                <a:ea typeface="Calibri" pitchFamily="34" charset="-122"/>
                <a:cs typeface="Calibri" pitchFamily="34" charset="-120"/>
              </a:rPr>
              <a:t>SECTION FOUR</a:t>
            </a:r>
            <a:endParaRPr lang="en-US" sz="680" dirty="0"/>
          </a:p>
        </p:txBody>
      </p:sp>
      <p:sp>
        <p:nvSpPr>
          <p:cNvPr id="62" name="Text 60"/>
          <p:cNvSpPr/>
          <p:nvPr/>
        </p:nvSpPr>
        <p:spPr>
          <a:xfrm>
            <a:off x="1074420" y="2643336"/>
            <a:ext cx="6995160" cy="755094"/>
          </a:xfrm>
          <a:prstGeom prst="rect">
            <a:avLst/>
          </a:prstGeom>
          <a:noFill/>
          <a:ln/>
        </p:spPr>
        <p:txBody>
          <a:bodyPr wrap="square" lIns="0" tIns="0" rIns="0" bIns="0" rtlCol="0" anchor="t"/>
          <a:lstStyle/>
          <a:p>
            <a:pPr marL="0" indent="0" algn="ctr">
              <a:lnSpc>
                <a:spcPts val="2832"/>
              </a:lnSpc>
              <a:spcAft>
                <a:spcPts val="560"/>
              </a:spcAft>
              <a:buNone/>
            </a:pPr>
            <a:r>
              <a:rPr lang="en-US" sz="2360" kern="0" spc="24" dirty="0">
                <a:solidFill>
                  <a:srgbClr val="F0F4FF"/>
                </a:solidFill>
                <a:latin typeface="Calibri Light" pitchFamily="34" charset="0"/>
                <a:ea typeface="Calibri Light" pitchFamily="34" charset="-122"/>
                <a:cs typeface="Calibri Light" pitchFamily="34" charset="-120"/>
              </a:rPr>
              <a:t>FMP Better Together — An Applied Example</a:t>
            </a:r>
            <a:endParaRPr lang="en-US" sz="2360" dirty="0"/>
          </a:p>
        </p:txBody>
      </p:sp>
      <p:sp>
        <p:nvSpPr>
          <p:cNvPr id="63" name="Text 61"/>
          <p:cNvSpPr/>
          <p:nvPr/>
        </p:nvSpPr>
        <p:spPr>
          <a:xfrm>
            <a:off x="2895116" y="3433465"/>
            <a:ext cx="3353619" cy="200769"/>
          </a:xfrm>
          <a:prstGeom prst="rect">
            <a:avLst/>
          </a:prstGeom>
          <a:noFill/>
          <a:ln/>
        </p:spPr>
        <p:txBody>
          <a:bodyPr wrap="none" lIns="0" tIns="0" rIns="0" bIns="0" rtlCol="0" anchor="t"/>
          <a:lstStyle/>
          <a:p>
            <a:pPr marL="0" indent="0" algn="ctr">
              <a:lnSpc>
                <a:spcPts val="1582"/>
              </a:lnSpc>
              <a:spcAft>
                <a:spcPts val="2140"/>
              </a:spcAft>
              <a:buNone/>
            </a:pPr>
            <a:r>
              <a:rPr lang="en-US" sz="1200" dirty="0">
                <a:solidFill>
                  <a:srgbClr val="8FA3C8"/>
                </a:solidFill>
                <a:latin typeface="Calibri" pitchFamily="34" charset="0"/>
                <a:ea typeface="Calibri" pitchFamily="34" charset="-122"/>
                <a:cs typeface="Calibri" pitchFamily="34" charset="-120"/>
              </a:rPr>
              <a:t>Applying FSR Through the Logic Model Lens</a:t>
            </a:r>
            <a:endParaRPr lang="en-US" sz="1200" dirty="0"/>
          </a:p>
        </p:txBody>
      </p:sp>
      <p:sp>
        <p:nvSpPr>
          <p:cNvPr id="64" name="Text 62"/>
          <p:cNvSpPr/>
          <p:nvPr/>
        </p:nvSpPr>
        <p:spPr>
          <a:xfrm>
            <a:off x="2571750" y="3905994"/>
            <a:ext cx="4000500" cy="7590"/>
          </a:xfrm>
          <a:prstGeom prst="rect">
            <a:avLst/>
          </a:prstGeom>
          <a:gradFill rotWithShape="1">
            <a:gsLst>
              <a:gs pos="0">
                <a:srgbClr val="000000">
                  <a:alpha val="0"/>
                </a:srgbClr>
              </a:gs>
              <a:gs pos="20000">
                <a:srgbClr val="E8A020">
                  <a:alpha val="55000"/>
                </a:srgbClr>
              </a:gs>
              <a:gs pos="50000">
                <a:srgbClr val="E8A020">
                  <a:alpha val="85000"/>
                </a:srgbClr>
              </a:gs>
              <a:gs pos="80000">
                <a:srgbClr val="E8A020">
                  <a:alpha val="55000"/>
                </a:srgbClr>
              </a:gs>
              <a:gs pos="100000">
                <a:srgbClr val="000000">
                  <a:alpha val="0"/>
                </a:srgbClr>
              </a:gs>
            </a:gsLst>
            <a:lin ang="0" scaled="1"/>
          </a:gradFill>
          <a:ln/>
        </p:spPr>
        <p:txBody>
          <a:bodyPr wrap="none" rtlCol="0" anchor="t"/>
          <a:lstStyle/>
          <a:p>
            <a:pPr marL="0" indent="0">
              <a:buNone/>
            </a:pPr>
            <a:endParaRPr lang="en-US" dirty="0"/>
          </a:p>
        </p:txBody>
      </p:sp>
      <p:pic>
        <p:nvPicPr>
          <p:cNvPr id="65" name="Image 0" descr="preencoded.png"/>
          <p:cNvPicPr>
            <a:picLocks noChangeAspect="1"/>
          </p:cNvPicPr>
          <p:nvPr/>
        </p:nvPicPr>
        <p:blipFill>
          <a:blip>
            <a:alphaModFix amt="55000"/>
            <a:extLst>
              <a:ext uri="{96DAC541-7B7A-43D3-8B79-37D633B846F1}">
                <asvg:svgBlip xmlns:asvg="http://schemas.microsoft.com/office/drawing/2016/SVG/main" r:embed="rId3"/>
              </a:ext>
            </a:extLst>
          </a:blip>
          <a:stretch>
            <a:fillRect/>
          </a:stretch>
        </p:blipFill>
        <p:spPr>
          <a:xfrm>
            <a:off x="4115107" y="4086383"/>
            <a:ext cx="132588" cy="132588"/>
          </a:xfrm>
          <a:prstGeom prst="rect">
            <a:avLst/>
          </a:prstGeom>
        </p:spPr>
      </p:pic>
      <p:pic>
        <p:nvPicPr>
          <p:cNvPr id="66" name="Image 1" descr="preencoded.png"/>
          <p:cNvPicPr>
            <a:picLocks noChangeAspect="1"/>
          </p:cNvPicPr>
          <p:nvPr/>
        </p:nvPicPr>
        <p:blipFill>
          <a:blip>
            <a:alphaModFix amt="55000"/>
            <a:extLst>
              <a:ext uri="{96DAC541-7B7A-43D3-8B79-37D633B846F1}">
                <asvg:svgBlip xmlns:asvg="http://schemas.microsoft.com/office/drawing/2016/SVG/main" r:embed="rId4"/>
              </a:ext>
            </a:extLst>
          </a:blip>
          <a:stretch>
            <a:fillRect/>
          </a:stretch>
        </p:blipFill>
        <p:spPr>
          <a:xfrm>
            <a:off x="4310369" y="4086383"/>
            <a:ext cx="132588" cy="132588"/>
          </a:xfrm>
          <a:prstGeom prst="rect">
            <a:avLst/>
          </a:prstGeom>
        </p:spPr>
      </p:pic>
      <p:pic>
        <p:nvPicPr>
          <p:cNvPr id="67" name="Image 2" descr="preencoded.png"/>
          <p:cNvPicPr>
            <a:picLocks noChangeAspect="1"/>
          </p:cNvPicPr>
          <p:nvPr/>
        </p:nvPicPr>
        <p:blipFill>
          <a:blip>
            <a:alphaModFix amt="55000"/>
            <a:extLst>
              <a:ext uri="{96DAC541-7B7A-43D3-8B79-37D633B846F1}">
                <asvg:svgBlip xmlns:asvg="http://schemas.microsoft.com/office/drawing/2016/SVG/main" r:embed="rId5"/>
              </a:ext>
            </a:extLst>
          </a:blip>
          <a:stretch>
            <a:fillRect/>
          </a:stretch>
        </p:blipFill>
        <p:spPr>
          <a:xfrm>
            <a:off x="4505632" y="4086383"/>
            <a:ext cx="132588" cy="132588"/>
          </a:xfrm>
          <a:prstGeom prst="rect">
            <a:avLst/>
          </a:prstGeom>
        </p:spPr>
      </p:pic>
      <p:pic>
        <p:nvPicPr>
          <p:cNvPr id="68" name="Image 3" descr="preencoded.png"/>
          <p:cNvPicPr>
            <a:picLocks noChangeAspect="1"/>
          </p:cNvPicPr>
          <p:nvPr/>
        </p:nvPicPr>
        <p:blipFill>
          <a:blip>
            <a:alphaModFix amt="55000"/>
            <a:extLst>
              <a:ext uri="{96DAC541-7B7A-43D3-8B79-37D633B846F1}">
                <asvg:svgBlip xmlns:asvg="http://schemas.microsoft.com/office/drawing/2016/SVG/main" r:embed="rId6"/>
              </a:ext>
            </a:extLst>
          </a:blip>
          <a:stretch>
            <a:fillRect/>
          </a:stretch>
        </p:blipFill>
        <p:spPr>
          <a:xfrm>
            <a:off x="4700894" y="4086383"/>
            <a:ext cx="132588" cy="132588"/>
          </a:xfrm>
          <a:prstGeom prst="rect">
            <a:avLst/>
          </a:prstGeom>
        </p:spPr>
      </p:pic>
      <p:pic>
        <p:nvPicPr>
          <p:cNvPr id="69" name="Image 4" descr="preencoded.png"/>
          <p:cNvPicPr>
            <a:picLocks noChangeAspect="1"/>
          </p:cNvPicPr>
          <p:nvPr/>
        </p:nvPicPr>
        <p:blipFill>
          <a:blip>
            <a:alphaModFix amt="55000"/>
            <a:extLst>
              <a:ext uri="{96DAC541-7B7A-43D3-8B79-37D633B846F1}">
                <asvg:svgBlip xmlns:asvg="http://schemas.microsoft.com/office/drawing/2016/SVG/main" r:embed="rId7"/>
              </a:ext>
            </a:extLst>
          </a:blip>
          <a:stretch>
            <a:fillRect/>
          </a:stretch>
        </p:blipFill>
        <p:spPr>
          <a:xfrm>
            <a:off x="4896157" y="4086383"/>
            <a:ext cx="132588" cy="132588"/>
          </a:xfrm>
          <a:prstGeom prst="rect">
            <a:avLst/>
          </a:prstGeom>
        </p:spPr>
      </p:pic>
      <p:sp>
        <p:nvSpPr>
          <p:cNvPr id="70" name="Text 63"/>
          <p:cNvSpPr/>
          <p:nvPr/>
        </p:nvSpPr>
        <p:spPr>
          <a:xfrm>
            <a:off x="0" y="5114330"/>
            <a:ext cx="9144000" cy="29170"/>
          </a:xfrm>
          <a:prstGeom prst="rect">
            <a:avLst/>
          </a:prstGeom>
          <a:gradFill rotWithShape="1">
            <a:gsLst>
              <a:gs pos="0">
                <a:srgbClr val="000000">
                  <a:alpha val="0"/>
                </a:srgbClr>
              </a:gs>
              <a:gs pos="20000">
                <a:srgbClr val="E8A020">
                  <a:alpha val="75000"/>
                </a:srgbClr>
              </a:gs>
              <a:gs pos="80000">
                <a:srgbClr val="E8A020">
                  <a:alpha val="75000"/>
                </a:srgbClr>
              </a:gs>
              <a:gs pos="100000">
                <a:srgbClr val="000000">
                  <a:alpha val="0"/>
                </a:srgbClr>
              </a:gs>
            </a:gsLst>
            <a:lin ang="0" scaled="1"/>
          </a:gradFill>
          <a:ln/>
        </p:spPr>
        <p:txBody>
          <a:bodyPr wrap="none" rtlCol="0" anchor="t"/>
          <a:lstStyle/>
          <a:p>
            <a:pPr marL="0" indent="0">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a:p>
        </p:txBody>
      </p:sp>
      <p:sp>
        <p:nvSpPr>
          <p:cNvPr id="3" name="Text 1"/>
          <p:cNvSpPr/>
          <p:nvPr/>
        </p:nvSpPr>
        <p:spPr>
          <a:xfrm>
            <a:off x="0" y="0"/>
            <a:ext cx="9144000" cy="29170"/>
          </a:xfrm>
          <a:prstGeom prst="rect">
            <a:avLst/>
          </a:prstGeom>
          <a:gradFill rotWithShape="1">
            <a:gsLst>
              <a:gs pos="0">
                <a:srgbClr val="E8A020"/>
              </a:gs>
              <a:gs pos="100000">
                <a:srgbClr val="E8A020">
                  <a:alpha val="20000"/>
                </a:srgbClr>
              </a:gs>
            </a:gsLst>
            <a:lin ang="0" scaled="1"/>
          </a:gradFill>
          <a:ln/>
        </p:spPr>
        <p:txBody>
          <a:bodyPr wrap="none" rtlCol="0" anchor="t"/>
          <a:lstStyle/>
          <a:p>
            <a:pPr marL="0" indent="0">
              <a:buNone/>
            </a:pPr>
            <a:endParaRPr lang="en-US"/>
          </a:p>
        </p:txBody>
      </p:sp>
      <p:sp>
        <p:nvSpPr>
          <p:cNvPr id="4" name="Text 2"/>
          <p:cNvSpPr/>
          <p:nvPr/>
        </p:nvSpPr>
        <p:spPr>
          <a:xfrm>
            <a:off x="0" y="5114330"/>
            <a:ext cx="9144000" cy="29170"/>
          </a:xfrm>
          <a:prstGeom prst="rect">
            <a:avLst/>
          </a:prstGeom>
          <a:gradFill rotWithShape="1">
            <a:gsLst>
              <a:gs pos="0">
                <a:srgbClr val="E8A020">
                  <a:alpha val="20000"/>
                </a:srgbClr>
              </a:gs>
              <a:gs pos="50000">
                <a:srgbClr val="E8A020"/>
              </a:gs>
              <a:gs pos="100000">
                <a:srgbClr val="E8A020">
                  <a:alpha val="20000"/>
                </a:srgbClr>
              </a:gs>
            </a:gsLst>
            <a:lin ang="0" scaled="1"/>
          </a:gradFill>
          <a:ln/>
        </p:spPr>
        <p:txBody>
          <a:bodyPr wrap="none" rtlCol="0" anchor="t"/>
          <a:lstStyle/>
          <a:p>
            <a:pPr marL="0" indent="0">
              <a:buNone/>
            </a:pPr>
            <a:endParaRPr lang="en-US"/>
          </a:p>
        </p:txBody>
      </p:sp>
      <p:sp>
        <p:nvSpPr>
          <p:cNvPr id="5" name="Text 3"/>
          <p:cNvSpPr/>
          <p:nvPr/>
        </p:nvSpPr>
        <p:spPr>
          <a:xfrm>
            <a:off x="438745" y="1181249"/>
            <a:ext cx="21580" cy="470594"/>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6" name="Text 4"/>
          <p:cNvSpPr/>
          <p:nvPr/>
        </p:nvSpPr>
        <p:spPr>
          <a:xfrm>
            <a:off x="438745" y="1735634"/>
            <a:ext cx="21580" cy="625078"/>
          </a:xfrm>
          <a:custGeom>
            <a:avLst/>
            <a:gdLst/>
            <a:ahLst/>
            <a:cxnLst/>
            <a:rect l="l" t="t" r="r" b="b"/>
            <a:pathLst>
              <a:path w="21580" h="625078">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a:p>
        </p:txBody>
      </p:sp>
      <p:sp>
        <p:nvSpPr>
          <p:cNvPr id="7" name="Text 5"/>
          <p:cNvSpPr/>
          <p:nvPr/>
        </p:nvSpPr>
        <p:spPr>
          <a:xfrm>
            <a:off x="438745" y="2444502"/>
            <a:ext cx="21580" cy="470594"/>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8" name="Text 6"/>
          <p:cNvSpPr/>
          <p:nvPr/>
        </p:nvSpPr>
        <p:spPr>
          <a:xfrm>
            <a:off x="438745" y="2998887"/>
            <a:ext cx="21580" cy="470594"/>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9" name="Text 7"/>
          <p:cNvSpPr/>
          <p:nvPr/>
        </p:nvSpPr>
        <p:spPr>
          <a:xfrm>
            <a:off x="438745" y="3553271"/>
            <a:ext cx="21580" cy="625078"/>
          </a:xfrm>
          <a:custGeom>
            <a:avLst/>
            <a:gdLst/>
            <a:ahLst/>
            <a:cxnLst/>
            <a:rect l="l" t="t" r="r" b="b"/>
            <a:pathLst>
              <a:path w="21580" h="625078">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a:p>
        </p:txBody>
      </p:sp>
      <p:sp>
        <p:nvSpPr>
          <p:cNvPr id="10" name="Text 8"/>
          <p:cNvSpPr/>
          <p:nvPr/>
        </p:nvSpPr>
        <p:spPr>
          <a:xfrm>
            <a:off x="429220" y="190785"/>
            <a:ext cx="2386463" cy="216396"/>
          </a:xfrm>
          <a:prstGeom prst="roundRect">
            <a:avLst>
              <a:gd name="adj" fmla="val 19954"/>
            </a:avLst>
          </a:prstGeom>
          <a:solidFill>
            <a:srgbClr val="E8A020">
              <a:alpha val="12000"/>
            </a:srgbClr>
          </a:solidFill>
          <a:ln w="9525">
            <a:solidFill>
              <a:srgbClr val="E8A020">
                <a:alpha val="40000"/>
              </a:srgbClr>
            </a:solidFill>
          </a:ln>
        </p:spPr>
        <p:txBody>
          <a:bodyPr wrap="none" lIns="232638" tIns="29210" rIns="100330" bIns="29210" rtlCol="0" anchor="ctr"/>
          <a:lstStyle/>
          <a:p>
            <a:pPr marL="0" indent="0" algn="l">
              <a:buNone/>
            </a:pPr>
            <a:r>
              <a:rPr lang="en-US" sz="949" b="1" kern="0" spc="58" dirty="0">
                <a:solidFill>
                  <a:srgbClr val="E8A020"/>
                </a:solidFill>
                <a:latin typeface="Calibri Light" pitchFamily="34" charset="0"/>
                <a:ea typeface="Calibri Light" pitchFamily="34" charset="-122"/>
                <a:cs typeface="Calibri Light" pitchFamily="34" charset="-120"/>
              </a:rPr>
              <a:t>SECTION 3  ·  FSR IMPLEMENTATION</a:t>
            </a:r>
            <a:endParaRPr lang="en-US" sz="949"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6885" y="227116"/>
            <a:ext cx="132588" cy="132588"/>
          </a:xfrm>
          <a:prstGeom prst="rect">
            <a:avLst/>
          </a:prstGeom>
        </p:spPr>
      </p:pic>
      <p:sp>
        <p:nvSpPr>
          <p:cNvPr id="12" name="Text 9"/>
          <p:cNvSpPr/>
          <p:nvPr/>
        </p:nvSpPr>
        <p:spPr>
          <a:xfrm>
            <a:off x="278451" y="503337"/>
            <a:ext cx="8865549" cy="278904"/>
          </a:xfrm>
          <a:prstGeom prst="rect">
            <a:avLst/>
          </a:prstGeom>
          <a:noFill/>
          <a:ln/>
        </p:spPr>
        <p:txBody>
          <a:bodyPr wrap="none" lIns="0" tIns="0" rIns="0" bIns="0" rtlCol="0" anchor="t"/>
          <a:lstStyle/>
          <a:p>
            <a:pPr marL="0" indent="0" algn="l">
              <a:lnSpc>
                <a:spcPts val="2197"/>
              </a:lnSpc>
              <a:buNone/>
            </a:pPr>
            <a:r>
              <a:rPr lang="en-US" sz="1910" b="1" kern="0" spc="-19">
                <a:solidFill>
                  <a:srgbClr val="0D1B3E"/>
                </a:solidFill>
                <a:latin typeface="Calibri Light" pitchFamily="34" charset="0"/>
                <a:ea typeface="Calibri Light" pitchFamily="34" charset="-122"/>
                <a:cs typeface="Calibri Light" pitchFamily="34" charset="-120"/>
              </a:rPr>
              <a:t>FSR Implementation Cost &amp; Return</a:t>
            </a:r>
            <a:endParaRPr lang="en-US" sz="1910"/>
          </a:p>
        </p:txBody>
      </p:sp>
      <p:sp>
        <p:nvSpPr>
          <p:cNvPr id="13" name="Text 10"/>
          <p:cNvSpPr/>
          <p:nvPr/>
        </p:nvSpPr>
        <p:spPr>
          <a:xfrm>
            <a:off x="429220" y="825401"/>
            <a:ext cx="3714750" cy="13841"/>
          </a:xfrm>
          <a:prstGeom prst="roundRect">
            <a:avLst>
              <a:gd name="adj" fmla="val 100932"/>
            </a:avLst>
          </a:prstGeom>
          <a:gradFill rotWithShape="1">
            <a:gsLst>
              <a:gs pos="0">
                <a:srgbClr val="E8A020"/>
              </a:gs>
              <a:gs pos="100000">
                <a:srgbClr val="E8A020">
                  <a:alpha val="10000"/>
                </a:srgbClr>
              </a:gs>
            </a:gsLst>
            <a:lin ang="0" scaled="1"/>
          </a:gradFill>
          <a:ln/>
        </p:spPr>
        <p:txBody>
          <a:bodyPr wrap="none" rtlCol="0" anchor="t"/>
          <a:lstStyle/>
          <a:p>
            <a:pPr marL="0" indent="0">
              <a:buNone/>
            </a:pPr>
            <a:endParaRPr lang="en-US"/>
          </a:p>
        </p:txBody>
      </p:sp>
      <p:sp>
        <p:nvSpPr>
          <p:cNvPr id="14" name="Text 11"/>
          <p:cNvSpPr/>
          <p:nvPr/>
        </p:nvSpPr>
        <p:spPr>
          <a:xfrm>
            <a:off x="510341" y="875224"/>
            <a:ext cx="2780222" cy="215779"/>
          </a:xfrm>
          <a:prstGeom prst="rect">
            <a:avLst/>
          </a:prstGeom>
          <a:noFill/>
          <a:ln/>
        </p:spPr>
        <p:txBody>
          <a:bodyPr wrap="none" lIns="0" tIns="0" rIns="0" bIns="0" rtlCol="0" anchor="t"/>
          <a:lstStyle/>
          <a:p>
            <a:pPr marL="0" indent="0" algn="l">
              <a:lnSpc>
                <a:spcPts val="1872"/>
              </a:lnSpc>
              <a:spcBef>
                <a:spcPts val="364"/>
              </a:spcBef>
              <a:buNone/>
            </a:pPr>
            <a:r>
              <a:rPr lang="en-US" sz="1248" b="1" kern="0" spc="10" dirty="0">
                <a:solidFill>
                  <a:schemeClr val="accent2">
                    <a:lumMod val="75000"/>
                  </a:schemeClr>
                </a:solidFill>
                <a:latin typeface="Calibri Light" pitchFamily="34" charset="0"/>
                <a:ea typeface="Calibri Light" pitchFamily="34" charset="-122"/>
                <a:cs typeface="Calibri Light" pitchFamily="34" charset="-120"/>
              </a:rPr>
              <a:t>What It Takes and What You Get Back</a:t>
            </a:r>
            <a:endParaRPr lang="en-US" sz="1248" dirty="0">
              <a:solidFill>
                <a:schemeClr val="accent2">
                  <a:lumMod val="75000"/>
                </a:schemeClr>
              </a:solidFill>
            </a:endParaRPr>
          </a:p>
        </p:txBody>
      </p:sp>
      <p:sp>
        <p:nvSpPr>
          <p:cNvPr id="15" name="Text 12"/>
          <p:cNvSpPr/>
          <p:nvPr/>
        </p:nvSpPr>
        <p:spPr>
          <a:xfrm>
            <a:off x="429220" y="1171724"/>
            <a:ext cx="8285559" cy="489645"/>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16" name="Text 13"/>
          <p:cNvSpPr/>
          <p:nvPr/>
        </p:nvSpPr>
        <p:spPr>
          <a:xfrm>
            <a:off x="553045" y="1330970"/>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1</a:t>
            </a:r>
            <a:endParaRPr lang="en-US" sz="806"/>
          </a:p>
        </p:txBody>
      </p:sp>
      <p:sp>
        <p:nvSpPr>
          <p:cNvPr id="17" name="Text 14"/>
          <p:cNvSpPr/>
          <p:nvPr/>
        </p:nvSpPr>
        <p:spPr>
          <a:xfrm>
            <a:off x="838795" y="126756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5302" y="1344076"/>
            <a:ext cx="132588" cy="132588"/>
          </a:xfrm>
          <a:prstGeom prst="rect">
            <a:avLst/>
          </a:prstGeom>
        </p:spPr>
      </p:pic>
      <p:sp>
        <p:nvSpPr>
          <p:cNvPr id="19" name="Text 15"/>
          <p:cNvSpPr/>
          <p:nvPr/>
        </p:nvSpPr>
        <p:spPr>
          <a:xfrm>
            <a:off x="1242617" y="1239530"/>
            <a:ext cx="2600575"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INSTITUTIONALIZING FUNDING INTELLIGENCE</a:t>
            </a:r>
            <a:endParaRPr lang="en-US" sz="988" dirty="0">
              <a:solidFill>
                <a:schemeClr val="accent2">
                  <a:lumMod val="75000"/>
                </a:schemeClr>
              </a:solidFill>
            </a:endParaRPr>
          </a:p>
        </p:txBody>
      </p:sp>
      <p:sp>
        <p:nvSpPr>
          <p:cNvPr id="20" name="Text 16"/>
          <p:cNvSpPr/>
          <p:nvPr/>
        </p:nvSpPr>
        <p:spPr>
          <a:xfrm>
            <a:off x="1233269" y="1440934"/>
            <a:ext cx="6745218" cy="154484"/>
          </a:xfrm>
          <a:prstGeom prst="rect">
            <a:avLst/>
          </a:prstGeom>
          <a:noFill/>
          <a:ln/>
        </p:spPr>
        <p:txBody>
          <a:bodyPr wrap="non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One point person dedicating 2–4 hours/month — builds </a:t>
            </a:r>
            <a:r>
              <a:rPr lang="en-US" sz="1131" b="1" dirty="0">
                <a:solidFill>
                  <a:srgbClr val="E8A020"/>
                </a:solidFill>
                <a:latin typeface="Calibri" pitchFamily="34" charset="0"/>
                <a:ea typeface="Calibri" pitchFamily="34" charset="-122"/>
                <a:cs typeface="Calibri" pitchFamily="34" charset="-120"/>
              </a:rPr>
              <a:t>organizational culture</a:t>
            </a:r>
            <a:r>
              <a:rPr lang="en-US" sz="1131" dirty="0">
                <a:solidFill>
                  <a:srgbClr val="0D1B3E"/>
                </a:solidFill>
                <a:latin typeface="Calibri" pitchFamily="34" charset="0"/>
                <a:ea typeface="Calibri" pitchFamily="34" charset="-122"/>
                <a:cs typeface="Calibri" pitchFamily="34" charset="-120"/>
              </a:rPr>
              <a:t>, not a single-person burden</a:t>
            </a:r>
            <a:endParaRPr lang="en-US" sz="1131" dirty="0"/>
          </a:p>
        </p:txBody>
      </p:sp>
      <p:sp>
        <p:nvSpPr>
          <p:cNvPr id="21" name="Text 17"/>
          <p:cNvSpPr/>
          <p:nvPr/>
        </p:nvSpPr>
        <p:spPr>
          <a:xfrm>
            <a:off x="429220" y="1726109"/>
            <a:ext cx="8285559" cy="644128"/>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22" name="Text 18"/>
          <p:cNvSpPr/>
          <p:nvPr/>
        </p:nvSpPr>
        <p:spPr>
          <a:xfrm>
            <a:off x="553045" y="1946691"/>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2</a:t>
            </a:r>
            <a:endParaRPr lang="en-US" sz="806"/>
          </a:p>
        </p:txBody>
      </p:sp>
      <p:sp>
        <p:nvSpPr>
          <p:cNvPr id="23" name="Text 19"/>
          <p:cNvSpPr/>
          <p:nvPr/>
        </p:nvSpPr>
        <p:spPr>
          <a:xfrm>
            <a:off x="838795" y="1894442"/>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5302" y="1982096"/>
            <a:ext cx="132588" cy="132588"/>
          </a:xfrm>
          <a:prstGeom prst="rect">
            <a:avLst/>
          </a:prstGeom>
        </p:spPr>
      </p:pic>
      <p:sp>
        <p:nvSpPr>
          <p:cNvPr id="25" name="Text 20"/>
          <p:cNvSpPr/>
          <p:nvPr/>
        </p:nvSpPr>
        <p:spPr>
          <a:xfrm>
            <a:off x="1242038" y="1806357"/>
            <a:ext cx="1197359" cy="18288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FREE TOOLS</a:t>
            </a:r>
            <a:endParaRPr lang="en-US" sz="988" dirty="0">
              <a:solidFill>
                <a:schemeClr val="accent2">
                  <a:lumMod val="75000"/>
                </a:schemeClr>
              </a:solidFill>
            </a:endParaRPr>
          </a:p>
        </p:txBody>
      </p:sp>
      <p:sp>
        <p:nvSpPr>
          <p:cNvPr id="26" name="Text 21"/>
          <p:cNvSpPr/>
          <p:nvPr/>
        </p:nvSpPr>
        <p:spPr>
          <a:xfrm>
            <a:off x="1238845" y="1973014"/>
            <a:ext cx="7469398" cy="324416"/>
          </a:xfrm>
          <a:prstGeom prst="rect">
            <a:avLst/>
          </a:prstGeom>
          <a:noFill/>
          <a:ln/>
        </p:spPr>
        <p:txBody>
          <a:bodyPr wrap="squar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Grants.gov, ProPublica 990, Candid/GuideStar — all at </a:t>
            </a:r>
            <a:r>
              <a:rPr lang="en-US" sz="1131" b="1">
                <a:solidFill>
                  <a:srgbClr val="E8A020"/>
                </a:solidFill>
                <a:latin typeface="Calibri" pitchFamily="34" charset="0"/>
                <a:ea typeface="Calibri" pitchFamily="34" charset="-122"/>
                <a:cs typeface="Calibri" pitchFamily="34" charset="-120"/>
              </a:rPr>
              <a:t>zero tool cost</a:t>
            </a:r>
            <a:r>
              <a:rPr lang="en-US" sz="1131">
                <a:solidFill>
                  <a:srgbClr val="0D1B3E"/>
                </a:solidFill>
                <a:latin typeface="Calibri" pitchFamily="34" charset="0"/>
                <a:ea typeface="Calibri" pitchFamily="34" charset="-122"/>
                <a:cs typeface="Calibri" pitchFamily="34" charset="-120"/>
              </a:rPr>
              <a:t> — meaningful first steps you can start today</a:t>
            </a:r>
            <a:endParaRPr lang="en-US" sz="1131"/>
          </a:p>
        </p:txBody>
      </p:sp>
      <p:sp>
        <p:nvSpPr>
          <p:cNvPr id="27" name="Text 22"/>
          <p:cNvSpPr/>
          <p:nvPr/>
        </p:nvSpPr>
        <p:spPr>
          <a:xfrm>
            <a:off x="429220" y="2434977"/>
            <a:ext cx="8285559" cy="489645"/>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28" name="Text 23"/>
          <p:cNvSpPr/>
          <p:nvPr/>
        </p:nvSpPr>
        <p:spPr>
          <a:xfrm>
            <a:off x="553045" y="2594223"/>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3</a:t>
            </a:r>
            <a:endParaRPr lang="en-US" sz="806"/>
          </a:p>
        </p:txBody>
      </p:sp>
      <p:sp>
        <p:nvSpPr>
          <p:cNvPr id="29" name="Text 24"/>
          <p:cNvSpPr/>
          <p:nvPr/>
        </p:nvSpPr>
        <p:spPr>
          <a:xfrm>
            <a:off x="838795" y="2530822"/>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5302" y="2607329"/>
            <a:ext cx="132588" cy="132588"/>
          </a:xfrm>
          <a:prstGeom prst="rect">
            <a:avLst/>
          </a:prstGeom>
        </p:spPr>
      </p:pic>
      <p:sp>
        <p:nvSpPr>
          <p:cNvPr id="31" name="Text 25"/>
          <p:cNvSpPr/>
          <p:nvPr/>
        </p:nvSpPr>
        <p:spPr>
          <a:xfrm>
            <a:off x="1243569" y="2463751"/>
            <a:ext cx="2031951"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EXPECTED WIN RATE IMPROVEMENT</a:t>
            </a:r>
            <a:endParaRPr lang="en-US" sz="988" dirty="0">
              <a:solidFill>
                <a:schemeClr val="accent2">
                  <a:lumMod val="75000"/>
                </a:schemeClr>
              </a:solidFill>
            </a:endParaRPr>
          </a:p>
        </p:txBody>
      </p:sp>
      <p:sp>
        <p:nvSpPr>
          <p:cNvPr id="32" name="Text 26"/>
          <p:cNvSpPr/>
          <p:nvPr/>
        </p:nvSpPr>
        <p:spPr>
          <a:xfrm>
            <a:off x="1238845" y="2681883"/>
            <a:ext cx="7014850" cy="154484"/>
          </a:xfrm>
          <a:prstGeom prst="rect">
            <a:avLst/>
          </a:prstGeom>
          <a:noFill/>
          <a:ln/>
        </p:spPr>
        <p:txBody>
          <a:bodyPr wrap="non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Even </a:t>
            </a:r>
            <a:r>
              <a:rPr lang="en-US" sz="1131" b="1">
                <a:solidFill>
                  <a:srgbClr val="E8A020"/>
                </a:solidFill>
                <a:latin typeface="Calibri" pitchFamily="34" charset="0"/>
                <a:ea typeface="Calibri" pitchFamily="34" charset="-122"/>
                <a:cs typeface="Calibri" pitchFamily="34" charset="-120"/>
              </a:rPr>
              <a:t>higher win rates</a:t>
            </a:r>
            <a:r>
              <a:rPr lang="en-US" sz="1131">
                <a:solidFill>
                  <a:srgbClr val="0D1B3E"/>
                </a:solidFill>
                <a:latin typeface="Calibri" pitchFamily="34" charset="0"/>
                <a:ea typeface="Calibri" pitchFamily="34" charset="-122"/>
                <a:cs typeface="Calibri" pitchFamily="34" charset="-120"/>
              </a:rPr>
              <a:t> reported by programs using proactive funding systems (NPCL survey)</a:t>
            </a:r>
            <a:endParaRPr lang="en-US" sz="1131"/>
          </a:p>
        </p:txBody>
      </p:sp>
      <p:sp>
        <p:nvSpPr>
          <p:cNvPr id="33" name="Text 27"/>
          <p:cNvSpPr/>
          <p:nvPr/>
        </p:nvSpPr>
        <p:spPr>
          <a:xfrm>
            <a:off x="429220" y="2989362"/>
            <a:ext cx="8285559" cy="489645"/>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34" name="Text 28"/>
          <p:cNvSpPr/>
          <p:nvPr/>
        </p:nvSpPr>
        <p:spPr>
          <a:xfrm>
            <a:off x="553045" y="3148608"/>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4</a:t>
            </a:r>
            <a:endParaRPr lang="en-US" sz="806"/>
          </a:p>
        </p:txBody>
      </p:sp>
      <p:sp>
        <p:nvSpPr>
          <p:cNvPr id="35" name="Text 29"/>
          <p:cNvSpPr/>
          <p:nvPr/>
        </p:nvSpPr>
        <p:spPr>
          <a:xfrm>
            <a:off x="838795" y="3085207"/>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3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5302" y="3161714"/>
            <a:ext cx="132588" cy="132588"/>
          </a:xfrm>
          <a:prstGeom prst="rect">
            <a:avLst/>
          </a:prstGeom>
        </p:spPr>
      </p:pic>
      <p:sp>
        <p:nvSpPr>
          <p:cNvPr id="37" name="Text 30"/>
          <p:cNvSpPr/>
          <p:nvPr/>
        </p:nvSpPr>
        <p:spPr>
          <a:xfrm>
            <a:off x="1255198" y="3029288"/>
            <a:ext cx="1827708"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REDUCED STAFF BURNOUT</a:t>
            </a:r>
            <a:endParaRPr lang="en-US" sz="988" dirty="0">
              <a:solidFill>
                <a:schemeClr val="accent2">
                  <a:lumMod val="75000"/>
                </a:schemeClr>
              </a:solidFill>
            </a:endParaRPr>
          </a:p>
        </p:txBody>
      </p:sp>
      <p:sp>
        <p:nvSpPr>
          <p:cNvPr id="38" name="Text 31"/>
          <p:cNvSpPr/>
          <p:nvPr/>
        </p:nvSpPr>
        <p:spPr>
          <a:xfrm>
            <a:off x="1238845" y="3236268"/>
            <a:ext cx="6309747" cy="154484"/>
          </a:xfrm>
          <a:prstGeom prst="rect">
            <a:avLst/>
          </a:prstGeom>
          <a:noFill/>
          <a:ln/>
        </p:spPr>
        <p:txBody>
          <a:bodyPr wrap="non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A </a:t>
            </a:r>
            <a:r>
              <a:rPr lang="en-US" sz="1131" b="1">
                <a:solidFill>
                  <a:srgbClr val="E8A020"/>
                </a:solidFill>
                <a:latin typeface="Calibri" pitchFamily="34" charset="0"/>
                <a:ea typeface="Calibri" pitchFamily="34" charset="-122"/>
                <a:cs typeface="Calibri" pitchFamily="34" charset="-120"/>
              </a:rPr>
              <a:t>reduced burnout</a:t>
            </a:r>
            <a:r>
              <a:rPr lang="en-US" sz="1131">
                <a:solidFill>
                  <a:srgbClr val="0D1B3E"/>
                </a:solidFill>
                <a:latin typeface="Calibri" pitchFamily="34" charset="0"/>
                <a:ea typeface="Calibri" pitchFamily="34" charset="-122"/>
                <a:cs typeface="Calibri" pitchFamily="34" charset="-120"/>
              </a:rPr>
              <a:t> — planned submissions replace crisis scrambles and emergency overtime</a:t>
            </a:r>
            <a:endParaRPr lang="en-US" sz="1131"/>
          </a:p>
        </p:txBody>
      </p:sp>
      <p:sp>
        <p:nvSpPr>
          <p:cNvPr id="39" name="Text 32"/>
          <p:cNvSpPr/>
          <p:nvPr/>
        </p:nvSpPr>
        <p:spPr>
          <a:xfrm>
            <a:off x="429220" y="3543746"/>
            <a:ext cx="8285559" cy="644128"/>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40" name="Text 33"/>
          <p:cNvSpPr/>
          <p:nvPr/>
        </p:nvSpPr>
        <p:spPr>
          <a:xfrm>
            <a:off x="553045" y="3702993"/>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5</a:t>
            </a:r>
            <a:endParaRPr lang="en-US" sz="806"/>
          </a:p>
        </p:txBody>
      </p:sp>
      <p:sp>
        <p:nvSpPr>
          <p:cNvPr id="41" name="Text 34"/>
          <p:cNvSpPr/>
          <p:nvPr/>
        </p:nvSpPr>
        <p:spPr>
          <a:xfrm>
            <a:off x="838795" y="3639592"/>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4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5302" y="3716098"/>
            <a:ext cx="132588" cy="132588"/>
          </a:xfrm>
          <a:prstGeom prst="rect">
            <a:avLst/>
          </a:prstGeom>
        </p:spPr>
      </p:pic>
      <p:sp>
        <p:nvSpPr>
          <p:cNvPr id="43" name="Text 35"/>
          <p:cNvSpPr/>
          <p:nvPr/>
        </p:nvSpPr>
        <p:spPr>
          <a:xfrm>
            <a:off x="1251866" y="3611553"/>
            <a:ext cx="1317095" cy="18288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90-DAY TIME TO VALUE</a:t>
            </a:r>
            <a:endParaRPr lang="en-US" sz="988" dirty="0">
              <a:solidFill>
                <a:schemeClr val="accent2">
                  <a:lumMod val="75000"/>
                </a:schemeClr>
              </a:solidFill>
            </a:endParaRPr>
          </a:p>
        </p:txBody>
      </p:sp>
      <p:sp>
        <p:nvSpPr>
          <p:cNvPr id="44" name="Text 36"/>
          <p:cNvSpPr/>
          <p:nvPr/>
        </p:nvSpPr>
        <p:spPr>
          <a:xfrm>
            <a:off x="1227693" y="3822267"/>
            <a:ext cx="7469398" cy="183125"/>
          </a:xfrm>
          <a:prstGeom prst="rect">
            <a:avLst/>
          </a:prstGeom>
          <a:noFill/>
          <a:ln/>
        </p:spPr>
        <p:txBody>
          <a:bodyPr wrap="squar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A working FSR foundation in just </a:t>
            </a:r>
            <a:r>
              <a:rPr lang="en-US" sz="1131" b="1" dirty="0">
                <a:solidFill>
                  <a:srgbClr val="E8A020"/>
                </a:solidFill>
                <a:latin typeface="Calibri" pitchFamily="34" charset="0"/>
                <a:ea typeface="Calibri" pitchFamily="34" charset="-122"/>
                <a:cs typeface="Calibri" pitchFamily="34" charset="-120"/>
              </a:rPr>
              <a:t>90 days</a:t>
            </a:r>
            <a:r>
              <a:rPr lang="en-US" sz="1131" dirty="0">
                <a:solidFill>
                  <a:srgbClr val="0D1B3E"/>
                </a:solidFill>
                <a:latin typeface="Calibri" pitchFamily="34" charset="0"/>
                <a:ea typeface="Calibri" pitchFamily="34" charset="-122"/>
                <a:cs typeface="Calibri" pitchFamily="34" charset="-120"/>
              </a:rPr>
              <a:t> — built to endure</a:t>
            </a:r>
            <a:endParaRPr lang="en-US" sz="1131" dirty="0"/>
          </a:p>
        </p:txBody>
      </p:sp>
      <p:sp>
        <p:nvSpPr>
          <p:cNvPr id="45" name="Text 37"/>
          <p:cNvSpPr/>
          <p:nvPr/>
        </p:nvSpPr>
        <p:spPr>
          <a:xfrm>
            <a:off x="375718" y="4463634"/>
            <a:ext cx="8434972" cy="326678"/>
          </a:xfrm>
          <a:prstGeom prst="roundRect">
            <a:avLst>
              <a:gd name="adj" fmla="val 17494"/>
            </a:avLst>
          </a:prstGeom>
          <a:solidFill>
            <a:srgbClr val="E8A020">
              <a:alpha val="10000"/>
            </a:srgbClr>
          </a:solidFill>
          <a:ln w="9525">
            <a:solidFill>
              <a:srgbClr val="E8A020">
                <a:alpha val="50000"/>
              </a:srgbClr>
            </a:solidFill>
          </a:ln>
        </p:spPr>
        <p:txBody>
          <a:bodyPr wrap="square" rtlCol="0" anchor="t"/>
          <a:lstStyle/>
          <a:p>
            <a:pPr marL="0" indent="0">
              <a:buNone/>
            </a:pPr>
            <a:endParaRPr lang="en-US" dirty="0"/>
          </a:p>
        </p:txBody>
      </p:sp>
      <p:pic>
        <p:nvPicPr>
          <p:cNvPr id="46"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1719" y="4520634"/>
            <a:ext cx="218635" cy="218635"/>
          </a:xfrm>
          <a:prstGeom prst="rect">
            <a:avLst/>
          </a:prstGeom>
        </p:spPr>
      </p:pic>
      <p:sp>
        <p:nvSpPr>
          <p:cNvPr id="47" name="Text 38"/>
          <p:cNvSpPr/>
          <p:nvPr/>
        </p:nvSpPr>
        <p:spPr>
          <a:xfrm>
            <a:off x="935983" y="4528621"/>
            <a:ext cx="6797385" cy="210514"/>
          </a:xfrm>
          <a:prstGeom prst="rect">
            <a:avLst/>
          </a:prstGeom>
          <a:noFill/>
          <a:ln/>
        </p:spPr>
        <p:txBody>
          <a:bodyPr wrap="none" lIns="0" tIns="0" rIns="0" bIns="0" rtlCol="0" anchor="ctr"/>
          <a:lstStyle/>
          <a:p>
            <a:pPr marL="0" indent="0" algn="l">
              <a:lnSpc>
                <a:spcPts val="1696"/>
              </a:lnSpc>
              <a:buNone/>
            </a:pPr>
            <a:r>
              <a:rPr lang="en-US" sz="1400" b="1" dirty="0">
                <a:solidFill>
                  <a:schemeClr val="accent2">
                    <a:lumMod val="75000"/>
                  </a:schemeClr>
                </a:solidFill>
                <a:latin typeface="Calibri" pitchFamily="34" charset="0"/>
                <a:ea typeface="Calibri" pitchFamily="34" charset="-122"/>
                <a:cs typeface="Calibri" pitchFamily="34" charset="-120"/>
              </a:rPr>
              <a:t>FSR can pay for itself</a:t>
            </a:r>
            <a:r>
              <a:rPr lang="en-US" sz="1400" dirty="0">
                <a:solidFill>
                  <a:schemeClr val="accent2">
                    <a:lumMod val="75000"/>
                  </a:schemeClr>
                </a:solidFill>
                <a:latin typeface="Calibri" pitchFamily="34" charset="0"/>
                <a:ea typeface="Calibri" pitchFamily="34" charset="-122"/>
                <a:cs typeface="Calibri" pitchFamily="34" charset="-120"/>
              </a:rPr>
              <a:t> </a:t>
            </a:r>
            <a:r>
              <a:rPr lang="en-US" sz="1400" dirty="0">
                <a:solidFill>
                  <a:srgbClr val="0D1B3E"/>
                </a:solidFill>
                <a:latin typeface="Calibri" pitchFamily="34" charset="0"/>
                <a:ea typeface="Calibri" pitchFamily="34" charset="-122"/>
                <a:cs typeface="Calibri" pitchFamily="34" charset="-120"/>
              </a:rPr>
              <a:t>— programs that thrive stopped treating funding as someone else’s job</a:t>
            </a:r>
            <a:r>
              <a:rPr lang="en-US" sz="1131" dirty="0">
                <a:solidFill>
                  <a:srgbClr val="0D1B3E"/>
                </a:solidFill>
                <a:latin typeface="Calibri" pitchFamily="34" charset="0"/>
                <a:ea typeface="Calibri" pitchFamily="34" charset="-122"/>
                <a:cs typeface="Calibri" pitchFamily="34" charset="-120"/>
              </a:rPr>
              <a:t>.</a:t>
            </a:r>
            <a:endParaRPr lang="en-US" sz="113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a:p>
        </p:txBody>
      </p:sp>
      <p:sp>
        <p:nvSpPr>
          <p:cNvPr id="3" name="Text 1"/>
          <p:cNvSpPr/>
          <p:nvPr/>
        </p:nvSpPr>
        <p:spPr>
          <a:xfrm>
            <a:off x="0" y="0"/>
            <a:ext cx="9144000" cy="29170"/>
          </a:xfrm>
          <a:prstGeom prst="rect">
            <a:avLst/>
          </a:prstGeom>
          <a:gradFill rotWithShape="1">
            <a:gsLst>
              <a:gs pos="0">
                <a:srgbClr val="E8A020"/>
              </a:gs>
              <a:gs pos="100000">
                <a:srgbClr val="E8A020">
                  <a:alpha val="20000"/>
                </a:srgbClr>
              </a:gs>
            </a:gsLst>
            <a:lin ang="0" scaled="1"/>
          </a:gradFill>
          <a:ln/>
        </p:spPr>
        <p:txBody>
          <a:bodyPr wrap="none" rtlCol="0" anchor="t"/>
          <a:lstStyle/>
          <a:p>
            <a:pPr marL="0" indent="0">
              <a:buNone/>
            </a:pPr>
            <a:endParaRPr lang="en-US"/>
          </a:p>
        </p:txBody>
      </p:sp>
      <p:sp>
        <p:nvSpPr>
          <p:cNvPr id="4" name="Text 2"/>
          <p:cNvSpPr/>
          <p:nvPr/>
        </p:nvSpPr>
        <p:spPr>
          <a:xfrm>
            <a:off x="0" y="5114330"/>
            <a:ext cx="9144000" cy="29170"/>
          </a:xfrm>
          <a:prstGeom prst="rect">
            <a:avLst/>
          </a:prstGeom>
          <a:gradFill rotWithShape="1">
            <a:gsLst>
              <a:gs pos="0">
                <a:srgbClr val="E8A020">
                  <a:alpha val="20000"/>
                </a:srgbClr>
              </a:gs>
              <a:gs pos="50000">
                <a:srgbClr val="E8A020"/>
              </a:gs>
              <a:gs pos="100000">
                <a:srgbClr val="E8A020">
                  <a:alpha val="20000"/>
                </a:srgbClr>
              </a:gs>
            </a:gsLst>
            <a:lin ang="0" scaled="1"/>
          </a:gradFill>
          <a:ln/>
        </p:spPr>
        <p:txBody>
          <a:bodyPr wrap="none" rtlCol="0" anchor="t"/>
          <a:lstStyle/>
          <a:p>
            <a:pPr marL="0" indent="0">
              <a:buNone/>
            </a:pPr>
            <a:endParaRPr lang="en-US"/>
          </a:p>
        </p:txBody>
      </p:sp>
      <p:sp>
        <p:nvSpPr>
          <p:cNvPr id="5" name="Text 3"/>
          <p:cNvSpPr/>
          <p:nvPr/>
        </p:nvSpPr>
        <p:spPr>
          <a:xfrm>
            <a:off x="438745" y="1181249"/>
            <a:ext cx="21580" cy="470594"/>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6" name="Text 4"/>
          <p:cNvSpPr/>
          <p:nvPr/>
        </p:nvSpPr>
        <p:spPr>
          <a:xfrm>
            <a:off x="438745" y="1735634"/>
            <a:ext cx="21580" cy="625078"/>
          </a:xfrm>
          <a:custGeom>
            <a:avLst/>
            <a:gdLst/>
            <a:ahLst/>
            <a:cxnLst/>
            <a:rect l="l" t="t" r="r" b="b"/>
            <a:pathLst>
              <a:path w="21580" h="625078">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a:p>
        </p:txBody>
      </p:sp>
      <p:sp>
        <p:nvSpPr>
          <p:cNvPr id="7" name="Text 5"/>
          <p:cNvSpPr/>
          <p:nvPr/>
        </p:nvSpPr>
        <p:spPr>
          <a:xfrm>
            <a:off x="438745" y="2444502"/>
            <a:ext cx="21580" cy="470594"/>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8" name="Text 6"/>
          <p:cNvSpPr/>
          <p:nvPr/>
        </p:nvSpPr>
        <p:spPr>
          <a:xfrm>
            <a:off x="438745" y="2998887"/>
            <a:ext cx="21580" cy="470594"/>
          </a:xfrm>
          <a:custGeom>
            <a:avLst/>
            <a:gdLst/>
            <a:ahLst/>
            <a:cxnLst/>
            <a:rect l="l" t="t" r="r" b="b"/>
            <a:pathLst>
              <a:path w="21580" h="470594">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450502"/>
                </a:lnTo>
                <a:lnTo>
                  <a:pt x="18883" y="447737"/>
                </a:lnTo>
                <a:lnTo>
                  <a:pt x="16185" y="444643"/>
                </a:lnTo>
                <a:lnTo>
                  <a:pt x="13488" y="441146"/>
                </a:lnTo>
                <a:lnTo>
                  <a:pt x="10790" y="437135"/>
                </a:lnTo>
                <a:lnTo>
                  <a:pt x="8093" y="432422"/>
                </a:lnTo>
                <a:lnTo>
                  <a:pt x="5395" y="426645"/>
                </a:lnTo>
                <a:lnTo>
                  <a:pt x="2698" y="418875"/>
                </a:lnTo>
                <a:lnTo>
                  <a:pt x="0" y="399474"/>
                </a:lnTo>
                <a:close/>
              </a:path>
            </a:pathLst>
          </a:custGeom>
          <a:solidFill>
            <a:srgbClr val="E8A020">
              <a:alpha val="70000"/>
            </a:srgbClr>
          </a:solidFill>
          <a:ln/>
        </p:spPr>
        <p:txBody>
          <a:bodyPr wrap="square" rtlCol="0" anchor="t"/>
          <a:lstStyle/>
          <a:p>
            <a:pPr marL="0" indent="0">
              <a:buNone/>
            </a:pPr>
            <a:endParaRPr lang="en-US"/>
          </a:p>
        </p:txBody>
      </p:sp>
      <p:sp>
        <p:nvSpPr>
          <p:cNvPr id="9" name="Text 7"/>
          <p:cNvSpPr/>
          <p:nvPr/>
        </p:nvSpPr>
        <p:spPr>
          <a:xfrm>
            <a:off x="438745" y="3553271"/>
            <a:ext cx="21580" cy="625078"/>
          </a:xfrm>
          <a:custGeom>
            <a:avLst/>
            <a:gdLst/>
            <a:ahLst/>
            <a:cxnLst/>
            <a:rect l="l" t="t" r="r" b="b"/>
            <a:pathLst>
              <a:path w="21580" h="625078">
                <a:moveTo>
                  <a:pt x="0" y="71120"/>
                </a:moveTo>
                <a:lnTo>
                  <a:pt x="2698" y="51719"/>
                </a:lnTo>
                <a:lnTo>
                  <a:pt x="5395" y="43949"/>
                </a:lnTo>
                <a:lnTo>
                  <a:pt x="8093" y="38172"/>
                </a:lnTo>
                <a:lnTo>
                  <a:pt x="10790" y="33459"/>
                </a:lnTo>
                <a:lnTo>
                  <a:pt x="13488" y="29448"/>
                </a:lnTo>
                <a:lnTo>
                  <a:pt x="16185" y="25951"/>
                </a:lnTo>
                <a:lnTo>
                  <a:pt x="18883" y="22857"/>
                </a:lnTo>
                <a:lnTo>
                  <a:pt x="21580" y="20092"/>
                </a:lnTo>
                <a:lnTo>
                  <a:pt x="21580" y="604986"/>
                </a:lnTo>
                <a:lnTo>
                  <a:pt x="18883" y="602221"/>
                </a:lnTo>
                <a:lnTo>
                  <a:pt x="16185" y="599127"/>
                </a:lnTo>
                <a:lnTo>
                  <a:pt x="13488" y="595630"/>
                </a:lnTo>
                <a:lnTo>
                  <a:pt x="10790" y="591619"/>
                </a:lnTo>
                <a:lnTo>
                  <a:pt x="8093" y="586906"/>
                </a:lnTo>
                <a:lnTo>
                  <a:pt x="5395" y="581129"/>
                </a:lnTo>
                <a:lnTo>
                  <a:pt x="2698" y="573360"/>
                </a:lnTo>
                <a:lnTo>
                  <a:pt x="0" y="553958"/>
                </a:lnTo>
                <a:close/>
              </a:path>
            </a:pathLst>
          </a:custGeom>
          <a:solidFill>
            <a:srgbClr val="E8A020">
              <a:alpha val="70000"/>
            </a:srgbClr>
          </a:solidFill>
          <a:ln/>
        </p:spPr>
        <p:txBody>
          <a:bodyPr wrap="square" rtlCol="0" anchor="t"/>
          <a:lstStyle/>
          <a:p>
            <a:pPr marL="0" indent="0">
              <a:buNone/>
            </a:pPr>
            <a:endParaRPr lang="en-US"/>
          </a:p>
        </p:txBody>
      </p:sp>
      <p:sp>
        <p:nvSpPr>
          <p:cNvPr id="10" name="Text 8"/>
          <p:cNvSpPr/>
          <p:nvPr/>
        </p:nvSpPr>
        <p:spPr>
          <a:xfrm>
            <a:off x="429220" y="221339"/>
            <a:ext cx="2124409" cy="219373"/>
          </a:xfrm>
          <a:prstGeom prst="roundRect">
            <a:avLst>
              <a:gd name="adj" fmla="val 19954"/>
            </a:avLst>
          </a:prstGeom>
          <a:solidFill>
            <a:srgbClr val="E8A020">
              <a:alpha val="12000"/>
            </a:srgbClr>
          </a:solidFill>
          <a:ln w="9525">
            <a:solidFill>
              <a:srgbClr val="E8A020">
                <a:alpha val="40000"/>
              </a:srgbClr>
            </a:solidFill>
          </a:ln>
        </p:spPr>
        <p:txBody>
          <a:bodyPr wrap="none" lIns="232638" tIns="29210" rIns="100330" bIns="29210" rtlCol="0" anchor="ctr"/>
          <a:lstStyle/>
          <a:p>
            <a:pPr marL="0" indent="0" algn="l">
              <a:buNone/>
            </a:pPr>
            <a:r>
              <a:rPr lang="en-US" sz="949" b="1" kern="0" spc="58" dirty="0">
                <a:solidFill>
                  <a:srgbClr val="E8A020"/>
                </a:solidFill>
                <a:latin typeface="Calibri Light" pitchFamily="34" charset="0"/>
                <a:ea typeface="Calibri Light" pitchFamily="34" charset="-122"/>
                <a:cs typeface="Calibri Light" pitchFamily="34" charset="-120"/>
              </a:rPr>
              <a:t>SECTION 3  ·  FSR EFFECTIVENESS</a:t>
            </a:r>
            <a:endParaRPr lang="en-US" sz="949"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6885" y="254992"/>
            <a:ext cx="132588" cy="132588"/>
          </a:xfrm>
          <a:prstGeom prst="rect">
            <a:avLst/>
          </a:prstGeom>
        </p:spPr>
      </p:pic>
      <p:sp>
        <p:nvSpPr>
          <p:cNvPr id="12" name="Text 9"/>
          <p:cNvSpPr/>
          <p:nvPr/>
        </p:nvSpPr>
        <p:spPr>
          <a:xfrm>
            <a:off x="278451" y="503337"/>
            <a:ext cx="8865549" cy="278904"/>
          </a:xfrm>
          <a:prstGeom prst="rect">
            <a:avLst/>
          </a:prstGeom>
          <a:noFill/>
          <a:ln/>
        </p:spPr>
        <p:txBody>
          <a:bodyPr wrap="none" lIns="0" tIns="0" rIns="0" bIns="0" rtlCol="0" anchor="t"/>
          <a:lstStyle/>
          <a:p>
            <a:pPr marL="0" indent="0" algn="l">
              <a:lnSpc>
                <a:spcPts val="2197"/>
              </a:lnSpc>
              <a:buNone/>
            </a:pPr>
            <a:r>
              <a:rPr lang="en-US" sz="1910" b="1" kern="0" spc="-19">
                <a:solidFill>
                  <a:srgbClr val="0D1B3E"/>
                </a:solidFill>
                <a:latin typeface="Calibri Light" pitchFamily="34" charset="0"/>
                <a:ea typeface="Calibri Light" pitchFamily="34" charset="-122"/>
                <a:cs typeface="Calibri Light" pitchFamily="34" charset="-120"/>
              </a:rPr>
              <a:t>Measuring FSR Effectiveness</a:t>
            </a:r>
            <a:endParaRPr lang="en-US" sz="1910"/>
          </a:p>
        </p:txBody>
      </p:sp>
      <p:sp>
        <p:nvSpPr>
          <p:cNvPr id="13" name="Text 10"/>
          <p:cNvSpPr/>
          <p:nvPr/>
        </p:nvSpPr>
        <p:spPr>
          <a:xfrm>
            <a:off x="429220" y="825401"/>
            <a:ext cx="3714750" cy="13841"/>
          </a:xfrm>
          <a:prstGeom prst="roundRect">
            <a:avLst>
              <a:gd name="adj" fmla="val 100932"/>
            </a:avLst>
          </a:prstGeom>
          <a:gradFill rotWithShape="1">
            <a:gsLst>
              <a:gs pos="0">
                <a:srgbClr val="E8A020"/>
              </a:gs>
              <a:gs pos="100000">
                <a:srgbClr val="E8A020">
                  <a:alpha val="10000"/>
                </a:srgbClr>
              </a:gs>
            </a:gsLst>
            <a:lin ang="0" scaled="1"/>
          </a:gradFill>
          <a:ln/>
        </p:spPr>
        <p:txBody>
          <a:bodyPr wrap="none" rtlCol="0" anchor="t"/>
          <a:lstStyle/>
          <a:p>
            <a:pPr marL="0" indent="0">
              <a:buNone/>
            </a:pPr>
            <a:endParaRPr lang="en-US"/>
          </a:p>
        </p:txBody>
      </p:sp>
      <p:sp>
        <p:nvSpPr>
          <p:cNvPr id="14" name="Text 11"/>
          <p:cNvSpPr/>
          <p:nvPr/>
        </p:nvSpPr>
        <p:spPr>
          <a:xfrm>
            <a:off x="278451" y="905574"/>
            <a:ext cx="3365661" cy="215265"/>
          </a:xfrm>
          <a:prstGeom prst="rect">
            <a:avLst/>
          </a:prstGeom>
          <a:noFill/>
          <a:ln/>
        </p:spPr>
        <p:txBody>
          <a:bodyPr wrap="none" lIns="0" tIns="0" rIns="0" bIns="0" rtlCol="0" anchor="t"/>
          <a:lstStyle/>
          <a:p>
            <a:pPr marL="0" indent="0" algn="l">
              <a:lnSpc>
                <a:spcPts val="1872"/>
              </a:lnSpc>
              <a:spcBef>
                <a:spcPts val="364"/>
              </a:spcBef>
              <a:buNone/>
            </a:pPr>
            <a:r>
              <a:rPr lang="en-US" sz="1248" b="1" kern="0" spc="10" dirty="0">
                <a:solidFill>
                  <a:schemeClr val="accent2">
                    <a:lumMod val="75000"/>
                  </a:schemeClr>
                </a:solidFill>
                <a:latin typeface="Calibri Light" pitchFamily="34" charset="0"/>
                <a:ea typeface="Calibri Light" pitchFamily="34" charset="-122"/>
                <a:cs typeface="Calibri Light" pitchFamily="34" charset="-120"/>
              </a:rPr>
              <a:t>Four Metrics That Tell You the System Is Working</a:t>
            </a:r>
            <a:endParaRPr lang="en-US" sz="1248" dirty="0">
              <a:solidFill>
                <a:schemeClr val="accent2">
                  <a:lumMod val="75000"/>
                </a:schemeClr>
              </a:solidFill>
            </a:endParaRPr>
          </a:p>
        </p:txBody>
      </p:sp>
      <p:sp>
        <p:nvSpPr>
          <p:cNvPr id="15" name="Text 12"/>
          <p:cNvSpPr/>
          <p:nvPr/>
        </p:nvSpPr>
        <p:spPr>
          <a:xfrm>
            <a:off x="429220" y="1171724"/>
            <a:ext cx="8285559" cy="489645"/>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16" name="Text 13"/>
          <p:cNvSpPr/>
          <p:nvPr/>
        </p:nvSpPr>
        <p:spPr>
          <a:xfrm>
            <a:off x="553045" y="1330970"/>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1</a:t>
            </a:r>
            <a:endParaRPr lang="en-US" sz="806"/>
          </a:p>
        </p:txBody>
      </p:sp>
      <p:sp>
        <p:nvSpPr>
          <p:cNvPr id="17" name="Text 14"/>
          <p:cNvSpPr/>
          <p:nvPr/>
        </p:nvSpPr>
        <p:spPr>
          <a:xfrm>
            <a:off x="838795" y="1267569"/>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5302" y="1344076"/>
            <a:ext cx="132588" cy="132588"/>
          </a:xfrm>
          <a:prstGeom prst="rect">
            <a:avLst/>
          </a:prstGeom>
        </p:spPr>
      </p:pic>
      <p:sp>
        <p:nvSpPr>
          <p:cNvPr id="19" name="Text 15"/>
          <p:cNvSpPr/>
          <p:nvPr/>
        </p:nvSpPr>
        <p:spPr>
          <a:xfrm>
            <a:off x="1238845" y="1259979"/>
            <a:ext cx="6745218" cy="14481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INSTITUTIONALIZING FUNDING INTELLIGENCE</a:t>
            </a:r>
            <a:endParaRPr lang="en-US" sz="988" dirty="0">
              <a:solidFill>
                <a:schemeClr val="accent2">
                  <a:lumMod val="75000"/>
                </a:schemeClr>
              </a:solidFill>
            </a:endParaRPr>
          </a:p>
        </p:txBody>
      </p:sp>
      <p:sp>
        <p:nvSpPr>
          <p:cNvPr id="20" name="Text 16"/>
          <p:cNvSpPr/>
          <p:nvPr/>
        </p:nvSpPr>
        <p:spPr>
          <a:xfrm>
            <a:off x="1238845" y="1418630"/>
            <a:ext cx="6745218" cy="154484"/>
          </a:xfrm>
          <a:prstGeom prst="rect">
            <a:avLst/>
          </a:prstGeom>
          <a:noFill/>
          <a:ln/>
        </p:spPr>
        <p:txBody>
          <a:bodyPr wrap="non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How many opportunities spotted before announcement? Your </a:t>
            </a:r>
            <a:r>
              <a:rPr lang="en-US" sz="1131" b="1">
                <a:solidFill>
                  <a:srgbClr val="E8A020"/>
                </a:solidFill>
                <a:latin typeface="Calibri" pitchFamily="34" charset="0"/>
                <a:ea typeface="Calibri" pitchFamily="34" charset="-122"/>
                <a:cs typeface="Calibri" pitchFamily="34" charset="-120"/>
              </a:rPr>
              <a:t>scanning reach</a:t>
            </a:r>
            <a:r>
              <a:rPr lang="en-US" sz="1131">
                <a:solidFill>
                  <a:srgbClr val="0D1B3E"/>
                </a:solidFill>
                <a:latin typeface="Calibri" pitchFamily="34" charset="0"/>
                <a:ea typeface="Calibri" pitchFamily="34" charset="-122"/>
                <a:cs typeface="Calibri" pitchFamily="34" charset="-120"/>
              </a:rPr>
              <a:t> reveals true system awareness</a:t>
            </a:r>
            <a:endParaRPr lang="en-US" sz="1131"/>
          </a:p>
        </p:txBody>
      </p:sp>
      <p:sp>
        <p:nvSpPr>
          <p:cNvPr id="21" name="Text 17"/>
          <p:cNvSpPr/>
          <p:nvPr/>
        </p:nvSpPr>
        <p:spPr>
          <a:xfrm>
            <a:off x="429220" y="1726109"/>
            <a:ext cx="8285559" cy="644128"/>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22" name="Text 18"/>
          <p:cNvSpPr/>
          <p:nvPr/>
        </p:nvSpPr>
        <p:spPr>
          <a:xfrm>
            <a:off x="553045" y="1885355"/>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2</a:t>
            </a:r>
            <a:endParaRPr lang="en-US" sz="806"/>
          </a:p>
        </p:txBody>
      </p:sp>
      <p:sp>
        <p:nvSpPr>
          <p:cNvPr id="23" name="Text 19"/>
          <p:cNvSpPr/>
          <p:nvPr/>
        </p:nvSpPr>
        <p:spPr>
          <a:xfrm>
            <a:off x="838795" y="1821954"/>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5302" y="1898460"/>
            <a:ext cx="132588" cy="132588"/>
          </a:xfrm>
          <a:prstGeom prst="rect">
            <a:avLst/>
          </a:prstGeom>
        </p:spPr>
      </p:pic>
      <p:sp>
        <p:nvSpPr>
          <p:cNvPr id="25" name="Text 20"/>
          <p:cNvSpPr/>
          <p:nvPr/>
        </p:nvSpPr>
        <p:spPr>
          <a:xfrm>
            <a:off x="1203067" y="1826806"/>
            <a:ext cx="8055233" cy="182880"/>
          </a:xfrm>
          <a:prstGeom prst="rect">
            <a:avLst/>
          </a:prstGeom>
          <a:noFill/>
          <a:ln/>
        </p:spPr>
        <p:txBody>
          <a:bodyPr wrap="none" lIns="0" tIns="0" rIns="0" bIns="0" rtlCol="0" anchor="t"/>
          <a:lstStyle/>
          <a:p>
            <a:pPr marL="0" indent="0" algn="l">
              <a:lnSpc>
                <a:spcPts val="1482"/>
              </a:lnSpc>
              <a:buNone/>
            </a:pPr>
            <a:r>
              <a:rPr lang="en-US" sz="988" b="1" kern="0" spc="30">
                <a:solidFill>
                  <a:schemeClr val="accent2">
                    <a:lumMod val="75000"/>
                  </a:schemeClr>
                </a:solidFill>
                <a:latin typeface="Calibri Light" pitchFamily="34" charset="0"/>
                <a:ea typeface="Calibri Light" pitchFamily="34" charset="-122"/>
                <a:cs typeface="Calibri Light" pitchFamily="34" charset="-120"/>
              </a:rPr>
              <a:t>DECISION DOCUMENTATION</a:t>
            </a:r>
            <a:endParaRPr lang="en-US" sz="988">
              <a:solidFill>
                <a:schemeClr val="accent2">
                  <a:lumMod val="75000"/>
                </a:schemeClr>
              </a:solidFill>
            </a:endParaRPr>
          </a:p>
        </p:txBody>
      </p:sp>
      <p:sp>
        <p:nvSpPr>
          <p:cNvPr id="26" name="Text 21"/>
          <p:cNvSpPr/>
          <p:nvPr/>
        </p:nvSpPr>
        <p:spPr>
          <a:xfrm>
            <a:off x="1238845" y="1973014"/>
            <a:ext cx="7469398" cy="324416"/>
          </a:xfrm>
          <a:prstGeom prst="rect">
            <a:avLst/>
          </a:prstGeom>
          <a:noFill/>
          <a:ln/>
        </p:spPr>
        <p:txBody>
          <a:bodyPr wrap="squar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Every Go/Not Yet/Pass decision tracked — your </a:t>
            </a:r>
            <a:r>
              <a:rPr lang="en-US" sz="1131" b="1">
                <a:solidFill>
                  <a:srgbClr val="E8A020"/>
                </a:solidFill>
                <a:latin typeface="Calibri" pitchFamily="34" charset="0"/>
                <a:ea typeface="Calibri" pitchFamily="34" charset="-122"/>
                <a:cs typeface="Calibri" pitchFamily="34" charset="-120"/>
              </a:rPr>
              <a:t>decision log</a:t>
            </a:r>
            <a:r>
              <a:rPr lang="en-US" sz="1131">
                <a:solidFill>
                  <a:srgbClr val="0D1B3E"/>
                </a:solidFill>
                <a:latin typeface="Calibri" pitchFamily="34" charset="0"/>
                <a:ea typeface="Calibri" pitchFamily="34" charset="-122"/>
                <a:cs typeface="Calibri" pitchFamily="34" charset="-120"/>
              </a:rPr>
              <a:t> builds institutional memory over time</a:t>
            </a:r>
            <a:endParaRPr lang="en-US" sz="1131"/>
          </a:p>
        </p:txBody>
      </p:sp>
      <p:sp>
        <p:nvSpPr>
          <p:cNvPr id="27" name="Text 22"/>
          <p:cNvSpPr/>
          <p:nvPr/>
        </p:nvSpPr>
        <p:spPr>
          <a:xfrm>
            <a:off x="429220" y="2434977"/>
            <a:ext cx="8285559" cy="489645"/>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28" name="Text 23"/>
          <p:cNvSpPr/>
          <p:nvPr/>
        </p:nvSpPr>
        <p:spPr>
          <a:xfrm>
            <a:off x="553045" y="2594223"/>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3</a:t>
            </a:r>
            <a:endParaRPr lang="en-US" sz="806"/>
          </a:p>
        </p:txBody>
      </p:sp>
      <p:sp>
        <p:nvSpPr>
          <p:cNvPr id="29" name="Text 24"/>
          <p:cNvSpPr/>
          <p:nvPr/>
        </p:nvSpPr>
        <p:spPr>
          <a:xfrm>
            <a:off x="838795" y="2530822"/>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5302" y="2607329"/>
            <a:ext cx="132588" cy="132588"/>
          </a:xfrm>
          <a:prstGeom prst="rect">
            <a:avLst/>
          </a:prstGeom>
        </p:spPr>
      </p:pic>
      <p:sp>
        <p:nvSpPr>
          <p:cNvPr id="31" name="Text 25"/>
          <p:cNvSpPr/>
          <p:nvPr/>
        </p:nvSpPr>
        <p:spPr>
          <a:xfrm>
            <a:off x="1238845" y="2523232"/>
            <a:ext cx="7014850" cy="144810"/>
          </a:xfrm>
          <a:prstGeom prst="rect">
            <a:avLst/>
          </a:prstGeom>
          <a:noFill/>
          <a:ln/>
        </p:spPr>
        <p:txBody>
          <a:bodyPr wrap="none" lIns="0" tIns="0" rIns="0" bIns="0" rtlCol="0" anchor="t"/>
          <a:lstStyle/>
          <a:p>
            <a:pPr marL="0" indent="0" algn="l">
              <a:lnSpc>
                <a:spcPts val="1482"/>
              </a:lnSpc>
              <a:buNone/>
            </a:pPr>
            <a:r>
              <a:rPr lang="en-US" sz="988" b="1" kern="0" spc="30">
                <a:solidFill>
                  <a:schemeClr val="accent2">
                    <a:lumMod val="75000"/>
                  </a:schemeClr>
                </a:solidFill>
                <a:latin typeface="Calibri Light" pitchFamily="34" charset="0"/>
                <a:ea typeface="Calibri Light" pitchFamily="34" charset="-122"/>
                <a:cs typeface="Calibri Light" pitchFamily="34" charset="-120"/>
              </a:rPr>
              <a:t>WIN RATE TREND</a:t>
            </a:r>
            <a:endParaRPr lang="en-US" sz="988">
              <a:solidFill>
                <a:schemeClr val="accent2">
                  <a:lumMod val="75000"/>
                </a:schemeClr>
              </a:solidFill>
            </a:endParaRPr>
          </a:p>
        </p:txBody>
      </p:sp>
      <p:sp>
        <p:nvSpPr>
          <p:cNvPr id="32" name="Text 26"/>
          <p:cNvSpPr/>
          <p:nvPr/>
        </p:nvSpPr>
        <p:spPr>
          <a:xfrm>
            <a:off x="1238845" y="2681883"/>
            <a:ext cx="7014850" cy="154484"/>
          </a:xfrm>
          <a:prstGeom prst="rect">
            <a:avLst/>
          </a:prstGeom>
          <a:noFill/>
          <a:ln/>
        </p:spPr>
        <p:txBody>
          <a:bodyPr wrap="non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Even </a:t>
            </a:r>
            <a:r>
              <a:rPr lang="en-US" sz="1131" b="1">
                <a:solidFill>
                  <a:srgbClr val="E8A020"/>
                </a:solidFill>
                <a:latin typeface="Calibri" pitchFamily="34" charset="0"/>
                <a:ea typeface="Calibri" pitchFamily="34" charset="-122"/>
                <a:cs typeface="Calibri" pitchFamily="34" charset="-120"/>
              </a:rPr>
              <a:t>rising trend</a:t>
            </a:r>
            <a:r>
              <a:rPr lang="en-US" sz="1131">
                <a:solidFill>
                  <a:srgbClr val="0D1B3E"/>
                </a:solidFill>
                <a:latin typeface="Calibri" pitchFamily="34" charset="0"/>
                <a:ea typeface="Calibri" pitchFamily="34" charset="-122"/>
                <a:cs typeface="Calibri" pitchFamily="34" charset="-120"/>
              </a:rPr>
              <a:t> quarter over quarter validates the system is working</a:t>
            </a:r>
            <a:endParaRPr lang="en-US" sz="1131"/>
          </a:p>
        </p:txBody>
      </p:sp>
      <p:sp>
        <p:nvSpPr>
          <p:cNvPr id="33" name="Text 27"/>
          <p:cNvSpPr/>
          <p:nvPr/>
        </p:nvSpPr>
        <p:spPr>
          <a:xfrm>
            <a:off x="429220" y="2989362"/>
            <a:ext cx="8285559" cy="489645"/>
          </a:xfrm>
          <a:prstGeom prst="roundRect">
            <a:avLst>
              <a:gd name="adj" fmla="val 14525"/>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34" name="Text 28"/>
          <p:cNvSpPr/>
          <p:nvPr/>
        </p:nvSpPr>
        <p:spPr>
          <a:xfrm>
            <a:off x="553045" y="3148608"/>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4</a:t>
            </a:r>
            <a:endParaRPr lang="en-US" sz="806"/>
          </a:p>
        </p:txBody>
      </p:sp>
      <p:sp>
        <p:nvSpPr>
          <p:cNvPr id="35" name="Text 29"/>
          <p:cNvSpPr/>
          <p:nvPr/>
        </p:nvSpPr>
        <p:spPr>
          <a:xfrm>
            <a:off x="838795" y="3085207"/>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3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5302" y="3161714"/>
            <a:ext cx="132588" cy="132588"/>
          </a:xfrm>
          <a:prstGeom prst="rect">
            <a:avLst/>
          </a:prstGeom>
        </p:spPr>
      </p:pic>
      <p:sp>
        <p:nvSpPr>
          <p:cNvPr id="37" name="Text 30"/>
          <p:cNvSpPr/>
          <p:nvPr/>
        </p:nvSpPr>
        <p:spPr>
          <a:xfrm>
            <a:off x="1238845" y="3077617"/>
            <a:ext cx="6309747" cy="144810"/>
          </a:xfrm>
          <a:prstGeom prst="rect">
            <a:avLst/>
          </a:prstGeom>
          <a:noFill/>
          <a:ln/>
        </p:spPr>
        <p:txBody>
          <a:bodyPr wrap="none" lIns="0" tIns="0" rIns="0" bIns="0" rtlCol="0" anchor="t"/>
          <a:lstStyle/>
          <a:p>
            <a:pPr marL="0" indent="0" algn="l">
              <a:lnSpc>
                <a:spcPts val="1482"/>
              </a:lnSpc>
              <a:buNone/>
            </a:pPr>
            <a:r>
              <a:rPr lang="en-US" sz="988" b="1" kern="0" spc="30">
                <a:solidFill>
                  <a:schemeClr val="accent2">
                    <a:lumMod val="75000"/>
                  </a:schemeClr>
                </a:solidFill>
                <a:latin typeface="Calibri Light" pitchFamily="34" charset="0"/>
                <a:ea typeface="Calibri Light" pitchFamily="34" charset="-122"/>
                <a:cs typeface="Calibri Light" pitchFamily="34" charset="-120"/>
              </a:rPr>
              <a:t>LEARNING CYCLE COUNT</a:t>
            </a:r>
            <a:endParaRPr lang="en-US" sz="988">
              <a:solidFill>
                <a:schemeClr val="accent2">
                  <a:lumMod val="75000"/>
                </a:schemeClr>
              </a:solidFill>
            </a:endParaRPr>
          </a:p>
        </p:txBody>
      </p:sp>
      <p:sp>
        <p:nvSpPr>
          <p:cNvPr id="38" name="Text 31"/>
          <p:cNvSpPr/>
          <p:nvPr/>
        </p:nvSpPr>
        <p:spPr>
          <a:xfrm>
            <a:off x="1238845" y="3275300"/>
            <a:ext cx="6309747" cy="154484"/>
          </a:xfrm>
          <a:prstGeom prst="rect">
            <a:avLst/>
          </a:prstGeom>
          <a:noFill/>
          <a:ln/>
        </p:spPr>
        <p:txBody>
          <a:bodyPr wrap="none" lIns="0" tIns="0" rIns="0" bIns="0" rtlCol="0" anchor="ctr"/>
          <a:lstStyle/>
          <a:p>
            <a:pPr marL="0" indent="0" algn="l">
              <a:lnSpc>
                <a:spcPts val="1583"/>
              </a:lnSpc>
              <a:buNone/>
            </a:pPr>
            <a:r>
              <a:rPr lang="en-US" sz="1131" dirty="0">
                <a:solidFill>
                  <a:srgbClr val="0D1B3E"/>
                </a:solidFill>
                <a:latin typeface="Calibri" pitchFamily="34" charset="0"/>
                <a:ea typeface="Calibri" pitchFamily="34" charset="-122"/>
                <a:cs typeface="Calibri" pitchFamily="34" charset="-120"/>
              </a:rPr>
              <a:t>A </a:t>
            </a:r>
            <a:r>
              <a:rPr lang="en-US" sz="1131" b="1" dirty="0">
                <a:solidFill>
                  <a:srgbClr val="E8A020"/>
                </a:solidFill>
                <a:latin typeface="Calibri" pitchFamily="34" charset="0"/>
                <a:ea typeface="Calibri" pitchFamily="34" charset="-122"/>
                <a:cs typeface="Calibri" pitchFamily="34" charset="-120"/>
              </a:rPr>
              <a:t>documented intelligence</a:t>
            </a:r>
            <a:r>
              <a:rPr lang="en-US" sz="1131" dirty="0">
                <a:solidFill>
                  <a:srgbClr val="0D1B3E"/>
                </a:solidFill>
                <a:latin typeface="Calibri" pitchFamily="34" charset="0"/>
                <a:ea typeface="Calibri" pitchFamily="34" charset="-122"/>
                <a:cs typeface="Calibri" pitchFamily="34" charset="-120"/>
              </a:rPr>
              <a:t> — win or lose, every cycle produces structured lessons</a:t>
            </a:r>
            <a:endParaRPr lang="en-US" sz="1131" dirty="0"/>
          </a:p>
        </p:txBody>
      </p:sp>
      <p:sp>
        <p:nvSpPr>
          <p:cNvPr id="39" name="Text 32"/>
          <p:cNvSpPr/>
          <p:nvPr/>
        </p:nvSpPr>
        <p:spPr>
          <a:xfrm>
            <a:off x="429220" y="3543746"/>
            <a:ext cx="8285559" cy="644128"/>
          </a:xfrm>
          <a:prstGeom prst="roundRect">
            <a:avLst>
              <a:gd name="adj" fmla="val 11041"/>
            </a:avLst>
          </a:prstGeom>
          <a:solidFill>
            <a:srgbClr val="F0F4F8"/>
          </a:solidFill>
          <a:ln w="9525">
            <a:solidFill>
              <a:srgbClr val="E8A020">
                <a:alpha val="18000"/>
              </a:srgbClr>
            </a:solidFill>
          </a:ln>
        </p:spPr>
        <p:txBody>
          <a:bodyPr wrap="square" rtlCol="0" anchor="t"/>
          <a:lstStyle/>
          <a:p>
            <a:pPr marL="0" indent="0">
              <a:buNone/>
            </a:pPr>
            <a:endParaRPr lang="en-US"/>
          </a:p>
        </p:txBody>
      </p:sp>
      <p:sp>
        <p:nvSpPr>
          <p:cNvPr id="40" name="Text 33"/>
          <p:cNvSpPr/>
          <p:nvPr/>
        </p:nvSpPr>
        <p:spPr>
          <a:xfrm>
            <a:off x="553045" y="3702993"/>
            <a:ext cx="171450" cy="188595"/>
          </a:xfrm>
          <a:prstGeom prst="ellipse">
            <a:avLst/>
          </a:prstGeom>
          <a:solidFill>
            <a:srgbClr val="E8A020"/>
          </a:solidFill>
          <a:ln/>
        </p:spPr>
        <p:txBody>
          <a:bodyPr wrap="none" lIns="0" tIns="0" rIns="0" bIns="0" rtlCol="0" anchor="ctr"/>
          <a:lstStyle/>
          <a:p>
            <a:pPr marL="0" indent="0" algn="ctr">
              <a:buNone/>
            </a:pPr>
            <a:r>
              <a:rPr lang="en-US" sz="806" b="1">
                <a:solidFill>
                  <a:srgbClr val="FFFFFF"/>
                </a:solidFill>
                <a:latin typeface="Calibri" pitchFamily="34" charset="0"/>
                <a:ea typeface="Calibri" pitchFamily="34" charset="-122"/>
                <a:cs typeface="Calibri" pitchFamily="34" charset="-120"/>
              </a:rPr>
              <a:t>5</a:t>
            </a:r>
            <a:endParaRPr lang="en-US" sz="806"/>
          </a:p>
        </p:txBody>
      </p:sp>
      <p:sp>
        <p:nvSpPr>
          <p:cNvPr id="41" name="Text 34"/>
          <p:cNvSpPr/>
          <p:nvPr/>
        </p:nvSpPr>
        <p:spPr>
          <a:xfrm>
            <a:off x="838795" y="3639592"/>
            <a:ext cx="285750" cy="285750"/>
          </a:xfrm>
          <a:prstGeom prst="roundRect">
            <a:avLst>
              <a:gd name="adj" fmla="val 22667"/>
            </a:avLst>
          </a:prstGeom>
          <a:solidFill>
            <a:srgbClr val="E8A020">
              <a:alpha val="13000"/>
            </a:srgbClr>
          </a:solidFill>
          <a:ln/>
        </p:spPr>
        <p:txBody>
          <a:bodyPr wrap="square" rtlCol="0" anchor="t"/>
          <a:lstStyle/>
          <a:p>
            <a:pPr marL="0" indent="0">
              <a:buNone/>
            </a:pPr>
            <a:endParaRPr lang="en-US"/>
          </a:p>
        </p:txBody>
      </p:sp>
      <p:pic>
        <p:nvPicPr>
          <p:cNvPr id="4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5302" y="3716098"/>
            <a:ext cx="132588" cy="132588"/>
          </a:xfrm>
          <a:prstGeom prst="rect">
            <a:avLst/>
          </a:prstGeom>
        </p:spPr>
      </p:pic>
      <p:sp>
        <p:nvSpPr>
          <p:cNvPr id="43" name="Text 35"/>
          <p:cNvSpPr/>
          <p:nvPr/>
        </p:nvSpPr>
        <p:spPr>
          <a:xfrm>
            <a:off x="1239981" y="3671034"/>
            <a:ext cx="2333314" cy="182880"/>
          </a:xfrm>
          <a:prstGeom prst="rect">
            <a:avLst/>
          </a:prstGeom>
          <a:noFill/>
          <a:ln/>
        </p:spPr>
        <p:txBody>
          <a:bodyPr wrap="none" lIns="0" tIns="0" rIns="0" bIns="0" rtlCol="0" anchor="t"/>
          <a:lstStyle/>
          <a:p>
            <a:pPr marL="0" indent="0" algn="l">
              <a:lnSpc>
                <a:spcPts val="1482"/>
              </a:lnSpc>
              <a:buNone/>
            </a:pPr>
            <a:r>
              <a:rPr lang="en-US" sz="988" b="1" kern="0" spc="30" dirty="0">
                <a:solidFill>
                  <a:schemeClr val="accent2">
                    <a:lumMod val="75000"/>
                  </a:schemeClr>
                </a:solidFill>
                <a:latin typeface="Calibri Light" pitchFamily="34" charset="0"/>
                <a:ea typeface="Calibri Light" pitchFamily="34" charset="-122"/>
                <a:cs typeface="Calibri Light" pitchFamily="34" charset="-120"/>
              </a:rPr>
              <a:t>PORTFOLIO DIVERSIFICATION PROGRESS</a:t>
            </a:r>
            <a:endParaRPr lang="en-US" sz="988" dirty="0">
              <a:solidFill>
                <a:schemeClr val="accent2">
                  <a:lumMod val="75000"/>
                </a:schemeClr>
              </a:solidFill>
            </a:endParaRPr>
          </a:p>
        </p:txBody>
      </p:sp>
      <p:sp>
        <p:nvSpPr>
          <p:cNvPr id="44" name="Text 36"/>
          <p:cNvSpPr/>
          <p:nvPr/>
        </p:nvSpPr>
        <p:spPr>
          <a:xfrm>
            <a:off x="1238845" y="3790652"/>
            <a:ext cx="7469398" cy="324416"/>
          </a:xfrm>
          <a:prstGeom prst="rect">
            <a:avLst/>
          </a:prstGeom>
          <a:noFill/>
          <a:ln/>
        </p:spPr>
        <p:txBody>
          <a:bodyPr wrap="square" lIns="0" tIns="0" rIns="0" bIns="0" rtlCol="0" anchor="ctr"/>
          <a:lstStyle/>
          <a:p>
            <a:pPr marL="0" indent="0" algn="l">
              <a:lnSpc>
                <a:spcPts val="1583"/>
              </a:lnSpc>
              <a:buNone/>
            </a:pPr>
            <a:r>
              <a:rPr lang="en-US" sz="1131">
                <a:solidFill>
                  <a:srgbClr val="0D1B3E"/>
                </a:solidFill>
                <a:latin typeface="Calibri" pitchFamily="34" charset="0"/>
                <a:ea typeface="Calibri" pitchFamily="34" charset="-122"/>
                <a:cs typeface="Calibri" pitchFamily="34" charset="-120"/>
              </a:rPr>
              <a:t>Track distinct funding sources over time — from 1 to 3 is </a:t>
            </a:r>
            <a:r>
              <a:rPr lang="en-US" sz="1131" b="1">
                <a:solidFill>
                  <a:srgbClr val="E8A020"/>
                </a:solidFill>
                <a:latin typeface="Calibri" pitchFamily="34" charset="0"/>
                <a:ea typeface="Calibri" pitchFamily="34" charset="-122"/>
                <a:cs typeface="Calibri" pitchFamily="34" charset="-120"/>
              </a:rPr>
              <a:t>measurable progress</a:t>
            </a:r>
            <a:r>
              <a:rPr lang="en-US" sz="1131">
                <a:solidFill>
                  <a:srgbClr val="0D1B3E"/>
                </a:solidFill>
                <a:latin typeface="Calibri" pitchFamily="34" charset="0"/>
                <a:ea typeface="Calibri" pitchFamily="34" charset="-122"/>
                <a:cs typeface="Calibri" pitchFamily="34" charset="-120"/>
              </a:rPr>
              <a:t> toward true resilience</a:t>
            </a:r>
            <a:endParaRPr lang="en-US" sz="1131"/>
          </a:p>
        </p:txBody>
      </p:sp>
      <p:sp>
        <p:nvSpPr>
          <p:cNvPr id="45" name="Text 37"/>
          <p:cNvSpPr/>
          <p:nvPr/>
        </p:nvSpPr>
        <p:spPr>
          <a:xfrm>
            <a:off x="375718" y="4597450"/>
            <a:ext cx="8285559" cy="326678"/>
          </a:xfrm>
          <a:prstGeom prst="roundRect">
            <a:avLst>
              <a:gd name="adj" fmla="val 17494"/>
            </a:avLst>
          </a:prstGeom>
          <a:solidFill>
            <a:srgbClr val="E8A020">
              <a:alpha val="10000"/>
            </a:srgbClr>
          </a:solidFill>
          <a:ln w="9525">
            <a:solidFill>
              <a:srgbClr val="E8A020">
                <a:alpha val="50000"/>
              </a:srgbClr>
            </a:solidFill>
          </a:ln>
        </p:spPr>
        <p:txBody>
          <a:bodyPr wrap="square" rtlCol="0" anchor="t"/>
          <a:lstStyle/>
          <a:p>
            <a:pPr marL="0" indent="0">
              <a:buNone/>
            </a:pPr>
            <a:endParaRPr lang="en-US"/>
          </a:p>
        </p:txBody>
      </p:sp>
      <p:pic>
        <p:nvPicPr>
          <p:cNvPr id="46"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3840" y="4696519"/>
            <a:ext cx="132588" cy="132588"/>
          </a:xfrm>
          <a:prstGeom prst="rect">
            <a:avLst/>
          </a:prstGeom>
        </p:spPr>
      </p:pic>
      <p:sp>
        <p:nvSpPr>
          <p:cNvPr id="47" name="Text 38"/>
          <p:cNvSpPr/>
          <p:nvPr/>
        </p:nvSpPr>
        <p:spPr>
          <a:xfrm>
            <a:off x="670863" y="4656891"/>
            <a:ext cx="6125805" cy="222201"/>
          </a:xfrm>
          <a:prstGeom prst="rect">
            <a:avLst/>
          </a:prstGeom>
          <a:noFill/>
          <a:ln/>
        </p:spPr>
        <p:txBody>
          <a:bodyPr wrap="none" lIns="0" tIns="0" rIns="0" bIns="0" rtlCol="0" anchor="ctr"/>
          <a:lstStyle/>
          <a:p>
            <a:pPr marL="0" indent="0" algn="l">
              <a:lnSpc>
                <a:spcPts val="1696"/>
              </a:lnSpc>
              <a:buNone/>
            </a:pPr>
            <a:r>
              <a:rPr lang="en-US" sz="1400" b="1" dirty="0">
                <a:solidFill>
                  <a:schemeClr val="accent2">
                    <a:lumMod val="75000"/>
                  </a:schemeClr>
                </a:solidFill>
                <a:latin typeface="Calibri" pitchFamily="34" charset="0"/>
                <a:ea typeface="Calibri" pitchFamily="34" charset="-122"/>
                <a:cs typeface="Calibri" pitchFamily="34" charset="-120"/>
              </a:rPr>
              <a:t>Track these four metrics</a:t>
            </a:r>
            <a:r>
              <a:rPr lang="en-US" sz="1400" dirty="0">
                <a:solidFill>
                  <a:schemeClr val="accent2">
                    <a:lumMod val="75000"/>
                  </a:schemeClr>
                </a:solidFill>
                <a:latin typeface="Calibri" pitchFamily="34" charset="0"/>
                <a:ea typeface="Calibri" pitchFamily="34" charset="-122"/>
                <a:cs typeface="Calibri" pitchFamily="34" charset="-120"/>
              </a:rPr>
              <a:t> </a:t>
            </a:r>
            <a:r>
              <a:rPr lang="en-US" sz="1400" dirty="0">
                <a:solidFill>
                  <a:srgbClr val="0D1B3E"/>
                </a:solidFill>
                <a:latin typeface="Calibri" pitchFamily="34" charset="0"/>
                <a:ea typeface="Calibri" pitchFamily="34" charset="-122"/>
                <a:cs typeface="Calibri" pitchFamily="34" charset="-120"/>
              </a:rPr>
              <a:t>— they reveal whether the system is working before the next deadline hits.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E8A020">
                  <a:alpha val="6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0" y="0"/>
            <a:ext cx="43160" cy="5143500"/>
          </a:xfrm>
          <a:prstGeom prst="rect">
            <a:avLst/>
          </a:prstGeom>
          <a:gradFill rotWithShape="1">
            <a:gsLst>
              <a:gs pos="0">
                <a:srgbClr val="E8A020"/>
              </a:gs>
              <a:gs pos="100000">
                <a:srgbClr val="E8A020">
                  <a:alpha val="30000"/>
                </a:srgbClr>
              </a:gs>
            </a:gsLst>
            <a:lin ang="5400000" scaled="1"/>
          </a:gradFill>
          <a:ln/>
        </p:spPr>
        <p:txBody>
          <a:bodyPr wrap="square" rtlCol="0" anchor="t"/>
          <a:lstStyle/>
          <a:p>
            <a:pPr marL="0" indent="0">
              <a:buNone/>
            </a:pPr>
            <a:endParaRPr lang="en-US" dirty="0"/>
          </a:p>
        </p:txBody>
      </p:sp>
      <p:sp>
        <p:nvSpPr>
          <p:cNvPr id="5" name="Text 3"/>
          <p:cNvSpPr/>
          <p:nvPr/>
        </p:nvSpPr>
        <p:spPr>
          <a:xfrm>
            <a:off x="443210" y="228600"/>
            <a:ext cx="1527762" cy="191691"/>
          </a:xfrm>
          <a:prstGeom prst="roundRect">
            <a:avLst>
              <a:gd name="adj" fmla="val 74865"/>
            </a:avLst>
          </a:prstGeom>
          <a:solidFill>
            <a:srgbClr val="E8A020">
              <a:alpha val="15000"/>
            </a:srgbClr>
          </a:solidFill>
          <a:ln w="9525">
            <a:solidFill>
              <a:srgbClr val="E8A020">
                <a:alpha val="55000"/>
              </a:srgbClr>
            </a:solidFill>
          </a:ln>
        </p:spPr>
        <p:txBody>
          <a:bodyPr wrap="none" lIns="182820" tIns="21590" rIns="86360" bIns="21590" rtlCol="0" anchor="ctr"/>
          <a:lstStyle/>
          <a:p>
            <a:pPr marL="0" indent="0" algn="l">
              <a:buNone/>
            </a:pPr>
            <a:r>
              <a:rPr lang="en-US" sz="884" b="1" kern="0" spc="41">
                <a:solidFill>
                  <a:srgbClr val="E8A020"/>
                </a:solidFill>
                <a:latin typeface="Calibri" pitchFamily="34" charset="0"/>
                <a:ea typeface="Calibri" pitchFamily="34" charset="-122"/>
                <a:cs typeface="Calibri" pitchFamily="34" charset="-120"/>
              </a:rPr>
              <a:t>APPLIED EXAMPLE</a:t>
            </a:r>
            <a:endParaRPr lang="en-US" sz="884"/>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9402" y="258151"/>
            <a:ext cx="132588" cy="132588"/>
          </a:xfrm>
          <a:prstGeom prst="rect">
            <a:avLst/>
          </a:prstGeom>
        </p:spPr>
      </p:pic>
      <p:sp>
        <p:nvSpPr>
          <p:cNvPr id="7" name="Text 4"/>
          <p:cNvSpPr/>
          <p:nvPr/>
        </p:nvSpPr>
        <p:spPr>
          <a:xfrm>
            <a:off x="443210" y="477441"/>
            <a:ext cx="8881792" cy="278904"/>
          </a:xfrm>
          <a:prstGeom prst="rect">
            <a:avLst/>
          </a:prstGeom>
          <a:noFill/>
          <a:ln/>
        </p:spPr>
        <p:txBody>
          <a:bodyPr wrap="none" lIns="0" tIns="0" rIns="0" bIns="0" rtlCol="0" anchor="t"/>
          <a:lstStyle/>
          <a:p>
            <a:pPr marL="0" indent="0" algn="l">
              <a:lnSpc>
                <a:spcPts val="2197"/>
              </a:lnSpc>
              <a:spcAft>
                <a:spcPts val="143"/>
              </a:spcAft>
              <a:buNone/>
            </a:pPr>
            <a:r>
              <a:rPr lang="en-US" sz="1910" b="1" dirty="0">
                <a:solidFill>
                  <a:srgbClr val="E8A020"/>
                </a:solidFill>
                <a:latin typeface="Calibri" pitchFamily="34" charset="0"/>
                <a:ea typeface="Calibri" pitchFamily="34" charset="-122"/>
                <a:cs typeface="Calibri" pitchFamily="34" charset="-120"/>
              </a:rPr>
              <a:t>FMP Better Together</a:t>
            </a:r>
            <a:r>
              <a:rPr lang="en-US" sz="1910" dirty="0">
                <a:solidFill>
                  <a:srgbClr val="0D1B3E"/>
                </a:solidFill>
                <a:latin typeface="Calibri Light" pitchFamily="34" charset="0"/>
                <a:ea typeface="Calibri Light" pitchFamily="34" charset="-122"/>
                <a:cs typeface="Calibri Light" pitchFamily="34" charset="-120"/>
              </a:rPr>
              <a:t> — Program Overview</a:t>
            </a:r>
            <a:endParaRPr lang="en-US" sz="1910"/>
          </a:p>
        </p:txBody>
      </p:sp>
      <p:sp>
        <p:nvSpPr>
          <p:cNvPr id="8" name="Text 5"/>
          <p:cNvSpPr/>
          <p:nvPr/>
        </p:nvSpPr>
        <p:spPr>
          <a:xfrm>
            <a:off x="443210" y="770186"/>
            <a:ext cx="9130814" cy="159990"/>
          </a:xfrm>
          <a:prstGeom prst="rect">
            <a:avLst/>
          </a:prstGeom>
          <a:noFill/>
          <a:ln/>
        </p:spPr>
        <p:txBody>
          <a:bodyPr wrap="none" lIns="0" tIns="0" rIns="0" bIns="0" rtlCol="0" anchor="t"/>
          <a:lstStyle/>
          <a:p>
            <a:pPr marL="0" indent="0" algn="l">
              <a:lnSpc>
                <a:spcPts val="1638"/>
              </a:lnSpc>
              <a:buNone/>
            </a:pPr>
            <a:r>
              <a:rPr lang="en-US" sz="1092" i="1">
                <a:solidFill>
                  <a:srgbClr val="E8A020">
                    <a:alpha val="82000"/>
                  </a:srgbClr>
                </a:solidFill>
                <a:latin typeface="Calibri" pitchFamily="34" charset="0"/>
                <a:ea typeface="Calibri" pitchFamily="34" charset="-122"/>
                <a:cs typeface="Calibri" pitchFamily="34" charset="-120"/>
              </a:rPr>
              <a:t>Our Applied Example</a:t>
            </a:r>
            <a:endParaRPr lang="en-US" sz="1092"/>
          </a:p>
        </p:txBody>
      </p:sp>
      <p:sp>
        <p:nvSpPr>
          <p:cNvPr id="9" name="Text 6"/>
          <p:cNvSpPr/>
          <p:nvPr/>
        </p:nvSpPr>
        <p:spPr>
          <a:xfrm>
            <a:off x="443210" y="1001167"/>
            <a:ext cx="8300740" cy="7590"/>
          </a:xfrm>
          <a:prstGeom prst="rect">
            <a:avLst/>
          </a:prstGeom>
          <a:gradFill rotWithShape="1">
            <a:gsLst>
              <a:gs pos="0">
                <a:srgbClr val="E8A020"/>
              </a:gs>
              <a:gs pos="60000">
                <a:srgbClr val="E8A020">
                  <a:alpha val="20000"/>
                </a:srgbClr>
              </a:gs>
              <a:gs pos="100000">
                <a:srgbClr val="000000">
                  <a:alpha val="0"/>
                </a:srgbClr>
              </a:gs>
            </a:gsLst>
            <a:lin ang="0" scaled="1"/>
          </a:gradFill>
          <a:ln/>
        </p:spPr>
        <p:txBody>
          <a:bodyPr wrap="none" rtlCol="0" anchor="t"/>
          <a:lstStyle/>
          <a:p>
            <a:pPr marL="0" indent="0">
              <a:buNone/>
            </a:pPr>
            <a:endParaRPr lang="en-US" dirty="0"/>
          </a:p>
        </p:txBody>
      </p:sp>
      <p:sp>
        <p:nvSpPr>
          <p:cNvPr id="10" name="Text 7"/>
          <p:cNvSpPr/>
          <p:nvPr/>
        </p:nvSpPr>
        <p:spPr>
          <a:xfrm>
            <a:off x="443210" y="1095077"/>
            <a:ext cx="4064645" cy="556468"/>
          </a:xfrm>
          <a:prstGeom prst="roundRect">
            <a:avLst>
              <a:gd name="adj" fmla="val 10270"/>
            </a:avLst>
          </a:prstGeom>
          <a:solidFill>
            <a:srgbClr val="F0F4F8"/>
          </a:solidFill>
          <a:ln/>
        </p:spPr>
        <p:txBody>
          <a:bodyPr wrap="square" rtlCol="0" anchor="t"/>
          <a:lstStyle/>
          <a:p>
            <a:pPr marL="0" indent="0">
              <a:buNone/>
            </a:pPr>
            <a:endParaRPr lang="en-US" dirty="0"/>
          </a:p>
        </p:txBody>
      </p:sp>
      <p:sp>
        <p:nvSpPr>
          <p:cNvPr id="11" name="Text 8"/>
          <p:cNvSpPr/>
          <p:nvPr/>
        </p:nvSpPr>
        <p:spPr>
          <a:xfrm>
            <a:off x="443210" y="1095077"/>
            <a:ext cx="19050" cy="556468"/>
          </a:xfrm>
          <a:custGeom>
            <a:avLst/>
            <a:gdLst/>
            <a:ahLst/>
            <a:cxnLst/>
            <a:rect l="l" t="t" r="r" b="b"/>
            <a:pathLst>
              <a:path w="19050" h="556468">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41915"/>
                </a:lnTo>
                <a:lnTo>
                  <a:pt x="16669" y="539659"/>
                </a:lnTo>
                <a:lnTo>
                  <a:pt x="14288" y="537120"/>
                </a:lnTo>
                <a:lnTo>
                  <a:pt x="11906" y="534234"/>
                </a:lnTo>
                <a:lnTo>
                  <a:pt x="9525" y="530909"/>
                </a:lnTo>
                <a:lnTo>
                  <a:pt x="7144" y="526986"/>
                </a:lnTo>
                <a:lnTo>
                  <a:pt x="4763" y="522159"/>
                </a:lnTo>
                <a:lnTo>
                  <a:pt x="2381" y="515643"/>
                </a:lnTo>
                <a:lnTo>
                  <a:pt x="0" y="499318"/>
                </a:lnTo>
                <a:close/>
              </a:path>
            </a:pathLst>
          </a:custGeom>
          <a:solidFill>
            <a:srgbClr val="E8A020">
              <a:alpha val="55000"/>
            </a:srgbClr>
          </a:solidFill>
          <a:ln/>
        </p:spPr>
        <p:txBody>
          <a:bodyPr wrap="square" rtlCol="0" anchor="t"/>
          <a:lstStyle/>
          <a:p>
            <a:pPr marL="0" indent="0">
              <a:buNone/>
            </a:pPr>
            <a:endParaRPr lang="en-US" dirty="0"/>
          </a:p>
        </p:txBody>
      </p:sp>
      <p:sp>
        <p:nvSpPr>
          <p:cNvPr id="12" name="Text 9"/>
          <p:cNvSpPr/>
          <p:nvPr/>
        </p:nvSpPr>
        <p:spPr>
          <a:xfrm>
            <a:off x="562570" y="1183332"/>
            <a:ext cx="257770" cy="257770"/>
          </a:xfrm>
          <a:prstGeom prst="roundRect">
            <a:avLst>
              <a:gd name="adj" fmla="val 22171"/>
            </a:avLst>
          </a:prstGeom>
          <a:solidFill>
            <a:srgbClr val="E8A020">
              <a:alpha val="15000"/>
            </a:srgbClr>
          </a:solidFill>
          <a:ln w="9525">
            <a:solidFill>
              <a:srgbClr val="E8A020">
                <a:alpha val="55000"/>
              </a:srgbClr>
            </a:solidFill>
          </a:ln>
        </p:spPr>
        <p:txBody>
          <a:bodyPr wrap="none" rtlCol="0" anchor="t"/>
          <a:lstStyle/>
          <a:p>
            <a:pPr marL="0" indent="0">
              <a:buNone/>
            </a:pPr>
            <a:endParaRPr lang="en-US"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5087" y="1245849"/>
            <a:ext cx="132588" cy="132588"/>
          </a:xfrm>
          <a:prstGeom prst="rect">
            <a:avLst/>
          </a:prstGeom>
        </p:spPr>
      </p:pic>
      <p:sp>
        <p:nvSpPr>
          <p:cNvPr id="14" name="Text 10"/>
          <p:cNvSpPr/>
          <p:nvPr/>
        </p:nvSpPr>
        <p:spPr>
          <a:xfrm>
            <a:off x="906661" y="1183332"/>
            <a:ext cx="3840495" cy="115788"/>
          </a:xfrm>
          <a:prstGeom prst="rect">
            <a:avLst/>
          </a:prstGeom>
          <a:noFill/>
          <a:ln/>
        </p:spPr>
        <p:txBody>
          <a:bodyPr wrap="none" lIns="0" tIns="0" rIns="0" bIns="0" rtlCol="0" anchor="t"/>
          <a:lstStyle/>
          <a:p>
            <a:pPr marL="0" indent="0" algn="l">
              <a:lnSpc>
                <a:spcPts val="1185"/>
              </a:lnSpc>
              <a:buNone/>
            </a:pPr>
            <a:r>
              <a:rPr lang="en-US" sz="988" b="1">
                <a:solidFill>
                  <a:srgbClr val="E8A020"/>
                </a:solidFill>
                <a:latin typeface="Calibri" pitchFamily="34" charset="0"/>
                <a:ea typeface="Calibri" pitchFamily="34" charset="-122"/>
                <a:cs typeface="Calibri" pitchFamily="34" charset="-120"/>
              </a:rPr>
              <a:t>Program Type</a:t>
            </a:r>
            <a:endParaRPr lang="en-US" sz="988"/>
          </a:p>
        </p:txBody>
      </p:sp>
      <p:sp>
        <p:nvSpPr>
          <p:cNvPr id="15" name="Text 11"/>
          <p:cNvSpPr/>
          <p:nvPr/>
        </p:nvSpPr>
        <p:spPr>
          <a:xfrm>
            <a:off x="906661" y="1312962"/>
            <a:ext cx="3561186" cy="262845"/>
          </a:xfrm>
          <a:prstGeom prst="rect">
            <a:avLst/>
          </a:prstGeom>
          <a:noFill/>
          <a:ln/>
        </p:spPr>
        <p:txBody>
          <a:bodyPr wrap="square" lIns="0" tIns="0" rIns="0" bIns="0" rtlCol="0" anchor="t"/>
          <a:lstStyle/>
          <a:p>
            <a:pPr marL="0" indent="0" algn="l">
              <a:lnSpc>
                <a:spcPts val="1281"/>
              </a:lnSpc>
              <a:buNone/>
            </a:pPr>
            <a:r>
              <a:rPr lang="en-US" sz="949">
                <a:solidFill>
                  <a:srgbClr val="0D1B3E"/>
                </a:solidFill>
                <a:latin typeface="Calibri" pitchFamily="34" charset="0"/>
                <a:ea typeface="Calibri" pitchFamily="34" charset="-122"/>
                <a:cs typeface="Calibri" pitchFamily="34" charset="-120"/>
              </a:rPr>
              <a:t>Responsible Fatherhood multi-site collaborative — </a:t>
            </a:r>
            <a:r>
              <a:rPr lang="en-US" sz="949">
                <a:solidFill>
                  <a:srgbClr val="64748B"/>
                </a:solidFill>
                <a:latin typeface="Calibri" pitchFamily="34" charset="0"/>
                <a:ea typeface="Calibri" pitchFamily="34" charset="-122"/>
                <a:cs typeface="Calibri" pitchFamily="34" charset="-120"/>
              </a:rPr>
              <a:t>partnership model across multiple organizations</a:t>
            </a:r>
            <a:endParaRPr lang="en-US" sz="949"/>
          </a:p>
        </p:txBody>
      </p:sp>
      <p:sp>
        <p:nvSpPr>
          <p:cNvPr id="16" name="Text 12"/>
          <p:cNvSpPr/>
          <p:nvPr/>
        </p:nvSpPr>
        <p:spPr>
          <a:xfrm>
            <a:off x="4679305" y="1095077"/>
            <a:ext cx="4064645" cy="556468"/>
          </a:xfrm>
          <a:prstGeom prst="roundRect">
            <a:avLst>
              <a:gd name="adj" fmla="val 10270"/>
            </a:avLst>
          </a:prstGeom>
          <a:solidFill>
            <a:srgbClr val="F0F4F8"/>
          </a:solidFill>
          <a:ln/>
        </p:spPr>
        <p:txBody>
          <a:bodyPr wrap="square" rtlCol="0" anchor="t"/>
          <a:lstStyle/>
          <a:p>
            <a:pPr marL="0" indent="0">
              <a:buNone/>
            </a:pPr>
            <a:endParaRPr lang="en-US" dirty="0"/>
          </a:p>
        </p:txBody>
      </p:sp>
      <p:sp>
        <p:nvSpPr>
          <p:cNvPr id="17" name="Text 13"/>
          <p:cNvSpPr/>
          <p:nvPr/>
        </p:nvSpPr>
        <p:spPr>
          <a:xfrm>
            <a:off x="4679305" y="1095077"/>
            <a:ext cx="19050" cy="556468"/>
          </a:xfrm>
          <a:custGeom>
            <a:avLst/>
            <a:gdLst/>
            <a:ahLst/>
            <a:cxnLst/>
            <a:rect l="l" t="t" r="r" b="b"/>
            <a:pathLst>
              <a:path w="19050" h="556468">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41915"/>
                </a:lnTo>
                <a:lnTo>
                  <a:pt x="16669" y="539659"/>
                </a:lnTo>
                <a:lnTo>
                  <a:pt x="14288" y="537120"/>
                </a:lnTo>
                <a:lnTo>
                  <a:pt x="11906" y="534234"/>
                </a:lnTo>
                <a:lnTo>
                  <a:pt x="9525" y="530909"/>
                </a:lnTo>
                <a:lnTo>
                  <a:pt x="7144" y="526986"/>
                </a:lnTo>
                <a:lnTo>
                  <a:pt x="4763" y="522159"/>
                </a:lnTo>
                <a:lnTo>
                  <a:pt x="2381" y="515643"/>
                </a:lnTo>
                <a:lnTo>
                  <a:pt x="0" y="499318"/>
                </a:lnTo>
                <a:close/>
              </a:path>
            </a:pathLst>
          </a:custGeom>
          <a:solidFill>
            <a:srgbClr val="E8A020">
              <a:alpha val="55000"/>
            </a:srgbClr>
          </a:solidFill>
          <a:ln/>
        </p:spPr>
        <p:txBody>
          <a:bodyPr wrap="square" rtlCol="0" anchor="t"/>
          <a:lstStyle/>
          <a:p>
            <a:pPr marL="0" indent="0">
              <a:buNone/>
            </a:pPr>
            <a:endParaRPr lang="en-US" dirty="0"/>
          </a:p>
        </p:txBody>
      </p:sp>
      <p:sp>
        <p:nvSpPr>
          <p:cNvPr id="18" name="Text 14"/>
          <p:cNvSpPr/>
          <p:nvPr/>
        </p:nvSpPr>
        <p:spPr>
          <a:xfrm>
            <a:off x="4798665" y="1183332"/>
            <a:ext cx="257770" cy="257770"/>
          </a:xfrm>
          <a:prstGeom prst="roundRect">
            <a:avLst>
              <a:gd name="adj" fmla="val 22171"/>
            </a:avLst>
          </a:prstGeom>
          <a:solidFill>
            <a:srgbClr val="E8A020">
              <a:alpha val="15000"/>
            </a:srgbClr>
          </a:solidFill>
          <a:ln w="9525">
            <a:solidFill>
              <a:srgbClr val="E8A020">
                <a:alpha val="55000"/>
              </a:srgbClr>
            </a:solidFill>
          </a:ln>
        </p:spPr>
        <p:txBody>
          <a:bodyPr wrap="none" rtlCol="0" anchor="t"/>
          <a:lstStyle/>
          <a:p>
            <a:pPr marL="0" indent="0">
              <a:buNone/>
            </a:pPr>
            <a:endParaRPr lang="en-US" dirty="0"/>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61182" y="1245849"/>
            <a:ext cx="132588" cy="132588"/>
          </a:xfrm>
          <a:prstGeom prst="rect">
            <a:avLst/>
          </a:prstGeom>
        </p:spPr>
      </p:pic>
      <p:sp>
        <p:nvSpPr>
          <p:cNvPr id="20" name="Text 15"/>
          <p:cNvSpPr/>
          <p:nvPr/>
        </p:nvSpPr>
        <p:spPr>
          <a:xfrm>
            <a:off x="5142756" y="1183332"/>
            <a:ext cx="3840495" cy="115788"/>
          </a:xfrm>
          <a:prstGeom prst="rect">
            <a:avLst/>
          </a:prstGeom>
          <a:noFill/>
          <a:ln/>
        </p:spPr>
        <p:txBody>
          <a:bodyPr wrap="none" lIns="0" tIns="0" rIns="0" bIns="0" rtlCol="0" anchor="t"/>
          <a:lstStyle/>
          <a:p>
            <a:pPr marL="0" indent="0" algn="l">
              <a:lnSpc>
                <a:spcPts val="1185"/>
              </a:lnSpc>
              <a:buNone/>
            </a:pPr>
            <a:r>
              <a:rPr lang="en-US" sz="988" b="1">
                <a:solidFill>
                  <a:srgbClr val="E8A020"/>
                </a:solidFill>
                <a:latin typeface="Calibri" pitchFamily="34" charset="0"/>
                <a:ea typeface="Calibri" pitchFamily="34" charset="-122"/>
                <a:cs typeface="Calibri" pitchFamily="34" charset="-120"/>
              </a:rPr>
              <a:t>Partners</a:t>
            </a:r>
            <a:endParaRPr lang="en-US" sz="988"/>
          </a:p>
        </p:txBody>
      </p:sp>
      <p:sp>
        <p:nvSpPr>
          <p:cNvPr id="21" name="Text 16"/>
          <p:cNvSpPr/>
          <p:nvPr/>
        </p:nvSpPr>
        <p:spPr>
          <a:xfrm>
            <a:off x="5142756" y="1312962"/>
            <a:ext cx="3561186" cy="262845"/>
          </a:xfrm>
          <a:prstGeom prst="rect">
            <a:avLst/>
          </a:prstGeom>
          <a:noFill/>
          <a:ln/>
        </p:spPr>
        <p:txBody>
          <a:bodyPr wrap="square" lIns="0" tIns="0" rIns="0" bIns="0" rtlCol="0" anchor="t"/>
          <a:lstStyle/>
          <a:p>
            <a:pPr marL="0" indent="0" algn="l">
              <a:lnSpc>
                <a:spcPts val="1281"/>
              </a:lnSpc>
              <a:buNone/>
            </a:pPr>
            <a:r>
              <a:rPr lang="en-US" sz="949">
                <a:solidFill>
                  <a:srgbClr val="0D1B3E"/>
                </a:solidFill>
                <a:latin typeface="Calibri" pitchFamily="34" charset="0"/>
                <a:ea typeface="Calibri" pitchFamily="34" charset="-122"/>
                <a:cs typeface="Calibri" pitchFamily="34" charset="-120"/>
              </a:rPr>
              <a:t>Family-serving agencies, community-based organizations, </a:t>
            </a:r>
            <a:r>
              <a:rPr lang="en-US" sz="949">
                <a:solidFill>
                  <a:srgbClr val="64748B"/>
                </a:solidFill>
                <a:latin typeface="Calibri" pitchFamily="34" charset="0"/>
                <a:ea typeface="Calibri" pitchFamily="34" charset="-122"/>
                <a:cs typeface="Calibri" pitchFamily="34" charset="-120"/>
              </a:rPr>
              <a:t>faith communities, and workforce partners</a:t>
            </a:r>
            <a:endParaRPr lang="en-US" sz="949"/>
          </a:p>
        </p:txBody>
      </p:sp>
      <p:sp>
        <p:nvSpPr>
          <p:cNvPr id="22" name="Text 17"/>
          <p:cNvSpPr/>
          <p:nvPr/>
        </p:nvSpPr>
        <p:spPr>
          <a:xfrm>
            <a:off x="443210" y="1716286"/>
            <a:ext cx="4064645" cy="556468"/>
          </a:xfrm>
          <a:prstGeom prst="roundRect">
            <a:avLst>
              <a:gd name="adj" fmla="val 10270"/>
            </a:avLst>
          </a:prstGeom>
          <a:solidFill>
            <a:srgbClr val="F0F4F8"/>
          </a:solidFill>
          <a:ln/>
        </p:spPr>
        <p:txBody>
          <a:bodyPr wrap="square" rtlCol="0" anchor="t"/>
          <a:lstStyle/>
          <a:p>
            <a:pPr marL="0" indent="0">
              <a:buNone/>
            </a:pPr>
            <a:endParaRPr lang="en-US" dirty="0"/>
          </a:p>
        </p:txBody>
      </p:sp>
      <p:sp>
        <p:nvSpPr>
          <p:cNvPr id="23" name="Text 18"/>
          <p:cNvSpPr/>
          <p:nvPr/>
        </p:nvSpPr>
        <p:spPr>
          <a:xfrm>
            <a:off x="443210" y="1716286"/>
            <a:ext cx="19050" cy="556468"/>
          </a:xfrm>
          <a:custGeom>
            <a:avLst/>
            <a:gdLst/>
            <a:ahLst/>
            <a:cxnLst/>
            <a:rect l="l" t="t" r="r" b="b"/>
            <a:pathLst>
              <a:path w="19050" h="556468">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41915"/>
                </a:lnTo>
                <a:lnTo>
                  <a:pt x="16669" y="539659"/>
                </a:lnTo>
                <a:lnTo>
                  <a:pt x="14288" y="537120"/>
                </a:lnTo>
                <a:lnTo>
                  <a:pt x="11906" y="534234"/>
                </a:lnTo>
                <a:lnTo>
                  <a:pt x="9525" y="530909"/>
                </a:lnTo>
                <a:lnTo>
                  <a:pt x="7144" y="526986"/>
                </a:lnTo>
                <a:lnTo>
                  <a:pt x="4763" y="522159"/>
                </a:lnTo>
                <a:lnTo>
                  <a:pt x="2381" y="515643"/>
                </a:lnTo>
                <a:lnTo>
                  <a:pt x="0" y="499318"/>
                </a:lnTo>
                <a:close/>
              </a:path>
            </a:pathLst>
          </a:custGeom>
          <a:solidFill>
            <a:srgbClr val="E8A020">
              <a:alpha val="55000"/>
            </a:srgbClr>
          </a:solidFill>
          <a:ln/>
        </p:spPr>
        <p:txBody>
          <a:bodyPr wrap="square" rtlCol="0" anchor="t"/>
          <a:lstStyle/>
          <a:p>
            <a:pPr marL="0" indent="0">
              <a:buNone/>
            </a:pPr>
            <a:endParaRPr lang="en-US" dirty="0"/>
          </a:p>
        </p:txBody>
      </p:sp>
      <p:sp>
        <p:nvSpPr>
          <p:cNvPr id="24" name="Text 19"/>
          <p:cNvSpPr/>
          <p:nvPr/>
        </p:nvSpPr>
        <p:spPr>
          <a:xfrm>
            <a:off x="562570" y="1804541"/>
            <a:ext cx="257770" cy="257770"/>
          </a:xfrm>
          <a:prstGeom prst="roundRect">
            <a:avLst>
              <a:gd name="adj" fmla="val 22171"/>
            </a:avLst>
          </a:prstGeom>
          <a:solidFill>
            <a:srgbClr val="E8A020">
              <a:alpha val="15000"/>
            </a:srgbClr>
          </a:solidFill>
          <a:ln w="9525">
            <a:solidFill>
              <a:srgbClr val="E8A020">
                <a:alpha val="55000"/>
              </a:srgbClr>
            </a:solidFill>
          </a:ln>
        </p:spPr>
        <p:txBody>
          <a:bodyPr wrap="none" rtlCol="0" anchor="t"/>
          <a:lstStyle/>
          <a:p>
            <a:pPr marL="0" indent="0">
              <a:buNone/>
            </a:pPr>
            <a:endParaRPr lang="en-US" dirty="0"/>
          </a:p>
        </p:txBody>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5087" y="1867058"/>
            <a:ext cx="132588" cy="132588"/>
          </a:xfrm>
          <a:prstGeom prst="rect">
            <a:avLst/>
          </a:prstGeom>
        </p:spPr>
      </p:pic>
      <p:sp>
        <p:nvSpPr>
          <p:cNvPr id="26" name="Text 20"/>
          <p:cNvSpPr/>
          <p:nvPr/>
        </p:nvSpPr>
        <p:spPr>
          <a:xfrm>
            <a:off x="906661" y="1804541"/>
            <a:ext cx="3840495" cy="115788"/>
          </a:xfrm>
          <a:prstGeom prst="rect">
            <a:avLst/>
          </a:prstGeom>
          <a:noFill/>
          <a:ln/>
        </p:spPr>
        <p:txBody>
          <a:bodyPr wrap="none" lIns="0" tIns="0" rIns="0" bIns="0" rtlCol="0" anchor="t"/>
          <a:lstStyle/>
          <a:p>
            <a:pPr marL="0" indent="0" algn="l">
              <a:lnSpc>
                <a:spcPts val="1185"/>
              </a:lnSpc>
              <a:buNone/>
            </a:pPr>
            <a:r>
              <a:rPr lang="en-US" sz="988" b="1">
                <a:solidFill>
                  <a:srgbClr val="E8A020"/>
                </a:solidFill>
                <a:latin typeface="Calibri" pitchFamily="34" charset="0"/>
                <a:ea typeface="Calibri" pitchFamily="34" charset="-122"/>
                <a:cs typeface="Calibri" pitchFamily="34" charset="-120"/>
              </a:rPr>
              <a:t>Target Population</a:t>
            </a:r>
            <a:endParaRPr lang="en-US" sz="988"/>
          </a:p>
        </p:txBody>
      </p:sp>
      <p:sp>
        <p:nvSpPr>
          <p:cNvPr id="27" name="Text 21"/>
          <p:cNvSpPr/>
          <p:nvPr/>
        </p:nvSpPr>
        <p:spPr>
          <a:xfrm>
            <a:off x="906661" y="1934170"/>
            <a:ext cx="3561186" cy="262845"/>
          </a:xfrm>
          <a:prstGeom prst="rect">
            <a:avLst/>
          </a:prstGeom>
          <a:noFill/>
          <a:ln/>
        </p:spPr>
        <p:txBody>
          <a:bodyPr wrap="square" lIns="0" tIns="0" rIns="0" bIns="0" rtlCol="0" anchor="ctr"/>
          <a:lstStyle/>
          <a:p>
            <a:pPr marL="0" indent="0" algn="l">
              <a:lnSpc>
                <a:spcPts val="1281"/>
              </a:lnSpc>
              <a:buNone/>
            </a:pPr>
            <a:r>
              <a:rPr lang="en-US" sz="949">
                <a:solidFill>
                  <a:srgbClr val="0D1B3E"/>
                </a:solidFill>
                <a:latin typeface="Calibri" pitchFamily="34" charset="0"/>
                <a:ea typeface="Calibri" pitchFamily="34" charset="-122"/>
                <a:cs typeface="Calibri" pitchFamily="34" charset="-120"/>
              </a:rPr>
              <a:t>Fathers experiencing </a:t>
            </a:r>
            <a:r>
              <a:rPr lang="en-US" sz="949">
                <a:solidFill>
                  <a:srgbClr val="64748B"/>
                </a:solidFill>
                <a:latin typeface="Calibri" pitchFamily="34" charset="0"/>
                <a:ea typeface="Calibri" pitchFamily="34" charset="-122"/>
                <a:cs typeface="Calibri" pitchFamily="34" charset="-120"/>
              </a:rPr>
              <a:t>economic instability, co-parenting conflict,</a:t>
            </a:r>
            <a:r>
              <a:rPr lang="en-US" sz="949">
                <a:solidFill>
                  <a:srgbClr val="0D1B3E"/>
                </a:solidFill>
                <a:latin typeface="Calibri" pitchFamily="34" charset="0"/>
                <a:ea typeface="Calibri" pitchFamily="34" charset="-122"/>
                <a:cs typeface="Calibri" pitchFamily="34" charset="-120"/>
              </a:rPr>
              <a:t> and barriers to family engagement</a:t>
            </a:r>
            <a:endParaRPr lang="en-US" sz="949"/>
          </a:p>
        </p:txBody>
      </p:sp>
      <p:sp>
        <p:nvSpPr>
          <p:cNvPr id="28" name="Text 22"/>
          <p:cNvSpPr/>
          <p:nvPr/>
        </p:nvSpPr>
        <p:spPr>
          <a:xfrm>
            <a:off x="4679305" y="1716286"/>
            <a:ext cx="4064645" cy="556468"/>
          </a:xfrm>
          <a:prstGeom prst="roundRect">
            <a:avLst>
              <a:gd name="adj" fmla="val 10270"/>
            </a:avLst>
          </a:prstGeom>
          <a:solidFill>
            <a:srgbClr val="F0F4F8"/>
          </a:solidFill>
          <a:ln/>
        </p:spPr>
        <p:txBody>
          <a:bodyPr wrap="square" rtlCol="0" anchor="t"/>
          <a:lstStyle/>
          <a:p>
            <a:pPr marL="0" indent="0">
              <a:buNone/>
            </a:pPr>
            <a:endParaRPr lang="en-US" dirty="0"/>
          </a:p>
        </p:txBody>
      </p:sp>
      <p:sp>
        <p:nvSpPr>
          <p:cNvPr id="29" name="Text 23"/>
          <p:cNvSpPr/>
          <p:nvPr/>
        </p:nvSpPr>
        <p:spPr>
          <a:xfrm>
            <a:off x="4679305" y="1716286"/>
            <a:ext cx="19050" cy="556468"/>
          </a:xfrm>
          <a:custGeom>
            <a:avLst/>
            <a:gdLst/>
            <a:ahLst/>
            <a:cxnLst/>
            <a:rect l="l" t="t" r="r" b="b"/>
            <a:pathLst>
              <a:path w="19050" h="556468">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41915"/>
                </a:lnTo>
                <a:lnTo>
                  <a:pt x="16669" y="539659"/>
                </a:lnTo>
                <a:lnTo>
                  <a:pt x="14288" y="537120"/>
                </a:lnTo>
                <a:lnTo>
                  <a:pt x="11906" y="534234"/>
                </a:lnTo>
                <a:lnTo>
                  <a:pt x="9525" y="530909"/>
                </a:lnTo>
                <a:lnTo>
                  <a:pt x="7144" y="526986"/>
                </a:lnTo>
                <a:lnTo>
                  <a:pt x="4763" y="522159"/>
                </a:lnTo>
                <a:lnTo>
                  <a:pt x="2381" y="515643"/>
                </a:lnTo>
                <a:lnTo>
                  <a:pt x="0" y="499318"/>
                </a:lnTo>
                <a:close/>
              </a:path>
            </a:pathLst>
          </a:custGeom>
          <a:solidFill>
            <a:srgbClr val="E8A020">
              <a:alpha val="55000"/>
            </a:srgbClr>
          </a:solidFill>
          <a:ln/>
        </p:spPr>
        <p:txBody>
          <a:bodyPr wrap="square" rtlCol="0" anchor="t"/>
          <a:lstStyle/>
          <a:p>
            <a:pPr marL="0" indent="0">
              <a:buNone/>
            </a:pPr>
            <a:endParaRPr lang="en-US" dirty="0"/>
          </a:p>
        </p:txBody>
      </p:sp>
      <p:sp>
        <p:nvSpPr>
          <p:cNvPr id="30" name="Text 24"/>
          <p:cNvSpPr/>
          <p:nvPr/>
        </p:nvSpPr>
        <p:spPr>
          <a:xfrm>
            <a:off x="4798665" y="1804541"/>
            <a:ext cx="257770" cy="257770"/>
          </a:xfrm>
          <a:prstGeom prst="roundRect">
            <a:avLst>
              <a:gd name="adj" fmla="val 22171"/>
            </a:avLst>
          </a:prstGeom>
          <a:solidFill>
            <a:srgbClr val="E8A020">
              <a:alpha val="15000"/>
            </a:srgbClr>
          </a:solidFill>
          <a:ln w="9525">
            <a:solidFill>
              <a:srgbClr val="E8A020">
                <a:alpha val="55000"/>
              </a:srgbClr>
            </a:solidFill>
          </a:ln>
        </p:spPr>
        <p:txBody>
          <a:bodyPr wrap="none" rtlCol="0" anchor="t"/>
          <a:lstStyle/>
          <a:p>
            <a:pPr marL="0" indent="0">
              <a:buNone/>
            </a:pPr>
            <a:endParaRPr lang="en-US" dirty="0"/>
          </a:p>
        </p:txBody>
      </p:sp>
      <p:pic>
        <p:nvPicPr>
          <p:cNvPr id="3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61182" y="1867058"/>
            <a:ext cx="132588" cy="132588"/>
          </a:xfrm>
          <a:prstGeom prst="rect">
            <a:avLst/>
          </a:prstGeom>
        </p:spPr>
      </p:pic>
      <p:sp>
        <p:nvSpPr>
          <p:cNvPr id="32" name="Text 25"/>
          <p:cNvSpPr/>
          <p:nvPr/>
        </p:nvSpPr>
        <p:spPr>
          <a:xfrm>
            <a:off x="5142756" y="1804541"/>
            <a:ext cx="3840495" cy="115788"/>
          </a:xfrm>
          <a:prstGeom prst="rect">
            <a:avLst/>
          </a:prstGeom>
          <a:noFill/>
          <a:ln/>
        </p:spPr>
        <p:txBody>
          <a:bodyPr wrap="none" lIns="0" tIns="0" rIns="0" bIns="0" rtlCol="0" anchor="t"/>
          <a:lstStyle/>
          <a:p>
            <a:pPr marL="0" indent="0" algn="l">
              <a:lnSpc>
                <a:spcPts val="1185"/>
              </a:lnSpc>
              <a:buNone/>
            </a:pPr>
            <a:r>
              <a:rPr lang="en-US" sz="988" b="1">
                <a:solidFill>
                  <a:srgbClr val="E8A020"/>
                </a:solidFill>
                <a:latin typeface="Calibri" pitchFamily="34" charset="0"/>
                <a:ea typeface="Calibri" pitchFamily="34" charset="-122"/>
                <a:cs typeface="Calibri" pitchFamily="34" charset="-120"/>
              </a:rPr>
              <a:t>Core Services</a:t>
            </a:r>
            <a:endParaRPr lang="en-US" sz="988"/>
          </a:p>
        </p:txBody>
      </p:sp>
      <p:sp>
        <p:nvSpPr>
          <p:cNvPr id="33" name="Text 26"/>
          <p:cNvSpPr/>
          <p:nvPr/>
        </p:nvSpPr>
        <p:spPr>
          <a:xfrm>
            <a:off x="5142756" y="1934170"/>
            <a:ext cx="3561186" cy="262845"/>
          </a:xfrm>
          <a:prstGeom prst="rect">
            <a:avLst/>
          </a:prstGeom>
          <a:noFill/>
          <a:ln/>
        </p:spPr>
        <p:txBody>
          <a:bodyPr wrap="square" lIns="0" tIns="0" rIns="0" bIns="0" rtlCol="0" anchor="ctr"/>
          <a:lstStyle/>
          <a:p>
            <a:pPr marL="0" indent="0" algn="l">
              <a:lnSpc>
                <a:spcPts val="1281"/>
              </a:lnSpc>
              <a:buNone/>
            </a:pPr>
            <a:r>
              <a:rPr lang="en-US" sz="949">
                <a:solidFill>
                  <a:srgbClr val="0D1B3E"/>
                </a:solidFill>
                <a:latin typeface="Calibri" pitchFamily="34" charset="0"/>
                <a:ea typeface="Calibri" pitchFamily="34" charset="-122"/>
                <a:cs typeface="Calibri" pitchFamily="34" charset="-120"/>
              </a:rPr>
              <a:t>Employment pathways, healthy relationship skills, </a:t>
            </a:r>
            <a:r>
              <a:rPr lang="en-US" sz="949">
                <a:solidFill>
                  <a:srgbClr val="64748B"/>
                </a:solidFill>
                <a:latin typeface="Calibri" pitchFamily="34" charset="0"/>
                <a:ea typeface="Calibri" pitchFamily="34" charset="-122"/>
                <a:cs typeface="Calibri" pitchFamily="34" charset="-120"/>
              </a:rPr>
              <a:t>fatherhood identity development,</a:t>
            </a:r>
            <a:r>
              <a:rPr lang="en-US" sz="949">
                <a:solidFill>
                  <a:srgbClr val="0D1B3E"/>
                </a:solidFill>
                <a:latin typeface="Calibri" pitchFamily="34" charset="0"/>
                <a:ea typeface="Calibri" pitchFamily="34" charset="-122"/>
                <a:cs typeface="Calibri" pitchFamily="34" charset="-120"/>
              </a:rPr>
              <a:t> co-parenting support</a:t>
            </a:r>
            <a:endParaRPr lang="en-US" sz="949"/>
          </a:p>
        </p:txBody>
      </p:sp>
      <p:sp>
        <p:nvSpPr>
          <p:cNvPr id="34" name="Text 27"/>
          <p:cNvSpPr/>
          <p:nvPr/>
        </p:nvSpPr>
        <p:spPr>
          <a:xfrm>
            <a:off x="443210" y="2337495"/>
            <a:ext cx="4064645" cy="556468"/>
          </a:xfrm>
          <a:prstGeom prst="roundRect">
            <a:avLst>
              <a:gd name="adj" fmla="val 10270"/>
            </a:avLst>
          </a:prstGeom>
          <a:solidFill>
            <a:srgbClr val="F0F4F8"/>
          </a:solidFill>
          <a:ln/>
        </p:spPr>
        <p:txBody>
          <a:bodyPr wrap="square" rtlCol="0" anchor="t"/>
          <a:lstStyle/>
          <a:p>
            <a:pPr marL="0" indent="0">
              <a:buNone/>
            </a:pPr>
            <a:endParaRPr lang="en-US" dirty="0"/>
          </a:p>
        </p:txBody>
      </p:sp>
      <p:sp>
        <p:nvSpPr>
          <p:cNvPr id="35" name="Text 28"/>
          <p:cNvSpPr/>
          <p:nvPr/>
        </p:nvSpPr>
        <p:spPr>
          <a:xfrm>
            <a:off x="443210" y="2337495"/>
            <a:ext cx="19050" cy="556468"/>
          </a:xfrm>
          <a:custGeom>
            <a:avLst/>
            <a:gdLst/>
            <a:ahLst/>
            <a:cxnLst/>
            <a:rect l="l" t="t" r="r" b="b"/>
            <a:pathLst>
              <a:path w="19050" h="556468">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41915"/>
                </a:lnTo>
                <a:lnTo>
                  <a:pt x="16669" y="539659"/>
                </a:lnTo>
                <a:lnTo>
                  <a:pt x="14288" y="537120"/>
                </a:lnTo>
                <a:lnTo>
                  <a:pt x="11906" y="534234"/>
                </a:lnTo>
                <a:lnTo>
                  <a:pt x="9525" y="530909"/>
                </a:lnTo>
                <a:lnTo>
                  <a:pt x="7144" y="526986"/>
                </a:lnTo>
                <a:lnTo>
                  <a:pt x="4763" y="522159"/>
                </a:lnTo>
                <a:lnTo>
                  <a:pt x="2381" y="515643"/>
                </a:lnTo>
                <a:lnTo>
                  <a:pt x="0" y="499318"/>
                </a:lnTo>
                <a:close/>
              </a:path>
            </a:pathLst>
          </a:custGeom>
          <a:solidFill>
            <a:srgbClr val="E8A020">
              <a:alpha val="55000"/>
            </a:srgbClr>
          </a:solidFill>
          <a:ln/>
        </p:spPr>
        <p:txBody>
          <a:bodyPr wrap="square" rtlCol="0" anchor="t"/>
          <a:lstStyle/>
          <a:p>
            <a:pPr marL="0" indent="0">
              <a:buNone/>
            </a:pPr>
            <a:endParaRPr lang="en-US" dirty="0"/>
          </a:p>
        </p:txBody>
      </p:sp>
      <p:sp>
        <p:nvSpPr>
          <p:cNvPr id="36" name="Text 29"/>
          <p:cNvSpPr/>
          <p:nvPr/>
        </p:nvSpPr>
        <p:spPr>
          <a:xfrm>
            <a:off x="562570" y="2425750"/>
            <a:ext cx="257770" cy="257770"/>
          </a:xfrm>
          <a:prstGeom prst="roundRect">
            <a:avLst>
              <a:gd name="adj" fmla="val 22171"/>
            </a:avLst>
          </a:prstGeom>
          <a:solidFill>
            <a:srgbClr val="E8A020">
              <a:alpha val="15000"/>
            </a:srgbClr>
          </a:solidFill>
          <a:ln w="9525">
            <a:solidFill>
              <a:srgbClr val="E8A020">
                <a:alpha val="55000"/>
              </a:srgbClr>
            </a:solidFill>
          </a:ln>
        </p:spPr>
        <p:txBody>
          <a:bodyPr wrap="none" rtlCol="0" anchor="t"/>
          <a:lstStyle/>
          <a:p>
            <a:pPr marL="0" indent="0">
              <a:buNone/>
            </a:pPr>
            <a:endParaRPr lang="en-US" dirty="0"/>
          </a:p>
        </p:txBody>
      </p:sp>
      <p:pic>
        <p:nvPicPr>
          <p:cNvPr id="3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5087" y="2488266"/>
            <a:ext cx="132588" cy="132588"/>
          </a:xfrm>
          <a:prstGeom prst="rect">
            <a:avLst/>
          </a:prstGeom>
        </p:spPr>
      </p:pic>
      <p:sp>
        <p:nvSpPr>
          <p:cNvPr id="38" name="Text 30"/>
          <p:cNvSpPr/>
          <p:nvPr/>
        </p:nvSpPr>
        <p:spPr>
          <a:xfrm>
            <a:off x="906661" y="2425750"/>
            <a:ext cx="3840495" cy="115788"/>
          </a:xfrm>
          <a:prstGeom prst="rect">
            <a:avLst/>
          </a:prstGeom>
          <a:noFill/>
          <a:ln/>
        </p:spPr>
        <p:txBody>
          <a:bodyPr wrap="none" lIns="0" tIns="0" rIns="0" bIns="0" rtlCol="0" anchor="t"/>
          <a:lstStyle/>
          <a:p>
            <a:pPr marL="0" indent="0" algn="l">
              <a:lnSpc>
                <a:spcPts val="1185"/>
              </a:lnSpc>
              <a:buNone/>
            </a:pPr>
            <a:r>
              <a:rPr lang="en-US" sz="988" b="1">
                <a:solidFill>
                  <a:srgbClr val="E8A020"/>
                </a:solidFill>
                <a:latin typeface="Calibri" pitchFamily="34" charset="0"/>
                <a:ea typeface="Calibri" pitchFamily="34" charset="-122"/>
                <a:cs typeface="Calibri" pitchFamily="34" charset="-120"/>
              </a:rPr>
              <a:t>Funding Mix</a:t>
            </a:r>
            <a:endParaRPr lang="en-US" sz="988"/>
          </a:p>
        </p:txBody>
      </p:sp>
      <p:sp>
        <p:nvSpPr>
          <p:cNvPr id="39" name="Text 31"/>
          <p:cNvSpPr/>
          <p:nvPr/>
        </p:nvSpPr>
        <p:spPr>
          <a:xfrm>
            <a:off x="906661" y="2555379"/>
            <a:ext cx="3561186" cy="262845"/>
          </a:xfrm>
          <a:prstGeom prst="rect">
            <a:avLst/>
          </a:prstGeom>
          <a:noFill/>
          <a:ln/>
        </p:spPr>
        <p:txBody>
          <a:bodyPr wrap="square" lIns="0" tIns="0" rIns="0" bIns="0" rtlCol="0" anchor="ctr"/>
          <a:lstStyle/>
          <a:p>
            <a:pPr marL="0" indent="0" algn="l">
              <a:lnSpc>
                <a:spcPts val="1281"/>
              </a:lnSpc>
              <a:buNone/>
            </a:pPr>
            <a:r>
              <a:rPr lang="en-US" sz="949">
                <a:solidFill>
                  <a:srgbClr val="0D1B3E"/>
                </a:solidFill>
                <a:latin typeface="Calibri" pitchFamily="34" charset="0"/>
                <a:ea typeface="Calibri" pitchFamily="34" charset="-122"/>
                <a:cs typeface="Calibri" pitchFamily="34" charset="-120"/>
              </a:rPr>
              <a:t>OFA discretionary award as core + </a:t>
            </a:r>
            <a:r>
              <a:rPr lang="en-US" sz="949">
                <a:solidFill>
                  <a:srgbClr val="64748B"/>
                </a:solidFill>
                <a:latin typeface="Calibri" pitchFamily="34" charset="0"/>
                <a:ea typeface="Calibri" pitchFamily="34" charset="-122"/>
                <a:cs typeface="Calibri" pitchFamily="34" charset="-120"/>
              </a:rPr>
              <a:t>private foundation supplements</a:t>
            </a:r>
            <a:r>
              <a:rPr lang="en-US" sz="949">
                <a:solidFill>
                  <a:srgbClr val="0D1B3E"/>
                </a:solidFill>
                <a:latin typeface="Calibri" pitchFamily="34" charset="0"/>
                <a:ea typeface="Calibri" pitchFamily="34" charset="-122"/>
                <a:cs typeface="Calibri" pitchFamily="34" charset="-120"/>
              </a:rPr>
              <a:t> + local government partnerships</a:t>
            </a:r>
            <a:endParaRPr lang="en-US" sz="949"/>
          </a:p>
        </p:txBody>
      </p:sp>
      <p:sp>
        <p:nvSpPr>
          <p:cNvPr id="40" name="Text 32"/>
          <p:cNvSpPr/>
          <p:nvPr/>
        </p:nvSpPr>
        <p:spPr>
          <a:xfrm>
            <a:off x="4679305" y="2337495"/>
            <a:ext cx="4064645" cy="556468"/>
          </a:xfrm>
          <a:prstGeom prst="roundRect">
            <a:avLst>
              <a:gd name="adj" fmla="val 10270"/>
            </a:avLst>
          </a:prstGeom>
          <a:solidFill>
            <a:srgbClr val="F0F4F8"/>
          </a:solidFill>
          <a:ln/>
        </p:spPr>
        <p:txBody>
          <a:bodyPr wrap="square" rtlCol="0" anchor="t"/>
          <a:lstStyle/>
          <a:p>
            <a:pPr marL="0" indent="0">
              <a:buNone/>
            </a:pPr>
            <a:endParaRPr lang="en-US" dirty="0"/>
          </a:p>
        </p:txBody>
      </p:sp>
      <p:sp>
        <p:nvSpPr>
          <p:cNvPr id="41" name="Text 33"/>
          <p:cNvSpPr/>
          <p:nvPr/>
        </p:nvSpPr>
        <p:spPr>
          <a:xfrm>
            <a:off x="4679305" y="2337495"/>
            <a:ext cx="19050" cy="556468"/>
          </a:xfrm>
          <a:custGeom>
            <a:avLst/>
            <a:gdLst/>
            <a:ahLst/>
            <a:cxnLst/>
            <a:rect l="l" t="t" r="r" b="b"/>
            <a:pathLst>
              <a:path w="19050" h="556468">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41915"/>
                </a:lnTo>
                <a:lnTo>
                  <a:pt x="16669" y="539659"/>
                </a:lnTo>
                <a:lnTo>
                  <a:pt x="14288" y="537120"/>
                </a:lnTo>
                <a:lnTo>
                  <a:pt x="11906" y="534234"/>
                </a:lnTo>
                <a:lnTo>
                  <a:pt x="9525" y="530909"/>
                </a:lnTo>
                <a:lnTo>
                  <a:pt x="7144" y="526986"/>
                </a:lnTo>
                <a:lnTo>
                  <a:pt x="4763" y="522159"/>
                </a:lnTo>
                <a:lnTo>
                  <a:pt x="2381" y="515643"/>
                </a:lnTo>
                <a:lnTo>
                  <a:pt x="0" y="499318"/>
                </a:lnTo>
                <a:close/>
              </a:path>
            </a:pathLst>
          </a:custGeom>
          <a:solidFill>
            <a:srgbClr val="E8A020">
              <a:alpha val="55000"/>
            </a:srgbClr>
          </a:solidFill>
          <a:ln/>
        </p:spPr>
        <p:txBody>
          <a:bodyPr wrap="square" rtlCol="0" anchor="t"/>
          <a:lstStyle/>
          <a:p>
            <a:pPr marL="0" indent="0">
              <a:buNone/>
            </a:pPr>
            <a:endParaRPr lang="en-US" dirty="0"/>
          </a:p>
        </p:txBody>
      </p:sp>
      <p:sp>
        <p:nvSpPr>
          <p:cNvPr id="42" name="Text 34"/>
          <p:cNvSpPr/>
          <p:nvPr/>
        </p:nvSpPr>
        <p:spPr>
          <a:xfrm>
            <a:off x="4798665" y="2425750"/>
            <a:ext cx="257770" cy="257770"/>
          </a:xfrm>
          <a:prstGeom prst="roundRect">
            <a:avLst>
              <a:gd name="adj" fmla="val 22171"/>
            </a:avLst>
          </a:prstGeom>
          <a:solidFill>
            <a:srgbClr val="E8A020">
              <a:alpha val="15000"/>
            </a:srgbClr>
          </a:solidFill>
          <a:ln w="9525">
            <a:solidFill>
              <a:srgbClr val="E8A020">
                <a:alpha val="55000"/>
              </a:srgbClr>
            </a:solidFill>
          </a:ln>
        </p:spPr>
        <p:txBody>
          <a:bodyPr wrap="none" rtlCol="0" anchor="t"/>
          <a:lstStyle/>
          <a:p>
            <a:pPr marL="0" indent="0">
              <a:buNone/>
            </a:pPr>
            <a:endParaRPr lang="en-US" dirty="0"/>
          </a:p>
        </p:txBody>
      </p:sp>
      <p:pic>
        <p:nvPicPr>
          <p:cNvPr id="4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61182" y="2488266"/>
            <a:ext cx="132588" cy="132588"/>
          </a:xfrm>
          <a:prstGeom prst="rect">
            <a:avLst/>
          </a:prstGeom>
        </p:spPr>
      </p:pic>
      <p:sp>
        <p:nvSpPr>
          <p:cNvPr id="44" name="Text 35"/>
          <p:cNvSpPr/>
          <p:nvPr/>
        </p:nvSpPr>
        <p:spPr>
          <a:xfrm>
            <a:off x="5142756" y="2425750"/>
            <a:ext cx="3840495" cy="115788"/>
          </a:xfrm>
          <a:prstGeom prst="rect">
            <a:avLst/>
          </a:prstGeom>
          <a:noFill/>
          <a:ln/>
        </p:spPr>
        <p:txBody>
          <a:bodyPr wrap="none" lIns="0" tIns="0" rIns="0" bIns="0" rtlCol="0" anchor="t"/>
          <a:lstStyle/>
          <a:p>
            <a:pPr marL="0" indent="0" algn="l">
              <a:lnSpc>
                <a:spcPts val="1185"/>
              </a:lnSpc>
              <a:buNone/>
            </a:pPr>
            <a:r>
              <a:rPr lang="en-US" sz="988" b="1">
                <a:solidFill>
                  <a:srgbClr val="E8A020"/>
                </a:solidFill>
                <a:latin typeface="Calibri" pitchFamily="34" charset="0"/>
                <a:ea typeface="Calibri" pitchFamily="34" charset="-122"/>
                <a:cs typeface="Calibri" pitchFamily="34" charset="-120"/>
              </a:rPr>
              <a:t>Why This Example</a:t>
            </a:r>
            <a:endParaRPr lang="en-US" sz="988"/>
          </a:p>
        </p:txBody>
      </p:sp>
      <p:sp>
        <p:nvSpPr>
          <p:cNvPr id="45" name="Text 36"/>
          <p:cNvSpPr/>
          <p:nvPr/>
        </p:nvSpPr>
        <p:spPr>
          <a:xfrm>
            <a:off x="5142756" y="2555379"/>
            <a:ext cx="3561186" cy="262845"/>
          </a:xfrm>
          <a:prstGeom prst="rect">
            <a:avLst/>
          </a:prstGeom>
          <a:noFill/>
          <a:ln/>
        </p:spPr>
        <p:txBody>
          <a:bodyPr wrap="square" lIns="0" tIns="0" rIns="0" bIns="0" rtlCol="0" anchor="t"/>
          <a:lstStyle/>
          <a:p>
            <a:pPr marL="0" indent="0" algn="l">
              <a:lnSpc>
                <a:spcPts val="1281"/>
              </a:lnSpc>
              <a:buNone/>
            </a:pPr>
            <a:r>
              <a:rPr lang="en-US" sz="949">
                <a:solidFill>
                  <a:srgbClr val="0D1B3E"/>
                </a:solidFill>
                <a:latin typeface="Calibri" pitchFamily="34" charset="0"/>
                <a:ea typeface="Calibri" pitchFamily="34" charset="-122"/>
                <a:cs typeface="Calibri" pitchFamily="34" charset="-120"/>
              </a:rPr>
              <a:t>FMP Better Together demonstrates FSR operating in a </a:t>
            </a:r>
            <a:r>
              <a:rPr lang="en-US" sz="949">
                <a:solidFill>
                  <a:srgbClr val="64748B"/>
                </a:solidFill>
                <a:latin typeface="Calibri" pitchFamily="34" charset="0"/>
                <a:ea typeface="Calibri" pitchFamily="34" charset="-122"/>
                <a:cs typeface="Calibri" pitchFamily="34" charset="-120"/>
              </a:rPr>
              <a:t>real, complex, multi-partner RF program environment</a:t>
            </a:r>
            <a:endParaRPr lang="en-US" sz="949"/>
          </a:p>
        </p:txBody>
      </p:sp>
      <p:sp>
        <p:nvSpPr>
          <p:cNvPr id="46" name="Text 37"/>
          <p:cNvSpPr/>
          <p:nvPr/>
        </p:nvSpPr>
        <p:spPr>
          <a:xfrm>
            <a:off x="7799636" y="143470"/>
            <a:ext cx="1101611" cy="118021"/>
          </a:xfrm>
          <a:prstGeom prst="rect">
            <a:avLst/>
          </a:prstGeom>
          <a:noFill/>
          <a:ln/>
        </p:spPr>
        <p:txBody>
          <a:bodyPr wrap="none" lIns="0" tIns="0" rIns="0" bIns="0" rtlCol="0" anchor="t"/>
          <a:lstStyle/>
          <a:p>
            <a:pPr marL="0" indent="0" algn="l">
              <a:lnSpc>
                <a:spcPts val="1209"/>
              </a:lnSpc>
              <a:buNone/>
            </a:pPr>
            <a:r>
              <a:rPr lang="en-US" sz="806" kern="0" spc="50">
                <a:solidFill>
                  <a:srgbClr val="64748B"/>
                </a:solidFill>
                <a:latin typeface="Calibri" pitchFamily="34" charset="0"/>
                <a:ea typeface="Calibri" pitchFamily="34" charset="-122"/>
                <a:cs typeface="Calibri" pitchFamily="34" charset="-120"/>
              </a:rPr>
              <a:t>SECTION 4 · MIN 51–53</a:t>
            </a:r>
            <a:endParaRPr lang="en-US" sz="806"/>
          </a:p>
        </p:txBody>
      </p:sp>
      <p:sp>
        <p:nvSpPr>
          <p:cNvPr id="47" name="Text 38"/>
          <p:cNvSpPr/>
          <p:nvPr/>
        </p:nvSpPr>
        <p:spPr>
          <a:xfrm>
            <a:off x="0" y="4800600"/>
            <a:ext cx="9144000" cy="377190"/>
          </a:xfrm>
          <a:prstGeom prst="rect">
            <a:avLst/>
          </a:prstGeom>
          <a:solidFill>
            <a:srgbClr val="E8A020"/>
          </a:solidFill>
          <a:ln/>
        </p:spPr>
        <p:txBody>
          <a:bodyPr wrap="none" lIns="0" tIns="0" rIns="0" bIns="0" rtlCol="0" anchor="ctr"/>
          <a:lstStyle/>
          <a:p>
            <a:pPr marL="0" indent="0" algn="ctr">
              <a:buNone/>
            </a:pPr>
            <a:r>
              <a:rPr lang="en-US" sz="1092" b="1" kern="0" spc="17">
                <a:solidFill>
                  <a:srgbClr val="0D1B3E"/>
                </a:solidFill>
                <a:latin typeface="Calibri" pitchFamily="34" charset="0"/>
                <a:ea typeface="Calibri" pitchFamily="34" charset="-122"/>
                <a:cs typeface="Calibri" pitchFamily="34" charset="-120"/>
              </a:rPr>
              <a:t>FMP is a multi-site model. Your program may be smaller — the principles scale down.</a:t>
            </a:r>
            <a:endParaRPr lang="en-US" sz="1092"/>
          </a:p>
        </p:txBody>
      </p:sp>
      <p:sp>
        <p:nvSpPr>
          <p:cNvPr id="48" name="Text 39"/>
          <p:cNvSpPr/>
          <p:nvPr/>
        </p:nvSpPr>
        <p:spPr>
          <a:xfrm>
            <a:off x="7713315" y="180901"/>
            <a:ext cx="43160" cy="43160"/>
          </a:xfrm>
          <a:prstGeom prst="ellipse">
            <a:avLst/>
          </a:prstGeom>
          <a:solidFill>
            <a:srgbClr val="E8A020">
              <a:alpha val="70000"/>
            </a:srgbClr>
          </a:solidFill>
          <a:ln/>
        </p:spPr>
        <p:txBody>
          <a:bodyPr wrap="none" rtlCol="0" anchor="t"/>
          <a:lstStyle/>
          <a:p>
            <a:pPr marL="0" indent="0">
              <a:buNone/>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0" y="0"/>
            <a:ext cx="9144000" cy="520000"/>
          </a:xfrm>
          <a:prstGeom prst="rect">
            <a:avLst/>
          </a:prstGeom>
          <a:noFill/>
          <a:ln/>
        </p:spPr>
        <p:txBody>
          <a:bodyPr wrap="square" lIns="257810" tIns="100330" rIns="257810" bIns="57150" rtlCol="0" anchor="t"/>
          <a:lstStyle/>
          <a:p>
            <a:pPr marL="0" indent="0" algn="l">
              <a:buNone/>
            </a:pPr>
            <a:r>
              <a:rPr lang="en-US" sz="1560" b="1" kern="0" spc="-20">
                <a:solidFill>
                  <a:srgbClr val="0D1B3E"/>
                </a:solidFill>
                <a:latin typeface="Calibri Light" pitchFamily="34" charset="0"/>
                <a:ea typeface="Calibri Light" pitchFamily="34" charset="-122"/>
                <a:cs typeface="Calibri Light" pitchFamily="34" charset="-120"/>
              </a:rPr>
              <a:t>FMP Better Together — Logic Model at a Glance</a:t>
            </a:r>
            <a:br>
              <a:rPr lang="en-US" sz="400"/>
            </a:br>
            <a:r>
              <a:rPr lang="en-US" sz="1050" i="1">
                <a:solidFill>
                  <a:srgbClr val="64748B"/>
                </a:solidFill>
                <a:latin typeface="Calibri" pitchFamily="34" charset="0"/>
                <a:ea typeface="Calibri" pitchFamily="34" charset="-122"/>
                <a:cs typeface="Calibri" pitchFamily="34" charset="-120"/>
              </a:rPr>
              <a:t>A complete program logic: from resources invested to families transformed</a:t>
            </a:r>
            <a:endParaRPr lang="en-US" sz="1000"/>
          </a:p>
        </p:txBody>
      </p:sp>
      <p:sp>
        <p:nvSpPr>
          <p:cNvPr id="3" name="Separator"/>
          <p:cNvSpPr/>
          <p:nvPr/>
        </p:nvSpPr>
        <p:spPr>
          <a:xfrm>
            <a:off x="0" y="500000"/>
            <a:ext cx="9144000" cy="9525"/>
          </a:xfrm>
          <a:prstGeom prst="rect">
            <a:avLst/>
          </a:prstGeom>
          <a:solidFill>
            <a:srgbClr val="E8E8F0"/>
          </a:solidFill>
          <a:ln/>
        </p:spPr>
        <p:txBody>
          <a:bodyPr/>
          <a:lstStyle/>
          <a:p>
            <a:endParaRPr lang="en-US"/>
          </a:p>
        </p:txBody>
      </p:sp>
      <p:sp>
        <p:nvSpPr>
          <p:cNvPr id="4" name="Header 0"/>
          <p:cNvSpPr/>
          <p:nvPr/>
        </p:nvSpPr>
        <p:spPr>
          <a:xfrm>
            <a:off x="200000" y="570000"/>
            <a:ext cx="1620800" cy="260000"/>
          </a:xfrm>
          <a:custGeom>
            <a:avLst/>
            <a:gdLst/>
            <a:ahLst/>
            <a:cxnLst/>
            <a:rect l="l" t="t" r="r" b="b"/>
            <a:pathLst>
              <a:path w="1620800" h="260000">
                <a:moveTo>
                  <a:pt x="43180" y="0"/>
                </a:moveTo>
                <a:lnTo>
                  <a:pt x="1577620" y="0"/>
                </a:lnTo>
                <a:lnTo>
                  <a:pt x="1620800" y="0"/>
                </a:lnTo>
                <a:lnTo>
                  <a:pt x="1620800" y="43180"/>
                </a:lnTo>
                <a:lnTo>
                  <a:pt x="1620800" y="260000"/>
                </a:lnTo>
                <a:lnTo>
                  <a:pt x="0" y="260000"/>
                </a:lnTo>
                <a:lnTo>
                  <a:pt x="0" y="43180"/>
                </a:lnTo>
                <a:lnTo>
                  <a:pt x="0" y="0"/>
                </a:lnTo>
                <a:lnTo>
                  <a:pt x="43180" y="0"/>
                </a:lnTo>
                <a:close/>
              </a:path>
            </a:pathLst>
          </a:custGeom>
          <a:solidFill>
            <a:srgbClr val="E8A020"/>
          </a:solidFill>
          <a:ln/>
        </p:spPr>
        <p:txBody>
          <a:bodyPr/>
          <a:lstStyle/>
          <a:p>
            <a:endParaRPr lang="en-US"/>
          </a:p>
        </p:txBody>
      </p:sp>
      <p:sp>
        <p:nvSpPr>
          <p:cNvPr id="5" name="HeaderTxt 0"/>
          <p:cNvSpPr/>
          <p:nvPr/>
        </p:nvSpPr>
        <p:spPr>
          <a:xfrm>
            <a:off x="200000" y="570000"/>
            <a:ext cx="1620800" cy="260000"/>
          </a:xfrm>
          <a:prstGeom prst="rect">
            <a:avLst/>
          </a:prstGeom>
          <a:noFill/>
          <a:ln/>
        </p:spPr>
        <p:txBody>
          <a:bodyPr wrap="square" lIns="29210" tIns="0" rIns="29210" bIns="0" rtlCol="0" anchor="ctr"/>
          <a:lstStyle/>
          <a:p>
            <a:pPr marL="0" indent="0" algn="ctr">
              <a:buNone/>
            </a:pPr>
            <a:r>
              <a:rPr lang="en-US" sz="900" b="1" kern="0" spc="60">
                <a:solidFill>
                  <a:srgbClr val="FFFFFF"/>
                </a:solidFill>
                <a:latin typeface="Calibri" pitchFamily="34" charset="0"/>
                <a:ea typeface="Calibri" pitchFamily="34" charset="-122"/>
                <a:cs typeface="Calibri" pitchFamily="34" charset="-120"/>
              </a:rPr>
              <a:t>INPUTS</a:t>
            </a:r>
            <a:endParaRPr lang="en-US" sz="900"/>
          </a:p>
        </p:txBody>
      </p:sp>
      <p:sp>
        <p:nvSpPr>
          <p:cNvPr id="6" name="Body 0"/>
          <p:cNvSpPr/>
          <p:nvPr/>
        </p:nvSpPr>
        <p:spPr>
          <a:xfrm>
            <a:off x="192000" y="885001"/>
            <a:ext cx="1620800" cy="2064497"/>
          </a:xfrm>
          <a:custGeom>
            <a:avLst/>
            <a:gdLst/>
            <a:ahLst/>
            <a:cxnLst/>
            <a:rect l="l" t="t" r="r" b="b"/>
            <a:pathLst>
              <a:path w="1620800" h="1650000">
                <a:moveTo>
                  <a:pt x="0" y="0"/>
                </a:moveTo>
                <a:lnTo>
                  <a:pt x="1620800" y="0"/>
                </a:lnTo>
                <a:lnTo>
                  <a:pt x="1620800" y="1606820"/>
                </a:lnTo>
                <a:lnTo>
                  <a:pt x="1620800" y="1650000"/>
                </a:lnTo>
                <a:lnTo>
                  <a:pt x="1577620" y="1650000"/>
                </a:lnTo>
                <a:lnTo>
                  <a:pt x="43180" y="1650000"/>
                </a:lnTo>
                <a:lnTo>
                  <a:pt x="0" y="1650000"/>
                </a:lnTo>
                <a:lnTo>
                  <a:pt x="0" y="1606820"/>
                </a:lnTo>
                <a:lnTo>
                  <a:pt x="0" y="0"/>
                </a:lnTo>
                <a:close/>
              </a:path>
            </a:pathLst>
          </a:custGeom>
          <a:solidFill>
            <a:srgbClr val="F0F4F8"/>
          </a:solidFill>
          <a:ln/>
        </p:spPr>
        <p:txBody>
          <a:bodyPr/>
          <a:lstStyle/>
          <a:p>
            <a:endParaRPr lang="en-US"/>
          </a:p>
        </p:txBody>
      </p:sp>
      <p:sp>
        <p:nvSpPr>
          <p:cNvPr id="7" name="BodyTxt 0"/>
          <p:cNvSpPr/>
          <p:nvPr/>
        </p:nvSpPr>
        <p:spPr>
          <a:xfrm>
            <a:off x="270000" y="885000"/>
            <a:ext cx="1480800" cy="2064498"/>
          </a:xfrm>
          <a:prstGeom prst="rect">
            <a:avLst/>
          </a:prstGeom>
          <a:noFill/>
          <a:ln/>
        </p:spPr>
        <p:txBody>
          <a:bodyPr wrap="square" lIns="0" tIns="0" rIns="0" bIns="0" rtlCol="0" anchor="t"/>
          <a:lstStyle/>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OFA Discretionary Award</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3+ partner organizations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Trained fatherhood facilitators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Case management staff</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Community trust &amp; relationships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Data management system</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Curricula &amp; program materials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Partner facilities &amp; space</a:t>
            </a:r>
            <a:endParaRPr lang="en-US" sz="880" dirty="0"/>
          </a:p>
        </p:txBody>
      </p:sp>
      <p:sp>
        <p:nvSpPr>
          <p:cNvPr id="8" name="Header 1"/>
          <p:cNvSpPr/>
          <p:nvPr/>
        </p:nvSpPr>
        <p:spPr>
          <a:xfrm>
            <a:off x="1980800" y="570000"/>
            <a:ext cx="1620800" cy="260000"/>
          </a:xfrm>
          <a:custGeom>
            <a:avLst/>
            <a:gdLst/>
            <a:ahLst/>
            <a:cxnLst/>
            <a:rect l="l" t="t" r="r" b="b"/>
            <a:pathLst>
              <a:path w="1620800" h="260000">
                <a:moveTo>
                  <a:pt x="43180" y="0"/>
                </a:moveTo>
                <a:lnTo>
                  <a:pt x="1577620" y="0"/>
                </a:lnTo>
                <a:lnTo>
                  <a:pt x="1620800" y="0"/>
                </a:lnTo>
                <a:lnTo>
                  <a:pt x="1620800" y="43180"/>
                </a:lnTo>
                <a:lnTo>
                  <a:pt x="1620800" y="260000"/>
                </a:lnTo>
                <a:lnTo>
                  <a:pt x="0" y="260000"/>
                </a:lnTo>
                <a:lnTo>
                  <a:pt x="0" y="43180"/>
                </a:lnTo>
                <a:lnTo>
                  <a:pt x="0" y="0"/>
                </a:lnTo>
                <a:lnTo>
                  <a:pt x="43180" y="0"/>
                </a:lnTo>
                <a:close/>
              </a:path>
            </a:pathLst>
          </a:custGeom>
          <a:solidFill>
            <a:srgbClr val="E8A020"/>
          </a:solidFill>
          <a:ln/>
        </p:spPr>
        <p:txBody>
          <a:bodyPr/>
          <a:lstStyle/>
          <a:p>
            <a:endParaRPr lang="en-US"/>
          </a:p>
        </p:txBody>
      </p:sp>
      <p:sp>
        <p:nvSpPr>
          <p:cNvPr id="9" name="HeaderTxt 1"/>
          <p:cNvSpPr/>
          <p:nvPr/>
        </p:nvSpPr>
        <p:spPr>
          <a:xfrm>
            <a:off x="1980800" y="570000"/>
            <a:ext cx="1620800" cy="260000"/>
          </a:xfrm>
          <a:prstGeom prst="rect">
            <a:avLst/>
          </a:prstGeom>
          <a:noFill/>
          <a:ln/>
        </p:spPr>
        <p:txBody>
          <a:bodyPr wrap="square" lIns="29210" tIns="0" rIns="29210" bIns="0" rtlCol="0" anchor="ctr"/>
          <a:lstStyle/>
          <a:p>
            <a:pPr marL="0" indent="0" algn="ctr">
              <a:buNone/>
            </a:pPr>
            <a:r>
              <a:rPr lang="en-US" sz="900" b="1" kern="0" spc="60">
                <a:solidFill>
                  <a:srgbClr val="FFFFFF"/>
                </a:solidFill>
                <a:latin typeface="Calibri" pitchFamily="34" charset="0"/>
                <a:ea typeface="Calibri" pitchFamily="34" charset="-122"/>
                <a:cs typeface="Calibri" pitchFamily="34" charset="-120"/>
              </a:rPr>
              <a:t>ACTIVITIES</a:t>
            </a:r>
            <a:endParaRPr lang="en-US" sz="900"/>
          </a:p>
        </p:txBody>
      </p:sp>
      <p:sp>
        <p:nvSpPr>
          <p:cNvPr id="10" name="Body 1"/>
          <p:cNvSpPr/>
          <p:nvPr/>
        </p:nvSpPr>
        <p:spPr>
          <a:xfrm>
            <a:off x="1980800" y="829999"/>
            <a:ext cx="1620800" cy="2406176"/>
          </a:xfrm>
          <a:custGeom>
            <a:avLst/>
            <a:gdLst/>
            <a:ahLst/>
            <a:cxnLst/>
            <a:rect l="l" t="t" r="r" b="b"/>
            <a:pathLst>
              <a:path w="1620800" h="1650000">
                <a:moveTo>
                  <a:pt x="0" y="0"/>
                </a:moveTo>
                <a:lnTo>
                  <a:pt x="1620800" y="0"/>
                </a:lnTo>
                <a:lnTo>
                  <a:pt x="1620800" y="1606820"/>
                </a:lnTo>
                <a:lnTo>
                  <a:pt x="1620800" y="1650000"/>
                </a:lnTo>
                <a:lnTo>
                  <a:pt x="1577620" y="1650000"/>
                </a:lnTo>
                <a:lnTo>
                  <a:pt x="43180" y="1650000"/>
                </a:lnTo>
                <a:lnTo>
                  <a:pt x="0" y="1650000"/>
                </a:lnTo>
                <a:lnTo>
                  <a:pt x="0" y="1606820"/>
                </a:lnTo>
                <a:lnTo>
                  <a:pt x="0" y="0"/>
                </a:lnTo>
                <a:close/>
              </a:path>
            </a:pathLst>
          </a:custGeom>
          <a:solidFill>
            <a:srgbClr val="F0F4F8"/>
          </a:solidFill>
          <a:ln/>
        </p:spPr>
        <p:txBody>
          <a:bodyPr/>
          <a:lstStyle/>
          <a:p>
            <a:endParaRPr lang="en-US"/>
          </a:p>
        </p:txBody>
      </p:sp>
      <p:sp>
        <p:nvSpPr>
          <p:cNvPr id="11" name="BodyTxt 1"/>
          <p:cNvSpPr/>
          <p:nvPr/>
        </p:nvSpPr>
        <p:spPr>
          <a:xfrm>
            <a:off x="2050800" y="885000"/>
            <a:ext cx="1480800" cy="2343278"/>
          </a:xfrm>
          <a:prstGeom prst="rect">
            <a:avLst/>
          </a:prstGeom>
          <a:noFill/>
          <a:ln/>
        </p:spPr>
        <p:txBody>
          <a:bodyPr wrap="square" lIns="0" tIns="0" rIns="0" bIns="0" rtlCol="0" anchor="t"/>
          <a:lstStyle/>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24-week fatherhood curriculum</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Employment coaching sessions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Co-parenting skill workshops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Individual case management</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Peer support groups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Community engagement events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Partner coordination meetings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Data collection &amp; reporting</a:t>
            </a:r>
            <a:endParaRPr lang="en-US" sz="880" dirty="0"/>
          </a:p>
        </p:txBody>
      </p:sp>
      <p:sp>
        <p:nvSpPr>
          <p:cNvPr id="12" name="Header 2"/>
          <p:cNvSpPr/>
          <p:nvPr/>
        </p:nvSpPr>
        <p:spPr>
          <a:xfrm>
            <a:off x="3761600" y="570000"/>
            <a:ext cx="1620800" cy="260000"/>
          </a:xfrm>
          <a:custGeom>
            <a:avLst/>
            <a:gdLst/>
            <a:ahLst/>
            <a:cxnLst/>
            <a:rect l="l" t="t" r="r" b="b"/>
            <a:pathLst>
              <a:path w="1620800" h="260000">
                <a:moveTo>
                  <a:pt x="43180" y="0"/>
                </a:moveTo>
                <a:lnTo>
                  <a:pt x="1577620" y="0"/>
                </a:lnTo>
                <a:lnTo>
                  <a:pt x="1620800" y="0"/>
                </a:lnTo>
                <a:lnTo>
                  <a:pt x="1620800" y="43180"/>
                </a:lnTo>
                <a:lnTo>
                  <a:pt x="1620800" y="260000"/>
                </a:lnTo>
                <a:lnTo>
                  <a:pt x="0" y="260000"/>
                </a:lnTo>
                <a:lnTo>
                  <a:pt x="0" y="43180"/>
                </a:lnTo>
                <a:lnTo>
                  <a:pt x="0" y="0"/>
                </a:lnTo>
                <a:lnTo>
                  <a:pt x="43180" y="0"/>
                </a:lnTo>
                <a:close/>
              </a:path>
            </a:pathLst>
          </a:custGeom>
          <a:solidFill>
            <a:srgbClr val="E8A020"/>
          </a:solidFill>
          <a:ln/>
        </p:spPr>
        <p:txBody>
          <a:bodyPr/>
          <a:lstStyle/>
          <a:p>
            <a:endParaRPr lang="en-US"/>
          </a:p>
        </p:txBody>
      </p:sp>
      <p:sp>
        <p:nvSpPr>
          <p:cNvPr id="13" name="HeaderTxt 2"/>
          <p:cNvSpPr/>
          <p:nvPr/>
        </p:nvSpPr>
        <p:spPr>
          <a:xfrm>
            <a:off x="3761600" y="570000"/>
            <a:ext cx="1620800" cy="260000"/>
          </a:xfrm>
          <a:prstGeom prst="rect">
            <a:avLst/>
          </a:prstGeom>
          <a:noFill/>
          <a:ln/>
        </p:spPr>
        <p:txBody>
          <a:bodyPr wrap="square" lIns="29210" tIns="0" rIns="29210" bIns="0" rtlCol="0" anchor="ctr"/>
          <a:lstStyle/>
          <a:p>
            <a:pPr marL="0" indent="0" algn="ctr">
              <a:buNone/>
            </a:pPr>
            <a:r>
              <a:rPr lang="en-US" sz="900" b="1" kern="0" spc="60">
                <a:solidFill>
                  <a:srgbClr val="FFFFFF"/>
                </a:solidFill>
                <a:latin typeface="Calibri" pitchFamily="34" charset="0"/>
                <a:ea typeface="Calibri" pitchFamily="34" charset="-122"/>
                <a:cs typeface="Calibri" pitchFamily="34" charset="-120"/>
              </a:rPr>
              <a:t>OUTPUTS</a:t>
            </a:r>
            <a:endParaRPr lang="en-US" sz="900"/>
          </a:p>
        </p:txBody>
      </p:sp>
      <p:sp>
        <p:nvSpPr>
          <p:cNvPr id="14" name="Body 2"/>
          <p:cNvSpPr/>
          <p:nvPr/>
        </p:nvSpPr>
        <p:spPr>
          <a:xfrm>
            <a:off x="3761600" y="830000"/>
            <a:ext cx="1620800" cy="1650000"/>
          </a:xfrm>
          <a:custGeom>
            <a:avLst/>
            <a:gdLst/>
            <a:ahLst/>
            <a:cxnLst/>
            <a:rect l="l" t="t" r="r" b="b"/>
            <a:pathLst>
              <a:path w="1620800" h="1650000">
                <a:moveTo>
                  <a:pt x="0" y="0"/>
                </a:moveTo>
                <a:lnTo>
                  <a:pt x="1620800" y="0"/>
                </a:lnTo>
                <a:lnTo>
                  <a:pt x="1620800" y="1606820"/>
                </a:lnTo>
                <a:lnTo>
                  <a:pt x="1620800" y="1650000"/>
                </a:lnTo>
                <a:lnTo>
                  <a:pt x="1577620" y="1650000"/>
                </a:lnTo>
                <a:lnTo>
                  <a:pt x="43180" y="1650000"/>
                </a:lnTo>
                <a:lnTo>
                  <a:pt x="0" y="1650000"/>
                </a:lnTo>
                <a:lnTo>
                  <a:pt x="0" y="1606820"/>
                </a:lnTo>
                <a:lnTo>
                  <a:pt x="0" y="0"/>
                </a:lnTo>
                <a:close/>
              </a:path>
            </a:pathLst>
          </a:custGeom>
          <a:solidFill>
            <a:srgbClr val="F0F4F8"/>
          </a:solidFill>
          <a:ln/>
        </p:spPr>
        <p:txBody>
          <a:bodyPr/>
          <a:lstStyle/>
          <a:p>
            <a:endParaRPr lang="en-US"/>
          </a:p>
        </p:txBody>
      </p:sp>
      <p:sp>
        <p:nvSpPr>
          <p:cNvPr id="15" name="BodyTxt 2"/>
          <p:cNvSpPr/>
          <p:nvPr/>
        </p:nvSpPr>
        <p:spPr>
          <a:xfrm>
            <a:off x="3831600" y="885000"/>
            <a:ext cx="1480800" cy="1580000"/>
          </a:xfrm>
          <a:prstGeom prst="rect">
            <a:avLst/>
          </a:prstGeom>
          <a:noFill/>
          <a:ln/>
        </p:spPr>
        <p:txBody>
          <a:bodyPr wrap="square" lIns="0" tIns="0" rIns="0" bIns="0" rtlCol="0" anchor="t"/>
          <a:lstStyle/>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120+ fathers served annually</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85% curriculum completion rate</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300+ co-parenting sessions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12 active executed MOUs</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4:1 resource leverage ratio</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3 active partner sites</a:t>
            </a:r>
            <a:endParaRPr lang="en-US" sz="880" dirty="0"/>
          </a:p>
        </p:txBody>
      </p:sp>
      <p:sp>
        <p:nvSpPr>
          <p:cNvPr id="16" name="Header 3"/>
          <p:cNvSpPr/>
          <p:nvPr/>
        </p:nvSpPr>
        <p:spPr>
          <a:xfrm>
            <a:off x="5542400" y="570000"/>
            <a:ext cx="1620800" cy="260000"/>
          </a:xfrm>
          <a:custGeom>
            <a:avLst/>
            <a:gdLst/>
            <a:ahLst/>
            <a:cxnLst/>
            <a:rect l="l" t="t" r="r" b="b"/>
            <a:pathLst>
              <a:path w="1620800" h="260000">
                <a:moveTo>
                  <a:pt x="43180" y="0"/>
                </a:moveTo>
                <a:lnTo>
                  <a:pt x="1577620" y="0"/>
                </a:lnTo>
                <a:lnTo>
                  <a:pt x="1620800" y="0"/>
                </a:lnTo>
                <a:lnTo>
                  <a:pt x="1620800" y="43180"/>
                </a:lnTo>
                <a:lnTo>
                  <a:pt x="1620800" y="260000"/>
                </a:lnTo>
                <a:lnTo>
                  <a:pt x="0" y="260000"/>
                </a:lnTo>
                <a:lnTo>
                  <a:pt x="0" y="43180"/>
                </a:lnTo>
                <a:lnTo>
                  <a:pt x="0" y="0"/>
                </a:lnTo>
                <a:lnTo>
                  <a:pt x="43180" y="0"/>
                </a:lnTo>
                <a:close/>
              </a:path>
            </a:pathLst>
          </a:custGeom>
          <a:solidFill>
            <a:srgbClr val="E8A020"/>
          </a:solidFill>
          <a:ln/>
        </p:spPr>
        <p:txBody>
          <a:bodyPr/>
          <a:lstStyle/>
          <a:p>
            <a:endParaRPr lang="en-US"/>
          </a:p>
        </p:txBody>
      </p:sp>
      <p:sp>
        <p:nvSpPr>
          <p:cNvPr id="17" name="HeaderTxt 3"/>
          <p:cNvSpPr/>
          <p:nvPr/>
        </p:nvSpPr>
        <p:spPr>
          <a:xfrm>
            <a:off x="5542400" y="570000"/>
            <a:ext cx="1620800" cy="260000"/>
          </a:xfrm>
          <a:prstGeom prst="rect">
            <a:avLst/>
          </a:prstGeom>
          <a:noFill/>
          <a:ln/>
        </p:spPr>
        <p:txBody>
          <a:bodyPr wrap="square" lIns="29210" tIns="0" rIns="29210" bIns="0" rtlCol="0" anchor="ctr"/>
          <a:lstStyle/>
          <a:p>
            <a:pPr marL="0" indent="0" algn="ctr">
              <a:buNone/>
            </a:pPr>
            <a:r>
              <a:rPr lang="en-US" sz="900" b="1" kern="0" spc="60">
                <a:solidFill>
                  <a:srgbClr val="FFFFFF"/>
                </a:solidFill>
                <a:latin typeface="Calibri" pitchFamily="34" charset="0"/>
                <a:ea typeface="Calibri" pitchFamily="34" charset="-122"/>
                <a:cs typeface="Calibri" pitchFamily="34" charset="-120"/>
              </a:rPr>
              <a:t>SHORT-TERM OUTCOMES</a:t>
            </a:r>
            <a:endParaRPr lang="en-US" sz="900"/>
          </a:p>
        </p:txBody>
      </p:sp>
      <p:sp>
        <p:nvSpPr>
          <p:cNvPr id="18" name="Body 3"/>
          <p:cNvSpPr/>
          <p:nvPr/>
        </p:nvSpPr>
        <p:spPr>
          <a:xfrm>
            <a:off x="5542400" y="814999"/>
            <a:ext cx="1620800" cy="2022985"/>
          </a:xfrm>
          <a:custGeom>
            <a:avLst/>
            <a:gdLst/>
            <a:ahLst/>
            <a:cxnLst/>
            <a:rect l="l" t="t" r="r" b="b"/>
            <a:pathLst>
              <a:path w="1620800" h="1650000">
                <a:moveTo>
                  <a:pt x="0" y="0"/>
                </a:moveTo>
                <a:lnTo>
                  <a:pt x="1620800" y="0"/>
                </a:lnTo>
                <a:lnTo>
                  <a:pt x="1620800" y="1606820"/>
                </a:lnTo>
                <a:lnTo>
                  <a:pt x="1620800" y="1650000"/>
                </a:lnTo>
                <a:lnTo>
                  <a:pt x="1577620" y="1650000"/>
                </a:lnTo>
                <a:lnTo>
                  <a:pt x="43180" y="1650000"/>
                </a:lnTo>
                <a:lnTo>
                  <a:pt x="0" y="1650000"/>
                </a:lnTo>
                <a:lnTo>
                  <a:pt x="0" y="1606820"/>
                </a:lnTo>
                <a:lnTo>
                  <a:pt x="0" y="0"/>
                </a:lnTo>
                <a:close/>
              </a:path>
            </a:pathLst>
          </a:custGeom>
          <a:solidFill>
            <a:srgbClr val="FFFBF0"/>
          </a:solidFill>
          <a:ln/>
        </p:spPr>
        <p:txBody>
          <a:bodyPr/>
          <a:lstStyle/>
          <a:p>
            <a:endParaRPr lang="en-US"/>
          </a:p>
        </p:txBody>
      </p:sp>
      <p:sp>
        <p:nvSpPr>
          <p:cNvPr id="19" name="BodyTxt 3"/>
          <p:cNvSpPr/>
          <p:nvPr/>
        </p:nvSpPr>
        <p:spPr>
          <a:xfrm>
            <a:off x="5612400" y="885000"/>
            <a:ext cx="1390800" cy="1580000"/>
          </a:xfrm>
          <a:prstGeom prst="rect">
            <a:avLst/>
          </a:prstGeom>
          <a:noFill/>
          <a:ln/>
        </p:spPr>
        <p:txBody>
          <a:bodyPr wrap="square" lIns="0" tIns="0" rIns="0" bIns="0" rtlCol="0" anchor="t"/>
          <a:lstStyle/>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Increased paternal engagement</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Employment secured (68%*)</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Improved co-parenting (74%*)</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Financial skill gains (55%*)</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Stronger fatherhood identity (82%*)</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Expanded pro-social networks</a:t>
            </a:r>
            <a:endParaRPr lang="en-US" sz="880" dirty="0"/>
          </a:p>
        </p:txBody>
      </p:sp>
      <p:sp>
        <p:nvSpPr>
          <p:cNvPr id="20" name="Header 4"/>
          <p:cNvSpPr/>
          <p:nvPr/>
        </p:nvSpPr>
        <p:spPr>
          <a:xfrm>
            <a:off x="7323200" y="570000"/>
            <a:ext cx="1620800" cy="260000"/>
          </a:xfrm>
          <a:custGeom>
            <a:avLst/>
            <a:gdLst/>
            <a:ahLst/>
            <a:cxnLst/>
            <a:rect l="l" t="t" r="r" b="b"/>
            <a:pathLst>
              <a:path w="1620800" h="260000">
                <a:moveTo>
                  <a:pt x="43180" y="0"/>
                </a:moveTo>
                <a:lnTo>
                  <a:pt x="1577620" y="0"/>
                </a:lnTo>
                <a:lnTo>
                  <a:pt x="1620800" y="0"/>
                </a:lnTo>
                <a:lnTo>
                  <a:pt x="1620800" y="43180"/>
                </a:lnTo>
                <a:lnTo>
                  <a:pt x="1620800" y="260000"/>
                </a:lnTo>
                <a:lnTo>
                  <a:pt x="0" y="260000"/>
                </a:lnTo>
                <a:lnTo>
                  <a:pt x="0" y="43180"/>
                </a:lnTo>
                <a:lnTo>
                  <a:pt x="0" y="0"/>
                </a:lnTo>
                <a:lnTo>
                  <a:pt x="43180" y="0"/>
                </a:lnTo>
                <a:close/>
              </a:path>
            </a:pathLst>
          </a:custGeom>
          <a:solidFill>
            <a:srgbClr val="E8A020"/>
          </a:solidFill>
          <a:ln/>
        </p:spPr>
        <p:txBody>
          <a:bodyPr/>
          <a:lstStyle/>
          <a:p>
            <a:endParaRPr lang="en-US"/>
          </a:p>
        </p:txBody>
      </p:sp>
      <p:sp>
        <p:nvSpPr>
          <p:cNvPr id="21" name="HeaderTxt 4"/>
          <p:cNvSpPr/>
          <p:nvPr/>
        </p:nvSpPr>
        <p:spPr>
          <a:xfrm>
            <a:off x="7323200" y="570000"/>
            <a:ext cx="1620800" cy="260000"/>
          </a:xfrm>
          <a:prstGeom prst="rect">
            <a:avLst/>
          </a:prstGeom>
          <a:noFill/>
          <a:ln/>
        </p:spPr>
        <p:txBody>
          <a:bodyPr wrap="square" lIns="29210" tIns="0" rIns="29210" bIns="0" rtlCol="0" anchor="ctr"/>
          <a:lstStyle/>
          <a:p>
            <a:pPr marL="0" indent="0" algn="ctr">
              <a:buNone/>
            </a:pPr>
            <a:r>
              <a:rPr lang="en-US" sz="900" b="1" kern="0" spc="60">
                <a:solidFill>
                  <a:srgbClr val="FFFFFF"/>
                </a:solidFill>
                <a:latin typeface="Calibri" pitchFamily="34" charset="0"/>
                <a:ea typeface="Calibri" pitchFamily="34" charset="-122"/>
                <a:cs typeface="Calibri" pitchFamily="34" charset="-120"/>
              </a:rPr>
              <a:t>LONG-TERM OUTCOMES</a:t>
            </a:r>
            <a:endParaRPr lang="en-US" sz="900"/>
          </a:p>
        </p:txBody>
      </p:sp>
      <p:sp>
        <p:nvSpPr>
          <p:cNvPr id="22" name="Body 4"/>
          <p:cNvSpPr/>
          <p:nvPr/>
        </p:nvSpPr>
        <p:spPr>
          <a:xfrm>
            <a:off x="7323199" y="829999"/>
            <a:ext cx="1655187" cy="1868595"/>
          </a:xfrm>
          <a:custGeom>
            <a:avLst/>
            <a:gdLst/>
            <a:ahLst/>
            <a:cxnLst/>
            <a:rect l="l" t="t" r="r" b="b"/>
            <a:pathLst>
              <a:path w="1620800" h="1650000">
                <a:moveTo>
                  <a:pt x="0" y="0"/>
                </a:moveTo>
                <a:lnTo>
                  <a:pt x="1620800" y="0"/>
                </a:lnTo>
                <a:lnTo>
                  <a:pt x="1620800" y="1606820"/>
                </a:lnTo>
                <a:lnTo>
                  <a:pt x="1620800" y="1650000"/>
                </a:lnTo>
                <a:lnTo>
                  <a:pt x="1577620" y="1650000"/>
                </a:lnTo>
                <a:lnTo>
                  <a:pt x="43180" y="1650000"/>
                </a:lnTo>
                <a:lnTo>
                  <a:pt x="0" y="1650000"/>
                </a:lnTo>
                <a:lnTo>
                  <a:pt x="0" y="1606820"/>
                </a:lnTo>
                <a:lnTo>
                  <a:pt x="0" y="0"/>
                </a:lnTo>
                <a:close/>
              </a:path>
            </a:pathLst>
          </a:custGeom>
          <a:solidFill>
            <a:srgbClr val="FFFBF0"/>
          </a:solidFill>
          <a:ln/>
        </p:spPr>
        <p:txBody>
          <a:bodyPr/>
          <a:lstStyle/>
          <a:p>
            <a:endParaRPr lang="en-US"/>
          </a:p>
        </p:txBody>
      </p:sp>
      <p:sp>
        <p:nvSpPr>
          <p:cNvPr id="23" name="BodyTxt 4"/>
          <p:cNvSpPr/>
          <p:nvPr/>
        </p:nvSpPr>
        <p:spPr>
          <a:xfrm>
            <a:off x="7393200" y="885000"/>
            <a:ext cx="1395617" cy="1580000"/>
          </a:xfrm>
          <a:prstGeom prst="rect">
            <a:avLst/>
          </a:prstGeom>
          <a:noFill/>
          <a:ln/>
        </p:spPr>
        <p:txBody>
          <a:bodyPr wrap="square" lIns="0" tIns="0" rIns="0" bIns="0" rtlCol="0" anchor="t"/>
          <a:lstStyle/>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Family stability &amp; cohesion</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Child well-being improvement</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Economic self-sufficiency</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Reduced child welfare contact</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Generational behavior change</a:t>
            </a:r>
            <a:endParaRPr lang="en-US" sz="880" dirty="0"/>
          </a:p>
          <a:p>
            <a:pPr marL="171450" indent="-171450" algn="l">
              <a:lnSpc>
                <a:spcPts val="1350"/>
              </a:lnSpc>
              <a:buFont typeface="Arial" panose="020B0604020202020204" pitchFamily="34" charset="0"/>
              <a:buChar char="•"/>
            </a:pPr>
            <a:r>
              <a:rPr lang="en-US" sz="880" kern="0" dirty="0">
                <a:solidFill>
                  <a:srgbClr val="0D1B3E"/>
                </a:solidFill>
                <a:latin typeface="Calibri" pitchFamily="34" charset="0"/>
                <a:ea typeface="Calibri" pitchFamily="34" charset="-122"/>
                <a:cs typeface="Calibri" pitchFamily="34" charset="-120"/>
              </a:rPr>
              <a:t>Sustainable community impact</a:t>
            </a:r>
            <a:endParaRPr lang="en-US" sz="880" dirty="0"/>
          </a:p>
        </p:txBody>
      </p:sp>
      <p:pic>
        <p:nvPicPr>
          <p:cNvPr id="24" name="Arrow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20800" y="1575000"/>
            <a:ext cx="160000" cy="160000"/>
          </a:xfrm>
          <a:prstGeom prst="rect">
            <a:avLst/>
          </a:prstGeom>
        </p:spPr>
      </p:pic>
      <p:pic>
        <p:nvPicPr>
          <p:cNvPr id="25" name="Arrow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1600" y="1575000"/>
            <a:ext cx="160000" cy="160000"/>
          </a:xfrm>
          <a:prstGeom prst="rect">
            <a:avLst/>
          </a:prstGeom>
        </p:spPr>
      </p:pic>
      <p:pic>
        <p:nvPicPr>
          <p:cNvPr id="26" name="Arrow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82400" y="1575000"/>
            <a:ext cx="160000" cy="160000"/>
          </a:xfrm>
          <a:prstGeom prst="rect">
            <a:avLst/>
          </a:prstGeom>
        </p:spPr>
      </p:pic>
      <p:pic>
        <p:nvPicPr>
          <p:cNvPr id="27" name="Arrow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63200" y="1575000"/>
            <a:ext cx="160000" cy="160000"/>
          </a:xfrm>
          <a:prstGeom prst="rect">
            <a:avLst/>
          </a:prstGeom>
        </p:spPr>
      </p:pic>
      <p:sp>
        <p:nvSpPr>
          <p:cNvPr id="29" name="FunderQ 0"/>
          <p:cNvSpPr/>
          <p:nvPr/>
        </p:nvSpPr>
        <p:spPr>
          <a:xfrm>
            <a:off x="546042" y="3309607"/>
            <a:ext cx="756115" cy="336795"/>
          </a:xfrm>
          <a:prstGeom prst="rect">
            <a:avLst/>
          </a:prstGeom>
          <a:noFill/>
          <a:ln/>
        </p:spPr>
        <p:txBody>
          <a:bodyPr wrap="square" lIns="21590" tIns="7620" rIns="21590" bIns="0" rtlCol="0" anchor="t"/>
          <a:lstStyle/>
          <a:p>
            <a:pPr marL="0" indent="0" algn="ctr">
              <a:lnSpc>
                <a:spcPts val="1200"/>
              </a:lnSpc>
              <a:buNone/>
            </a:pPr>
            <a: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What do you</a:t>
            </a:r>
            <a:b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br>
            <a: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 bring?</a:t>
            </a:r>
            <a:endParaRPr lang="en-US" sz="850" dirty="0">
              <a:effectLst>
                <a:outerShdw blurRad="38100" dist="38100" dir="2700000" algn="tl">
                  <a:srgbClr val="000000">
                    <a:alpha val="43137"/>
                  </a:srgbClr>
                </a:outerShdw>
              </a:effectLst>
            </a:endParaRPr>
          </a:p>
        </p:txBody>
      </p:sp>
      <p:sp>
        <p:nvSpPr>
          <p:cNvPr id="30" name="FunderQ 1"/>
          <p:cNvSpPr/>
          <p:nvPr/>
        </p:nvSpPr>
        <p:spPr>
          <a:xfrm>
            <a:off x="2317889" y="3321071"/>
            <a:ext cx="831727" cy="297265"/>
          </a:xfrm>
          <a:prstGeom prst="rect">
            <a:avLst/>
          </a:prstGeom>
          <a:noFill/>
          <a:ln/>
        </p:spPr>
        <p:txBody>
          <a:bodyPr wrap="square" lIns="21590" tIns="7620" rIns="21590" bIns="0" rtlCol="0" anchor="t"/>
          <a:lstStyle/>
          <a:p>
            <a:pPr marL="0" indent="0" algn="ctr">
              <a:lnSpc>
                <a:spcPts val="1200"/>
              </a:lnSpc>
              <a:buNone/>
            </a:pPr>
            <a: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What do you </a:t>
            </a:r>
            <a:b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br>
            <a: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do?</a:t>
            </a:r>
            <a:endParaRPr lang="en-US" sz="850" dirty="0">
              <a:effectLst>
                <a:outerShdw blurRad="38100" dist="38100" dir="2700000" algn="tl">
                  <a:srgbClr val="000000">
                    <a:alpha val="43137"/>
                  </a:srgbClr>
                </a:outerShdw>
              </a:effectLst>
            </a:endParaRPr>
          </a:p>
        </p:txBody>
      </p:sp>
      <p:sp>
        <p:nvSpPr>
          <p:cNvPr id="31" name="FunderQ 2"/>
          <p:cNvSpPr/>
          <p:nvPr/>
        </p:nvSpPr>
        <p:spPr>
          <a:xfrm>
            <a:off x="4103191" y="3306183"/>
            <a:ext cx="1006390" cy="306130"/>
          </a:xfrm>
          <a:prstGeom prst="rect">
            <a:avLst/>
          </a:prstGeom>
          <a:noFill/>
          <a:ln/>
        </p:spPr>
        <p:txBody>
          <a:bodyPr wrap="square" lIns="21590" tIns="7620" rIns="21590" bIns="0" rtlCol="0" anchor="t"/>
          <a:lstStyle/>
          <a:p>
            <a:pPr marL="0" indent="0" algn="ctr">
              <a:lnSpc>
                <a:spcPts val="1200"/>
              </a:lnSpc>
              <a:buNone/>
            </a:pPr>
            <a: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How much did you </a:t>
            </a:r>
            <a:b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br>
            <a: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do it?</a:t>
            </a:r>
            <a:endParaRPr lang="en-US" sz="850" dirty="0">
              <a:effectLst>
                <a:outerShdw blurRad="38100" dist="38100" dir="2700000" algn="tl">
                  <a:srgbClr val="000000">
                    <a:alpha val="43137"/>
                  </a:srgbClr>
                </a:outerShdw>
              </a:effectLst>
            </a:endParaRPr>
          </a:p>
        </p:txBody>
      </p:sp>
      <p:sp>
        <p:nvSpPr>
          <p:cNvPr id="32" name="FunderQ 3"/>
          <p:cNvSpPr/>
          <p:nvPr/>
        </p:nvSpPr>
        <p:spPr>
          <a:xfrm>
            <a:off x="5895350" y="3283707"/>
            <a:ext cx="914900" cy="287802"/>
          </a:xfrm>
          <a:prstGeom prst="rect">
            <a:avLst/>
          </a:prstGeom>
          <a:noFill/>
          <a:ln/>
        </p:spPr>
        <p:txBody>
          <a:bodyPr wrap="square" lIns="21590" tIns="7620" rIns="21590" bIns="0" rtlCol="0" anchor="t"/>
          <a:lstStyle/>
          <a:p>
            <a:pPr marL="0" indent="0" algn="ctr">
              <a:lnSpc>
                <a:spcPts val="1200"/>
              </a:lnSpc>
              <a:buNone/>
            </a:pPr>
            <a: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So, what changed </a:t>
            </a:r>
            <a:b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br>
            <a: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soon?</a:t>
            </a:r>
            <a:endParaRPr lang="en-US" sz="850" dirty="0">
              <a:effectLst>
                <a:outerShdw blurRad="38100" dist="38100" dir="2700000" algn="tl">
                  <a:srgbClr val="000000">
                    <a:alpha val="43137"/>
                  </a:srgbClr>
                </a:outerShdw>
              </a:effectLst>
            </a:endParaRPr>
          </a:p>
        </p:txBody>
      </p:sp>
      <p:sp>
        <p:nvSpPr>
          <p:cNvPr id="33" name="FunderQ 4"/>
          <p:cNvSpPr/>
          <p:nvPr/>
        </p:nvSpPr>
        <p:spPr>
          <a:xfrm>
            <a:off x="7633558" y="3273683"/>
            <a:ext cx="914900" cy="370504"/>
          </a:xfrm>
          <a:prstGeom prst="rect">
            <a:avLst/>
          </a:prstGeom>
          <a:noFill/>
          <a:ln/>
        </p:spPr>
        <p:txBody>
          <a:bodyPr wrap="square" lIns="21590" tIns="7620" rIns="21590" bIns="0" rtlCol="0" anchor="t"/>
          <a:lstStyle/>
          <a:p>
            <a:pPr marL="0" indent="0" algn="ctr">
              <a:lnSpc>
                <a:spcPts val="1200"/>
              </a:lnSpc>
              <a:buNone/>
            </a:pPr>
            <a: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So, what changed </a:t>
            </a:r>
          </a:p>
          <a:p>
            <a:pPr marL="0" indent="0" algn="ctr">
              <a:lnSpc>
                <a:spcPts val="1200"/>
              </a:lnSpc>
              <a:buNone/>
            </a:pPr>
            <a:r>
              <a:rPr lang="en-US" sz="850" i="1" dirty="0">
                <a:solidFill>
                  <a:srgbClr val="0D1B3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lastingly</a:t>
            </a:r>
            <a:r>
              <a:rPr lang="en-US" sz="850" i="1" dirty="0">
                <a:solidFill>
                  <a:srgbClr val="0D1B3E"/>
                </a:solidFill>
                <a:latin typeface="Calibri" pitchFamily="34" charset="0"/>
                <a:ea typeface="Calibri" pitchFamily="34" charset="-122"/>
                <a:cs typeface="Calibri" pitchFamily="34" charset="-120"/>
              </a:rPr>
              <a:t>?</a:t>
            </a:r>
            <a:endParaRPr lang="en-US" sz="850" dirty="0"/>
          </a:p>
        </p:txBody>
      </p:sp>
      <p:sp>
        <p:nvSpPr>
          <p:cNvPr id="34" name="QuoteBanner"/>
          <p:cNvSpPr/>
          <p:nvPr/>
        </p:nvSpPr>
        <p:spPr>
          <a:xfrm>
            <a:off x="214059" y="3787585"/>
            <a:ext cx="8413383" cy="361802"/>
          </a:xfrm>
          <a:prstGeom prst="rect">
            <a:avLst/>
          </a:prstGeom>
          <a:solidFill>
            <a:srgbClr val="E8A020"/>
          </a:solidFill>
          <a:ln/>
        </p:spPr>
        <p:txBody>
          <a:bodyPr wrap="square" lIns="257810" tIns="49530" rIns="257810" bIns="49530" rtlCol="0" anchor="ctr"/>
          <a:lstStyle/>
          <a:p>
            <a:pPr marL="0" indent="0" algn="ctr">
              <a:buNone/>
            </a:pPr>
            <a:r>
              <a:rPr lang="en-US" sz="1050" b="1" kern="0" spc="10" dirty="0">
                <a:solidFill>
                  <a:srgbClr val="FFFFFF"/>
                </a:solidFill>
                <a:latin typeface="Calibri" pitchFamily="34" charset="0"/>
                <a:ea typeface="Calibri" pitchFamily="34" charset="-122"/>
                <a:cs typeface="Calibri" pitchFamily="34" charset="-120"/>
              </a:rPr>
              <a:t>"Every column answers a funder question. Even a simple version of this model sharpens your funding story. *Illustrative targets based on RF program literature averages (ACF/OFA evaluation data)."</a:t>
            </a:r>
            <a:endParaRPr lang="en-US" sz="1050" dirty="0"/>
          </a:p>
        </p:txBody>
      </p:sp>
      <p:sp>
        <p:nvSpPr>
          <p:cNvPr id="35" name="TakeawayBg 0"/>
          <p:cNvSpPr/>
          <p:nvPr/>
        </p:nvSpPr>
        <p:spPr>
          <a:xfrm>
            <a:off x="200000" y="4322745"/>
            <a:ext cx="2741333" cy="600000"/>
          </a:xfrm>
          <a:prstGeom prst="roundRect">
            <a:avLst/>
          </a:prstGeom>
          <a:solidFill>
            <a:srgbClr val="F0F4F8"/>
          </a:solidFill>
          <a:ln w="9525">
            <a:solidFill>
              <a:srgbClr val="E8E8F0"/>
            </a:solidFill>
          </a:ln>
        </p:spPr>
        <p:txBody>
          <a:bodyPr/>
          <a:lstStyle/>
          <a:p>
            <a:endParaRPr lang="en-US"/>
          </a:p>
        </p:txBody>
      </p:sp>
      <p:sp>
        <p:nvSpPr>
          <p:cNvPr id="37" name="TakeawayTxt 0"/>
          <p:cNvSpPr/>
          <p:nvPr/>
        </p:nvSpPr>
        <p:spPr>
          <a:xfrm>
            <a:off x="278966" y="4398732"/>
            <a:ext cx="2741333" cy="530000"/>
          </a:xfrm>
          <a:prstGeom prst="rect">
            <a:avLst/>
          </a:prstGeom>
          <a:noFill/>
          <a:ln/>
        </p:spPr>
        <p:txBody>
          <a:bodyPr wrap="square" lIns="0" tIns="0" rIns="0" bIns="0" rtlCol="0" anchor="t"/>
          <a:lstStyle/>
          <a:p>
            <a:pPr marL="0" indent="0" algn="l">
              <a:lnSpc>
                <a:spcPts val="1100"/>
              </a:lnSpc>
              <a:buNone/>
            </a:pPr>
            <a:r>
              <a:rPr lang="en-US" sz="950" b="1" dirty="0">
                <a:solidFill>
                  <a:srgbClr val="0D1B3E"/>
                </a:solidFill>
                <a:latin typeface="Calibri Light" pitchFamily="34" charset="0"/>
                <a:ea typeface="Calibri Light" pitchFamily="34" charset="-122"/>
                <a:cs typeface="Calibri Light" pitchFamily="34" charset="-120"/>
              </a:rPr>
              <a:t>Align Resources</a:t>
            </a:r>
            <a:br>
              <a:rPr lang="en-US" sz="300" dirty="0"/>
            </a:br>
            <a:r>
              <a:rPr lang="en-US" sz="800" dirty="0">
                <a:solidFill>
                  <a:srgbClr val="475569"/>
                </a:solidFill>
                <a:latin typeface="Calibri" pitchFamily="34" charset="0"/>
                <a:ea typeface="Calibri" pitchFamily="34" charset="-122"/>
                <a:cs typeface="Calibri" pitchFamily="34" charset="-120"/>
              </a:rPr>
              <a:t>Match inputs to the specific activities your program actually delivers — avoid listing aspirational items.</a:t>
            </a:r>
            <a:endParaRPr lang="en-US" sz="1000" dirty="0"/>
          </a:p>
        </p:txBody>
      </p:sp>
      <p:sp>
        <p:nvSpPr>
          <p:cNvPr id="38" name="TakeawayBg 1"/>
          <p:cNvSpPr/>
          <p:nvPr/>
        </p:nvSpPr>
        <p:spPr>
          <a:xfrm>
            <a:off x="3099265" y="4332348"/>
            <a:ext cx="2861333" cy="600000"/>
          </a:xfrm>
          <a:prstGeom prst="roundRect">
            <a:avLst/>
          </a:prstGeom>
          <a:solidFill>
            <a:srgbClr val="F0F4F8"/>
          </a:solidFill>
          <a:ln w="9525">
            <a:solidFill>
              <a:srgbClr val="E8E8F0"/>
            </a:solidFill>
          </a:ln>
        </p:spPr>
        <p:txBody>
          <a:bodyPr/>
          <a:lstStyle/>
          <a:p>
            <a:endParaRPr lang="en-US"/>
          </a:p>
        </p:txBody>
      </p:sp>
      <p:sp>
        <p:nvSpPr>
          <p:cNvPr id="40" name="TakeawayTxt 1"/>
          <p:cNvSpPr/>
          <p:nvPr/>
        </p:nvSpPr>
        <p:spPr>
          <a:xfrm>
            <a:off x="3171333" y="4431765"/>
            <a:ext cx="2741333" cy="530000"/>
          </a:xfrm>
          <a:prstGeom prst="rect">
            <a:avLst/>
          </a:prstGeom>
          <a:noFill/>
          <a:ln/>
        </p:spPr>
        <p:txBody>
          <a:bodyPr wrap="square" lIns="0" tIns="0" rIns="0" bIns="0" rtlCol="0" anchor="t"/>
          <a:lstStyle/>
          <a:p>
            <a:pPr marL="0" indent="0" algn="l">
              <a:lnSpc>
                <a:spcPts val="1100"/>
              </a:lnSpc>
              <a:buNone/>
            </a:pPr>
            <a:r>
              <a:rPr lang="en-US" sz="950" b="1" dirty="0">
                <a:solidFill>
                  <a:srgbClr val="0D1B3E"/>
                </a:solidFill>
                <a:latin typeface="Calibri Light" pitchFamily="34" charset="0"/>
                <a:ea typeface="Calibri Light" pitchFamily="34" charset="-122"/>
                <a:cs typeface="Calibri Light" pitchFamily="34" charset="-120"/>
              </a:rPr>
              <a:t>Track What Matters</a:t>
            </a:r>
            <a:br>
              <a:rPr lang="en-US" sz="300" dirty="0"/>
            </a:br>
            <a:r>
              <a:rPr lang="en-US" sz="800" dirty="0">
                <a:solidFill>
                  <a:srgbClr val="475569"/>
                </a:solidFill>
                <a:latin typeface="Calibri" pitchFamily="34" charset="0"/>
                <a:ea typeface="Calibri" pitchFamily="34" charset="-122"/>
                <a:cs typeface="Calibri" pitchFamily="34" charset="-120"/>
              </a:rPr>
              <a:t>Outputs prove volume; outcomes prove impact. Funders need both columns populated.</a:t>
            </a:r>
            <a:endParaRPr lang="en-US" sz="1000" dirty="0"/>
          </a:p>
        </p:txBody>
      </p:sp>
      <p:sp>
        <p:nvSpPr>
          <p:cNvPr id="41" name="TakeawayBg 2"/>
          <p:cNvSpPr/>
          <p:nvPr/>
        </p:nvSpPr>
        <p:spPr>
          <a:xfrm>
            <a:off x="6022666" y="4328732"/>
            <a:ext cx="2861333" cy="600000"/>
          </a:xfrm>
          <a:prstGeom prst="roundRect">
            <a:avLst/>
          </a:prstGeom>
          <a:solidFill>
            <a:srgbClr val="FFFBF0"/>
          </a:solidFill>
          <a:ln w="9525">
            <a:solidFill>
              <a:srgbClr val="E8E8F0"/>
            </a:solidFill>
          </a:ln>
        </p:spPr>
        <p:txBody>
          <a:bodyPr/>
          <a:lstStyle/>
          <a:p>
            <a:endParaRPr lang="en-US"/>
          </a:p>
        </p:txBody>
      </p:sp>
      <p:sp>
        <p:nvSpPr>
          <p:cNvPr id="43" name="TakeawayTxt 2"/>
          <p:cNvSpPr/>
          <p:nvPr/>
        </p:nvSpPr>
        <p:spPr>
          <a:xfrm>
            <a:off x="6118530" y="4421829"/>
            <a:ext cx="2741333" cy="530000"/>
          </a:xfrm>
          <a:prstGeom prst="rect">
            <a:avLst/>
          </a:prstGeom>
          <a:noFill/>
          <a:ln/>
        </p:spPr>
        <p:txBody>
          <a:bodyPr wrap="square" lIns="0" tIns="0" rIns="0" bIns="0" rtlCol="0" anchor="t"/>
          <a:lstStyle/>
          <a:p>
            <a:pPr marL="0" indent="0" algn="l">
              <a:lnSpc>
                <a:spcPts val="1100"/>
              </a:lnSpc>
              <a:buNone/>
            </a:pPr>
            <a:r>
              <a:rPr lang="en-US" sz="950" b="1" dirty="0">
                <a:solidFill>
                  <a:srgbClr val="0D1B3E"/>
                </a:solidFill>
                <a:latin typeface="Calibri Light" pitchFamily="34" charset="0"/>
                <a:ea typeface="Calibri Light" pitchFamily="34" charset="-122"/>
                <a:cs typeface="Calibri Light" pitchFamily="34" charset="-120"/>
              </a:rPr>
              <a:t>Tell the Story</a:t>
            </a:r>
            <a:br>
              <a:rPr lang="en-US" sz="300" dirty="0"/>
            </a:br>
            <a:r>
              <a:rPr lang="en-US" sz="800" dirty="0">
                <a:solidFill>
                  <a:srgbClr val="475569"/>
                </a:solidFill>
                <a:latin typeface="Calibri" pitchFamily="34" charset="0"/>
                <a:ea typeface="Calibri" pitchFamily="34" charset="-122"/>
                <a:cs typeface="Calibri" pitchFamily="34" charset="-120"/>
              </a:rPr>
              <a:t>Read left to right: your logic model is a narrative funders follow from investment to family change.</a:t>
            </a:r>
            <a:endParaRPr lang="en-US" sz="1000" dirty="0"/>
          </a:p>
        </p:txBody>
      </p:sp>
      <p:sp>
        <p:nvSpPr>
          <p:cNvPr id="44" name="Footer"/>
          <p:cNvSpPr/>
          <p:nvPr/>
        </p:nvSpPr>
        <p:spPr>
          <a:xfrm>
            <a:off x="163451" y="4978722"/>
            <a:ext cx="2786108" cy="200000"/>
          </a:xfrm>
          <a:prstGeom prst="rect">
            <a:avLst/>
          </a:prstGeom>
          <a:noFill/>
          <a:ln/>
        </p:spPr>
        <p:txBody>
          <a:bodyPr wrap="square" lIns="0" tIns="0" rIns="0" bIns="0" rtlCol="0" anchor="ctr"/>
          <a:lstStyle/>
          <a:p>
            <a:pPr marL="0" indent="0" algn="ctr">
              <a:buNone/>
            </a:pPr>
            <a:r>
              <a:rPr lang="en-US" sz="700" i="1" dirty="0">
                <a:solidFill>
                  <a:srgbClr val="94A3B8"/>
                </a:solidFill>
                <a:latin typeface="Calibri" pitchFamily="34" charset="0"/>
                <a:ea typeface="Calibri" pitchFamily="34" charset="-122"/>
                <a:cs typeface="Calibri" pitchFamily="34" charset="-120"/>
              </a:rPr>
              <a:t>Source: FMP Better Together Program Logic Model — IFC 2026 Workshop</a:t>
            </a:r>
            <a:endParaRPr lang="en-US" sz="700" dirty="0"/>
          </a:p>
        </p:txBody>
      </p:sp>
      <p:cxnSp>
        <p:nvCxnSpPr>
          <p:cNvPr id="46" name="Straight Arrow Connector 45">
            <a:extLst>
              <a:ext uri="{FF2B5EF4-FFF2-40B4-BE49-F238E27FC236}">
                <a16:creationId xmlns:a16="http://schemas.microsoft.com/office/drawing/2014/main" id="{EA1FD005-F22C-D30B-4E17-980BA9CE1F96}"/>
              </a:ext>
            </a:extLst>
          </p:cNvPr>
          <p:cNvCxnSpPr/>
          <p:nvPr/>
        </p:nvCxnSpPr>
        <p:spPr>
          <a:xfrm>
            <a:off x="1544557" y="3512634"/>
            <a:ext cx="50174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93587350-96EF-C9EC-BE4F-5E00D50AE78E}"/>
              </a:ext>
            </a:extLst>
          </p:cNvPr>
          <p:cNvCxnSpPr/>
          <p:nvPr/>
        </p:nvCxnSpPr>
        <p:spPr>
          <a:xfrm>
            <a:off x="5254136" y="3469703"/>
            <a:ext cx="50174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A8A12E65-6D5F-D653-837D-B62BB42D9EBC}"/>
              </a:ext>
            </a:extLst>
          </p:cNvPr>
          <p:cNvCxnSpPr/>
          <p:nvPr/>
        </p:nvCxnSpPr>
        <p:spPr>
          <a:xfrm>
            <a:off x="3403033" y="3475464"/>
            <a:ext cx="50174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C3A0DF14-C52A-9FBC-C526-88D068240065}"/>
              </a:ext>
            </a:extLst>
          </p:cNvPr>
          <p:cNvCxnSpPr/>
          <p:nvPr/>
        </p:nvCxnSpPr>
        <p:spPr>
          <a:xfrm>
            <a:off x="6951465" y="3423438"/>
            <a:ext cx="50174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00" name="HandoutRef"/>
          <p:cNvSpPr txBox="1"/>
          <p:nvPr/>
        </p:nvSpPr>
        <p:spPr>
          <a:xfrm>
            <a:off x="6900000" y="4960620"/>
            <a:ext cx="1900000" cy="182880"/>
          </a:xfrm>
          <a:prstGeom prst="rect">
            <a:avLst/>
          </a:prstGeom>
          <a:noFill/>
          <a:ln>
            <a:noFill/>
          </a:ln>
        </p:spPr>
        <p:txBody>
          <a:bodyPr wrap="none" lIns="0" tIns="0" rIns="0" bIns="0" rtlCol="0" anchor="t"/>
          <a:lstStyle/>
          <a:p>
            <a:pPr algn="r">
              <a:buNone/>
            </a:pPr>
            <a:r>
              <a:rPr lang="en-US" sz="800" spc="43">
                <a:solidFill>
                  <a:srgbClr val="64748B"/>
                </a:solidFill>
                <a:latin typeface="Calibri" pitchFamily="34" charset="0"/>
              </a:rPr>
              <a:t>HANDOUT  ·  </a:t>
            </a:r>
            <a:r>
              <a:rPr lang="en-US" sz="800" b="1" spc="43">
                <a:solidFill>
                  <a:srgbClr val="E8A020"/>
                </a:solidFill>
                <a:latin typeface="Calibri" pitchFamily="34" charset="0"/>
              </a:rPr>
              <a:t>Logic Model</a:t>
            </a:r>
            <a:endParaRPr lang="en-US" sz="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122525"/>
            <a:ext cx="8898673" cy="401386"/>
          </a:xfrm>
          <a:prstGeom prst="rect">
            <a:avLst/>
          </a:prstGeom>
          <a:noFill/>
          <a:ln/>
        </p:spPr>
        <p:txBody>
          <a:bodyPr wrap="square" lIns="342900" tIns="157480" rIns="342900" bIns="100330" rtlCol="0" anchor="ctr"/>
          <a:lstStyle/>
          <a:p>
            <a:pPr marL="0" indent="0" algn="l">
              <a:buNone/>
            </a:pPr>
            <a:r>
              <a:rPr lang="en-US" sz="806" kern="0" spc="140" dirty="0">
                <a:solidFill>
                  <a:srgbClr val="E8A020"/>
                </a:solidFill>
                <a:latin typeface="Calibri" pitchFamily="34" charset="0"/>
                <a:ea typeface="Calibri" pitchFamily="34" charset="-122"/>
                <a:cs typeface="Calibri" pitchFamily="34" charset="-120"/>
              </a:rPr>
              <a:t>SECTION 4 — FMP BETTER TOGETHER IN ACTION</a:t>
            </a:r>
            <a:endParaRPr lang="en-US" sz="806" dirty="0"/>
          </a:p>
          <a:p>
            <a:pPr marL="0" indent="0" algn="l">
              <a:buNone/>
            </a:pPr>
            <a:r>
              <a:rPr lang="en-US" sz="1460" dirty="0">
                <a:solidFill>
                  <a:srgbClr val="0D1B3E"/>
                </a:solidFill>
                <a:latin typeface="Calibri Light" pitchFamily="34" charset="0"/>
                <a:ea typeface="Calibri Light" pitchFamily="34" charset="-122"/>
                <a:cs typeface="Calibri Light" pitchFamily="34" charset="-120"/>
              </a:rPr>
              <a:t>FSR Mapped to the FMP Better Together Logic Model</a:t>
            </a:r>
            <a:endParaRPr lang="en-US" sz="806" dirty="0"/>
          </a:p>
        </p:txBody>
      </p:sp>
      <p:sp>
        <p:nvSpPr>
          <p:cNvPr id="3" name="Text 1"/>
          <p:cNvSpPr/>
          <p:nvPr/>
        </p:nvSpPr>
        <p:spPr>
          <a:xfrm>
            <a:off x="0" y="618083"/>
            <a:ext cx="9144000" cy="9525"/>
          </a:xfrm>
          <a:prstGeom prst="rect">
            <a:avLst/>
          </a:prstGeom>
          <a:solidFill>
            <a:srgbClr val="E8A020"/>
          </a:solidFill>
          <a:ln/>
        </p:spPr>
        <p:txBody>
          <a:bodyPr wrap="none" rtlCol="0" anchor="t"/>
          <a:lstStyle/>
          <a:p>
            <a:pPr marL="0" indent="0">
              <a:buNone/>
            </a:pPr>
            <a:endParaRPr lang="en-US" dirty="0"/>
          </a:p>
        </p:txBody>
      </p:sp>
      <p:sp>
        <p:nvSpPr>
          <p:cNvPr id="4" name="Text 2"/>
          <p:cNvSpPr/>
          <p:nvPr/>
        </p:nvSpPr>
        <p:spPr>
          <a:xfrm>
            <a:off x="285750" y="755749"/>
            <a:ext cx="4086225" cy="3877121"/>
          </a:xfrm>
          <a:prstGeom prst="roundRect">
            <a:avLst>
              <a:gd name="adj" fmla="val 1834"/>
            </a:avLst>
          </a:prstGeom>
          <a:solidFill>
            <a:srgbClr val="F0F4F8"/>
          </a:solidFill>
          <a:ln w="9525">
            <a:solidFill>
              <a:srgbClr val="D0DAEA"/>
            </a:solidFill>
          </a:ln>
        </p:spPr>
        <p:txBody>
          <a:bodyPr wrap="square" rtlCol="0" anchor="t"/>
          <a:lstStyle/>
          <a:p>
            <a:pPr marL="0" indent="0">
              <a:buNone/>
            </a:pPr>
            <a:endParaRPr lang="en-US" dirty="0"/>
          </a:p>
        </p:txBody>
      </p:sp>
      <p:sp>
        <p:nvSpPr>
          <p:cNvPr id="5" name="Text 3"/>
          <p:cNvSpPr/>
          <p:nvPr/>
        </p:nvSpPr>
        <p:spPr>
          <a:xfrm>
            <a:off x="295275" y="765274"/>
            <a:ext cx="4067175" cy="310307"/>
          </a:xfrm>
          <a:prstGeom prst="rect">
            <a:avLst/>
          </a:prstGeom>
          <a:solidFill>
            <a:srgbClr val="DCE4EF"/>
          </a:solidFill>
          <a:ln/>
        </p:spPr>
        <p:txBody>
          <a:bodyPr wrap="square" rtlCol="0" anchor="t"/>
          <a:lstStyle/>
          <a:p>
            <a:pPr marL="0" indent="0">
              <a:buNone/>
            </a:pPr>
            <a:endParaRPr lang="en-US" dirty="0"/>
          </a:p>
        </p:txBody>
      </p:sp>
      <p:sp>
        <p:nvSpPr>
          <p:cNvPr id="6" name="Text 4"/>
          <p:cNvSpPr/>
          <p:nvPr/>
        </p:nvSpPr>
        <p:spPr>
          <a:xfrm>
            <a:off x="295275" y="1066056"/>
            <a:ext cx="4067175" cy="9525"/>
          </a:xfrm>
          <a:prstGeom prst="rect">
            <a:avLst/>
          </a:prstGeom>
          <a:solidFill>
            <a:srgbClr val="B0BFD4"/>
          </a:solidFill>
          <a:ln/>
        </p:spPr>
        <p:txBody>
          <a:bodyPr wrap="non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0523" y="856292"/>
            <a:ext cx="132588" cy="132588"/>
          </a:xfrm>
          <a:prstGeom prst="rect">
            <a:avLst/>
          </a:prstGeom>
        </p:spPr>
      </p:pic>
      <p:sp>
        <p:nvSpPr>
          <p:cNvPr id="8" name="Text 5"/>
          <p:cNvSpPr/>
          <p:nvPr/>
        </p:nvSpPr>
        <p:spPr>
          <a:xfrm>
            <a:off x="605879" y="857845"/>
            <a:ext cx="1923604" cy="129480"/>
          </a:xfrm>
          <a:prstGeom prst="rect">
            <a:avLst/>
          </a:prstGeom>
          <a:noFill/>
          <a:ln/>
        </p:spPr>
        <p:txBody>
          <a:bodyPr wrap="none" lIns="0" tIns="0" rIns="0" bIns="0" rtlCol="0" anchor="ctr"/>
          <a:lstStyle/>
          <a:p>
            <a:pPr marL="0" indent="0" algn="l">
              <a:lnSpc>
                <a:spcPts val="1326"/>
              </a:lnSpc>
              <a:buNone/>
            </a:pPr>
            <a:r>
              <a:rPr lang="en-US" sz="884" b="1">
                <a:solidFill>
                  <a:srgbClr val="4A6080"/>
                </a:solidFill>
                <a:latin typeface="Calibri" pitchFamily="34" charset="0"/>
                <a:ea typeface="Calibri" pitchFamily="34" charset="-122"/>
                <a:cs typeface="Calibri" pitchFamily="34" charset="-120"/>
              </a:rPr>
              <a:t>LOGIC MODEL (WITHOUT FSR)</a:t>
            </a:r>
            <a:endParaRPr lang="en-US" sz="884"/>
          </a:p>
        </p:txBody>
      </p:sp>
      <p:sp>
        <p:nvSpPr>
          <p:cNvPr id="9" name="Text 6"/>
          <p:cNvSpPr/>
          <p:nvPr/>
        </p:nvSpPr>
        <p:spPr>
          <a:xfrm>
            <a:off x="438745" y="1175891"/>
            <a:ext cx="3780234" cy="337691"/>
          </a:xfrm>
          <a:prstGeom prst="roundRect">
            <a:avLst>
              <a:gd name="adj" fmla="val 14667"/>
            </a:avLst>
          </a:prstGeom>
          <a:solidFill>
            <a:srgbClr val="A0B4D2">
              <a:alpha val="15000"/>
            </a:srgbClr>
          </a:solidFill>
          <a:ln/>
        </p:spPr>
        <p:txBody>
          <a:bodyPr wrap="square" rtlCol="0" anchor="t"/>
          <a:lstStyle/>
          <a:p>
            <a:pPr marL="0" indent="0">
              <a:buNone/>
            </a:pPr>
            <a:endParaRPr lang="en-US" dirty="0"/>
          </a:p>
        </p:txBody>
      </p:sp>
      <p:sp>
        <p:nvSpPr>
          <p:cNvPr id="10" name="Text 7"/>
          <p:cNvSpPr/>
          <p:nvPr/>
        </p:nvSpPr>
        <p:spPr>
          <a:xfrm>
            <a:off x="438745" y="1175891"/>
            <a:ext cx="19050" cy="337691"/>
          </a:xfrm>
          <a:custGeom>
            <a:avLst/>
            <a:gdLst/>
            <a:ahLst/>
            <a:cxnLst/>
            <a:rect l="l" t="t" r="r" b="b"/>
            <a:pathLst>
              <a:path w="19050" h="337691">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327202"/>
                </a:lnTo>
                <a:lnTo>
                  <a:pt x="16669" y="325220"/>
                </a:lnTo>
                <a:lnTo>
                  <a:pt x="14288" y="322963"/>
                </a:lnTo>
                <a:lnTo>
                  <a:pt x="11906" y="320374"/>
                </a:lnTo>
                <a:lnTo>
                  <a:pt x="9525" y="317364"/>
                </a:lnTo>
                <a:lnTo>
                  <a:pt x="7144" y="313786"/>
                </a:lnTo>
                <a:lnTo>
                  <a:pt x="4763" y="309353"/>
                </a:lnTo>
                <a:lnTo>
                  <a:pt x="2381" y="303334"/>
                </a:lnTo>
                <a:lnTo>
                  <a:pt x="0" y="288161"/>
                </a:lnTo>
                <a:close/>
              </a:path>
            </a:pathLst>
          </a:custGeom>
          <a:solidFill>
            <a:srgbClr val="7A9ABF"/>
          </a:solidFill>
          <a:ln/>
        </p:spPr>
        <p:txBody>
          <a:bodyPr wrap="square" rtlCol="0" anchor="t"/>
          <a:lstStyle/>
          <a:p>
            <a:pPr marL="0" indent="0">
              <a:buNone/>
            </a:pPr>
            <a:endParaRPr lang="en-US" dirty="0"/>
          </a:p>
        </p:txBody>
      </p:sp>
      <p:sp>
        <p:nvSpPr>
          <p:cNvPr id="11" name="Text 8"/>
          <p:cNvSpPr/>
          <p:nvPr/>
        </p:nvSpPr>
        <p:spPr>
          <a:xfrm>
            <a:off x="544116" y="1248221"/>
            <a:ext cx="200620" cy="200620"/>
          </a:xfrm>
          <a:prstGeom prst="roundRect">
            <a:avLst>
              <a:gd name="adj" fmla="val 21523"/>
            </a:avLst>
          </a:prstGeom>
          <a:solidFill>
            <a:srgbClr val="7896BE">
              <a:alpha val="18000"/>
            </a:srgbClr>
          </a:solidFill>
          <a:ln/>
        </p:spPr>
        <p:txBody>
          <a:bodyPr wrap="non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057" y="1282163"/>
            <a:ext cx="132588" cy="132588"/>
          </a:xfrm>
          <a:prstGeom prst="rect">
            <a:avLst/>
          </a:prstGeom>
        </p:spPr>
      </p:pic>
      <p:sp>
        <p:nvSpPr>
          <p:cNvPr id="13" name="Text 9"/>
          <p:cNvSpPr/>
          <p:nvPr/>
        </p:nvSpPr>
        <p:spPr>
          <a:xfrm>
            <a:off x="823466" y="1240631"/>
            <a:ext cx="1957655" cy="135136"/>
          </a:xfrm>
          <a:prstGeom prst="rect">
            <a:avLst/>
          </a:prstGeom>
          <a:noFill/>
          <a:ln/>
        </p:spPr>
        <p:txBody>
          <a:bodyPr wrap="none" lIns="0" tIns="0" rIns="0" bIns="0" rtlCol="0" anchor="ctr"/>
          <a:lstStyle/>
          <a:p>
            <a:pPr marL="0" indent="0" algn="l">
              <a:lnSpc>
                <a:spcPts val="1383"/>
              </a:lnSpc>
              <a:buNone/>
            </a:pPr>
            <a:r>
              <a:rPr lang="en-US" sz="988">
                <a:solidFill>
                  <a:srgbClr val="1E3558"/>
                </a:solidFill>
                <a:latin typeface="Calibri" pitchFamily="34" charset="0"/>
                <a:ea typeface="Calibri" pitchFamily="34" charset="-122"/>
                <a:cs typeface="Calibri" pitchFamily="34" charset="-120"/>
              </a:rPr>
              <a:t>OFA award as sole sustainable revenue</a:t>
            </a:r>
            <a:endParaRPr lang="en-US" sz="988"/>
          </a:p>
        </p:txBody>
      </p:sp>
      <p:sp>
        <p:nvSpPr>
          <p:cNvPr id="14" name="Text 10"/>
          <p:cNvSpPr/>
          <p:nvPr/>
        </p:nvSpPr>
        <p:spPr>
          <a:xfrm>
            <a:off x="438745" y="1578322"/>
            <a:ext cx="3780234" cy="337691"/>
          </a:xfrm>
          <a:prstGeom prst="roundRect">
            <a:avLst>
              <a:gd name="adj" fmla="val 14667"/>
            </a:avLst>
          </a:prstGeom>
          <a:solidFill>
            <a:srgbClr val="A0B4D2">
              <a:alpha val="15000"/>
            </a:srgbClr>
          </a:solidFill>
          <a:ln/>
        </p:spPr>
        <p:txBody>
          <a:bodyPr wrap="square" rtlCol="0" anchor="t"/>
          <a:lstStyle/>
          <a:p>
            <a:pPr marL="0" indent="0">
              <a:buNone/>
            </a:pPr>
            <a:endParaRPr lang="en-US" dirty="0"/>
          </a:p>
        </p:txBody>
      </p:sp>
      <p:sp>
        <p:nvSpPr>
          <p:cNvPr id="15" name="Text 11"/>
          <p:cNvSpPr/>
          <p:nvPr/>
        </p:nvSpPr>
        <p:spPr>
          <a:xfrm>
            <a:off x="438745" y="1578322"/>
            <a:ext cx="19050" cy="337691"/>
          </a:xfrm>
          <a:custGeom>
            <a:avLst/>
            <a:gdLst/>
            <a:ahLst/>
            <a:cxnLst/>
            <a:rect l="l" t="t" r="r" b="b"/>
            <a:pathLst>
              <a:path w="19050" h="337691">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327202"/>
                </a:lnTo>
                <a:lnTo>
                  <a:pt x="16669" y="325220"/>
                </a:lnTo>
                <a:lnTo>
                  <a:pt x="14288" y="322963"/>
                </a:lnTo>
                <a:lnTo>
                  <a:pt x="11906" y="320374"/>
                </a:lnTo>
                <a:lnTo>
                  <a:pt x="9525" y="317364"/>
                </a:lnTo>
                <a:lnTo>
                  <a:pt x="7144" y="313786"/>
                </a:lnTo>
                <a:lnTo>
                  <a:pt x="4763" y="309353"/>
                </a:lnTo>
                <a:lnTo>
                  <a:pt x="2381" y="303334"/>
                </a:lnTo>
                <a:lnTo>
                  <a:pt x="0" y="288161"/>
                </a:lnTo>
                <a:close/>
              </a:path>
            </a:pathLst>
          </a:custGeom>
          <a:solidFill>
            <a:srgbClr val="7A9ABF"/>
          </a:solidFill>
          <a:ln/>
        </p:spPr>
        <p:txBody>
          <a:bodyPr wrap="square" rtlCol="0" anchor="t"/>
          <a:lstStyle/>
          <a:p>
            <a:pPr marL="0" indent="0">
              <a:buNone/>
            </a:pPr>
            <a:endParaRPr lang="en-US" dirty="0"/>
          </a:p>
        </p:txBody>
      </p:sp>
      <p:sp>
        <p:nvSpPr>
          <p:cNvPr id="16" name="Text 12"/>
          <p:cNvSpPr/>
          <p:nvPr/>
        </p:nvSpPr>
        <p:spPr>
          <a:xfrm>
            <a:off x="544116" y="1650653"/>
            <a:ext cx="200620" cy="200620"/>
          </a:xfrm>
          <a:prstGeom prst="roundRect">
            <a:avLst>
              <a:gd name="adj" fmla="val 21523"/>
            </a:avLst>
          </a:prstGeom>
          <a:solidFill>
            <a:srgbClr val="7896BE">
              <a:alpha val="18000"/>
            </a:srgbClr>
          </a:solidFill>
          <a:ln/>
        </p:spPr>
        <p:txBody>
          <a:bodyPr wrap="non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8057" y="1684594"/>
            <a:ext cx="132588" cy="132588"/>
          </a:xfrm>
          <a:prstGeom prst="rect">
            <a:avLst/>
          </a:prstGeom>
        </p:spPr>
      </p:pic>
      <p:sp>
        <p:nvSpPr>
          <p:cNvPr id="18" name="Text 13"/>
          <p:cNvSpPr/>
          <p:nvPr/>
        </p:nvSpPr>
        <p:spPr>
          <a:xfrm>
            <a:off x="823466" y="1643063"/>
            <a:ext cx="1822266" cy="135136"/>
          </a:xfrm>
          <a:prstGeom prst="rect">
            <a:avLst/>
          </a:prstGeom>
          <a:noFill/>
          <a:ln/>
        </p:spPr>
        <p:txBody>
          <a:bodyPr wrap="none" lIns="0" tIns="0" rIns="0" bIns="0" rtlCol="0" anchor="ctr"/>
          <a:lstStyle/>
          <a:p>
            <a:pPr marL="0" indent="0" algn="l">
              <a:lnSpc>
                <a:spcPts val="1383"/>
              </a:lnSpc>
              <a:buNone/>
            </a:pPr>
            <a:r>
              <a:rPr lang="en-US" sz="988">
                <a:solidFill>
                  <a:srgbClr val="1E3558"/>
                </a:solidFill>
                <a:latin typeface="Calibri" pitchFamily="34" charset="0"/>
                <a:ea typeface="Calibri" pitchFamily="34" charset="-122"/>
                <a:cs typeface="Calibri" pitchFamily="34" charset="-120"/>
              </a:rPr>
              <a:t>Foundation grants pursued reactively</a:t>
            </a:r>
            <a:endParaRPr lang="en-US" sz="988"/>
          </a:p>
        </p:txBody>
      </p:sp>
      <p:sp>
        <p:nvSpPr>
          <p:cNvPr id="19" name="Text 14"/>
          <p:cNvSpPr/>
          <p:nvPr/>
        </p:nvSpPr>
        <p:spPr>
          <a:xfrm>
            <a:off x="438745" y="1980754"/>
            <a:ext cx="3780234" cy="337691"/>
          </a:xfrm>
          <a:prstGeom prst="roundRect">
            <a:avLst>
              <a:gd name="adj" fmla="val 14667"/>
            </a:avLst>
          </a:prstGeom>
          <a:solidFill>
            <a:srgbClr val="A0B4D2">
              <a:alpha val="15000"/>
            </a:srgbClr>
          </a:solidFill>
          <a:ln/>
        </p:spPr>
        <p:txBody>
          <a:bodyPr wrap="square" rtlCol="0" anchor="t"/>
          <a:lstStyle/>
          <a:p>
            <a:pPr marL="0" indent="0">
              <a:buNone/>
            </a:pPr>
            <a:endParaRPr lang="en-US" dirty="0"/>
          </a:p>
        </p:txBody>
      </p:sp>
      <p:sp>
        <p:nvSpPr>
          <p:cNvPr id="20" name="Text 15"/>
          <p:cNvSpPr/>
          <p:nvPr/>
        </p:nvSpPr>
        <p:spPr>
          <a:xfrm>
            <a:off x="438745" y="1980754"/>
            <a:ext cx="19050" cy="337691"/>
          </a:xfrm>
          <a:custGeom>
            <a:avLst/>
            <a:gdLst/>
            <a:ahLst/>
            <a:cxnLst/>
            <a:rect l="l" t="t" r="r" b="b"/>
            <a:pathLst>
              <a:path w="19050" h="337691">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327202"/>
                </a:lnTo>
                <a:lnTo>
                  <a:pt x="16669" y="325220"/>
                </a:lnTo>
                <a:lnTo>
                  <a:pt x="14288" y="322963"/>
                </a:lnTo>
                <a:lnTo>
                  <a:pt x="11906" y="320374"/>
                </a:lnTo>
                <a:lnTo>
                  <a:pt x="9525" y="317364"/>
                </a:lnTo>
                <a:lnTo>
                  <a:pt x="7144" y="313786"/>
                </a:lnTo>
                <a:lnTo>
                  <a:pt x="4763" y="309353"/>
                </a:lnTo>
                <a:lnTo>
                  <a:pt x="2381" y="303334"/>
                </a:lnTo>
                <a:lnTo>
                  <a:pt x="0" y="288161"/>
                </a:lnTo>
                <a:close/>
              </a:path>
            </a:pathLst>
          </a:custGeom>
          <a:solidFill>
            <a:srgbClr val="7A9ABF"/>
          </a:solidFill>
          <a:ln/>
        </p:spPr>
        <p:txBody>
          <a:bodyPr wrap="square" rtlCol="0" anchor="t"/>
          <a:lstStyle/>
          <a:p>
            <a:pPr marL="0" indent="0">
              <a:buNone/>
            </a:pPr>
            <a:endParaRPr lang="en-US" dirty="0"/>
          </a:p>
        </p:txBody>
      </p:sp>
      <p:sp>
        <p:nvSpPr>
          <p:cNvPr id="21" name="Text 16"/>
          <p:cNvSpPr/>
          <p:nvPr/>
        </p:nvSpPr>
        <p:spPr>
          <a:xfrm>
            <a:off x="544116" y="2053084"/>
            <a:ext cx="200620" cy="200620"/>
          </a:xfrm>
          <a:prstGeom prst="roundRect">
            <a:avLst>
              <a:gd name="adj" fmla="val 21523"/>
            </a:avLst>
          </a:prstGeom>
          <a:solidFill>
            <a:srgbClr val="7896BE">
              <a:alpha val="18000"/>
            </a:srgbClr>
          </a:solidFill>
          <a:ln/>
        </p:spPr>
        <p:txBody>
          <a:bodyPr wrap="none" rtlCol="0" anchor="t"/>
          <a:lstStyle/>
          <a:p>
            <a:pPr marL="0" indent="0">
              <a:buNone/>
            </a:pPr>
            <a:endParaRPr lang="en-US"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8057" y="2087026"/>
            <a:ext cx="132588" cy="132588"/>
          </a:xfrm>
          <a:prstGeom prst="rect">
            <a:avLst/>
          </a:prstGeom>
        </p:spPr>
      </p:pic>
      <p:sp>
        <p:nvSpPr>
          <p:cNvPr id="23" name="Text 17"/>
          <p:cNvSpPr/>
          <p:nvPr/>
        </p:nvSpPr>
        <p:spPr>
          <a:xfrm>
            <a:off x="823466" y="2045494"/>
            <a:ext cx="2021830" cy="135136"/>
          </a:xfrm>
          <a:prstGeom prst="rect">
            <a:avLst/>
          </a:prstGeom>
          <a:noFill/>
          <a:ln/>
        </p:spPr>
        <p:txBody>
          <a:bodyPr wrap="none" lIns="0" tIns="0" rIns="0" bIns="0" rtlCol="0" anchor="ctr"/>
          <a:lstStyle/>
          <a:p>
            <a:pPr marL="0" indent="0" algn="l">
              <a:lnSpc>
                <a:spcPts val="1383"/>
              </a:lnSpc>
              <a:buNone/>
            </a:pPr>
            <a:r>
              <a:rPr lang="en-US" sz="988">
                <a:solidFill>
                  <a:srgbClr val="1E3558"/>
                </a:solidFill>
                <a:latin typeface="Calibri" pitchFamily="34" charset="0"/>
                <a:ea typeface="Calibri" pitchFamily="34" charset="-122"/>
                <a:cs typeface="Calibri" pitchFamily="34" charset="-120"/>
              </a:rPr>
              <a:t>3 partner MOUs with no funder alignment</a:t>
            </a:r>
            <a:endParaRPr lang="en-US" sz="988"/>
          </a:p>
        </p:txBody>
      </p:sp>
      <p:sp>
        <p:nvSpPr>
          <p:cNvPr id="24" name="Text 18"/>
          <p:cNvSpPr/>
          <p:nvPr/>
        </p:nvSpPr>
        <p:spPr>
          <a:xfrm>
            <a:off x="438745" y="2383185"/>
            <a:ext cx="3780234" cy="337691"/>
          </a:xfrm>
          <a:prstGeom prst="roundRect">
            <a:avLst>
              <a:gd name="adj" fmla="val 14667"/>
            </a:avLst>
          </a:prstGeom>
          <a:solidFill>
            <a:srgbClr val="A0B4D2">
              <a:alpha val="15000"/>
            </a:srgbClr>
          </a:solidFill>
          <a:ln/>
        </p:spPr>
        <p:txBody>
          <a:bodyPr wrap="square" rtlCol="0" anchor="t"/>
          <a:lstStyle/>
          <a:p>
            <a:pPr marL="0" indent="0">
              <a:buNone/>
            </a:pPr>
            <a:endParaRPr lang="en-US" dirty="0"/>
          </a:p>
        </p:txBody>
      </p:sp>
      <p:sp>
        <p:nvSpPr>
          <p:cNvPr id="25" name="Text 19"/>
          <p:cNvSpPr/>
          <p:nvPr/>
        </p:nvSpPr>
        <p:spPr>
          <a:xfrm>
            <a:off x="438745" y="2383185"/>
            <a:ext cx="19050" cy="337691"/>
          </a:xfrm>
          <a:custGeom>
            <a:avLst/>
            <a:gdLst/>
            <a:ahLst/>
            <a:cxnLst/>
            <a:rect l="l" t="t" r="r" b="b"/>
            <a:pathLst>
              <a:path w="19050" h="337691">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327202"/>
                </a:lnTo>
                <a:lnTo>
                  <a:pt x="16669" y="325220"/>
                </a:lnTo>
                <a:lnTo>
                  <a:pt x="14288" y="322963"/>
                </a:lnTo>
                <a:lnTo>
                  <a:pt x="11906" y="320374"/>
                </a:lnTo>
                <a:lnTo>
                  <a:pt x="9525" y="317364"/>
                </a:lnTo>
                <a:lnTo>
                  <a:pt x="7144" y="313786"/>
                </a:lnTo>
                <a:lnTo>
                  <a:pt x="4763" y="309353"/>
                </a:lnTo>
                <a:lnTo>
                  <a:pt x="2381" y="303334"/>
                </a:lnTo>
                <a:lnTo>
                  <a:pt x="0" y="288161"/>
                </a:lnTo>
                <a:close/>
              </a:path>
            </a:pathLst>
          </a:custGeom>
          <a:solidFill>
            <a:srgbClr val="7A9ABF"/>
          </a:solidFill>
          <a:ln/>
        </p:spPr>
        <p:txBody>
          <a:bodyPr wrap="square" rtlCol="0" anchor="t"/>
          <a:lstStyle/>
          <a:p>
            <a:pPr marL="0" indent="0">
              <a:buNone/>
            </a:pPr>
            <a:endParaRPr lang="en-US" dirty="0"/>
          </a:p>
        </p:txBody>
      </p:sp>
      <p:sp>
        <p:nvSpPr>
          <p:cNvPr id="26" name="Text 20"/>
          <p:cNvSpPr/>
          <p:nvPr/>
        </p:nvSpPr>
        <p:spPr>
          <a:xfrm>
            <a:off x="544116" y="2455515"/>
            <a:ext cx="200620" cy="200620"/>
          </a:xfrm>
          <a:prstGeom prst="roundRect">
            <a:avLst>
              <a:gd name="adj" fmla="val 21523"/>
            </a:avLst>
          </a:prstGeom>
          <a:solidFill>
            <a:srgbClr val="7896BE">
              <a:alpha val="18000"/>
            </a:srgbClr>
          </a:solidFill>
          <a:ln/>
        </p:spPr>
        <p:txBody>
          <a:bodyPr wrap="none" rtlCol="0" anchor="t"/>
          <a:lstStyle/>
          <a:p>
            <a:pPr marL="0" indent="0">
              <a:buNone/>
            </a:pPr>
            <a:endParaRPr lang="en-US" dirty="0"/>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8057" y="2489457"/>
            <a:ext cx="132588" cy="132588"/>
          </a:xfrm>
          <a:prstGeom prst="rect">
            <a:avLst/>
          </a:prstGeom>
        </p:spPr>
      </p:pic>
      <p:sp>
        <p:nvSpPr>
          <p:cNvPr id="28" name="Text 21"/>
          <p:cNvSpPr/>
          <p:nvPr/>
        </p:nvSpPr>
        <p:spPr>
          <a:xfrm>
            <a:off x="823466" y="2447925"/>
            <a:ext cx="1686386" cy="135136"/>
          </a:xfrm>
          <a:prstGeom prst="rect">
            <a:avLst/>
          </a:prstGeom>
          <a:noFill/>
          <a:ln/>
        </p:spPr>
        <p:txBody>
          <a:bodyPr wrap="none" lIns="0" tIns="0" rIns="0" bIns="0" rtlCol="0" anchor="ctr"/>
          <a:lstStyle/>
          <a:p>
            <a:pPr marL="0" indent="0" algn="l">
              <a:lnSpc>
                <a:spcPts val="1383"/>
              </a:lnSpc>
              <a:buNone/>
            </a:pPr>
            <a:r>
              <a:rPr lang="en-US" sz="988">
                <a:solidFill>
                  <a:srgbClr val="1E3558"/>
                </a:solidFill>
                <a:latin typeface="Calibri" pitchFamily="34" charset="0"/>
                <a:ea typeface="Calibri" pitchFamily="34" charset="-122"/>
                <a:cs typeface="Calibri" pitchFamily="34" charset="-120"/>
              </a:rPr>
              <a:t>Data collected for compliance only</a:t>
            </a:r>
            <a:endParaRPr lang="en-US" sz="988"/>
          </a:p>
        </p:txBody>
      </p:sp>
      <p:sp>
        <p:nvSpPr>
          <p:cNvPr id="29" name="Text 22"/>
          <p:cNvSpPr/>
          <p:nvPr/>
        </p:nvSpPr>
        <p:spPr>
          <a:xfrm>
            <a:off x="438745" y="2785616"/>
            <a:ext cx="3780234" cy="337691"/>
          </a:xfrm>
          <a:prstGeom prst="roundRect">
            <a:avLst>
              <a:gd name="adj" fmla="val 14667"/>
            </a:avLst>
          </a:prstGeom>
          <a:solidFill>
            <a:srgbClr val="A0B4D2">
              <a:alpha val="15000"/>
            </a:srgbClr>
          </a:solidFill>
          <a:ln/>
        </p:spPr>
        <p:txBody>
          <a:bodyPr wrap="square" rtlCol="0" anchor="t"/>
          <a:lstStyle/>
          <a:p>
            <a:pPr marL="0" indent="0">
              <a:buNone/>
            </a:pPr>
            <a:endParaRPr lang="en-US" dirty="0"/>
          </a:p>
        </p:txBody>
      </p:sp>
      <p:sp>
        <p:nvSpPr>
          <p:cNvPr id="30" name="Text 23"/>
          <p:cNvSpPr/>
          <p:nvPr/>
        </p:nvSpPr>
        <p:spPr>
          <a:xfrm>
            <a:off x="438745" y="2785616"/>
            <a:ext cx="19050" cy="337691"/>
          </a:xfrm>
          <a:custGeom>
            <a:avLst/>
            <a:gdLst/>
            <a:ahLst/>
            <a:cxnLst/>
            <a:rect l="l" t="t" r="r" b="b"/>
            <a:pathLst>
              <a:path w="19050" h="337691">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327202"/>
                </a:lnTo>
                <a:lnTo>
                  <a:pt x="16669" y="325220"/>
                </a:lnTo>
                <a:lnTo>
                  <a:pt x="14288" y="322963"/>
                </a:lnTo>
                <a:lnTo>
                  <a:pt x="11906" y="320374"/>
                </a:lnTo>
                <a:lnTo>
                  <a:pt x="9525" y="317364"/>
                </a:lnTo>
                <a:lnTo>
                  <a:pt x="7144" y="313786"/>
                </a:lnTo>
                <a:lnTo>
                  <a:pt x="4763" y="309353"/>
                </a:lnTo>
                <a:lnTo>
                  <a:pt x="2381" y="303334"/>
                </a:lnTo>
                <a:lnTo>
                  <a:pt x="0" y="288161"/>
                </a:lnTo>
                <a:close/>
              </a:path>
            </a:pathLst>
          </a:custGeom>
          <a:solidFill>
            <a:srgbClr val="7A9ABF"/>
          </a:solidFill>
          <a:ln/>
        </p:spPr>
        <p:txBody>
          <a:bodyPr wrap="square" rtlCol="0" anchor="t"/>
          <a:lstStyle/>
          <a:p>
            <a:pPr marL="0" indent="0">
              <a:buNone/>
            </a:pPr>
            <a:endParaRPr lang="en-US" dirty="0"/>
          </a:p>
        </p:txBody>
      </p:sp>
      <p:sp>
        <p:nvSpPr>
          <p:cNvPr id="31" name="Text 24"/>
          <p:cNvSpPr/>
          <p:nvPr/>
        </p:nvSpPr>
        <p:spPr>
          <a:xfrm>
            <a:off x="544116" y="2857946"/>
            <a:ext cx="200620" cy="200620"/>
          </a:xfrm>
          <a:prstGeom prst="roundRect">
            <a:avLst>
              <a:gd name="adj" fmla="val 21523"/>
            </a:avLst>
          </a:prstGeom>
          <a:solidFill>
            <a:srgbClr val="7896BE">
              <a:alpha val="18000"/>
            </a:srgbClr>
          </a:solidFill>
          <a:ln/>
        </p:spPr>
        <p:txBody>
          <a:bodyPr wrap="none" rtlCol="0" anchor="t"/>
          <a:lstStyle/>
          <a:p>
            <a:pPr marL="0" indent="0">
              <a:buNone/>
            </a:pPr>
            <a:endParaRPr lang="en-US" dirty="0"/>
          </a:p>
        </p:txBody>
      </p:sp>
      <p:pic>
        <p:nvPicPr>
          <p:cNvPr id="3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8057" y="2891888"/>
            <a:ext cx="132588" cy="132588"/>
          </a:xfrm>
          <a:prstGeom prst="rect">
            <a:avLst/>
          </a:prstGeom>
        </p:spPr>
      </p:pic>
      <p:sp>
        <p:nvSpPr>
          <p:cNvPr id="33" name="Text 25"/>
          <p:cNvSpPr/>
          <p:nvPr/>
        </p:nvSpPr>
        <p:spPr>
          <a:xfrm>
            <a:off x="823466" y="2850356"/>
            <a:ext cx="2389852" cy="135136"/>
          </a:xfrm>
          <a:prstGeom prst="rect">
            <a:avLst/>
          </a:prstGeom>
          <a:noFill/>
          <a:ln/>
        </p:spPr>
        <p:txBody>
          <a:bodyPr wrap="none" lIns="0" tIns="0" rIns="0" bIns="0" rtlCol="0" anchor="ctr"/>
          <a:lstStyle/>
          <a:p>
            <a:pPr marL="0" indent="0" algn="l">
              <a:lnSpc>
                <a:spcPts val="1383"/>
              </a:lnSpc>
              <a:buNone/>
            </a:pPr>
            <a:r>
              <a:rPr lang="en-US" sz="988">
                <a:solidFill>
                  <a:srgbClr val="1E3558"/>
                </a:solidFill>
                <a:latin typeface="Calibri" pitchFamily="34" charset="0"/>
                <a:ea typeface="Calibri" pitchFamily="34" charset="-122"/>
                <a:cs typeface="Calibri" pitchFamily="34" charset="-120"/>
              </a:rPr>
              <a:t>Narrative updated annually for OFA renewal only</a:t>
            </a:r>
            <a:endParaRPr lang="en-US" sz="988"/>
          </a:p>
        </p:txBody>
      </p:sp>
      <p:sp>
        <p:nvSpPr>
          <p:cNvPr id="34" name="Text 26"/>
          <p:cNvSpPr/>
          <p:nvPr/>
        </p:nvSpPr>
        <p:spPr>
          <a:xfrm>
            <a:off x="4565005" y="1013520"/>
            <a:ext cx="13841" cy="1809601"/>
          </a:xfrm>
          <a:prstGeom prst="rect">
            <a:avLst/>
          </a:prstGeom>
          <a:gradFill rotWithShape="1">
            <a:gsLst>
              <a:gs pos="0">
                <a:srgbClr val="000000">
                  <a:alpha val="0"/>
                </a:srgbClr>
              </a:gs>
              <a:gs pos="15000">
                <a:srgbClr val="E8A020">
                  <a:alpha val="50000"/>
                </a:srgbClr>
              </a:gs>
              <a:gs pos="85000">
                <a:srgbClr val="E8A020">
                  <a:alpha val="50000"/>
                </a:srgbClr>
              </a:gs>
              <a:gs pos="100000">
                <a:srgbClr val="000000">
                  <a:alpha val="0"/>
                </a:srgbClr>
              </a:gs>
            </a:gsLst>
            <a:lin ang="5400000" scaled="1"/>
          </a:gradFill>
          <a:ln/>
        </p:spPr>
        <p:txBody>
          <a:bodyPr wrap="square" rtlCol="0" anchor="t"/>
          <a:lstStyle/>
          <a:p>
            <a:pPr marL="0" indent="0">
              <a:buNone/>
            </a:pPr>
            <a:endParaRPr lang="en-US" dirty="0"/>
          </a:p>
        </p:txBody>
      </p:sp>
      <p:sp>
        <p:nvSpPr>
          <p:cNvPr id="35" name="Text 27"/>
          <p:cNvSpPr/>
          <p:nvPr/>
        </p:nvSpPr>
        <p:spPr>
          <a:xfrm>
            <a:off x="4565005" y="2823121"/>
            <a:ext cx="13841" cy="1809750"/>
          </a:xfrm>
          <a:prstGeom prst="rect">
            <a:avLst/>
          </a:prstGeom>
          <a:gradFill rotWithShape="1">
            <a:gsLst>
              <a:gs pos="0">
                <a:srgbClr val="000000">
                  <a:alpha val="0"/>
                </a:srgbClr>
              </a:gs>
              <a:gs pos="15000">
                <a:srgbClr val="E8A020">
                  <a:alpha val="50000"/>
                </a:srgbClr>
              </a:gs>
              <a:gs pos="85000">
                <a:srgbClr val="E8A020">
                  <a:alpha val="50000"/>
                </a:srgbClr>
              </a:gs>
              <a:gs pos="100000">
                <a:srgbClr val="000000">
                  <a:alpha val="0"/>
                </a:srgbClr>
              </a:gs>
            </a:gsLst>
            <a:lin ang="5400000" scaled="1"/>
          </a:gradFill>
          <a:ln/>
        </p:spPr>
        <p:txBody>
          <a:bodyPr wrap="square" rtlCol="0" anchor="t"/>
          <a:lstStyle/>
          <a:p>
            <a:pPr marL="0" indent="0">
              <a:buNone/>
            </a:pPr>
            <a:endParaRPr lang="en-US" dirty="0"/>
          </a:p>
        </p:txBody>
      </p:sp>
      <p:sp>
        <p:nvSpPr>
          <p:cNvPr id="36" name="Text 28"/>
          <p:cNvSpPr/>
          <p:nvPr/>
        </p:nvSpPr>
        <p:spPr>
          <a:xfrm>
            <a:off x="4772025" y="721780"/>
            <a:ext cx="4086225" cy="3877121"/>
          </a:xfrm>
          <a:prstGeom prst="roundRect">
            <a:avLst>
              <a:gd name="adj" fmla="val 1834"/>
            </a:avLst>
          </a:prstGeom>
          <a:solidFill>
            <a:srgbClr val="FFFBF0"/>
          </a:solidFill>
          <a:ln w="9525">
            <a:solidFill>
              <a:srgbClr val="E8A020">
                <a:alpha val="50000"/>
              </a:srgbClr>
            </a:solidFill>
          </a:ln>
        </p:spPr>
        <p:txBody>
          <a:bodyPr wrap="square" rtlCol="0" anchor="t"/>
          <a:lstStyle/>
          <a:p>
            <a:pPr marL="0" indent="0">
              <a:buNone/>
            </a:pPr>
            <a:endParaRPr lang="en-US" dirty="0"/>
          </a:p>
        </p:txBody>
      </p:sp>
      <p:sp>
        <p:nvSpPr>
          <p:cNvPr id="37" name="Text 29"/>
          <p:cNvSpPr/>
          <p:nvPr/>
        </p:nvSpPr>
        <p:spPr>
          <a:xfrm>
            <a:off x="4781550" y="765274"/>
            <a:ext cx="4067175" cy="310307"/>
          </a:xfrm>
          <a:prstGeom prst="rect">
            <a:avLst/>
          </a:prstGeom>
          <a:solidFill>
            <a:srgbClr val="E8A020">
              <a:alpha val="15000"/>
            </a:srgbClr>
          </a:solidFill>
          <a:ln/>
        </p:spPr>
        <p:txBody>
          <a:bodyPr wrap="square" rtlCol="0" anchor="t"/>
          <a:lstStyle/>
          <a:p>
            <a:pPr marL="0" indent="0">
              <a:buNone/>
            </a:pPr>
            <a:endParaRPr lang="en-US" dirty="0"/>
          </a:p>
        </p:txBody>
      </p:sp>
      <p:sp>
        <p:nvSpPr>
          <p:cNvPr id="38" name="Text 30"/>
          <p:cNvSpPr/>
          <p:nvPr/>
        </p:nvSpPr>
        <p:spPr>
          <a:xfrm>
            <a:off x="4781550" y="1066056"/>
            <a:ext cx="4067175" cy="9525"/>
          </a:xfrm>
          <a:prstGeom prst="rect">
            <a:avLst/>
          </a:prstGeom>
          <a:solidFill>
            <a:srgbClr val="E8A020"/>
          </a:solidFill>
          <a:ln/>
        </p:spPr>
        <p:txBody>
          <a:bodyPr wrap="none" rtlCol="0" anchor="t"/>
          <a:lstStyle/>
          <a:p>
            <a:pPr marL="0" indent="0">
              <a:buNone/>
            </a:pPr>
            <a:endParaRPr lang="en-US" dirty="0"/>
          </a:p>
        </p:txBody>
      </p:sp>
      <p:pic>
        <p:nvPicPr>
          <p:cNvPr id="3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06798" y="856292"/>
            <a:ext cx="132588" cy="132588"/>
          </a:xfrm>
          <a:prstGeom prst="rect">
            <a:avLst/>
          </a:prstGeom>
        </p:spPr>
      </p:pic>
      <p:sp>
        <p:nvSpPr>
          <p:cNvPr id="40" name="Text 31"/>
          <p:cNvSpPr/>
          <p:nvPr/>
        </p:nvSpPr>
        <p:spPr>
          <a:xfrm>
            <a:off x="5092154" y="857845"/>
            <a:ext cx="2694355" cy="129480"/>
          </a:xfrm>
          <a:prstGeom prst="rect">
            <a:avLst/>
          </a:prstGeom>
          <a:noFill/>
          <a:ln/>
        </p:spPr>
        <p:txBody>
          <a:bodyPr wrap="none" lIns="0" tIns="0" rIns="0" bIns="0" rtlCol="0" anchor="ctr"/>
          <a:lstStyle/>
          <a:p>
            <a:pPr marL="0" indent="0" algn="l">
              <a:lnSpc>
                <a:spcPts val="1326"/>
              </a:lnSpc>
              <a:buNone/>
            </a:pPr>
            <a:r>
              <a:rPr lang="en-US" sz="884" b="1">
                <a:solidFill>
                  <a:srgbClr val="E8A020"/>
                </a:solidFill>
                <a:latin typeface="Calibri" pitchFamily="34" charset="0"/>
                <a:ea typeface="Calibri" pitchFamily="34" charset="-122"/>
                <a:cs typeface="Calibri" pitchFamily="34" charset="-120"/>
              </a:rPr>
              <a:t>LOGIC MODEL + FSR (PROJECTED IMPACT)</a:t>
            </a:r>
            <a:endParaRPr lang="en-US" sz="884"/>
          </a:p>
        </p:txBody>
      </p:sp>
      <p:sp>
        <p:nvSpPr>
          <p:cNvPr id="41" name="Text 32"/>
          <p:cNvSpPr/>
          <p:nvPr/>
        </p:nvSpPr>
        <p:spPr>
          <a:xfrm>
            <a:off x="4925020" y="1175891"/>
            <a:ext cx="3780234" cy="399752"/>
          </a:xfrm>
          <a:prstGeom prst="roundRect">
            <a:avLst>
              <a:gd name="adj" fmla="val 12390"/>
            </a:avLst>
          </a:prstGeom>
          <a:solidFill>
            <a:srgbClr val="E8A020">
              <a:alpha val="9000"/>
            </a:srgbClr>
          </a:solidFill>
          <a:ln/>
        </p:spPr>
        <p:txBody>
          <a:bodyPr wrap="square" rtlCol="0" anchor="t"/>
          <a:lstStyle/>
          <a:p>
            <a:pPr marL="0" indent="0">
              <a:buNone/>
            </a:pPr>
            <a:endParaRPr lang="en-US" dirty="0"/>
          </a:p>
        </p:txBody>
      </p:sp>
      <p:sp>
        <p:nvSpPr>
          <p:cNvPr id="42" name="Text 33"/>
          <p:cNvSpPr/>
          <p:nvPr/>
        </p:nvSpPr>
        <p:spPr>
          <a:xfrm>
            <a:off x="4925020" y="1175891"/>
            <a:ext cx="19050" cy="399752"/>
          </a:xfrm>
          <a:custGeom>
            <a:avLst/>
            <a:gdLst/>
            <a:ahLst/>
            <a:cxnLst/>
            <a:rect l="l" t="t" r="r" b="b"/>
            <a:pathLst>
              <a:path w="19050" h="399752">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389263"/>
                </a:lnTo>
                <a:lnTo>
                  <a:pt x="16669" y="387281"/>
                </a:lnTo>
                <a:lnTo>
                  <a:pt x="14288" y="385024"/>
                </a:lnTo>
                <a:lnTo>
                  <a:pt x="11906" y="382435"/>
                </a:lnTo>
                <a:lnTo>
                  <a:pt x="9525" y="379425"/>
                </a:lnTo>
                <a:lnTo>
                  <a:pt x="7144" y="375847"/>
                </a:lnTo>
                <a:lnTo>
                  <a:pt x="4763" y="371414"/>
                </a:lnTo>
                <a:lnTo>
                  <a:pt x="2381" y="365395"/>
                </a:lnTo>
                <a:lnTo>
                  <a:pt x="0" y="350222"/>
                </a:lnTo>
                <a:close/>
              </a:path>
            </a:pathLst>
          </a:custGeom>
          <a:solidFill>
            <a:srgbClr val="E8A020"/>
          </a:solidFill>
          <a:ln/>
        </p:spPr>
        <p:txBody>
          <a:bodyPr wrap="square" rtlCol="0" anchor="t"/>
          <a:lstStyle/>
          <a:p>
            <a:pPr marL="0" indent="0">
              <a:buNone/>
            </a:pPr>
            <a:endParaRPr lang="en-US" dirty="0"/>
          </a:p>
        </p:txBody>
      </p:sp>
      <p:sp>
        <p:nvSpPr>
          <p:cNvPr id="43" name="Text 34"/>
          <p:cNvSpPr/>
          <p:nvPr/>
        </p:nvSpPr>
        <p:spPr>
          <a:xfrm>
            <a:off x="5030391" y="1248221"/>
            <a:ext cx="200620" cy="200620"/>
          </a:xfrm>
          <a:prstGeom prst="roundRect">
            <a:avLst>
              <a:gd name="adj" fmla="val 21523"/>
            </a:avLst>
          </a:prstGeom>
          <a:solidFill>
            <a:srgbClr val="E8A020">
              <a:alpha val="20000"/>
            </a:srgbClr>
          </a:solidFill>
          <a:ln/>
        </p:spPr>
        <p:txBody>
          <a:bodyPr wrap="none" rtlCol="0" anchor="t"/>
          <a:lstStyle/>
          <a:p>
            <a:pPr marL="0" indent="0">
              <a:buNone/>
            </a:pPr>
            <a:endParaRPr lang="en-US" dirty="0"/>
          </a:p>
        </p:txBody>
      </p:sp>
      <p:pic>
        <p:nvPicPr>
          <p:cNvPr id="44"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064332" y="1282163"/>
            <a:ext cx="132588" cy="132588"/>
          </a:xfrm>
          <a:prstGeom prst="rect">
            <a:avLst/>
          </a:prstGeom>
        </p:spPr>
      </p:pic>
      <p:sp>
        <p:nvSpPr>
          <p:cNvPr id="45" name="Text 35"/>
          <p:cNvSpPr/>
          <p:nvPr/>
        </p:nvSpPr>
        <p:spPr>
          <a:xfrm>
            <a:off x="5309741" y="1240631"/>
            <a:ext cx="3375377" cy="283785"/>
          </a:xfrm>
          <a:prstGeom prst="rect">
            <a:avLst/>
          </a:prstGeom>
          <a:noFill/>
          <a:ln/>
        </p:spPr>
        <p:txBody>
          <a:bodyPr wrap="square" lIns="0" tIns="0" rIns="0" bIns="0" rtlCol="0" anchor="ctr"/>
          <a:lstStyle/>
          <a:p>
            <a:pPr marL="0" indent="0" algn="l">
              <a:lnSpc>
                <a:spcPts val="1383"/>
              </a:lnSpc>
              <a:buNone/>
            </a:pPr>
            <a:r>
              <a:rPr lang="en-US" sz="988">
                <a:solidFill>
                  <a:srgbClr val="0D1B3E"/>
                </a:solidFill>
                <a:latin typeface="Calibri" pitchFamily="34" charset="0"/>
                <a:ea typeface="Calibri" pitchFamily="34" charset="-122"/>
                <a:cs typeface="Calibri" pitchFamily="34" charset="-120"/>
              </a:rPr>
              <a:t>Environmental scan reveals 2 new foundation priorities aligned to workforce outcomes</a:t>
            </a:r>
            <a:endParaRPr lang="en-US" sz="988"/>
          </a:p>
        </p:txBody>
      </p:sp>
      <p:sp>
        <p:nvSpPr>
          <p:cNvPr id="46" name="Text 36"/>
          <p:cNvSpPr/>
          <p:nvPr/>
        </p:nvSpPr>
        <p:spPr>
          <a:xfrm>
            <a:off x="4925020" y="1640384"/>
            <a:ext cx="3780234" cy="337691"/>
          </a:xfrm>
          <a:prstGeom prst="roundRect">
            <a:avLst>
              <a:gd name="adj" fmla="val 14667"/>
            </a:avLst>
          </a:prstGeom>
          <a:solidFill>
            <a:srgbClr val="E8A020">
              <a:alpha val="9000"/>
            </a:srgbClr>
          </a:solidFill>
          <a:ln/>
        </p:spPr>
        <p:txBody>
          <a:bodyPr wrap="square" rtlCol="0" anchor="t"/>
          <a:lstStyle/>
          <a:p>
            <a:pPr marL="0" indent="0">
              <a:buNone/>
            </a:pPr>
            <a:endParaRPr lang="en-US" dirty="0"/>
          </a:p>
        </p:txBody>
      </p:sp>
      <p:sp>
        <p:nvSpPr>
          <p:cNvPr id="47" name="Text 37"/>
          <p:cNvSpPr/>
          <p:nvPr/>
        </p:nvSpPr>
        <p:spPr>
          <a:xfrm>
            <a:off x="4925020" y="1640384"/>
            <a:ext cx="19050" cy="337691"/>
          </a:xfrm>
          <a:custGeom>
            <a:avLst/>
            <a:gdLst/>
            <a:ahLst/>
            <a:cxnLst/>
            <a:rect l="l" t="t" r="r" b="b"/>
            <a:pathLst>
              <a:path w="19050" h="337691">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327202"/>
                </a:lnTo>
                <a:lnTo>
                  <a:pt x="16669" y="325220"/>
                </a:lnTo>
                <a:lnTo>
                  <a:pt x="14288" y="322963"/>
                </a:lnTo>
                <a:lnTo>
                  <a:pt x="11906" y="320374"/>
                </a:lnTo>
                <a:lnTo>
                  <a:pt x="9525" y="317364"/>
                </a:lnTo>
                <a:lnTo>
                  <a:pt x="7144" y="313786"/>
                </a:lnTo>
                <a:lnTo>
                  <a:pt x="4763" y="309353"/>
                </a:lnTo>
                <a:lnTo>
                  <a:pt x="2381" y="303334"/>
                </a:lnTo>
                <a:lnTo>
                  <a:pt x="0" y="288161"/>
                </a:lnTo>
                <a:close/>
              </a:path>
            </a:pathLst>
          </a:custGeom>
          <a:solidFill>
            <a:srgbClr val="E8A020"/>
          </a:solidFill>
          <a:ln/>
        </p:spPr>
        <p:txBody>
          <a:bodyPr wrap="square" rtlCol="0" anchor="t"/>
          <a:lstStyle/>
          <a:p>
            <a:pPr marL="0" indent="0">
              <a:buNone/>
            </a:pPr>
            <a:endParaRPr lang="en-US" dirty="0"/>
          </a:p>
        </p:txBody>
      </p:sp>
      <p:sp>
        <p:nvSpPr>
          <p:cNvPr id="48" name="Text 38"/>
          <p:cNvSpPr/>
          <p:nvPr/>
        </p:nvSpPr>
        <p:spPr>
          <a:xfrm>
            <a:off x="5030391" y="1712714"/>
            <a:ext cx="200620" cy="200620"/>
          </a:xfrm>
          <a:prstGeom prst="roundRect">
            <a:avLst>
              <a:gd name="adj" fmla="val 21523"/>
            </a:avLst>
          </a:prstGeom>
          <a:solidFill>
            <a:srgbClr val="E8A020">
              <a:alpha val="20000"/>
            </a:srgbClr>
          </a:solidFill>
          <a:ln/>
        </p:spPr>
        <p:txBody>
          <a:bodyPr wrap="none" rtlCol="0" anchor="t"/>
          <a:lstStyle/>
          <a:p>
            <a:pPr marL="0" indent="0">
              <a:buNone/>
            </a:pPr>
            <a:endParaRPr lang="en-US" dirty="0"/>
          </a:p>
        </p:txBody>
      </p:sp>
      <p:pic>
        <p:nvPicPr>
          <p:cNvPr id="4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64332" y="1746656"/>
            <a:ext cx="132588" cy="132588"/>
          </a:xfrm>
          <a:prstGeom prst="rect">
            <a:avLst/>
          </a:prstGeom>
        </p:spPr>
      </p:pic>
      <p:sp>
        <p:nvSpPr>
          <p:cNvPr id="50" name="Text 39"/>
          <p:cNvSpPr/>
          <p:nvPr/>
        </p:nvSpPr>
        <p:spPr>
          <a:xfrm>
            <a:off x="5309741" y="1705124"/>
            <a:ext cx="2765241" cy="135136"/>
          </a:xfrm>
          <a:prstGeom prst="rect">
            <a:avLst/>
          </a:prstGeom>
          <a:noFill/>
          <a:ln/>
        </p:spPr>
        <p:txBody>
          <a:bodyPr wrap="none" lIns="0" tIns="0" rIns="0" bIns="0" rtlCol="0" anchor="ctr"/>
          <a:lstStyle/>
          <a:p>
            <a:pPr marL="0" indent="0" algn="l">
              <a:lnSpc>
                <a:spcPts val="1383"/>
              </a:lnSpc>
              <a:buNone/>
            </a:pPr>
            <a:r>
              <a:rPr lang="en-US" sz="988">
                <a:solidFill>
                  <a:srgbClr val="0D1B3E"/>
                </a:solidFill>
                <a:latin typeface="Calibri" pitchFamily="34" charset="0"/>
                <a:ea typeface="Calibri" pitchFamily="34" charset="-122"/>
                <a:cs typeface="Calibri" pitchFamily="34" charset="-120"/>
              </a:rPr>
              <a:t>Opportunity scoring identifies 3 viable supplement grants</a:t>
            </a:r>
            <a:endParaRPr lang="en-US" sz="988"/>
          </a:p>
        </p:txBody>
      </p:sp>
      <p:sp>
        <p:nvSpPr>
          <p:cNvPr id="51" name="Text 40"/>
          <p:cNvSpPr/>
          <p:nvPr/>
        </p:nvSpPr>
        <p:spPr>
          <a:xfrm>
            <a:off x="4925020" y="2042815"/>
            <a:ext cx="3780234" cy="337691"/>
          </a:xfrm>
          <a:prstGeom prst="roundRect">
            <a:avLst>
              <a:gd name="adj" fmla="val 14667"/>
            </a:avLst>
          </a:prstGeom>
          <a:solidFill>
            <a:srgbClr val="E8A020">
              <a:alpha val="9000"/>
            </a:srgbClr>
          </a:solidFill>
          <a:ln/>
        </p:spPr>
        <p:txBody>
          <a:bodyPr wrap="square" rtlCol="0" anchor="t"/>
          <a:lstStyle/>
          <a:p>
            <a:pPr marL="0" indent="0">
              <a:buNone/>
            </a:pPr>
            <a:endParaRPr lang="en-US" dirty="0"/>
          </a:p>
        </p:txBody>
      </p:sp>
      <p:sp>
        <p:nvSpPr>
          <p:cNvPr id="52" name="Text 41"/>
          <p:cNvSpPr/>
          <p:nvPr/>
        </p:nvSpPr>
        <p:spPr>
          <a:xfrm>
            <a:off x="4925020" y="2042815"/>
            <a:ext cx="19050" cy="337691"/>
          </a:xfrm>
          <a:custGeom>
            <a:avLst/>
            <a:gdLst/>
            <a:ahLst/>
            <a:cxnLst/>
            <a:rect l="l" t="t" r="r" b="b"/>
            <a:pathLst>
              <a:path w="19050" h="337691">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327202"/>
                </a:lnTo>
                <a:lnTo>
                  <a:pt x="16669" y="325220"/>
                </a:lnTo>
                <a:lnTo>
                  <a:pt x="14288" y="322963"/>
                </a:lnTo>
                <a:lnTo>
                  <a:pt x="11906" y="320374"/>
                </a:lnTo>
                <a:lnTo>
                  <a:pt x="9525" y="317364"/>
                </a:lnTo>
                <a:lnTo>
                  <a:pt x="7144" y="313786"/>
                </a:lnTo>
                <a:lnTo>
                  <a:pt x="4763" y="309353"/>
                </a:lnTo>
                <a:lnTo>
                  <a:pt x="2381" y="303334"/>
                </a:lnTo>
                <a:lnTo>
                  <a:pt x="0" y="288161"/>
                </a:lnTo>
                <a:close/>
              </a:path>
            </a:pathLst>
          </a:custGeom>
          <a:solidFill>
            <a:srgbClr val="E8A020"/>
          </a:solidFill>
          <a:ln/>
        </p:spPr>
        <p:txBody>
          <a:bodyPr wrap="square" rtlCol="0" anchor="t"/>
          <a:lstStyle/>
          <a:p>
            <a:pPr marL="0" indent="0">
              <a:buNone/>
            </a:pPr>
            <a:endParaRPr lang="en-US" dirty="0"/>
          </a:p>
        </p:txBody>
      </p:sp>
      <p:sp>
        <p:nvSpPr>
          <p:cNvPr id="53" name="Text 42"/>
          <p:cNvSpPr/>
          <p:nvPr/>
        </p:nvSpPr>
        <p:spPr>
          <a:xfrm>
            <a:off x="5030391" y="2115145"/>
            <a:ext cx="200620" cy="200620"/>
          </a:xfrm>
          <a:prstGeom prst="roundRect">
            <a:avLst>
              <a:gd name="adj" fmla="val 21523"/>
            </a:avLst>
          </a:prstGeom>
          <a:solidFill>
            <a:srgbClr val="E8A020">
              <a:alpha val="20000"/>
            </a:srgbClr>
          </a:solidFill>
          <a:ln/>
        </p:spPr>
        <p:txBody>
          <a:bodyPr wrap="none" rtlCol="0" anchor="t"/>
          <a:lstStyle/>
          <a:p>
            <a:pPr marL="0" indent="0">
              <a:buNone/>
            </a:pPr>
            <a:endParaRPr lang="en-US" dirty="0"/>
          </a:p>
        </p:txBody>
      </p:sp>
      <p:pic>
        <p:nvPicPr>
          <p:cNvPr id="54"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064332" y="2149087"/>
            <a:ext cx="132588" cy="132588"/>
          </a:xfrm>
          <a:prstGeom prst="rect">
            <a:avLst/>
          </a:prstGeom>
        </p:spPr>
      </p:pic>
      <p:sp>
        <p:nvSpPr>
          <p:cNvPr id="55" name="Text 43"/>
          <p:cNvSpPr/>
          <p:nvPr/>
        </p:nvSpPr>
        <p:spPr>
          <a:xfrm>
            <a:off x="5309741" y="2107555"/>
            <a:ext cx="3397002" cy="135136"/>
          </a:xfrm>
          <a:prstGeom prst="rect">
            <a:avLst/>
          </a:prstGeom>
          <a:noFill/>
          <a:ln/>
        </p:spPr>
        <p:txBody>
          <a:bodyPr wrap="none" lIns="0" tIns="0" rIns="0" bIns="0" rtlCol="0" anchor="ctr"/>
          <a:lstStyle/>
          <a:p>
            <a:pPr marL="0" indent="0" algn="l">
              <a:lnSpc>
                <a:spcPts val="1383"/>
              </a:lnSpc>
              <a:buNone/>
            </a:pPr>
            <a:r>
              <a:rPr lang="en-US" sz="988">
                <a:solidFill>
                  <a:srgbClr val="0D1B3E"/>
                </a:solidFill>
                <a:latin typeface="Calibri" pitchFamily="34" charset="0"/>
                <a:ea typeface="Calibri" pitchFamily="34" charset="-122"/>
                <a:cs typeface="Calibri" pitchFamily="34" charset="-120"/>
              </a:rPr>
              <a:t>Readiness assessment closes a data gap 90 days before OFA renewal</a:t>
            </a:r>
            <a:endParaRPr lang="en-US" sz="988"/>
          </a:p>
        </p:txBody>
      </p:sp>
      <p:sp>
        <p:nvSpPr>
          <p:cNvPr id="56" name="Text 44"/>
          <p:cNvSpPr/>
          <p:nvPr/>
        </p:nvSpPr>
        <p:spPr>
          <a:xfrm>
            <a:off x="4925020" y="2445246"/>
            <a:ext cx="3780234" cy="399752"/>
          </a:xfrm>
          <a:prstGeom prst="roundRect">
            <a:avLst>
              <a:gd name="adj" fmla="val 12390"/>
            </a:avLst>
          </a:prstGeom>
          <a:solidFill>
            <a:srgbClr val="E8A020">
              <a:alpha val="9000"/>
            </a:srgbClr>
          </a:solidFill>
          <a:ln/>
        </p:spPr>
        <p:txBody>
          <a:bodyPr wrap="square" rtlCol="0" anchor="t"/>
          <a:lstStyle/>
          <a:p>
            <a:pPr marL="0" indent="0">
              <a:buNone/>
            </a:pPr>
            <a:endParaRPr lang="en-US" dirty="0"/>
          </a:p>
        </p:txBody>
      </p:sp>
      <p:sp>
        <p:nvSpPr>
          <p:cNvPr id="57" name="Text 45"/>
          <p:cNvSpPr/>
          <p:nvPr/>
        </p:nvSpPr>
        <p:spPr>
          <a:xfrm>
            <a:off x="4925020" y="2445246"/>
            <a:ext cx="19050" cy="399752"/>
          </a:xfrm>
          <a:custGeom>
            <a:avLst/>
            <a:gdLst/>
            <a:ahLst/>
            <a:cxnLst/>
            <a:rect l="l" t="t" r="r" b="b"/>
            <a:pathLst>
              <a:path w="19050" h="399752">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389263"/>
                </a:lnTo>
                <a:lnTo>
                  <a:pt x="16669" y="387281"/>
                </a:lnTo>
                <a:lnTo>
                  <a:pt x="14288" y="385024"/>
                </a:lnTo>
                <a:lnTo>
                  <a:pt x="11906" y="382435"/>
                </a:lnTo>
                <a:lnTo>
                  <a:pt x="9525" y="379425"/>
                </a:lnTo>
                <a:lnTo>
                  <a:pt x="7144" y="375847"/>
                </a:lnTo>
                <a:lnTo>
                  <a:pt x="4763" y="371414"/>
                </a:lnTo>
                <a:lnTo>
                  <a:pt x="2381" y="365395"/>
                </a:lnTo>
                <a:lnTo>
                  <a:pt x="0" y="350222"/>
                </a:lnTo>
                <a:close/>
              </a:path>
            </a:pathLst>
          </a:custGeom>
          <a:solidFill>
            <a:srgbClr val="E8A020"/>
          </a:solidFill>
          <a:ln/>
        </p:spPr>
        <p:txBody>
          <a:bodyPr wrap="square" rtlCol="0" anchor="t"/>
          <a:lstStyle/>
          <a:p>
            <a:pPr marL="0" indent="0">
              <a:buNone/>
            </a:pPr>
            <a:endParaRPr lang="en-US" dirty="0"/>
          </a:p>
        </p:txBody>
      </p:sp>
      <p:sp>
        <p:nvSpPr>
          <p:cNvPr id="58" name="Text 46"/>
          <p:cNvSpPr/>
          <p:nvPr/>
        </p:nvSpPr>
        <p:spPr>
          <a:xfrm>
            <a:off x="5030391" y="2517577"/>
            <a:ext cx="200620" cy="200620"/>
          </a:xfrm>
          <a:prstGeom prst="roundRect">
            <a:avLst>
              <a:gd name="adj" fmla="val 21523"/>
            </a:avLst>
          </a:prstGeom>
          <a:solidFill>
            <a:srgbClr val="E8A020">
              <a:alpha val="20000"/>
            </a:srgbClr>
          </a:solidFill>
          <a:ln/>
        </p:spPr>
        <p:txBody>
          <a:bodyPr wrap="none" rtlCol="0" anchor="t"/>
          <a:lstStyle/>
          <a:p>
            <a:pPr marL="0" indent="0">
              <a:buNone/>
            </a:pPr>
            <a:endParaRPr lang="en-US" dirty="0"/>
          </a:p>
        </p:txBody>
      </p:sp>
      <p:pic>
        <p:nvPicPr>
          <p:cNvPr id="59"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064332" y="2551518"/>
            <a:ext cx="132588" cy="132588"/>
          </a:xfrm>
          <a:prstGeom prst="rect">
            <a:avLst/>
          </a:prstGeom>
        </p:spPr>
      </p:pic>
      <p:sp>
        <p:nvSpPr>
          <p:cNvPr id="60" name="Text 47"/>
          <p:cNvSpPr/>
          <p:nvPr/>
        </p:nvSpPr>
        <p:spPr>
          <a:xfrm>
            <a:off x="5309741" y="2509986"/>
            <a:ext cx="3375377" cy="283785"/>
          </a:xfrm>
          <a:prstGeom prst="rect">
            <a:avLst/>
          </a:prstGeom>
          <a:noFill/>
          <a:ln/>
        </p:spPr>
        <p:txBody>
          <a:bodyPr wrap="square" lIns="0" tIns="0" rIns="0" bIns="0" rtlCol="0" anchor="ctr"/>
          <a:lstStyle/>
          <a:p>
            <a:pPr marL="0" indent="0" algn="l">
              <a:lnSpc>
                <a:spcPts val="1383"/>
              </a:lnSpc>
              <a:buNone/>
            </a:pPr>
            <a:r>
              <a:rPr lang="en-US" sz="988">
                <a:solidFill>
                  <a:srgbClr val="0D1B3E"/>
                </a:solidFill>
                <a:latin typeface="Calibri" pitchFamily="34" charset="0"/>
                <a:ea typeface="Calibri" pitchFamily="34" charset="-122"/>
                <a:cs typeface="Calibri" pitchFamily="34" charset="-120"/>
              </a:rPr>
              <a:t>Response coordination produces 2 competitive LOIs and 1 foundation award</a:t>
            </a:r>
            <a:endParaRPr lang="en-US" sz="988"/>
          </a:p>
        </p:txBody>
      </p:sp>
      <p:sp>
        <p:nvSpPr>
          <p:cNvPr id="61" name="Text 48"/>
          <p:cNvSpPr/>
          <p:nvPr/>
        </p:nvSpPr>
        <p:spPr>
          <a:xfrm>
            <a:off x="4925020" y="2909739"/>
            <a:ext cx="3780234" cy="337691"/>
          </a:xfrm>
          <a:prstGeom prst="roundRect">
            <a:avLst>
              <a:gd name="adj" fmla="val 14667"/>
            </a:avLst>
          </a:prstGeom>
          <a:solidFill>
            <a:srgbClr val="E8A020">
              <a:alpha val="9000"/>
            </a:srgbClr>
          </a:solidFill>
          <a:ln/>
        </p:spPr>
        <p:txBody>
          <a:bodyPr wrap="square" rtlCol="0" anchor="t"/>
          <a:lstStyle/>
          <a:p>
            <a:pPr marL="0" indent="0">
              <a:buNone/>
            </a:pPr>
            <a:endParaRPr lang="en-US" dirty="0"/>
          </a:p>
        </p:txBody>
      </p:sp>
      <p:sp>
        <p:nvSpPr>
          <p:cNvPr id="62" name="Text 49"/>
          <p:cNvSpPr/>
          <p:nvPr/>
        </p:nvSpPr>
        <p:spPr>
          <a:xfrm>
            <a:off x="4925020" y="2909739"/>
            <a:ext cx="19050" cy="337691"/>
          </a:xfrm>
          <a:custGeom>
            <a:avLst/>
            <a:gdLst/>
            <a:ahLst/>
            <a:cxnLst/>
            <a:rect l="l" t="t" r="r" b="b"/>
            <a:pathLst>
              <a:path w="19050" h="337691">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327202"/>
                </a:lnTo>
                <a:lnTo>
                  <a:pt x="16669" y="325220"/>
                </a:lnTo>
                <a:lnTo>
                  <a:pt x="14288" y="322963"/>
                </a:lnTo>
                <a:lnTo>
                  <a:pt x="11906" y="320374"/>
                </a:lnTo>
                <a:lnTo>
                  <a:pt x="9525" y="317364"/>
                </a:lnTo>
                <a:lnTo>
                  <a:pt x="7144" y="313786"/>
                </a:lnTo>
                <a:lnTo>
                  <a:pt x="4763" y="309353"/>
                </a:lnTo>
                <a:lnTo>
                  <a:pt x="2381" y="303334"/>
                </a:lnTo>
                <a:lnTo>
                  <a:pt x="0" y="288161"/>
                </a:lnTo>
                <a:close/>
              </a:path>
            </a:pathLst>
          </a:custGeom>
          <a:solidFill>
            <a:srgbClr val="E8A020"/>
          </a:solidFill>
          <a:ln/>
        </p:spPr>
        <p:txBody>
          <a:bodyPr wrap="square" rtlCol="0" anchor="t"/>
          <a:lstStyle/>
          <a:p>
            <a:pPr marL="0" indent="0">
              <a:buNone/>
            </a:pPr>
            <a:endParaRPr lang="en-US" dirty="0"/>
          </a:p>
        </p:txBody>
      </p:sp>
      <p:sp>
        <p:nvSpPr>
          <p:cNvPr id="63" name="Text 50"/>
          <p:cNvSpPr/>
          <p:nvPr/>
        </p:nvSpPr>
        <p:spPr>
          <a:xfrm>
            <a:off x="5030391" y="2982069"/>
            <a:ext cx="200620" cy="200620"/>
          </a:xfrm>
          <a:prstGeom prst="roundRect">
            <a:avLst>
              <a:gd name="adj" fmla="val 21523"/>
            </a:avLst>
          </a:prstGeom>
          <a:solidFill>
            <a:srgbClr val="E8A020">
              <a:alpha val="20000"/>
            </a:srgbClr>
          </a:solidFill>
          <a:ln/>
        </p:spPr>
        <p:txBody>
          <a:bodyPr wrap="none" rtlCol="0" anchor="t"/>
          <a:lstStyle/>
          <a:p>
            <a:pPr marL="0" indent="0">
              <a:buNone/>
            </a:pPr>
            <a:endParaRPr lang="en-US" dirty="0"/>
          </a:p>
        </p:txBody>
      </p:sp>
      <p:pic>
        <p:nvPicPr>
          <p:cNvPr id="64"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064332" y="3016011"/>
            <a:ext cx="132588" cy="132588"/>
          </a:xfrm>
          <a:prstGeom prst="rect">
            <a:avLst/>
          </a:prstGeom>
        </p:spPr>
      </p:pic>
      <p:sp>
        <p:nvSpPr>
          <p:cNvPr id="65" name="Text 51"/>
          <p:cNvSpPr/>
          <p:nvPr/>
        </p:nvSpPr>
        <p:spPr>
          <a:xfrm>
            <a:off x="5309741" y="2939572"/>
            <a:ext cx="3449717" cy="272951"/>
          </a:xfrm>
          <a:prstGeom prst="rect">
            <a:avLst/>
          </a:prstGeom>
          <a:noFill/>
          <a:ln/>
        </p:spPr>
        <p:txBody>
          <a:bodyPr wrap="none" lIns="0" tIns="0" rIns="0" bIns="0" rtlCol="0" anchor="ctr"/>
          <a:lstStyle/>
          <a:p>
            <a:pPr marL="0" indent="0" algn="l">
              <a:lnSpc>
                <a:spcPts val="1383"/>
              </a:lnSpc>
              <a:buNone/>
            </a:pPr>
            <a:r>
              <a:rPr lang="en-US" sz="988" dirty="0">
                <a:solidFill>
                  <a:srgbClr val="0D1B3E"/>
                </a:solidFill>
                <a:latin typeface="Calibri" pitchFamily="34" charset="0"/>
                <a:ea typeface="Calibri" pitchFamily="34" charset="-122"/>
                <a:cs typeface="Calibri" pitchFamily="34" charset="-120"/>
              </a:rPr>
              <a:t>Learning cycle strengthens Year 2 OFA narrative with new outcome </a:t>
            </a:r>
          </a:p>
          <a:p>
            <a:pPr marL="0" indent="0" algn="l">
              <a:lnSpc>
                <a:spcPts val="1383"/>
              </a:lnSpc>
              <a:buNone/>
            </a:pPr>
            <a:r>
              <a:rPr lang="en-US" sz="988" dirty="0">
                <a:solidFill>
                  <a:srgbClr val="0D1B3E"/>
                </a:solidFill>
                <a:latin typeface="Calibri" pitchFamily="34" charset="0"/>
                <a:ea typeface="Calibri" pitchFamily="34" charset="-122"/>
                <a:cs typeface="Calibri" pitchFamily="34" charset="-120"/>
              </a:rPr>
              <a:t>data</a:t>
            </a:r>
            <a:endParaRPr lang="en-US" sz="988" dirty="0"/>
          </a:p>
        </p:txBody>
      </p:sp>
      <p:sp>
        <p:nvSpPr>
          <p:cNvPr id="66" name="Text 52"/>
          <p:cNvSpPr/>
          <p:nvPr/>
        </p:nvSpPr>
        <p:spPr>
          <a:xfrm>
            <a:off x="285750" y="4719191"/>
            <a:ext cx="8572500" cy="310009"/>
          </a:xfrm>
          <a:prstGeom prst="roundRect">
            <a:avLst>
              <a:gd name="adj" fmla="val 18435"/>
            </a:avLst>
          </a:prstGeom>
          <a:solidFill>
            <a:srgbClr val="E8A020"/>
          </a:solidFill>
          <a:ln w="9525">
            <a:solidFill>
              <a:srgbClr val="C98A10"/>
            </a:solidFill>
          </a:ln>
        </p:spPr>
        <p:txBody>
          <a:bodyPr wrap="square" rtlCol="0" anchor="t"/>
          <a:lstStyle/>
          <a:p>
            <a:pPr marL="0" indent="0">
              <a:buNone/>
            </a:pPr>
            <a:endParaRPr lang="en-US" dirty="0"/>
          </a:p>
        </p:txBody>
      </p:sp>
      <p:pic>
        <p:nvPicPr>
          <p:cNvPr id="67" name="Image 12" descr="preencoded.png"/>
          <p:cNvPicPr>
            <a:picLocks noChangeAspect="1"/>
          </p:cNvPicPr>
          <p:nvPr/>
        </p:nvPicPr>
        <p:blipFill>
          <a:blip>
            <a:alphaModFix amt="85000"/>
            <a:extLst>
              <a:ext uri="{96DAC541-7B7A-43D3-8B79-37D633B846F1}">
                <asvg:svgBlip xmlns:asvg="http://schemas.microsoft.com/office/drawing/2016/SVG/main" r:embed="rId15"/>
              </a:ext>
            </a:extLst>
          </a:blip>
          <a:stretch>
            <a:fillRect/>
          </a:stretch>
        </p:blipFill>
        <p:spPr>
          <a:xfrm>
            <a:off x="459441" y="4807902"/>
            <a:ext cx="132588" cy="132588"/>
          </a:xfrm>
          <a:prstGeom prst="rect">
            <a:avLst/>
          </a:prstGeom>
        </p:spPr>
      </p:pic>
      <p:sp>
        <p:nvSpPr>
          <p:cNvPr id="68" name="Text 53"/>
          <p:cNvSpPr/>
          <p:nvPr/>
        </p:nvSpPr>
        <p:spPr>
          <a:xfrm>
            <a:off x="608497" y="4741068"/>
            <a:ext cx="7466485" cy="276338"/>
          </a:xfrm>
          <a:prstGeom prst="rect">
            <a:avLst/>
          </a:prstGeom>
          <a:noFill/>
          <a:ln/>
        </p:spPr>
        <p:txBody>
          <a:bodyPr wrap="none" lIns="0" tIns="0" rIns="0" bIns="0" rtlCol="0" anchor="ctr"/>
          <a:lstStyle/>
          <a:p>
            <a:pPr marL="0" indent="0" algn="l">
              <a:lnSpc>
                <a:spcPts val="1527"/>
              </a:lnSpc>
              <a:buNone/>
            </a:pPr>
            <a:r>
              <a:rPr lang="en-US" sz="1131" i="1" dirty="0">
                <a:solidFill>
                  <a:srgbClr val="FFFFFF"/>
                </a:solidFill>
                <a:latin typeface="Calibri Light" pitchFamily="34" charset="0"/>
                <a:ea typeface="Calibri Light" pitchFamily="34" charset="-122"/>
                <a:cs typeface="Calibri Light" pitchFamily="34" charset="-120"/>
              </a:rPr>
              <a:t>"</a:t>
            </a:r>
            <a:r>
              <a:rPr lang="en-US" sz="1400" b="1" i="1" dirty="0">
                <a:solidFill>
                  <a:srgbClr val="FFFFFF"/>
                </a:solidFill>
                <a:latin typeface="Calibri Light" pitchFamily="34" charset="0"/>
                <a:ea typeface="Calibri Light" pitchFamily="34" charset="-122"/>
                <a:cs typeface="Calibri Light" pitchFamily="34" charset="-120"/>
              </a:rPr>
              <a:t>These are projected shifts — not guaranteed. Even one makes a difference. Start with what fits your capacity."</a:t>
            </a:r>
            <a:endParaRPr lang="en-US" sz="1400" b="1" dirty="0"/>
          </a:p>
        </p:txBody>
      </p:sp>
      <p:sp>
        <p:nvSpPr>
          <p:cNvPr id="69" name="Text 54"/>
          <p:cNvSpPr/>
          <p:nvPr/>
        </p:nvSpPr>
        <p:spPr>
          <a:xfrm>
            <a:off x="4443115" y="2565350"/>
            <a:ext cx="257770" cy="257770"/>
          </a:xfrm>
          <a:prstGeom prst="ellipse">
            <a:avLst/>
          </a:prstGeom>
          <a:solidFill>
            <a:srgbClr val="E8A020"/>
          </a:solidFill>
          <a:ln/>
          <a:effectLst>
            <a:outerShdw blurRad="114300" dist="50800" dir="16200000" algn="bl" rotWithShape="0">
              <a:srgbClr val="E8A020">
                <a:alpha val="40000"/>
              </a:srgbClr>
            </a:outerShdw>
          </a:effectLst>
        </p:spPr>
        <p:txBody>
          <a:bodyPr wrap="none" rtlCol="0" anchor="t"/>
          <a:lstStyle/>
          <a:p>
            <a:pPr marL="0" indent="0">
              <a:buNone/>
            </a:pPr>
            <a:endParaRPr lang="en-US" dirty="0"/>
          </a:p>
        </p:txBody>
      </p:sp>
      <p:pic>
        <p:nvPicPr>
          <p:cNvPr id="70" name="Image 13" descr="preencoded.png"/>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05706" y="2627942"/>
            <a:ext cx="132588" cy="132588"/>
          </a:xfrm>
          <a:prstGeom prst="rect">
            <a:avLst/>
          </a:prstGeom>
        </p:spPr>
      </p:pic>
      <p:sp>
        <p:nvSpPr>
          <p:cNvPr id="71" name="Rectangle 70">
            <a:extLst>
              <a:ext uri="{FF2B5EF4-FFF2-40B4-BE49-F238E27FC236}">
                <a16:creationId xmlns:a16="http://schemas.microsoft.com/office/drawing/2014/main" id="{FEE7453A-CD95-EC43-B9B0-62ABFF31B212}"/>
              </a:ext>
            </a:extLst>
          </p:cNvPr>
          <p:cNvSpPr/>
          <p:nvPr/>
        </p:nvSpPr>
        <p:spPr>
          <a:xfrm>
            <a:off x="420523" y="4741068"/>
            <a:ext cx="157534" cy="276338"/>
          </a:xfrm>
          <a:prstGeom prst="rect">
            <a:avLst/>
          </a:prstGeom>
          <a:solidFill>
            <a:srgbClr val="F199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389035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413970"/>
            <a:ext cx="8249304" cy="404996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83EAC12-90A4-66C8-E80F-30DE5633EBFE}"/>
              </a:ext>
            </a:extLst>
          </p:cNvPr>
          <p:cNvPicPr>
            <a:picLocks noChangeAspect="1"/>
          </p:cNvPicPr>
          <p:nvPr/>
        </p:nvPicPr>
        <p:blipFill>
          <a:blip r:embed="rId3"/>
          <a:srcRect r="1" b="28830"/>
          <a:stretch>
            <a:fillRect/>
          </a:stretch>
        </p:blipFill>
        <p:spPr>
          <a:xfrm>
            <a:off x="628650" y="920000"/>
            <a:ext cx="7886700" cy="3380000"/>
          </a:xfrm>
          <a:prstGeom prst="rect">
            <a:avLst/>
          </a:prstGeom>
        </p:spPr>
      </p:pic>
      <p:cxnSp>
        <p:nvCxnSpPr>
          <p:cNvPr id="14" name="Straight Connector 13">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4747326"/>
            <a:ext cx="825017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Title 20"/>
          <p:cNvSpPr txBox="1"/>
          <p:nvPr/>
        </p:nvSpPr>
        <p:spPr>
          <a:xfrm>
            <a:off x="500000" y="412300"/>
            <a:ext cx="8100000" cy="480000"/>
          </a:xfrm>
          <a:prstGeom prst="rect">
            <a:avLst/>
          </a:prstGeom>
          <a:noFill/>
          <a:ln>
            <a:noFill/>
          </a:ln>
        </p:spPr>
        <p:txBody>
          <a:bodyPr wrap="square" lIns="91440" tIns="45720" rIns="91440" bIns="45720" anchor="ctr"/>
          <a:lstStyle/>
          <a:p>
            <a:pPr algn="l"/>
            <a:r>
              <a:rPr lang="en-US" sz="900" b="1" dirty="0">
                <a:solidFill>
                  <a:schemeClr val="accent1"/>
                </a:solidFill>
                <a:latin typeface="+mn-lt"/>
              </a:rPr>
              <a:t>SECTION 4 — FMP BETTER TOGETHER IN ACTION</a:t>
            </a:r>
          </a:p>
          <a:p>
            <a:pPr algn="l"/>
            <a:r>
              <a:rPr lang="en-US" sz="1400" b="1" dirty="0">
                <a:solidFill>
                  <a:schemeClr val="dk2"/>
                </a:solidFill>
                <a:latin typeface="+mn-lt"/>
              </a:rPr>
              <a:t>From Principles to Practice — FMP’s Grant Tracking Sheet</a:t>
            </a:r>
          </a:p>
        </p:txBody>
      </p:sp>
      <p:sp>
        <p:nvSpPr>
          <p:cNvPr id="21" name="Footer 21"/>
          <p:cNvSpPr txBox="1"/>
          <p:nvPr/>
        </p:nvSpPr>
        <p:spPr>
          <a:xfrm>
            <a:off x="447348" y="4780000"/>
            <a:ext cx="8249304" cy="340000"/>
          </a:xfrm>
          <a:prstGeom prst="rect">
            <a:avLst/>
          </a:prstGeom>
          <a:noFill/>
          <a:ln>
            <a:noFill/>
          </a:ln>
        </p:spPr>
        <p:txBody>
          <a:bodyPr wrap="square" lIns="91440" tIns="45720" rIns="91440" bIns="45720" anchor="ctr"/>
          <a:lstStyle/>
          <a:p>
            <a:pPr algn="ctr"/>
            <a:r>
              <a:rPr lang="en-US" sz="1200" i="1" dirty="0">
                <a:solidFill>
                  <a:schemeClr val="dk2"/>
                </a:solidFill>
                <a:effectLst>
                  <a:outerShdw blurRad="38100" dist="38100" dir="2700000" algn="tl">
                    <a:srgbClr val="000000">
                      <a:alpha val="43137"/>
                    </a:srgbClr>
                  </a:outerShdw>
                </a:effectLst>
                <a:latin typeface="+mn-lt"/>
              </a:rPr>
              <a:t>7 of 49 active grants shown  ·  Status columns redacted for confidentiality  ·  Built in Excel — no specialized software required</a:t>
            </a:r>
          </a:p>
        </p:txBody>
      </p:sp>
    </p:spTree>
    <p:extLst>
      <p:ext uri="{BB962C8B-B14F-4D97-AF65-F5344CB8AC3E}">
        <p14:creationId xmlns:p14="http://schemas.microsoft.com/office/powerpoint/2010/main" val="39651223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E8A020">
                  <a:alpha val="6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0" y="0"/>
            <a:ext cx="9144000" cy="29170"/>
          </a:xfrm>
          <a:prstGeom prst="rect">
            <a:avLst/>
          </a:prstGeom>
          <a:gradFill rotWithShape="1">
            <a:gsLst>
              <a:gs pos="0">
                <a:srgbClr val="E8A020"/>
              </a:gs>
              <a:gs pos="50000">
                <a:srgbClr val="E8A020">
                  <a:alpha val="40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429220" y="200620"/>
            <a:ext cx="9114115" cy="118021"/>
          </a:xfrm>
          <a:prstGeom prst="rect">
            <a:avLst/>
          </a:prstGeom>
          <a:noFill/>
          <a:ln/>
        </p:spPr>
        <p:txBody>
          <a:bodyPr wrap="none" lIns="0" tIns="0" rIns="0" bIns="0" rtlCol="0" anchor="t"/>
          <a:lstStyle/>
          <a:p>
            <a:pPr marL="0" indent="0" algn="l">
              <a:lnSpc>
                <a:spcPts val="1209"/>
              </a:lnSpc>
              <a:buNone/>
            </a:pPr>
            <a:r>
              <a:rPr lang="en-US" sz="806" b="1" kern="0" spc="140">
                <a:solidFill>
                  <a:srgbClr val="E8A020">
                    <a:alpha val="90000"/>
                  </a:srgbClr>
                </a:solidFill>
                <a:latin typeface="Calibri" pitchFamily="34" charset="0"/>
                <a:ea typeface="Calibri" pitchFamily="34" charset="-122"/>
                <a:cs typeface="Calibri" pitchFamily="34" charset="-120"/>
              </a:rPr>
              <a:t>FMP BETTER TOGETHER — FSR IN ACTION</a:t>
            </a:r>
            <a:endParaRPr lang="en-US" sz="806"/>
          </a:p>
        </p:txBody>
      </p:sp>
      <p:sp>
        <p:nvSpPr>
          <p:cNvPr id="6" name="Text 4"/>
          <p:cNvSpPr/>
          <p:nvPr/>
        </p:nvSpPr>
        <p:spPr>
          <a:xfrm>
            <a:off x="429220" y="361801"/>
            <a:ext cx="8865549" cy="262830"/>
          </a:xfrm>
          <a:prstGeom prst="rect">
            <a:avLst/>
          </a:prstGeom>
          <a:noFill/>
          <a:ln/>
        </p:spPr>
        <p:txBody>
          <a:bodyPr wrap="none" lIns="0" tIns="0" rIns="0" bIns="0" rtlCol="0" anchor="t"/>
          <a:lstStyle/>
          <a:p>
            <a:pPr marL="0" indent="0" algn="l">
              <a:lnSpc>
                <a:spcPts val="2070"/>
              </a:lnSpc>
              <a:buNone/>
            </a:pPr>
            <a:r>
              <a:rPr lang="en-US" sz="1800" dirty="0">
                <a:solidFill>
                  <a:srgbClr val="0D1B3E"/>
                </a:solidFill>
                <a:latin typeface="Calibri Light" pitchFamily="34" charset="0"/>
                <a:ea typeface="Calibri Light" pitchFamily="34" charset="-122"/>
                <a:cs typeface="Calibri Light" pitchFamily="34" charset="-120"/>
              </a:rPr>
              <a:t>Long-Term Outcomes — </a:t>
            </a:r>
            <a:r>
              <a:rPr lang="en-US" sz="1800" b="1" dirty="0">
                <a:solidFill>
                  <a:srgbClr val="E8A020"/>
                </a:solidFill>
                <a:latin typeface="Calibri Light" pitchFamily="34" charset="0"/>
                <a:ea typeface="Calibri Light" pitchFamily="34" charset="-122"/>
                <a:cs typeface="Calibri Light" pitchFamily="34" charset="-120"/>
              </a:rPr>
              <a:t>Mapped to Funder Priorities</a:t>
            </a:r>
            <a:endParaRPr lang="en-US" sz="1800" dirty="0"/>
          </a:p>
        </p:txBody>
      </p:sp>
      <p:sp>
        <p:nvSpPr>
          <p:cNvPr id="7" name="Text 5"/>
          <p:cNvSpPr/>
          <p:nvPr/>
        </p:nvSpPr>
        <p:spPr>
          <a:xfrm>
            <a:off x="429220" y="681782"/>
            <a:ext cx="2547283" cy="191691"/>
          </a:xfrm>
          <a:prstGeom prst="roundRect">
            <a:avLst>
              <a:gd name="adj" fmla="val 74865"/>
            </a:avLst>
          </a:prstGeom>
          <a:solidFill>
            <a:srgbClr val="E8A020">
              <a:alpha val="12000"/>
            </a:srgbClr>
          </a:solidFill>
          <a:ln w="9525">
            <a:solidFill>
              <a:srgbClr val="E8A020">
                <a:alpha val="50000"/>
              </a:srgbClr>
            </a:solidFill>
          </a:ln>
        </p:spPr>
        <p:txBody>
          <a:bodyPr wrap="none" lIns="169833" tIns="21590" rIns="86360" bIns="21590" rtlCol="0" anchor="ctr"/>
          <a:lstStyle/>
          <a:p>
            <a:pPr marL="0" indent="0" algn="l">
              <a:buNone/>
            </a:pPr>
            <a:r>
              <a:rPr lang="en-US" sz="884" b="1" kern="0" spc="30">
                <a:solidFill>
                  <a:srgbClr val="E8A020"/>
                </a:solidFill>
                <a:latin typeface="Calibri" pitchFamily="34" charset="0"/>
                <a:ea typeface="Calibri" pitchFamily="34" charset="-122"/>
                <a:cs typeface="Calibri" pitchFamily="34" charset="-120"/>
              </a:rPr>
              <a:t>FSR Pillar 2: Opportunity Intelligence in Action</a:t>
            </a:r>
            <a:endParaRPr lang="en-US" sz="884"/>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353" y="711259"/>
            <a:ext cx="132588" cy="132588"/>
          </a:xfrm>
          <a:prstGeom prst="rect">
            <a:avLst/>
          </a:prstGeom>
        </p:spPr>
      </p:pic>
      <p:sp>
        <p:nvSpPr>
          <p:cNvPr id="9" name="Text 6"/>
          <p:cNvSpPr/>
          <p:nvPr/>
        </p:nvSpPr>
        <p:spPr>
          <a:xfrm>
            <a:off x="429220" y="959793"/>
            <a:ext cx="8285559" cy="7590"/>
          </a:xfrm>
          <a:prstGeom prst="rect">
            <a:avLst/>
          </a:prstGeom>
          <a:gradFill rotWithShape="1">
            <a:gsLst>
              <a:gs pos="0">
                <a:srgbClr val="E8A020"/>
              </a:gs>
              <a:gs pos="50000">
                <a:srgbClr val="E8A020">
                  <a:alpha val="20000"/>
                </a:srgbClr>
              </a:gs>
              <a:gs pos="100000">
                <a:srgbClr val="000000">
                  <a:alpha val="0"/>
                </a:srgbClr>
              </a:gs>
            </a:gsLst>
            <a:lin ang="0" scaled="1"/>
          </a:gradFill>
          <a:ln/>
        </p:spPr>
        <p:txBody>
          <a:bodyPr wrap="none" rtlCol="0" anchor="t"/>
          <a:lstStyle/>
          <a:p>
            <a:pPr marL="0" indent="0">
              <a:buNone/>
            </a:pPr>
            <a:endParaRPr lang="en-US" dirty="0"/>
          </a:p>
        </p:txBody>
      </p:sp>
      <p:sp>
        <p:nvSpPr>
          <p:cNvPr id="10" name="Text 7"/>
          <p:cNvSpPr/>
          <p:nvPr/>
        </p:nvSpPr>
        <p:spPr>
          <a:xfrm>
            <a:off x="429220" y="1057870"/>
            <a:ext cx="1985665" cy="2067371"/>
          </a:xfrm>
          <a:prstGeom prst="roundRect">
            <a:avLst>
              <a:gd name="adj" fmla="val 4349"/>
            </a:avLst>
          </a:prstGeom>
          <a:solidFill>
            <a:srgbClr val="FFFBF0"/>
          </a:solidFill>
          <a:ln/>
        </p:spPr>
        <p:txBody>
          <a:bodyPr wrap="square" rtlCol="0" anchor="t"/>
          <a:lstStyle/>
          <a:p>
            <a:pPr marL="0" indent="0">
              <a:buNone/>
            </a:pPr>
            <a:endParaRPr lang="en-US" dirty="0"/>
          </a:p>
        </p:txBody>
      </p:sp>
      <p:sp>
        <p:nvSpPr>
          <p:cNvPr id="11" name="Text 8"/>
          <p:cNvSpPr/>
          <p:nvPr/>
        </p:nvSpPr>
        <p:spPr>
          <a:xfrm>
            <a:off x="429220" y="1057870"/>
            <a:ext cx="9525" cy="2067371"/>
          </a:xfrm>
          <a:custGeom>
            <a:avLst/>
            <a:gdLst/>
            <a:ahLst/>
            <a:cxnLst/>
            <a:rect l="l" t="t" r="r" b="b"/>
            <a:pathLst>
              <a:path w="9525" h="2067371">
                <a:moveTo>
                  <a:pt x="0" y="86360"/>
                </a:moveTo>
                <a:lnTo>
                  <a:pt x="1191" y="72069"/>
                </a:lnTo>
                <a:lnTo>
                  <a:pt x="2381" y="66220"/>
                </a:lnTo>
                <a:lnTo>
                  <a:pt x="3572" y="61780"/>
                </a:lnTo>
                <a:lnTo>
                  <a:pt x="4763" y="58078"/>
                </a:lnTo>
                <a:lnTo>
                  <a:pt x="5953" y="54852"/>
                </a:lnTo>
                <a:lnTo>
                  <a:pt x="7144" y="51968"/>
                </a:lnTo>
                <a:lnTo>
                  <a:pt x="8334" y="49346"/>
                </a:lnTo>
                <a:lnTo>
                  <a:pt x="9525" y="46934"/>
                </a:lnTo>
                <a:lnTo>
                  <a:pt x="9525" y="2020438"/>
                </a:lnTo>
                <a:lnTo>
                  <a:pt x="8334" y="2018026"/>
                </a:lnTo>
                <a:lnTo>
                  <a:pt x="7144" y="2015404"/>
                </a:lnTo>
                <a:lnTo>
                  <a:pt x="5953" y="2012520"/>
                </a:lnTo>
                <a:lnTo>
                  <a:pt x="4763" y="2009294"/>
                </a:lnTo>
                <a:lnTo>
                  <a:pt x="3572" y="2005591"/>
                </a:lnTo>
                <a:lnTo>
                  <a:pt x="2381" y="2001151"/>
                </a:lnTo>
                <a:lnTo>
                  <a:pt x="1191" y="1995302"/>
                </a:lnTo>
                <a:lnTo>
                  <a:pt x="0" y="1981011"/>
                </a:lnTo>
                <a:close/>
              </a:path>
            </a:pathLst>
          </a:custGeom>
          <a:solidFill>
            <a:srgbClr val="0D1B3E">
              <a:alpha val="9000"/>
            </a:srgbClr>
          </a:solidFill>
          <a:ln/>
        </p:spPr>
        <p:txBody>
          <a:bodyPr wrap="square" rtlCol="0" anchor="t"/>
          <a:lstStyle/>
          <a:p>
            <a:pPr marL="0" indent="0">
              <a:buNone/>
            </a:pPr>
            <a:endParaRPr lang="en-US" dirty="0"/>
          </a:p>
        </p:txBody>
      </p:sp>
      <p:sp>
        <p:nvSpPr>
          <p:cNvPr id="12" name="Text 9"/>
          <p:cNvSpPr/>
          <p:nvPr/>
        </p:nvSpPr>
        <p:spPr>
          <a:xfrm>
            <a:off x="2405360" y="1057870"/>
            <a:ext cx="9525" cy="2067371"/>
          </a:xfrm>
          <a:custGeom>
            <a:avLst/>
            <a:gdLst/>
            <a:ahLst/>
            <a:cxnLst/>
            <a:rect l="l" t="t" r="r" b="b"/>
            <a:pathLst>
              <a:path w="9525" h="2067371">
                <a:moveTo>
                  <a:pt x="0" y="46934"/>
                </a:moveTo>
                <a:lnTo>
                  <a:pt x="1191" y="49346"/>
                </a:lnTo>
                <a:lnTo>
                  <a:pt x="2381" y="51968"/>
                </a:lnTo>
                <a:lnTo>
                  <a:pt x="3572" y="54852"/>
                </a:lnTo>
                <a:lnTo>
                  <a:pt x="4763" y="58078"/>
                </a:lnTo>
                <a:lnTo>
                  <a:pt x="5953" y="61780"/>
                </a:lnTo>
                <a:lnTo>
                  <a:pt x="7144" y="66220"/>
                </a:lnTo>
                <a:lnTo>
                  <a:pt x="8334" y="72069"/>
                </a:lnTo>
                <a:lnTo>
                  <a:pt x="9525" y="86360"/>
                </a:lnTo>
                <a:lnTo>
                  <a:pt x="9525" y="1981011"/>
                </a:lnTo>
                <a:lnTo>
                  <a:pt x="8334" y="1995302"/>
                </a:lnTo>
                <a:lnTo>
                  <a:pt x="7144" y="2001151"/>
                </a:lnTo>
                <a:lnTo>
                  <a:pt x="5953" y="2005591"/>
                </a:lnTo>
                <a:lnTo>
                  <a:pt x="4763" y="2009294"/>
                </a:lnTo>
                <a:lnTo>
                  <a:pt x="3572" y="2012520"/>
                </a:lnTo>
                <a:lnTo>
                  <a:pt x="2381" y="2015404"/>
                </a:lnTo>
                <a:lnTo>
                  <a:pt x="1191" y="2018026"/>
                </a:lnTo>
                <a:lnTo>
                  <a:pt x="0" y="2020438"/>
                </a:lnTo>
                <a:close/>
              </a:path>
            </a:pathLst>
          </a:custGeom>
          <a:solidFill>
            <a:srgbClr val="0D1B3E">
              <a:alpha val="9000"/>
            </a:srgbClr>
          </a:solidFill>
          <a:ln/>
        </p:spPr>
        <p:txBody>
          <a:bodyPr wrap="square" rtlCol="0" anchor="t"/>
          <a:lstStyle/>
          <a:p>
            <a:pPr marL="0" indent="0">
              <a:buNone/>
            </a:pPr>
            <a:endParaRPr lang="en-US" dirty="0"/>
          </a:p>
        </p:txBody>
      </p:sp>
      <p:sp>
        <p:nvSpPr>
          <p:cNvPr id="13" name="Text 10"/>
          <p:cNvSpPr/>
          <p:nvPr/>
        </p:nvSpPr>
        <p:spPr>
          <a:xfrm>
            <a:off x="429220" y="1057870"/>
            <a:ext cx="1985665" cy="19050"/>
          </a:xfrm>
          <a:custGeom>
            <a:avLst/>
            <a:gdLst/>
            <a:ahLst/>
            <a:cxnLst/>
            <a:rect l="l" t="t" r="r" b="b"/>
            <a:pathLst>
              <a:path w="1985665" h="19050">
                <a:moveTo>
                  <a:pt x="86360" y="0"/>
                </a:moveTo>
                <a:lnTo>
                  <a:pt x="66220" y="2381"/>
                </a:lnTo>
                <a:lnTo>
                  <a:pt x="58078" y="4763"/>
                </a:lnTo>
                <a:lnTo>
                  <a:pt x="51968" y="7144"/>
                </a:lnTo>
                <a:lnTo>
                  <a:pt x="46934" y="9525"/>
                </a:lnTo>
                <a:lnTo>
                  <a:pt x="42603" y="11906"/>
                </a:lnTo>
                <a:lnTo>
                  <a:pt x="38783" y="14288"/>
                </a:lnTo>
                <a:lnTo>
                  <a:pt x="35358" y="16669"/>
                </a:lnTo>
                <a:lnTo>
                  <a:pt x="32254" y="19050"/>
                </a:lnTo>
                <a:lnTo>
                  <a:pt x="1953410" y="19050"/>
                </a:lnTo>
                <a:lnTo>
                  <a:pt x="1950307" y="16669"/>
                </a:lnTo>
                <a:lnTo>
                  <a:pt x="1946882" y="14288"/>
                </a:lnTo>
                <a:lnTo>
                  <a:pt x="1943062" y="11906"/>
                </a:lnTo>
                <a:lnTo>
                  <a:pt x="1938731" y="9525"/>
                </a:lnTo>
                <a:lnTo>
                  <a:pt x="1933697" y="7144"/>
                </a:lnTo>
                <a:lnTo>
                  <a:pt x="1927587" y="4763"/>
                </a:lnTo>
                <a:lnTo>
                  <a:pt x="1919445" y="2381"/>
                </a:lnTo>
                <a:lnTo>
                  <a:pt x="1899305" y="0"/>
                </a:lnTo>
                <a:close/>
              </a:path>
            </a:pathLst>
          </a:custGeom>
          <a:solidFill>
            <a:srgbClr val="E8A020"/>
          </a:solidFill>
          <a:ln/>
        </p:spPr>
        <p:txBody>
          <a:bodyPr wrap="none" rtlCol="0" anchor="t"/>
          <a:lstStyle/>
          <a:p>
            <a:pPr marL="0" indent="0">
              <a:buNone/>
            </a:pPr>
            <a:endParaRPr lang="en-US" dirty="0"/>
          </a:p>
        </p:txBody>
      </p:sp>
      <p:sp>
        <p:nvSpPr>
          <p:cNvPr id="14" name="Text 11"/>
          <p:cNvSpPr/>
          <p:nvPr/>
        </p:nvSpPr>
        <p:spPr>
          <a:xfrm>
            <a:off x="582216" y="1234380"/>
            <a:ext cx="328910" cy="328910"/>
          </a:xfrm>
          <a:prstGeom prst="roundRect">
            <a:avLst>
              <a:gd name="adj" fmla="val 21623"/>
            </a:avLst>
          </a:prstGeom>
          <a:solidFill>
            <a:srgbClr val="E8A020">
              <a:alpha val="15000"/>
            </a:srgbClr>
          </a:solidFill>
          <a:ln/>
        </p:spPr>
        <p:txBody>
          <a:bodyPr wrap="square" rtlCol="0" anchor="t"/>
          <a:lstStyle/>
          <a:p>
            <a:pPr marL="0" indent="0">
              <a:buNone/>
            </a:pPr>
            <a:endParaRPr lang="en-US"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7168" y="1329333"/>
            <a:ext cx="139005" cy="139005"/>
          </a:xfrm>
          <a:prstGeom prst="rect">
            <a:avLst/>
          </a:prstGeom>
        </p:spPr>
      </p:pic>
      <p:sp>
        <p:nvSpPr>
          <p:cNvPr id="16" name="Text 12"/>
          <p:cNvSpPr/>
          <p:nvPr/>
        </p:nvSpPr>
        <p:spPr>
          <a:xfrm>
            <a:off x="997446" y="1234380"/>
            <a:ext cx="1033998" cy="106710"/>
          </a:xfrm>
          <a:prstGeom prst="rect">
            <a:avLst/>
          </a:prstGeom>
          <a:noFill/>
          <a:ln/>
        </p:spPr>
        <p:txBody>
          <a:bodyPr wrap="none" lIns="0" tIns="0" rIns="0" bIns="0" rtlCol="0" anchor="t"/>
          <a:lstStyle/>
          <a:p>
            <a:pPr marL="0" indent="0" algn="l">
              <a:lnSpc>
                <a:spcPts val="1092"/>
              </a:lnSpc>
              <a:buNone/>
            </a:pPr>
            <a:r>
              <a:rPr lang="en-US" sz="728" b="1" kern="0" spc="110">
                <a:solidFill>
                  <a:srgbClr val="E8A020"/>
                </a:solidFill>
                <a:latin typeface="Calibri" pitchFamily="34" charset="0"/>
                <a:ea typeface="Calibri" pitchFamily="34" charset="-122"/>
                <a:cs typeface="Calibri" pitchFamily="34" charset="-120"/>
              </a:rPr>
              <a:t>OUTCOME 1</a:t>
            </a:r>
            <a:endParaRPr lang="en-US" sz="728"/>
          </a:p>
        </p:txBody>
      </p:sp>
      <p:sp>
        <p:nvSpPr>
          <p:cNvPr id="17" name="Text 13"/>
          <p:cNvSpPr/>
          <p:nvPr/>
        </p:nvSpPr>
        <p:spPr>
          <a:xfrm>
            <a:off x="997446" y="1354931"/>
            <a:ext cx="1033998" cy="153888"/>
          </a:xfrm>
          <a:prstGeom prst="rect">
            <a:avLst/>
          </a:prstGeom>
          <a:noFill/>
          <a:ln/>
        </p:spPr>
        <p:txBody>
          <a:bodyPr wrap="none" lIns="0" tIns="0" rIns="0" bIns="0" rtlCol="0" anchor="t"/>
          <a:lstStyle/>
          <a:p>
            <a:pPr marL="0" indent="0" algn="l">
              <a:lnSpc>
                <a:spcPts val="1575"/>
              </a:lnSpc>
              <a:buNone/>
            </a:pPr>
            <a:r>
              <a:rPr lang="en-US" sz="1313" b="1">
                <a:solidFill>
                  <a:srgbClr val="0D1B3E"/>
                </a:solidFill>
                <a:latin typeface="Calibri Light" pitchFamily="34" charset="0"/>
                <a:ea typeface="Calibri Light" pitchFamily="34" charset="-122"/>
                <a:cs typeface="Calibri Light" pitchFamily="34" charset="-120"/>
              </a:rPr>
              <a:t>Family Stability</a:t>
            </a:r>
            <a:endParaRPr lang="en-US" sz="1313"/>
          </a:p>
        </p:txBody>
      </p:sp>
      <p:sp>
        <p:nvSpPr>
          <p:cNvPr id="18" name="Text 14"/>
          <p:cNvSpPr/>
          <p:nvPr/>
        </p:nvSpPr>
        <p:spPr>
          <a:xfrm>
            <a:off x="582216" y="1649611"/>
            <a:ext cx="1713268" cy="564446"/>
          </a:xfrm>
          <a:prstGeom prst="rect">
            <a:avLst/>
          </a:prstGeom>
          <a:noFill/>
          <a:ln/>
        </p:spPr>
        <p:txBody>
          <a:bodyPr wrap="square" lIns="0" tIns="0" rIns="0" bIns="0" rtlCol="0" anchor="t"/>
          <a:lstStyle/>
          <a:p>
            <a:pPr marL="0" indent="0" algn="l">
              <a:lnSpc>
                <a:spcPts val="1375"/>
              </a:lnSpc>
              <a:buNone/>
            </a:pPr>
            <a:r>
              <a:rPr lang="en-US" sz="949">
                <a:solidFill>
                  <a:srgbClr val="64748B"/>
                </a:solidFill>
                <a:latin typeface="Calibri" pitchFamily="34" charset="0"/>
                <a:ea typeface="Calibri" pitchFamily="34" charset="-122"/>
                <a:cs typeface="Calibri" pitchFamily="34" charset="-120"/>
              </a:rPr>
              <a:t>Reduced child welfare involvement and increased family cohesion — measurable across partner sites through validated family functioning tools.</a:t>
            </a:r>
            <a:endParaRPr lang="en-US" sz="949"/>
          </a:p>
        </p:txBody>
      </p:sp>
      <p:sp>
        <p:nvSpPr>
          <p:cNvPr id="19" name="Text 15"/>
          <p:cNvSpPr/>
          <p:nvPr/>
        </p:nvSpPr>
        <p:spPr>
          <a:xfrm>
            <a:off x="582216" y="2415927"/>
            <a:ext cx="1679674" cy="9525"/>
          </a:xfrm>
          <a:prstGeom prst="rect">
            <a:avLst/>
          </a:prstGeom>
          <a:solidFill>
            <a:srgbClr val="0D1B3E">
              <a:alpha val="10000"/>
            </a:srgbClr>
          </a:solidFill>
          <a:ln/>
        </p:spPr>
        <p:txBody>
          <a:bodyPr wrap="none" rtlCol="0" anchor="t"/>
          <a:lstStyle/>
          <a:p>
            <a:pPr marL="0" indent="0">
              <a:buNone/>
            </a:pPr>
            <a:endParaRPr lang="en-US" dirty="0"/>
          </a:p>
        </p:txBody>
      </p:sp>
      <p:sp>
        <p:nvSpPr>
          <p:cNvPr id="20" name="Text 16"/>
          <p:cNvSpPr/>
          <p:nvPr/>
        </p:nvSpPr>
        <p:spPr>
          <a:xfrm>
            <a:off x="582216" y="2496443"/>
            <a:ext cx="1847642" cy="100905"/>
          </a:xfrm>
          <a:prstGeom prst="rect">
            <a:avLst/>
          </a:prstGeom>
          <a:noFill/>
          <a:ln/>
        </p:spPr>
        <p:txBody>
          <a:bodyPr wrap="none" lIns="0" tIns="0" rIns="0" bIns="0" rtlCol="0" anchor="t"/>
          <a:lstStyle/>
          <a:p>
            <a:pPr marL="0" indent="0" algn="l">
              <a:lnSpc>
                <a:spcPts val="1033"/>
              </a:lnSpc>
              <a:buNone/>
            </a:pPr>
            <a:r>
              <a:rPr lang="en-US" sz="689" b="1" kern="0" spc="100">
                <a:solidFill>
                  <a:srgbClr val="64748B"/>
                </a:solidFill>
                <a:latin typeface="Calibri" pitchFamily="34" charset="0"/>
                <a:ea typeface="Calibri" pitchFamily="34" charset="-122"/>
                <a:cs typeface="Calibri" pitchFamily="34" charset="-120"/>
              </a:rPr>
              <a:t>ALIGNED FUNDERS</a:t>
            </a:r>
            <a:endParaRPr lang="en-US" sz="689"/>
          </a:p>
        </p:txBody>
      </p:sp>
      <p:sp>
        <p:nvSpPr>
          <p:cNvPr id="21" name="Text 17"/>
          <p:cNvSpPr/>
          <p:nvPr/>
        </p:nvSpPr>
        <p:spPr>
          <a:xfrm>
            <a:off x="582216" y="2640509"/>
            <a:ext cx="452289" cy="174843"/>
          </a:xfrm>
          <a:prstGeom prst="roundRect">
            <a:avLst>
              <a:gd name="adj" fmla="val 16706"/>
            </a:avLst>
          </a:prstGeom>
          <a:solidFill>
            <a:srgbClr val="E8A020">
              <a:alpha val="13000"/>
            </a:srgbClr>
          </a:solidFill>
          <a:ln w="9525">
            <a:solidFill>
              <a:srgbClr val="E8A020">
                <a:alpha val="30000"/>
              </a:srgbClr>
            </a:solidFill>
          </a:ln>
        </p:spPr>
        <p:txBody>
          <a:bodyPr wrap="none" lIns="0" tIns="0" rIns="0" bIns="0" rtlCol="0" anchor="ctr"/>
          <a:lstStyle/>
          <a:p>
            <a:pPr marL="0" indent="0" algn="ctr">
              <a:buNone/>
            </a:pPr>
            <a:r>
              <a:rPr lang="en-US" sz="767" b="1">
                <a:solidFill>
                  <a:srgbClr val="A06C00"/>
                </a:solidFill>
                <a:latin typeface="Calibri" pitchFamily="34" charset="0"/>
                <a:ea typeface="Calibri" pitchFamily="34" charset="-122"/>
                <a:cs typeface="Calibri" pitchFamily="34" charset="-120"/>
              </a:rPr>
              <a:t>Title IV-B</a:t>
            </a:r>
            <a:endParaRPr lang="en-US" sz="767"/>
          </a:p>
        </p:txBody>
      </p:sp>
      <p:sp>
        <p:nvSpPr>
          <p:cNvPr id="22" name="Text 18"/>
          <p:cNvSpPr/>
          <p:nvPr/>
        </p:nvSpPr>
        <p:spPr>
          <a:xfrm>
            <a:off x="1063675" y="2640509"/>
            <a:ext cx="782241" cy="174843"/>
          </a:xfrm>
          <a:prstGeom prst="roundRect">
            <a:avLst>
              <a:gd name="adj" fmla="val 16706"/>
            </a:avLst>
          </a:prstGeom>
          <a:solidFill>
            <a:srgbClr val="E8A020">
              <a:alpha val="13000"/>
            </a:srgbClr>
          </a:solidFill>
          <a:ln w="9525">
            <a:solidFill>
              <a:srgbClr val="E8A020">
                <a:alpha val="30000"/>
              </a:srgbClr>
            </a:solidFill>
          </a:ln>
        </p:spPr>
        <p:txBody>
          <a:bodyPr wrap="none" lIns="0" tIns="0" rIns="0" bIns="0" rtlCol="0" anchor="ctr"/>
          <a:lstStyle/>
          <a:p>
            <a:pPr marL="0" indent="0" algn="ctr">
              <a:buNone/>
            </a:pPr>
            <a:r>
              <a:rPr lang="en-US" sz="767" b="1">
                <a:solidFill>
                  <a:srgbClr val="A06C00"/>
                </a:solidFill>
                <a:latin typeface="Calibri" pitchFamily="34" charset="0"/>
                <a:ea typeface="Calibri" pitchFamily="34" charset="-122"/>
                <a:cs typeface="Calibri" pitchFamily="34" charset="-120"/>
              </a:rPr>
              <a:t>Casey Foundation</a:t>
            </a:r>
            <a:endParaRPr lang="en-US" sz="767"/>
          </a:p>
        </p:txBody>
      </p:sp>
      <p:sp>
        <p:nvSpPr>
          <p:cNvPr id="23" name="Text 19"/>
          <p:cNvSpPr/>
          <p:nvPr/>
        </p:nvSpPr>
        <p:spPr>
          <a:xfrm>
            <a:off x="582216" y="2828627"/>
            <a:ext cx="674340" cy="174843"/>
          </a:xfrm>
          <a:prstGeom prst="roundRect">
            <a:avLst>
              <a:gd name="adj" fmla="val 16706"/>
            </a:avLst>
          </a:prstGeom>
          <a:solidFill>
            <a:srgbClr val="E8A020">
              <a:alpha val="13000"/>
            </a:srgbClr>
          </a:solidFill>
          <a:ln w="9525">
            <a:solidFill>
              <a:srgbClr val="E8A020">
                <a:alpha val="30000"/>
              </a:srgbClr>
            </a:solidFill>
          </a:ln>
        </p:spPr>
        <p:txBody>
          <a:bodyPr wrap="none" lIns="0" tIns="0" rIns="0" bIns="0" rtlCol="0" anchor="ctr"/>
          <a:lstStyle/>
          <a:p>
            <a:pPr marL="0" indent="0" algn="ctr">
              <a:buNone/>
            </a:pPr>
            <a:r>
              <a:rPr lang="en-US" sz="767" b="1">
                <a:solidFill>
                  <a:srgbClr val="A06C00"/>
                </a:solidFill>
                <a:latin typeface="Calibri" pitchFamily="34" charset="0"/>
                <a:ea typeface="Calibri" pitchFamily="34" charset="-122"/>
                <a:cs typeface="Calibri" pitchFamily="34" charset="-120"/>
              </a:rPr>
              <a:t>Annie E. Casey</a:t>
            </a:r>
            <a:endParaRPr lang="en-US" sz="767"/>
          </a:p>
        </p:txBody>
      </p:sp>
      <p:sp>
        <p:nvSpPr>
          <p:cNvPr id="24" name="Text 20"/>
          <p:cNvSpPr/>
          <p:nvPr/>
        </p:nvSpPr>
        <p:spPr>
          <a:xfrm>
            <a:off x="2529185" y="1057870"/>
            <a:ext cx="1985665" cy="2067371"/>
          </a:xfrm>
          <a:prstGeom prst="roundRect">
            <a:avLst>
              <a:gd name="adj" fmla="val 4349"/>
            </a:avLst>
          </a:prstGeom>
          <a:solidFill>
            <a:srgbClr val="F0F4F8"/>
          </a:solidFill>
          <a:ln/>
        </p:spPr>
        <p:txBody>
          <a:bodyPr wrap="square" rtlCol="0" anchor="t"/>
          <a:lstStyle/>
          <a:p>
            <a:pPr marL="0" indent="0">
              <a:buNone/>
            </a:pPr>
            <a:endParaRPr lang="en-US" dirty="0"/>
          </a:p>
        </p:txBody>
      </p:sp>
      <p:sp>
        <p:nvSpPr>
          <p:cNvPr id="25" name="Text 21"/>
          <p:cNvSpPr/>
          <p:nvPr/>
        </p:nvSpPr>
        <p:spPr>
          <a:xfrm>
            <a:off x="2529185" y="1057870"/>
            <a:ext cx="9525" cy="2067371"/>
          </a:xfrm>
          <a:custGeom>
            <a:avLst/>
            <a:gdLst/>
            <a:ahLst/>
            <a:cxnLst/>
            <a:rect l="l" t="t" r="r" b="b"/>
            <a:pathLst>
              <a:path w="9525" h="2067371">
                <a:moveTo>
                  <a:pt x="0" y="86360"/>
                </a:moveTo>
                <a:lnTo>
                  <a:pt x="1191" y="72069"/>
                </a:lnTo>
                <a:lnTo>
                  <a:pt x="2381" y="66220"/>
                </a:lnTo>
                <a:lnTo>
                  <a:pt x="3572" y="61780"/>
                </a:lnTo>
                <a:lnTo>
                  <a:pt x="4763" y="58078"/>
                </a:lnTo>
                <a:lnTo>
                  <a:pt x="5953" y="54852"/>
                </a:lnTo>
                <a:lnTo>
                  <a:pt x="7144" y="51968"/>
                </a:lnTo>
                <a:lnTo>
                  <a:pt x="8334" y="49346"/>
                </a:lnTo>
                <a:lnTo>
                  <a:pt x="9525" y="46934"/>
                </a:lnTo>
                <a:lnTo>
                  <a:pt x="9525" y="2020438"/>
                </a:lnTo>
                <a:lnTo>
                  <a:pt x="8334" y="2018026"/>
                </a:lnTo>
                <a:lnTo>
                  <a:pt x="7144" y="2015404"/>
                </a:lnTo>
                <a:lnTo>
                  <a:pt x="5953" y="2012520"/>
                </a:lnTo>
                <a:lnTo>
                  <a:pt x="4763" y="2009294"/>
                </a:lnTo>
                <a:lnTo>
                  <a:pt x="3572" y="2005591"/>
                </a:lnTo>
                <a:lnTo>
                  <a:pt x="2381" y="2001151"/>
                </a:lnTo>
                <a:lnTo>
                  <a:pt x="1191" y="1995302"/>
                </a:lnTo>
                <a:lnTo>
                  <a:pt x="0" y="1981011"/>
                </a:lnTo>
                <a:close/>
              </a:path>
            </a:pathLst>
          </a:custGeom>
          <a:solidFill>
            <a:srgbClr val="0D1B3E">
              <a:alpha val="9000"/>
            </a:srgbClr>
          </a:solidFill>
          <a:ln/>
        </p:spPr>
        <p:txBody>
          <a:bodyPr wrap="square" rtlCol="0" anchor="t"/>
          <a:lstStyle/>
          <a:p>
            <a:pPr marL="0" indent="0">
              <a:buNone/>
            </a:pPr>
            <a:endParaRPr lang="en-US" dirty="0"/>
          </a:p>
        </p:txBody>
      </p:sp>
      <p:sp>
        <p:nvSpPr>
          <p:cNvPr id="26" name="Text 22"/>
          <p:cNvSpPr/>
          <p:nvPr/>
        </p:nvSpPr>
        <p:spPr>
          <a:xfrm>
            <a:off x="4505325" y="1057870"/>
            <a:ext cx="9525" cy="2067371"/>
          </a:xfrm>
          <a:custGeom>
            <a:avLst/>
            <a:gdLst/>
            <a:ahLst/>
            <a:cxnLst/>
            <a:rect l="l" t="t" r="r" b="b"/>
            <a:pathLst>
              <a:path w="9525" h="2067371">
                <a:moveTo>
                  <a:pt x="0" y="46934"/>
                </a:moveTo>
                <a:lnTo>
                  <a:pt x="1191" y="49346"/>
                </a:lnTo>
                <a:lnTo>
                  <a:pt x="2381" y="51968"/>
                </a:lnTo>
                <a:lnTo>
                  <a:pt x="3572" y="54852"/>
                </a:lnTo>
                <a:lnTo>
                  <a:pt x="4763" y="58078"/>
                </a:lnTo>
                <a:lnTo>
                  <a:pt x="5953" y="61780"/>
                </a:lnTo>
                <a:lnTo>
                  <a:pt x="7144" y="66220"/>
                </a:lnTo>
                <a:lnTo>
                  <a:pt x="8334" y="72069"/>
                </a:lnTo>
                <a:lnTo>
                  <a:pt x="9525" y="86360"/>
                </a:lnTo>
                <a:lnTo>
                  <a:pt x="9525" y="1981011"/>
                </a:lnTo>
                <a:lnTo>
                  <a:pt x="8334" y="1995302"/>
                </a:lnTo>
                <a:lnTo>
                  <a:pt x="7144" y="2001151"/>
                </a:lnTo>
                <a:lnTo>
                  <a:pt x="5953" y="2005591"/>
                </a:lnTo>
                <a:lnTo>
                  <a:pt x="4763" y="2009294"/>
                </a:lnTo>
                <a:lnTo>
                  <a:pt x="3572" y="2012520"/>
                </a:lnTo>
                <a:lnTo>
                  <a:pt x="2381" y="2015404"/>
                </a:lnTo>
                <a:lnTo>
                  <a:pt x="1191" y="2018026"/>
                </a:lnTo>
                <a:lnTo>
                  <a:pt x="0" y="2020438"/>
                </a:lnTo>
                <a:close/>
              </a:path>
            </a:pathLst>
          </a:custGeom>
          <a:solidFill>
            <a:srgbClr val="0D1B3E">
              <a:alpha val="9000"/>
            </a:srgbClr>
          </a:solidFill>
          <a:ln/>
        </p:spPr>
        <p:txBody>
          <a:bodyPr wrap="square" rtlCol="0" anchor="t"/>
          <a:lstStyle/>
          <a:p>
            <a:pPr marL="0" indent="0">
              <a:buNone/>
            </a:pPr>
            <a:endParaRPr lang="en-US" dirty="0"/>
          </a:p>
        </p:txBody>
      </p:sp>
      <p:sp>
        <p:nvSpPr>
          <p:cNvPr id="27" name="Text 23"/>
          <p:cNvSpPr/>
          <p:nvPr/>
        </p:nvSpPr>
        <p:spPr>
          <a:xfrm>
            <a:off x="2529185" y="1057870"/>
            <a:ext cx="1985665" cy="19050"/>
          </a:xfrm>
          <a:custGeom>
            <a:avLst/>
            <a:gdLst/>
            <a:ahLst/>
            <a:cxnLst/>
            <a:rect l="l" t="t" r="r" b="b"/>
            <a:pathLst>
              <a:path w="1985665" h="19050">
                <a:moveTo>
                  <a:pt x="86360" y="0"/>
                </a:moveTo>
                <a:lnTo>
                  <a:pt x="66220" y="2381"/>
                </a:lnTo>
                <a:lnTo>
                  <a:pt x="58078" y="4763"/>
                </a:lnTo>
                <a:lnTo>
                  <a:pt x="51968" y="7144"/>
                </a:lnTo>
                <a:lnTo>
                  <a:pt x="46934" y="9525"/>
                </a:lnTo>
                <a:lnTo>
                  <a:pt x="42603" y="11906"/>
                </a:lnTo>
                <a:lnTo>
                  <a:pt x="38783" y="14288"/>
                </a:lnTo>
                <a:lnTo>
                  <a:pt x="35358" y="16669"/>
                </a:lnTo>
                <a:lnTo>
                  <a:pt x="32254" y="19050"/>
                </a:lnTo>
                <a:lnTo>
                  <a:pt x="1953410" y="19050"/>
                </a:lnTo>
                <a:lnTo>
                  <a:pt x="1950307" y="16669"/>
                </a:lnTo>
                <a:lnTo>
                  <a:pt x="1946882" y="14288"/>
                </a:lnTo>
                <a:lnTo>
                  <a:pt x="1943062" y="11906"/>
                </a:lnTo>
                <a:lnTo>
                  <a:pt x="1938731" y="9525"/>
                </a:lnTo>
                <a:lnTo>
                  <a:pt x="1933697" y="7144"/>
                </a:lnTo>
                <a:lnTo>
                  <a:pt x="1927587" y="4763"/>
                </a:lnTo>
                <a:lnTo>
                  <a:pt x="1919445" y="2381"/>
                </a:lnTo>
                <a:lnTo>
                  <a:pt x="1899305" y="0"/>
                </a:lnTo>
                <a:close/>
              </a:path>
            </a:pathLst>
          </a:custGeom>
          <a:solidFill>
            <a:srgbClr val="38A169"/>
          </a:solidFill>
          <a:ln/>
        </p:spPr>
        <p:txBody>
          <a:bodyPr wrap="none" rtlCol="0" anchor="t"/>
          <a:lstStyle/>
          <a:p>
            <a:pPr marL="0" indent="0">
              <a:buNone/>
            </a:pPr>
            <a:endParaRPr lang="en-US" dirty="0"/>
          </a:p>
        </p:txBody>
      </p:sp>
      <p:sp>
        <p:nvSpPr>
          <p:cNvPr id="28" name="Text 24"/>
          <p:cNvSpPr/>
          <p:nvPr/>
        </p:nvSpPr>
        <p:spPr>
          <a:xfrm>
            <a:off x="2682180" y="1234380"/>
            <a:ext cx="328910" cy="328910"/>
          </a:xfrm>
          <a:prstGeom prst="roundRect">
            <a:avLst>
              <a:gd name="adj" fmla="val 21623"/>
            </a:avLst>
          </a:prstGeom>
          <a:solidFill>
            <a:srgbClr val="38A169">
              <a:alpha val="15000"/>
            </a:srgbClr>
          </a:solidFill>
          <a:ln/>
        </p:spPr>
        <p:txBody>
          <a:bodyPr wrap="square" rtlCol="0" anchor="t"/>
          <a:lstStyle/>
          <a:p>
            <a:pPr marL="0" indent="0">
              <a:buNone/>
            </a:pPr>
            <a:endParaRPr lang="en-US" dirty="0"/>
          </a:p>
        </p:txBody>
      </p:sp>
      <p:pic>
        <p:nvPicPr>
          <p:cNvPr id="2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77133" y="1329333"/>
            <a:ext cx="139005" cy="139005"/>
          </a:xfrm>
          <a:prstGeom prst="rect">
            <a:avLst/>
          </a:prstGeom>
        </p:spPr>
      </p:pic>
      <p:sp>
        <p:nvSpPr>
          <p:cNvPr id="30" name="Text 25"/>
          <p:cNvSpPr/>
          <p:nvPr/>
        </p:nvSpPr>
        <p:spPr>
          <a:xfrm>
            <a:off x="3097411" y="1234380"/>
            <a:ext cx="1390888" cy="106710"/>
          </a:xfrm>
          <a:prstGeom prst="rect">
            <a:avLst/>
          </a:prstGeom>
          <a:noFill/>
          <a:ln/>
        </p:spPr>
        <p:txBody>
          <a:bodyPr wrap="none" lIns="0" tIns="0" rIns="0" bIns="0" rtlCol="0" anchor="t"/>
          <a:lstStyle/>
          <a:p>
            <a:pPr marL="0" indent="0" algn="l">
              <a:lnSpc>
                <a:spcPts val="1092"/>
              </a:lnSpc>
              <a:buNone/>
            </a:pPr>
            <a:r>
              <a:rPr lang="en-US" sz="728" b="1" kern="0" spc="110">
                <a:solidFill>
                  <a:srgbClr val="38A169"/>
                </a:solidFill>
                <a:latin typeface="Calibri" pitchFamily="34" charset="0"/>
                <a:ea typeface="Calibri" pitchFamily="34" charset="-122"/>
                <a:cs typeface="Calibri" pitchFamily="34" charset="-120"/>
              </a:rPr>
              <a:t>OUTCOME 2</a:t>
            </a:r>
            <a:endParaRPr lang="en-US" sz="728"/>
          </a:p>
        </p:txBody>
      </p:sp>
      <p:sp>
        <p:nvSpPr>
          <p:cNvPr id="31" name="Text 26"/>
          <p:cNvSpPr/>
          <p:nvPr/>
        </p:nvSpPr>
        <p:spPr>
          <a:xfrm>
            <a:off x="3097411" y="1354931"/>
            <a:ext cx="1289733" cy="323165"/>
          </a:xfrm>
          <a:prstGeom prst="rect">
            <a:avLst/>
          </a:prstGeom>
          <a:noFill/>
          <a:ln/>
        </p:spPr>
        <p:txBody>
          <a:bodyPr wrap="square" lIns="0" tIns="0" rIns="0" bIns="0" rtlCol="0" anchor="t"/>
          <a:lstStyle/>
          <a:p>
            <a:pPr marL="0" indent="0" algn="l">
              <a:lnSpc>
                <a:spcPts val="1575"/>
              </a:lnSpc>
              <a:buNone/>
            </a:pPr>
            <a:r>
              <a:rPr lang="en-US" sz="1313" b="1">
                <a:solidFill>
                  <a:srgbClr val="0D1B3E"/>
                </a:solidFill>
                <a:latin typeface="Calibri Light" pitchFamily="34" charset="0"/>
                <a:ea typeface="Calibri Light" pitchFamily="34" charset="-122"/>
                <a:cs typeface="Calibri Light" pitchFamily="34" charset="-120"/>
              </a:rPr>
              <a:t>Economic Self-Sufficiency</a:t>
            </a:r>
            <a:endParaRPr lang="en-US" sz="1313"/>
          </a:p>
        </p:txBody>
      </p:sp>
      <p:sp>
        <p:nvSpPr>
          <p:cNvPr id="32" name="Text 27"/>
          <p:cNvSpPr/>
          <p:nvPr/>
        </p:nvSpPr>
        <p:spPr>
          <a:xfrm>
            <a:off x="2682180" y="1778198"/>
            <a:ext cx="1713268" cy="564446"/>
          </a:xfrm>
          <a:prstGeom prst="rect">
            <a:avLst/>
          </a:prstGeom>
          <a:noFill/>
          <a:ln/>
        </p:spPr>
        <p:txBody>
          <a:bodyPr wrap="square" lIns="0" tIns="0" rIns="0" bIns="0" rtlCol="0" anchor="t"/>
          <a:lstStyle/>
          <a:p>
            <a:pPr marL="0" indent="0" algn="l">
              <a:lnSpc>
                <a:spcPts val="1375"/>
              </a:lnSpc>
              <a:buNone/>
            </a:pPr>
            <a:r>
              <a:rPr lang="en-US" sz="949">
                <a:solidFill>
                  <a:srgbClr val="64748B"/>
                </a:solidFill>
                <a:latin typeface="Calibri" pitchFamily="34" charset="0"/>
                <a:ea typeface="Calibri" pitchFamily="34" charset="-122"/>
                <a:cs typeface="Calibri" pitchFamily="34" charset="-120"/>
              </a:rPr>
              <a:t>Sustained income improvement and asset building — fathers achieving durable economic stability beyond the program year.</a:t>
            </a:r>
            <a:endParaRPr lang="en-US" sz="949"/>
          </a:p>
        </p:txBody>
      </p:sp>
      <p:sp>
        <p:nvSpPr>
          <p:cNvPr id="33" name="Text 28"/>
          <p:cNvSpPr/>
          <p:nvPr/>
        </p:nvSpPr>
        <p:spPr>
          <a:xfrm>
            <a:off x="2682180" y="2415927"/>
            <a:ext cx="1679674" cy="9525"/>
          </a:xfrm>
          <a:prstGeom prst="rect">
            <a:avLst/>
          </a:prstGeom>
          <a:solidFill>
            <a:srgbClr val="0D1B3E">
              <a:alpha val="10000"/>
            </a:srgbClr>
          </a:solidFill>
          <a:ln/>
        </p:spPr>
        <p:txBody>
          <a:bodyPr wrap="none" rtlCol="0" anchor="t"/>
          <a:lstStyle/>
          <a:p>
            <a:pPr marL="0" indent="0">
              <a:buNone/>
            </a:pPr>
            <a:endParaRPr lang="en-US" dirty="0"/>
          </a:p>
        </p:txBody>
      </p:sp>
      <p:sp>
        <p:nvSpPr>
          <p:cNvPr id="34" name="Text 29"/>
          <p:cNvSpPr/>
          <p:nvPr/>
        </p:nvSpPr>
        <p:spPr>
          <a:xfrm>
            <a:off x="2682180" y="2496443"/>
            <a:ext cx="1847642" cy="100905"/>
          </a:xfrm>
          <a:prstGeom prst="rect">
            <a:avLst/>
          </a:prstGeom>
          <a:noFill/>
          <a:ln/>
        </p:spPr>
        <p:txBody>
          <a:bodyPr wrap="none" lIns="0" tIns="0" rIns="0" bIns="0" rtlCol="0" anchor="t"/>
          <a:lstStyle/>
          <a:p>
            <a:pPr marL="0" indent="0" algn="l">
              <a:lnSpc>
                <a:spcPts val="1033"/>
              </a:lnSpc>
              <a:buNone/>
            </a:pPr>
            <a:r>
              <a:rPr lang="en-US" sz="689" b="1" kern="0" spc="100">
                <a:solidFill>
                  <a:srgbClr val="64748B"/>
                </a:solidFill>
                <a:latin typeface="Calibri" pitchFamily="34" charset="0"/>
                <a:ea typeface="Calibri" pitchFamily="34" charset="-122"/>
                <a:cs typeface="Calibri" pitchFamily="34" charset="-120"/>
              </a:rPr>
              <a:t>ALIGNED FUNDERS</a:t>
            </a:r>
            <a:endParaRPr lang="en-US" sz="689"/>
          </a:p>
        </p:txBody>
      </p:sp>
      <p:sp>
        <p:nvSpPr>
          <p:cNvPr id="35" name="Text 30"/>
          <p:cNvSpPr/>
          <p:nvPr/>
        </p:nvSpPr>
        <p:spPr>
          <a:xfrm>
            <a:off x="2682180" y="2640509"/>
            <a:ext cx="291405" cy="174843"/>
          </a:xfrm>
          <a:prstGeom prst="roundRect">
            <a:avLst>
              <a:gd name="adj" fmla="val 16706"/>
            </a:avLst>
          </a:prstGeom>
          <a:solidFill>
            <a:srgbClr val="38A169">
              <a:alpha val="12000"/>
            </a:srgbClr>
          </a:solidFill>
          <a:ln w="9525">
            <a:solidFill>
              <a:srgbClr val="38A169">
                <a:alpha val="30000"/>
              </a:srgbClr>
            </a:solidFill>
          </a:ln>
        </p:spPr>
        <p:txBody>
          <a:bodyPr wrap="none" lIns="0" tIns="0" rIns="0" bIns="0" rtlCol="0" anchor="ctr"/>
          <a:lstStyle/>
          <a:p>
            <a:pPr marL="0" indent="0" algn="ctr">
              <a:buNone/>
            </a:pPr>
            <a:r>
              <a:rPr lang="en-US" sz="767" b="1">
                <a:solidFill>
                  <a:srgbClr val="276749"/>
                </a:solidFill>
                <a:latin typeface="Calibri" pitchFamily="34" charset="0"/>
                <a:ea typeface="Calibri" pitchFamily="34" charset="-122"/>
                <a:cs typeface="Calibri" pitchFamily="34" charset="-120"/>
              </a:rPr>
              <a:t>DOL</a:t>
            </a:r>
            <a:endParaRPr lang="en-US" sz="767"/>
          </a:p>
        </p:txBody>
      </p:sp>
      <p:sp>
        <p:nvSpPr>
          <p:cNvPr id="36" name="Text 31"/>
          <p:cNvSpPr/>
          <p:nvPr/>
        </p:nvSpPr>
        <p:spPr>
          <a:xfrm>
            <a:off x="3002756" y="2640509"/>
            <a:ext cx="740718" cy="174843"/>
          </a:xfrm>
          <a:prstGeom prst="roundRect">
            <a:avLst>
              <a:gd name="adj" fmla="val 16706"/>
            </a:avLst>
          </a:prstGeom>
          <a:solidFill>
            <a:srgbClr val="38A169">
              <a:alpha val="12000"/>
            </a:srgbClr>
          </a:solidFill>
          <a:ln w="9525">
            <a:solidFill>
              <a:srgbClr val="38A169">
                <a:alpha val="30000"/>
              </a:srgbClr>
            </a:solidFill>
          </a:ln>
        </p:spPr>
        <p:txBody>
          <a:bodyPr wrap="none" lIns="0" tIns="0" rIns="0" bIns="0" rtlCol="0" anchor="ctr"/>
          <a:lstStyle/>
          <a:p>
            <a:pPr marL="0" indent="0" algn="ctr">
              <a:buNone/>
            </a:pPr>
            <a:r>
              <a:rPr lang="en-US" sz="767" b="1">
                <a:solidFill>
                  <a:srgbClr val="276749"/>
                </a:solidFill>
                <a:latin typeface="Calibri" pitchFamily="34" charset="0"/>
                <a:ea typeface="Calibri" pitchFamily="34" charset="-122"/>
                <a:cs typeface="Calibri" pitchFamily="34" charset="-120"/>
              </a:rPr>
              <a:t>JPMorgan Chase</a:t>
            </a:r>
            <a:endParaRPr lang="en-US" sz="767"/>
          </a:p>
        </p:txBody>
      </p:sp>
      <p:sp>
        <p:nvSpPr>
          <p:cNvPr id="37" name="Text 32"/>
          <p:cNvSpPr/>
          <p:nvPr/>
        </p:nvSpPr>
        <p:spPr>
          <a:xfrm>
            <a:off x="2682180" y="2828627"/>
            <a:ext cx="972145" cy="174843"/>
          </a:xfrm>
          <a:prstGeom prst="roundRect">
            <a:avLst>
              <a:gd name="adj" fmla="val 16706"/>
            </a:avLst>
          </a:prstGeom>
          <a:solidFill>
            <a:srgbClr val="38A169">
              <a:alpha val="12000"/>
            </a:srgbClr>
          </a:solidFill>
          <a:ln w="9525">
            <a:solidFill>
              <a:srgbClr val="38A169">
                <a:alpha val="30000"/>
              </a:srgbClr>
            </a:solidFill>
          </a:ln>
        </p:spPr>
        <p:txBody>
          <a:bodyPr wrap="none" lIns="0" tIns="0" rIns="0" bIns="0" rtlCol="0" anchor="ctr"/>
          <a:lstStyle/>
          <a:p>
            <a:pPr marL="0" indent="0" algn="ctr">
              <a:buNone/>
            </a:pPr>
            <a:r>
              <a:rPr lang="en-US" sz="767" b="1">
                <a:solidFill>
                  <a:srgbClr val="276749"/>
                </a:solidFill>
                <a:latin typeface="Calibri" pitchFamily="34" charset="0"/>
                <a:ea typeface="Calibri" pitchFamily="34" charset="-122"/>
                <a:cs typeface="Calibri" pitchFamily="34" charset="-120"/>
              </a:rPr>
              <a:t>Workforce Foundations</a:t>
            </a:r>
            <a:endParaRPr lang="en-US" sz="767"/>
          </a:p>
        </p:txBody>
      </p:sp>
      <p:sp>
        <p:nvSpPr>
          <p:cNvPr id="38" name="Text 33"/>
          <p:cNvSpPr/>
          <p:nvPr/>
        </p:nvSpPr>
        <p:spPr>
          <a:xfrm>
            <a:off x="4629150" y="1057870"/>
            <a:ext cx="1985665" cy="2067371"/>
          </a:xfrm>
          <a:prstGeom prst="roundRect">
            <a:avLst>
              <a:gd name="adj" fmla="val 4349"/>
            </a:avLst>
          </a:prstGeom>
          <a:solidFill>
            <a:srgbClr val="F0F4F8"/>
          </a:solidFill>
          <a:ln/>
        </p:spPr>
        <p:txBody>
          <a:bodyPr wrap="square" rtlCol="0" anchor="t"/>
          <a:lstStyle/>
          <a:p>
            <a:pPr marL="0" indent="0">
              <a:buNone/>
            </a:pPr>
            <a:endParaRPr lang="en-US" dirty="0"/>
          </a:p>
        </p:txBody>
      </p:sp>
      <p:sp>
        <p:nvSpPr>
          <p:cNvPr id="39" name="Text 34"/>
          <p:cNvSpPr/>
          <p:nvPr/>
        </p:nvSpPr>
        <p:spPr>
          <a:xfrm>
            <a:off x="4629150" y="1057870"/>
            <a:ext cx="9525" cy="2067371"/>
          </a:xfrm>
          <a:custGeom>
            <a:avLst/>
            <a:gdLst/>
            <a:ahLst/>
            <a:cxnLst/>
            <a:rect l="l" t="t" r="r" b="b"/>
            <a:pathLst>
              <a:path w="9525" h="2067371">
                <a:moveTo>
                  <a:pt x="0" y="86360"/>
                </a:moveTo>
                <a:lnTo>
                  <a:pt x="1191" y="72069"/>
                </a:lnTo>
                <a:lnTo>
                  <a:pt x="2381" y="66220"/>
                </a:lnTo>
                <a:lnTo>
                  <a:pt x="3572" y="61780"/>
                </a:lnTo>
                <a:lnTo>
                  <a:pt x="4763" y="58078"/>
                </a:lnTo>
                <a:lnTo>
                  <a:pt x="5953" y="54852"/>
                </a:lnTo>
                <a:lnTo>
                  <a:pt x="7144" y="51968"/>
                </a:lnTo>
                <a:lnTo>
                  <a:pt x="8334" y="49346"/>
                </a:lnTo>
                <a:lnTo>
                  <a:pt x="9525" y="46934"/>
                </a:lnTo>
                <a:lnTo>
                  <a:pt x="9525" y="2020438"/>
                </a:lnTo>
                <a:lnTo>
                  <a:pt x="8334" y="2018026"/>
                </a:lnTo>
                <a:lnTo>
                  <a:pt x="7144" y="2015404"/>
                </a:lnTo>
                <a:lnTo>
                  <a:pt x="5953" y="2012520"/>
                </a:lnTo>
                <a:lnTo>
                  <a:pt x="4763" y="2009294"/>
                </a:lnTo>
                <a:lnTo>
                  <a:pt x="3572" y="2005591"/>
                </a:lnTo>
                <a:lnTo>
                  <a:pt x="2381" y="2001151"/>
                </a:lnTo>
                <a:lnTo>
                  <a:pt x="1191" y="1995302"/>
                </a:lnTo>
                <a:lnTo>
                  <a:pt x="0" y="1981011"/>
                </a:lnTo>
                <a:close/>
              </a:path>
            </a:pathLst>
          </a:custGeom>
          <a:solidFill>
            <a:srgbClr val="0D1B3E">
              <a:alpha val="9000"/>
            </a:srgbClr>
          </a:solidFill>
          <a:ln/>
        </p:spPr>
        <p:txBody>
          <a:bodyPr wrap="square" rtlCol="0" anchor="t"/>
          <a:lstStyle/>
          <a:p>
            <a:pPr marL="0" indent="0">
              <a:buNone/>
            </a:pPr>
            <a:endParaRPr lang="en-US" dirty="0"/>
          </a:p>
        </p:txBody>
      </p:sp>
      <p:sp>
        <p:nvSpPr>
          <p:cNvPr id="40" name="Text 35"/>
          <p:cNvSpPr/>
          <p:nvPr/>
        </p:nvSpPr>
        <p:spPr>
          <a:xfrm>
            <a:off x="6605290" y="1057870"/>
            <a:ext cx="9525" cy="2067371"/>
          </a:xfrm>
          <a:custGeom>
            <a:avLst/>
            <a:gdLst/>
            <a:ahLst/>
            <a:cxnLst/>
            <a:rect l="l" t="t" r="r" b="b"/>
            <a:pathLst>
              <a:path w="9525" h="2067371">
                <a:moveTo>
                  <a:pt x="0" y="46934"/>
                </a:moveTo>
                <a:lnTo>
                  <a:pt x="1191" y="49346"/>
                </a:lnTo>
                <a:lnTo>
                  <a:pt x="2381" y="51968"/>
                </a:lnTo>
                <a:lnTo>
                  <a:pt x="3572" y="54852"/>
                </a:lnTo>
                <a:lnTo>
                  <a:pt x="4763" y="58078"/>
                </a:lnTo>
                <a:lnTo>
                  <a:pt x="5953" y="61780"/>
                </a:lnTo>
                <a:lnTo>
                  <a:pt x="7144" y="66220"/>
                </a:lnTo>
                <a:lnTo>
                  <a:pt x="8334" y="72069"/>
                </a:lnTo>
                <a:lnTo>
                  <a:pt x="9525" y="86360"/>
                </a:lnTo>
                <a:lnTo>
                  <a:pt x="9525" y="1981011"/>
                </a:lnTo>
                <a:lnTo>
                  <a:pt x="8334" y="1995302"/>
                </a:lnTo>
                <a:lnTo>
                  <a:pt x="7144" y="2001151"/>
                </a:lnTo>
                <a:lnTo>
                  <a:pt x="5953" y="2005591"/>
                </a:lnTo>
                <a:lnTo>
                  <a:pt x="4763" y="2009294"/>
                </a:lnTo>
                <a:lnTo>
                  <a:pt x="3572" y="2012520"/>
                </a:lnTo>
                <a:lnTo>
                  <a:pt x="2381" y="2015404"/>
                </a:lnTo>
                <a:lnTo>
                  <a:pt x="1191" y="2018026"/>
                </a:lnTo>
                <a:lnTo>
                  <a:pt x="0" y="2020438"/>
                </a:lnTo>
                <a:close/>
              </a:path>
            </a:pathLst>
          </a:custGeom>
          <a:solidFill>
            <a:srgbClr val="0D1B3E">
              <a:alpha val="9000"/>
            </a:srgbClr>
          </a:solidFill>
          <a:ln/>
        </p:spPr>
        <p:txBody>
          <a:bodyPr wrap="square" rtlCol="0" anchor="t"/>
          <a:lstStyle/>
          <a:p>
            <a:pPr marL="0" indent="0">
              <a:buNone/>
            </a:pPr>
            <a:endParaRPr lang="en-US" dirty="0"/>
          </a:p>
        </p:txBody>
      </p:sp>
      <p:sp>
        <p:nvSpPr>
          <p:cNvPr id="41" name="Text 36"/>
          <p:cNvSpPr/>
          <p:nvPr/>
        </p:nvSpPr>
        <p:spPr>
          <a:xfrm>
            <a:off x="4629150" y="1057870"/>
            <a:ext cx="1985665" cy="19050"/>
          </a:xfrm>
          <a:custGeom>
            <a:avLst/>
            <a:gdLst/>
            <a:ahLst/>
            <a:cxnLst/>
            <a:rect l="l" t="t" r="r" b="b"/>
            <a:pathLst>
              <a:path w="1985665" h="19050">
                <a:moveTo>
                  <a:pt x="86360" y="0"/>
                </a:moveTo>
                <a:lnTo>
                  <a:pt x="66220" y="2381"/>
                </a:lnTo>
                <a:lnTo>
                  <a:pt x="58078" y="4763"/>
                </a:lnTo>
                <a:lnTo>
                  <a:pt x="51968" y="7144"/>
                </a:lnTo>
                <a:lnTo>
                  <a:pt x="46934" y="9525"/>
                </a:lnTo>
                <a:lnTo>
                  <a:pt x="42603" y="11906"/>
                </a:lnTo>
                <a:lnTo>
                  <a:pt x="38783" y="14288"/>
                </a:lnTo>
                <a:lnTo>
                  <a:pt x="35358" y="16669"/>
                </a:lnTo>
                <a:lnTo>
                  <a:pt x="32254" y="19050"/>
                </a:lnTo>
                <a:lnTo>
                  <a:pt x="1953410" y="19050"/>
                </a:lnTo>
                <a:lnTo>
                  <a:pt x="1950307" y="16669"/>
                </a:lnTo>
                <a:lnTo>
                  <a:pt x="1946882" y="14288"/>
                </a:lnTo>
                <a:lnTo>
                  <a:pt x="1943062" y="11906"/>
                </a:lnTo>
                <a:lnTo>
                  <a:pt x="1938731" y="9525"/>
                </a:lnTo>
                <a:lnTo>
                  <a:pt x="1933697" y="7144"/>
                </a:lnTo>
                <a:lnTo>
                  <a:pt x="1927587" y="4763"/>
                </a:lnTo>
                <a:lnTo>
                  <a:pt x="1919445" y="2381"/>
                </a:lnTo>
                <a:lnTo>
                  <a:pt x="1899305" y="0"/>
                </a:lnTo>
                <a:close/>
              </a:path>
            </a:pathLst>
          </a:custGeom>
          <a:solidFill>
            <a:srgbClr val="4299E1"/>
          </a:solidFill>
          <a:ln/>
        </p:spPr>
        <p:txBody>
          <a:bodyPr wrap="none" rtlCol="0" anchor="t"/>
          <a:lstStyle/>
          <a:p>
            <a:pPr marL="0" indent="0">
              <a:buNone/>
            </a:pPr>
            <a:endParaRPr lang="en-US" dirty="0"/>
          </a:p>
        </p:txBody>
      </p:sp>
      <p:sp>
        <p:nvSpPr>
          <p:cNvPr id="42" name="Text 37"/>
          <p:cNvSpPr/>
          <p:nvPr/>
        </p:nvSpPr>
        <p:spPr>
          <a:xfrm>
            <a:off x="4782145" y="1234380"/>
            <a:ext cx="328910" cy="328910"/>
          </a:xfrm>
          <a:prstGeom prst="roundRect">
            <a:avLst>
              <a:gd name="adj" fmla="val 21623"/>
            </a:avLst>
          </a:prstGeom>
          <a:solidFill>
            <a:srgbClr val="4299E1">
              <a:alpha val="15000"/>
            </a:srgbClr>
          </a:solidFill>
          <a:ln/>
        </p:spPr>
        <p:txBody>
          <a:bodyPr wrap="square" rtlCol="0" anchor="t"/>
          <a:lstStyle/>
          <a:p>
            <a:pPr marL="0" indent="0">
              <a:buNone/>
            </a:pPr>
            <a:endParaRPr lang="en-US" dirty="0"/>
          </a:p>
        </p:txBody>
      </p:sp>
      <p:pic>
        <p:nvPicPr>
          <p:cNvPr id="4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77098" y="1329333"/>
            <a:ext cx="139005" cy="139005"/>
          </a:xfrm>
          <a:prstGeom prst="rect">
            <a:avLst/>
          </a:prstGeom>
        </p:spPr>
      </p:pic>
      <p:sp>
        <p:nvSpPr>
          <p:cNvPr id="44" name="Text 38"/>
          <p:cNvSpPr/>
          <p:nvPr/>
        </p:nvSpPr>
        <p:spPr>
          <a:xfrm>
            <a:off x="5197376" y="1234380"/>
            <a:ext cx="1117327" cy="106710"/>
          </a:xfrm>
          <a:prstGeom prst="rect">
            <a:avLst/>
          </a:prstGeom>
          <a:noFill/>
          <a:ln/>
        </p:spPr>
        <p:txBody>
          <a:bodyPr wrap="none" lIns="0" tIns="0" rIns="0" bIns="0" rtlCol="0" anchor="t"/>
          <a:lstStyle/>
          <a:p>
            <a:pPr marL="0" indent="0" algn="l">
              <a:lnSpc>
                <a:spcPts val="1092"/>
              </a:lnSpc>
              <a:buNone/>
            </a:pPr>
            <a:r>
              <a:rPr lang="en-US" sz="728" b="1" kern="0" spc="110">
                <a:solidFill>
                  <a:srgbClr val="4299E1"/>
                </a:solidFill>
                <a:latin typeface="Calibri" pitchFamily="34" charset="0"/>
                <a:ea typeface="Calibri" pitchFamily="34" charset="-122"/>
                <a:cs typeface="Calibri" pitchFamily="34" charset="-120"/>
              </a:rPr>
              <a:t>OUTCOME 3</a:t>
            </a:r>
            <a:endParaRPr lang="en-US" sz="728"/>
          </a:p>
        </p:txBody>
      </p:sp>
      <p:sp>
        <p:nvSpPr>
          <p:cNvPr id="45" name="Text 39"/>
          <p:cNvSpPr/>
          <p:nvPr/>
        </p:nvSpPr>
        <p:spPr>
          <a:xfrm>
            <a:off x="5197376" y="1354931"/>
            <a:ext cx="1117327" cy="153888"/>
          </a:xfrm>
          <a:prstGeom prst="rect">
            <a:avLst/>
          </a:prstGeom>
          <a:noFill/>
          <a:ln/>
        </p:spPr>
        <p:txBody>
          <a:bodyPr wrap="none" lIns="0" tIns="0" rIns="0" bIns="0" rtlCol="0" anchor="t"/>
          <a:lstStyle/>
          <a:p>
            <a:pPr marL="0" indent="0" algn="l">
              <a:lnSpc>
                <a:spcPts val="1575"/>
              </a:lnSpc>
              <a:buNone/>
            </a:pPr>
            <a:r>
              <a:rPr lang="en-US" sz="1313" b="1">
                <a:solidFill>
                  <a:srgbClr val="0D1B3E"/>
                </a:solidFill>
                <a:latin typeface="Calibri Light" pitchFamily="34" charset="0"/>
                <a:ea typeface="Calibri Light" pitchFamily="34" charset="-122"/>
                <a:cs typeface="Calibri Light" pitchFamily="34" charset="-120"/>
              </a:rPr>
              <a:t>Child Well-Being</a:t>
            </a:r>
            <a:endParaRPr lang="en-US" sz="1313"/>
          </a:p>
        </p:txBody>
      </p:sp>
      <p:sp>
        <p:nvSpPr>
          <p:cNvPr id="46" name="Text 40"/>
          <p:cNvSpPr/>
          <p:nvPr/>
        </p:nvSpPr>
        <p:spPr>
          <a:xfrm>
            <a:off x="4782145" y="1649611"/>
            <a:ext cx="1713268" cy="564446"/>
          </a:xfrm>
          <a:prstGeom prst="rect">
            <a:avLst/>
          </a:prstGeom>
          <a:noFill/>
          <a:ln/>
        </p:spPr>
        <p:txBody>
          <a:bodyPr wrap="square" lIns="0" tIns="0" rIns="0" bIns="0" rtlCol="0" anchor="t"/>
          <a:lstStyle/>
          <a:p>
            <a:pPr marL="0" indent="0" algn="l">
              <a:lnSpc>
                <a:spcPts val="1375"/>
              </a:lnSpc>
              <a:buNone/>
            </a:pPr>
            <a:r>
              <a:rPr lang="en-US" sz="949">
                <a:solidFill>
                  <a:srgbClr val="64748B"/>
                </a:solidFill>
                <a:latin typeface="Calibri" pitchFamily="34" charset="0"/>
                <a:ea typeface="Calibri" pitchFamily="34" charset="-122"/>
                <a:cs typeface="Calibri" pitchFamily="34" charset="-120"/>
              </a:rPr>
              <a:t>Improved developmental outcomes linked to engaged fatherhood — documented across cognitive, emotional, and social domains.</a:t>
            </a:r>
            <a:endParaRPr lang="en-US" sz="949"/>
          </a:p>
        </p:txBody>
      </p:sp>
      <p:sp>
        <p:nvSpPr>
          <p:cNvPr id="47" name="Text 41"/>
          <p:cNvSpPr/>
          <p:nvPr/>
        </p:nvSpPr>
        <p:spPr>
          <a:xfrm>
            <a:off x="4782145" y="2415927"/>
            <a:ext cx="1679674" cy="9525"/>
          </a:xfrm>
          <a:prstGeom prst="rect">
            <a:avLst/>
          </a:prstGeom>
          <a:solidFill>
            <a:srgbClr val="0D1B3E">
              <a:alpha val="10000"/>
            </a:srgbClr>
          </a:solidFill>
          <a:ln/>
        </p:spPr>
        <p:txBody>
          <a:bodyPr wrap="none" rtlCol="0" anchor="t"/>
          <a:lstStyle/>
          <a:p>
            <a:pPr marL="0" indent="0">
              <a:buNone/>
            </a:pPr>
            <a:endParaRPr lang="en-US" dirty="0"/>
          </a:p>
        </p:txBody>
      </p:sp>
      <p:sp>
        <p:nvSpPr>
          <p:cNvPr id="48" name="Text 42"/>
          <p:cNvSpPr/>
          <p:nvPr/>
        </p:nvSpPr>
        <p:spPr>
          <a:xfrm>
            <a:off x="4782145" y="2496443"/>
            <a:ext cx="1847642" cy="100905"/>
          </a:xfrm>
          <a:prstGeom prst="rect">
            <a:avLst/>
          </a:prstGeom>
          <a:noFill/>
          <a:ln/>
        </p:spPr>
        <p:txBody>
          <a:bodyPr wrap="none" lIns="0" tIns="0" rIns="0" bIns="0" rtlCol="0" anchor="t"/>
          <a:lstStyle/>
          <a:p>
            <a:pPr marL="0" indent="0" algn="l">
              <a:lnSpc>
                <a:spcPts val="1033"/>
              </a:lnSpc>
              <a:buNone/>
            </a:pPr>
            <a:r>
              <a:rPr lang="en-US" sz="689" b="1" kern="0" spc="100">
                <a:solidFill>
                  <a:srgbClr val="64748B"/>
                </a:solidFill>
                <a:latin typeface="Calibri" pitchFamily="34" charset="0"/>
                <a:ea typeface="Calibri" pitchFamily="34" charset="-122"/>
                <a:cs typeface="Calibri" pitchFamily="34" charset="-120"/>
              </a:rPr>
              <a:t>ALIGNED FUNDERS</a:t>
            </a:r>
            <a:endParaRPr lang="en-US" sz="689"/>
          </a:p>
        </p:txBody>
      </p:sp>
      <p:sp>
        <p:nvSpPr>
          <p:cNvPr id="49" name="Text 43"/>
          <p:cNvSpPr/>
          <p:nvPr/>
        </p:nvSpPr>
        <p:spPr>
          <a:xfrm>
            <a:off x="4782145" y="2640509"/>
            <a:ext cx="934641" cy="174843"/>
          </a:xfrm>
          <a:prstGeom prst="roundRect">
            <a:avLst>
              <a:gd name="adj" fmla="val 16706"/>
            </a:avLst>
          </a:prstGeom>
          <a:solidFill>
            <a:srgbClr val="4299E1">
              <a:alpha val="12000"/>
            </a:srgbClr>
          </a:solidFill>
          <a:ln w="9525">
            <a:solidFill>
              <a:srgbClr val="4299E1">
                <a:alpha val="30000"/>
              </a:srgbClr>
            </a:solidFill>
          </a:ln>
        </p:spPr>
        <p:txBody>
          <a:bodyPr wrap="none" lIns="0" tIns="0" rIns="0" bIns="0" rtlCol="0" anchor="ctr"/>
          <a:lstStyle/>
          <a:p>
            <a:pPr marL="0" indent="0" algn="ctr">
              <a:buNone/>
            </a:pPr>
            <a:r>
              <a:rPr lang="en-US" sz="767" b="1">
                <a:solidFill>
                  <a:srgbClr val="2B6CB0"/>
                </a:solidFill>
                <a:latin typeface="Calibri" pitchFamily="34" charset="0"/>
                <a:ea typeface="Calibri" pitchFamily="34" charset="-122"/>
                <a:cs typeface="Calibri" pitchFamily="34" charset="-120"/>
              </a:rPr>
              <a:t>Robert Wood Johnson</a:t>
            </a:r>
            <a:endParaRPr lang="en-US" sz="767"/>
          </a:p>
        </p:txBody>
      </p:sp>
      <p:sp>
        <p:nvSpPr>
          <p:cNvPr id="50" name="Text 44"/>
          <p:cNvSpPr/>
          <p:nvPr/>
        </p:nvSpPr>
        <p:spPr>
          <a:xfrm>
            <a:off x="5745956" y="2640509"/>
            <a:ext cx="590848" cy="174843"/>
          </a:xfrm>
          <a:prstGeom prst="roundRect">
            <a:avLst>
              <a:gd name="adj" fmla="val 16706"/>
            </a:avLst>
          </a:prstGeom>
          <a:solidFill>
            <a:srgbClr val="4299E1">
              <a:alpha val="12000"/>
            </a:srgbClr>
          </a:solidFill>
          <a:ln w="9525">
            <a:solidFill>
              <a:srgbClr val="4299E1">
                <a:alpha val="30000"/>
              </a:srgbClr>
            </a:solidFill>
          </a:ln>
        </p:spPr>
        <p:txBody>
          <a:bodyPr wrap="none" lIns="0" tIns="0" rIns="0" bIns="0" rtlCol="0" anchor="ctr"/>
          <a:lstStyle/>
          <a:p>
            <a:pPr marL="0" indent="0" algn="ctr">
              <a:buNone/>
            </a:pPr>
            <a:r>
              <a:rPr lang="en-US" sz="767" b="1">
                <a:solidFill>
                  <a:srgbClr val="2B6CB0"/>
                </a:solidFill>
                <a:latin typeface="Calibri" pitchFamily="34" charset="0"/>
                <a:ea typeface="Calibri" pitchFamily="34" charset="-122"/>
                <a:cs typeface="Calibri" pitchFamily="34" charset="-120"/>
              </a:rPr>
              <a:t>W.K. Kellogg</a:t>
            </a:r>
            <a:endParaRPr lang="en-US" sz="767"/>
          </a:p>
        </p:txBody>
      </p:sp>
      <p:sp>
        <p:nvSpPr>
          <p:cNvPr id="51" name="Text 45"/>
          <p:cNvSpPr/>
          <p:nvPr/>
        </p:nvSpPr>
        <p:spPr>
          <a:xfrm>
            <a:off x="4782145" y="2828627"/>
            <a:ext cx="707380" cy="174843"/>
          </a:xfrm>
          <a:prstGeom prst="roundRect">
            <a:avLst>
              <a:gd name="adj" fmla="val 16706"/>
            </a:avLst>
          </a:prstGeom>
          <a:solidFill>
            <a:srgbClr val="4299E1">
              <a:alpha val="12000"/>
            </a:srgbClr>
          </a:solidFill>
          <a:ln w="9525">
            <a:solidFill>
              <a:srgbClr val="4299E1">
                <a:alpha val="30000"/>
              </a:srgbClr>
            </a:solidFill>
          </a:ln>
        </p:spPr>
        <p:txBody>
          <a:bodyPr wrap="none" lIns="0" tIns="0" rIns="0" bIns="0" rtlCol="0" anchor="ctr"/>
          <a:lstStyle/>
          <a:p>
            <a:pPr marL="0" indent="0" algn="ctr">
              <a:buNone/>
            </a:pPr>
            <a:r>
              <a:rPr lang="en-US" sz="767" b="1">
                <a:solidFill>
                  <a:srgbClr val="2B6CB0"/>
                </a:solidFill>
                <a:latin typeface="Calibri" pitchFamily="34" charset="0"/>
                <a:ea typeface="Calibri" pitchFamily="34" charset="-122"/>
                <a:cs typeface="Calibri" pitchFamily="34" charset="-120"/>
              </a:rPr>
              <a:t>Early Childhood</a:t>
            </a:r>
            <a:endParaRPr lang="en-US" sz="767"/>
          </a:p>
        </p:txBody>
      </p:sp>
      <p:sp>
        <p:nvSpPr>
          <p:cNvPr id="52" name="Text 46"/>
          <p:cNvSpPr/>
          <p:nvPr/>
        </p:nvSpPr>
        <p:spPr>
          <a:xfrm>
            <a:off x="6729115" y="1057870"/>
            <a:ext cx="1985665" cy="2067371"/>
          </a:xfrm>
          <a:prstGeom prst="roundRect">
            <a:avLst>
              <a:gd name="adj" fmla="val 4349"/>
            </a:avLst>
          </a:prstGeom>
          <a:solidFill>
            <a:srgbClr val="F0F4F8"/>
          </a:solidFill>
          <a:ln/>
        </p:spPr>
        <p:txBody>
          <a:bodyPr wrap="square" rtlCol="0" anchor="t"/>
          <a:lstStyle/>
          <a:p>
            <a:pPr marL="0" indent="0">
              <a:buNone/>
            </a:pPr>
            <a:endParaRPr lang="en-US" dirty="0"/>
          </a:p>
        </p:txBody>
      </p:sp>
      <p:sp>
        <p:nvSpPr>
          <p:cNvPr id="53" name="Text 47"/>
          <p:cNvSpPr/>
          <p:nvPr/>
        </p:nvSpPr>
        <p:spPr>
          <a:xfrm>
            <a:off x="6729115" y="1057870"/>
            <a:ext cx="9525" cy="2067371"/>
          </a:xfrm>
          <a:custGeom>
            <a:avLst/>
            <a:gdLst/>
            <a:ahLst/>
            <a:cxnLst/>
            <a:rect l="l" t="t" r="r" b="b"/>
            <a:pathLst>
              <a:path w="9525" h="2067371">
                <a:moveTo>
                  <a:pt x="0" y="86360"/>
                </a:moveTo>
                <a:lnTo>
                  <a:pt x="1191" y="72069"/>
                </a:lnTo>
                <a:lnTo>
                  <a:pt x="2381" y="66220"/>
                </a:lnTo>
                <a:lnTo>
                  <a:pt x="3572" y="61780"/>
                </a:lnTo>
                <a:lnTo>
                  <a:pt x="4763" y="58078"/>
                </a:lnTo>
                <a:lnTo>
                  <a:pt x="5953" y="54852"/>
                </a:lnTo>
                <a:lnTo>
                  <a:pt x="7144" y="51968"/>
                </a:lnTo>
                <a:lnTo>
                  <a:pt x="8334" y="49346"/>
                </a:lnTo>
                <a:lnTo>
                  <a:pt x="9525" y="46934"/>
                </a:lnTo>
                <a:lnTo>
                  <a:pt x="9525" y="2020438"/>
                </a:lnTo>
                <a:lnTo>
                  <a:pt x="8334" y="2018026"/>
                </a:lnTo>
                <a:lnTo>
                  <a:pt x="7144" y="2015404"/>
                </a:lnTo>
                <a:lnTo>
                  <a:pt x="5953" y="2012520"/>
                </a:lnTo>
                <a:lnTo>
                  <a:pt x="4763" y="2009294"/>
                </a:lnTo>
                <a:lnTo>
                  <a:pt x="3572" y="2005591"/>
                </a:lnTo>
                <a:lnTo>
                  <a:pt x="2381" y="2001151"/>
                </a:lnTo>
                <a:lnTo>
                  <a:pt x="1191" y="1995302"/>
                </a:lnTo>
                <a:lnTo>
                  <a:pt x="0" y="1981011"/>
                </a:lnTo>
                <a:close/>
              </a:path>
            </a:pathLst>
          </a:custGeom>
          <a:solidFill>
            <a:srgbClr val="0D1B3E">
              <a:alpha val="9000"/>
            </a:srgbClr>
          </a:solidFill>
          <a:ln/>
        </p:spPr>
        <p:txBody>
          <a:bodyPr wrap="square" rtlCol="0" anchor="t"/>
          <a:lstStyle/>
          <a:p>
            <a:pPr marL="0" indent="0">
              <a:buNone/>
            </a:pPr>
            <a:endParaRPr lang="en-US" dirty="0"/>
          </a:p>
        </p:txBody>
      </p:sp>
      <p:sp>
        <p:nvSpPr>
          <p:cNvPr id="54" name="Text 48"/>
          <p:cNvSpPr/>
          <p:nvPr/>
        </p:nvSpPr>
        <p:spPr>
          <a:xfrm>
            <a:off x="8705255" y="1057870"/>
            <a:ext cx="9525" cy="2067371"/>
          </a:xfrm>
          <a:custGeom>
            <a:avLst/>
            <a:gdLst/>
            <a:ahLst/>
            <a:cxnLst/>
            <a:rect l="l" t="t" r="r" b="b"/>
            <a:pathLst>
              <a:path w="9525" h="2067371">
                <a:moveTo>
                  <a:pt x="0" y="46934"/>
                </a:moveTo>
                <a:lnTo>
                  <a:pt x="1191" y="49346"/>
                </a:lnTo>
                <a:lnTo>
                  <a:pt x="2381" y="51968"/>
                </a:lnTo>
                <a:lnTo>
                  <a:pt x="3572" y="54852"/>
                </a:lnTo>
                <a:lnTo>
                  <a:pt x="4763" y="58078"/>
                </a:lnTo>
                <a:lnTo>
                  <a:pt x="5953" y="61780"/>
                </a:lnTo>
                <a:lnTo>
                  <a:pt x="7144" y="66220"/>
                </a:lnTo>
                <a:lnTo>
                  <a:pt x="8334" y="72069"/>
                </a:lnTo>
                <a:lnTo>
                  <a:pt x="9525" y="86360"/>
                </a:lnTo>
                <a:lnTo>
                  <a:pt x="9525" y="1981011"/>
                </a:lnTo>
                <a:lnTo>
                  <a:pt x="8334" y="1995302"/>
                </a:lnTo>
                <a:lnTo>
                  <a:pt x="7144" y="2001151"/>
                </a:lnTo>
                <a:lnTo>
                  <a:pt x="5953" y="2005591"/>
                </a:lnTo>
                <a:lnTo>
                  <a:pt x="4763" y="2009294"/>
                </a:lnTo>
                <a:lnTo>
                  <a:pt x="3572" y="2012520"/>
                </a:lnTo>
                <a:lnTo>
                  <a:pt x="2381" y="2015404"/>
                </a:lnTo>
                <a:lnTo>
                  <a:pt x="1191" y="2018026"/>
                </a:lnTo>
                <a:lnTo>
                  <a:pt x="0" y="2020438"/>
                </a:lnTo>
                <a:close/>
              </a:path>
            </a:pathLst>
          </a:custGeom>
          <a:solidFill>
            <a:srgbClr val="0D1B3E">
              <a:alpha val="9000"/>
            </a:srgbClr>
          </a:solidFill>
          <a:ln/>
        </p:spPr>
        <p:txBody>
          <a:bodyPr wrap="square" rtlCol="0" anchor="t"/>
          <a:lstStyle/>
          <a:p>
            <a:pPr marL="0" indent="0">
              <a:buNone/>
            </a:pPr>
            <a:endParaRPr lang="en-US" dirty="0"/>
          </a:p>
        </p:txBody>
      </p:sp>
      <p:sp>
        <p:nvSpPr>
          <p:cNvPr id="55" name="Text 49"/>
          <p:cNvSpPr/>
          <p:nvPr/>
        </p:nvSpPr>
        <p:spPr>
          <a:xfrm>
            <a:off x="6729115" y="1057870"/>
            <a:ext cx="1985665" cy="19050"/>
          </a:xfrm>
          <a:custGeom>
            <a:avLst/>
            <a:gdLst/>
            <a:ahLst/>
            <a:cxnLst/>
            <a:rect l="l" t="t" r="r" b="b"/>
            <a:pathLst>
              <a:path w="1985665" h="19050">
                <a:moveTo>
                  <a:pt x="86360" y="0"/>
                </a:moveTo>
                <a:lnTo>
                  <a:pt x="66220" y="2381"/>
                </a:lnTo>
                <a:lnTo>
                  <a:pt x="58078" y="4763"/>
                </a:lnTo>
                <a:lnTo>
                  <a:pt x="51968" y="7144"/>
                </a:lnTo>
                <a:lnTo>
                  <a:pt x="46934" y="9525"/>
                </a:lnTo>
                <a:lnTo>
                  <a:pt x="42603" y="11906"/>
                </a:lnTo>
                <a:lnTo>
                  <a:pt x="38783" y="14288"/>
                </a:lnTo>
                <a:lnTo>
                  <a:pt x="35358" y="16669"/>
                </a:lnTo>
                <a:lnTo>
                  <a:pt x="32254" y="19050"/>
                </a:lnTo>
                <a:lnTo>
                  <a:pt x="1953410" y="19050"/>
                </a:lnTo>
                <a:lnTo>
                  <a:pt x="1950307" y="16669"/>
                </a:lnTo>
                <a:lnTo>
                  <a:pt x="1946882" y="14288"/>
                </a:lnTo>
                <a:lnTo>
                  <a:pt x="1943062" y="11906"/>
                </a:lnTo>
                <a:lnTo>
                  <a:pt x="1938731" y="9525"/>
                </a:lnTo>
                <a:lnTo>
                  <a:pt x="1933697" y="7144"/>
                </a:lnTo>
                <a:lnTo>
                  <a:pt x="1927587" y="4763"/>
                </a:lnTo>
                <a:lnTo>
                  <a:pt x="1919445" y="2381"/>
                </a:lnTo>
                <a:lnTo>
                  <a:pt x="1899305" y="0"/>
                </a:lnTo>
                <a:close/>
              </a:path>
            </a:pathLst>
          </a:custGeom>
          <a:solidFill>
            <a:srgbClr val="B794F4"/>
          </a:solidFill>
          <a:ln/>
        </p:spPr>
        <p:txBody>
          <a:bodyPr wrap="none" rtlCol="0" anchor="t"/>
          <a:lstStyle/>
          <a:p>
            <a:pPr marL="0" indent="0">
              <a:buNone/>
            </a:pPr>
            <a:endParaRPr lang="en-US" dirty="0"/>
          </a:p>
        </p:txBody>
      </p:sp>
      <p:sp>
        <p:nvSpPr>
          <p:cNvPr id="56" name="Text 50"/>
          <p:cNvSpPr/>
          <p:nvPr/>
        </p:nvSpPr>
        <p:spPr>
          <a:xfrm>
            <a:off x="6882110" y="1234380"/>
            <a:ext cx="328910" cy="328910"/>
          </a:xfrm>
          <a:prstGeom prst="roundRect">
            <a:avLst>
              <a:gd name="adj" fmla="val 21623"/>
            </a:avLst>
          </a:prstGeom>
          <a:solidFill>
            <a:srgbClr val="B794F4">
              <a:alpha val="15000"/>
            </a:srgbClr>
          </a:solidFill>
          <a:ln/>
        </p:spPr>
        <p:txBody>
          <a:bodyPr wrap="square" rtlCol="0" anchor="t"/>
          <a:lstStyle/>
          <a:p>
            <a:pPr marL="0" indent="0">
              <a:buNone/>
            </a:pPr>
            <a:endParaRPr lang="en-US" dirty="0"/>
          </a:p>
        </p:txBody>
      </p:sp>
      <p:pic>
        <p:nvPicPr>
          <p:cNvPr id="5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77063" y="1329333"/>
            <a:ext cx="139005" cy="139005"/>
          </a:xfrm>
          <a:prstGeom prst="rect">
            <a:avLst/>
          </a:prstGeom>
        </p:spPr>
      </p:pic>
      <p:sp>
        <p:nvSpPr>
          <p:cNvPr id="58" name="Text 51"/>
          <p:cNvSpPr/>
          <p:nvPr/>
        </p:nvSpPr>
        <p:spPr>
          <a:xfrm>
            <a:off x="7297341" y="1234380"/>
            <a:ext cx="1135990" cy="106710"/>
          </a:xfrm>
          <a:prstGeom prst="rect">
            <a:avLst/>
          </a:prstGeom>
          <a:noFill/>
          <a:ln/>
        </p:spPr>
        <p:txBody>
          <a:bodyPr wrap="none" lIns="0" tIns="0" rIns="0" bIns="0" rtlCol="0" anchor="t"/>
          <a:lstStyle/>
          <a:p>
            <a:pPr marL="0" indent="0" algn="l">
              <a:lnSpc>
                <a:spcPts val="1092"/>
              </a:lnSpc>
              <a:buNone/>
            </a:pPr>
            <a:r>
              <a:rPr lang="en-US" sz="728" b="1" kern="0" spc="110">
                <a:solidFill>
                  <a:srgbClr val="B794F4"/>
                </a:solidFill>
                <a:latin typeface="Calibri" pitchFamily="34" charset="0"/>
                <a:ea typeface="Calibri" pitchFamily="34" charset="-122"/>
                <a:cs typeface="Calibri" pitchFamily="34" charset="-120"/>
              </a:rPr>
              <a:t>OUTCOME 4</a:t>
            </a:r>
            <a:endParaRPr lang="en-US" sz="728"/>
          </a:p>
        </p:txBody>
      </p:sp>
      <p:sp>
        <p:nvSpPr>
          <p:cNvPr id="59" name="Text 52"/>
          <p:cNvSpPr/>
          <p:nvPr/>
        </p:nvSpPr>
        <p:spPr>
          <a:xfrm>
            <a:off x="7297341" y="1354931"/>
            <a:ext cx="1135990" cy="153888"/>
          </a:xfrm>
          <a:prstGeom prst="rect">
            <a:avLst/>
          </a:prstGeom>
          <a:noFill/>
          <a:ln/>
        </p:spPr>
        <p:txBody>
          <a:bodyPr wrap="none" lIns="0" tIns="0" rIns="0" bIns="0" rtlCol="0" anchor="t"/>
          <a:lstStyle/>
          <a:p>
            <a:pPr marL="0" indent="0" algn="l">
              <a:lnSpc>
                <a:spcPts val="1575"/>
              </a:lnSpc>
              <a:buNone/>
            </a:pPr>
            <a:r>
              <a:rPr lang="en-US" sz="1313" b="1">
                <a:solidFill>
                  <a:srgbClr val="0D1B3E"/>
                </a:solidFill>
                <a:latin typeface="Calibri Light" pitchFamily="34" charset="0"/>
                <a:ea typeface="Calibri Light" pitchFamily="34" charset="-122"/>
                <a:cs typeface="Calibri Light" pitchFamily="34" charset="-120"/>
              </a:rPr>
              <a:t>Systems Change</a:t>
            </a:r>
            <a:endParaRPr lang="en-US" sz="1313"/>
          </a:p>
        </p:txBody>
      </p:sp>
      <p:sp>
        <p:nvSpPr>
          <p:cNvPr id="60" name="Text 53"/>
          <p:cNvSpPr/>
          <p:nvPr/>
        </p:nvSpPr>
        <p:spPr>
          <a:xfrm>
            <a:off x="6882110" y="1649611"/>
            <a:ext cx="1713268" cy="564446"/>
          </a:xfrm>
          <a:prstGeom prst="rect">
            <a:avLst/>
          </a:prstGeom>
          <a:noFill/>
          <a:ln/>
        </p:spPr>
        <p:txBody>
          <a:bodyPr wrap="square" lIns="0" tIns="0" rIns="0" bIns="0" rtlCol="0" anchor="t"/>
          <a:lstStyle/>
          <a:p>
            <a:pPr marL="0" indent="0" algn="l">
              <a:lnSpc>
                <a:spcPts val="1375"/>
              </a:lnSpc>
              <a:buNone/>
            </a:pPr>
            <a:r>
              <a:rPr lang="en-US" sz="949">
                <a:solidFill>
                  <a:srgbClr val="64748B"/>
                </a:solidFill>
                <a:latin typeface="Calibri" pitchFamily="34" charset="0"/>
                <a:ea typeface="Calibri" pitchFamily="34" charset="-122"/>
                <a:cs typeface="Calibri" pitchFamily="34" charset="-120"/>
              </a:rPr>
              <a:t>Policy influence and field building — elevating the RF sector's visibility and credibility with policymakers and funders alike.</a:t>
            </a:r>
            <a:endParaRPr lang="en-US" sz="949"/>
          </a:p>
        </p:txBody>
      </p:sp>
      <p:sp>
        <p:nvSpPr>
          <p:cNvPr id="61" name="Text 54"/>
          <p:cNvSpPr/>
          <p:nvPr/>
        </p:nvSpPr>
        <p:spPr>
          <a:xfrm>
            <a:off x="6882110" y="2415927"/>
            <a:ext cx="1679674" cy="9525"/>
          </a:xfrm>
          <a:prstGeom prst="rect">
            <a:avLst/>
          </a:prstGeom>
          <a:solidFill>
            <a:srgbClr val="0D1B3E">
              <a:alpha val="10000"/>
            </a:srgbClr>
          </a:solidFill>
          <a:ln/>
        </p:spPr>
        <p:txBody>
          <a:bodyPr wrap="none" rtlCol="0" anchor="t"/>
          <a:lstStyle/>
          <a:p>
            <a:pPr marL="0" indent="0">
              <a:buNone/>
            </a:pPr>
            <a:endParaRPr lang="en-US" dirty="0"/>
          </a:p>
        </p:txBody>
      </p:sp>
      <p:sp>
        <p:nvSpPr>
          <p:cNvPr id="62" name="Text 55"/>
          <p:cNvSpPr/>
          <p:nvPr/>
        </p:nvSpPr>
        <p:spPr>
          <a:xfrm>
            <a:off x="6882110" y="2496443"/>
            <a:ext cx="1847642" cy="100905"/>
          </a:xfrm>
          <a:prstGeom prst="rect">
            <a:avLst/>
          </a:prstGeom>
          <a:noFill/>
          <a:ln/>
        </p:spPr>
        <p:txBody>
          <a:bodyPr wrap="none" lIns="0" tIns="0" rIns="0" bIns="0" rtlCol="0" anchor="t"/>
          <a:lstStyle/>
          <a:p>
            <a:pPr marL="0" indent="0" algn="l">
              <a:lnSpc>
                <a:spcPts val="1033"/>
              </a:lnSpc>
              <a:buNone/>
            </a:pPr>
            <a:r>
              <a:rPr lang="en-US" sz="689" b="1" kern="0" spc="100">
                <a:solidFill>
                  <a:srgbClr val="64748B"/>
                </a:solidFill>
                <a:latin typeface="Calibri" pitchFamily="34" charset="0"/>
                <a:ea typeface="Calibri" pitchFamily="34" charset="-122"/>
                <a:cs typeface="Calibri" pitchFamily="34" charset="-120"/>
              </a:rPr>
              <a:t>ALIGNED FUNDERS</a:t>
            </a:r>
            <a:endParaRPr lang="en-US" sz="689"/>
          </a:p>
        </p:txBody>
      </p:sp>
      <p:sp>
        <p:nvSpPr>
          <p:cNvPr id="63" name="Text 56"/>
          <p:cNvSpPr/>
          <p:nvPr/>
        </p:nvSpPr>
        <p:spPr>
          <a:xfrm>
            <a:off x="6882110" y="2640509"/>
            <a:ext cx="803225" cy="174843"/>
          </a:xfrm>
          <a:prstGeom prst="roundRect">
            <a:avLst>
              <a:gd name="adj" fmla="val 16706"/>
            </a:avLst>
          </a:prstGeom>
          <a:solidFill>
            <a:srgbClr val="B794F4">
              <a:alpha val="12000"/>
            </a:srgbClr>
          </a:solidFill>
          <a:ln w="9525">
            <a:solidFill>
              <a:srgbClr val="B794F4">
                <a:alpha val="30000"/>
              </a:srgbClr>
            </a:solidFill>
          </a:ln>
        </p:spPr>
        <p:txBody>
          <a:bodyPr wrap="none" lIns="0" tIns="0" rIns="0" bIns="0" rtlCol="0" anchor="ctr"/>
          <a:lstStyle/>
          <a:p>
            <a:pPr marL="0" indent="0" algn="ctr">
              <a:buNone/>
            </a:pPr>
            <a:r>
              <a:rPr lang="en-US" sz="767" b="1">
                <a:solidFill>
                  <a:srgbClr val="6B46C1"/>
                </a:solidFill>
                <a:latin typeface="Calibri" pitchFamily="34" charset="0"/>
                <a:ea typeface="Calibri" pitchFamily="34" charset="-122"/>
                <a:cs typeface="Calibri" pitchFamily="34" charset="-120"/>
              </a:rPr>
              <a:t>Advocacy Funders</a:t>
            </a:r>
            <a:endParaRPr lang="en-US" sz="767"/>
          </a:p>
        </p:txBody>
      </p:sp>
      <p:sp>
        <p:nvSpPr>
          <p:cNvPr id="64" name="Text 57"/>
          <p:cNvSpPr/>
          <p:nvPr/>
        </p:nvSpPr>
        <p:spPr>
          <a:xfrm>
            <a:off x="7714506" y="2640509"/>
            <a:ext cx="707529" cy="174843"/>
          </a:xfrm>
          <a:prstGeom prst="roundRect">
            <a:avLst>
              <a:gd name="adj" fmla="val 16706"/>
            </a:avLst>
          </a:prstGeom>
          <a:solidFill>
            <a:srgbClr val="B794F4">
              <a:alpha val="12000"/>
            </a:srgbClr>
          </a:solidFill>
          <a:ln w="9525">
            <a:solidFill>
              <a:srgbClr val="B794F4">
                <a:alpha val="30000"/>
              </a:srgbClr>
            </a:solidFill>
          </a:ln>
        </p:spPr>
        <p:txBody>
          <a:bodyPr wrap="none" lIns="0" tIns="0" rIns="0" bIns="0" rtlCol="0" anchor="ctr"/>
          <a:lstStyle/>
          <a:p>
            <a:pPr marL="0" indent="0" algn="ctr">
              <a:buNone/>
            </a:pPr>
            <a:r>
              <a:rPr lang="en-US" sz="767" b="1">
                <a:solidFill>
                  <a:srgbClr val="6B46C1"/>
                </a:solidFill>
                <a:latin typeface="Calibri" pitchFamily="34" charset="0"/>
                <a:ea typeface="Calibri" pitchFamily="34" charset="-122"/>
                <a:cs typeface="Calibri" pitchFamily="34" charset="-120"/>
              </a:rPr>
              <a:t>Capacity Grants</a:t>
            </a:r>
            <a:endParaRPr lang="en-US" sz="767"/>
          </a:p>
        </p:txBody>
      </p:sp>
      <p:sp>
        <p:nvSpPr>
          <p:cNvPr id="65" name="Text 58"/>
          <p:cNvSpPr/>
          <p:nvPr/>
        </p:nvSpPr>
        <p:spPr>
          <a:xfrm>
            <a:off x="6882110" y="2828627"/>
            <a:ext cx="702022" cy="174843"/>
          </a:xfrm>
          <a:prstGeom prst="roundRect">
            <a:avLst>
              <a:gd name="adj" fmla="val 16706"/>
            </a:avLst>
          </a:prstGeom>
          <a:solidFill>
            <a:srgbClr val="B794F4">
              <a:alpha val="12000"/>
            </a:srgbClr>
          </a:solidFill>
          <a:ln w="9525">
            <a:solidFill>
              <a:srgbClr val="B794F4">
                <a:alpha val="30000"/>
              </a:srgbClr>
            </a:solidFill>
          </a:ln>
        </p:spPr>
        <p:txBody>
          <a:bodyPr wrap="none" lIns="0" tIns="0" rIns="0" bIns="0" rtlCol="0" anchor="ctr"/>
          <a:lstStyle/>
          <a:p>
            <a:pPr marL="0" indent="0" algn="ctr">
              <a:buNone/>
            </a:pPr>
            <a:r>
              <a:rPr lang="en-US" sz="767" b="1">
                <a:solidFill>
                  <a:srgbClr val="6B46C1"/>
                </a:solidFill>
                <a:latin typeface="Calibri" pitchFamily="34" charset="0"/>
                <a:ea typeface="Calibri" pitchFamily="34" charset="-122"/>
                <a:cs typeface="Calibri" pitchFamily="34" charset="-120"/>
              </a:rPr>
              <a:t>NPCL Initiatives</a:t>
            </a:r>
            <a:endParaRPr lang="en-US" sz="767"/>
          </a:p>
        </p:txBody>
      </p:sp>
      <p:sp>
        <p:nvSpPr>
          <p:cNvPr id="66" name="Text 59"/>
          <p:cNvSpPr/>
          <p:nvPr/>
        </p:nvSpPr>
        <p:spPr>
          <a:xfrm>
            <a:off x="429220" y="4535388"/>
            <a:ext cx="8285559" cy="450652"/>
          </a:xfrm>
          <a:prstGeom prst="roundRect">
            <a:avLst>
              <a:gd name="adj" fmla="val 12682"/>
            </a:avLst>
          </a:prstGeom>
          <a:gradFill rotWithShape="1">
            <a:gsLst>
              <a:gs pos="0">
                <a:srgbClr val="E8A020">
                  <a:alpha val="14000"/>
                </a:srgbClr>
              </a:gs>
              <a:gs pos="100000">
                <a:srgbClr val="E8A020">
                  <a:alpha val="5000"/>
                </a:srgbClr>
              </a:gs>
            </a:gsLst>
            <a:lin ang="0" scaled="1"/>
          </a:gradFill>
          <a:ln/>
        </p:spPr>
        <p:txBody>
          <a:bodyPr wrap="square" rtlCol="0" anchor="t"/>
          <a:lstStyle/>
          <a:p>
            <a:pPr marL="0" indent="0">
              <a:buNone/>
            </a:pPr>
            <a:endParaRPr lang="en-US" dirty="0"/>
          </a:p>
        </p:txBody>
      </p:sp>
      <p:sp>
        <p:nvSpPr>
          <p:cNvPr id="67" name="Text 60"/>
          <p:cNvSpPr/>
          <p:nvPr/>
        </p:nvSpPr>
        <p:spPr>
          <a:xfrm>
            <a:off x="429220" y="4535388"/>
            <a:ext cx="28575" cy="450652"/>
          </a:xfrm>
          <a:custGeom>
            <a:avLst/>
            <a:gdLst/>
            <a:ahLst/>
            <a:cxnLst/>
            <a:rect l="l" t="t" r="r" b="b"/>
            <a:pathLst>
              <a:path w="28575" h="450652">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442995"/>
                </a:lnTo>
                <a:lnTo>
                  <a:pt x="25003" y="440753"/>
                </a:lnTo>
                <a:lnTo>
                  <a:pt x="21431" y="438114"/>
                </a:lnTo>
                <a:lnTo>
                  <a:pt x="17859" y="435003"/>
                </a:lnTo>
                <a:lnTo>
                  <a:pt x="14288" y="431303"/>
                </a:lnTo>
                <a:lnTo>
                  <a:pt x="10716" y="426818"/>
                </a:lnTo>
                <a:lnTo>
                  <a:pt x="7144" y="421169"/>
                </a:lnTo>
                <a:lnTo>
                  <a:pt x="3572" y="413389"/>
                </a:lnTo>
                <a:lnTo>
                  <a:pt x="0" y="393502"/>
                </a:lnTo>
                <a:close/>
              </a:path>
            </a:pathLst>
          </a:custGeom>
          <a:solidFill>
            <a:srgbClr val="E8A020"/>
          </a:solidFill>
          <a:ln/>
        </p:spPr>
        <p:txBody>
          <a:bodyPr wrap="square" rtlCol="0" anchor="t"/>
          <a:lstStyle/>
          <a:p>
            <a:pPr marL="0" indent="0">
              <a:buNone/>
            </a:pPr>
            <a:endParaRPr lang="en-US" dirty="0"/>
          </a:p>
        </p:txBody>
      </p:sp>
      <p:pic>
        <p:nvPicPr>
          <p:cNvPr id="6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8773" y="4694346"/>
            <a:ext cx="132588" cy="132588"/>
          </a:xfrm>
          <a:prstGeom prst="rect">
            <a:avLst/>
          </a:prstGeom>
        </p:spPr>
      </p:pic>
      <p:sp>
        <p:nvSpPr>
          <p:cNvPr id="69" name="Text 61"/>
          <p:cNvSpPr/>
          <p:nvPr/>
        </p:nvSpPr>
        <p:spPr>
          <a:xfrm>
            <a:off x="795189" y="4567120"/>
            <a:ext cx="7921928" cy="370136"/>
          </a:xfrm>
          <a:prstGeom prst="rect">
            <a:avLst/>
          </a:prstGeom>
          <a:noFill/>
          <a:ln/>
        </p:spPr>
        <p:txBody>
          <a:bodyPr wrap="square" lIns="0" tIns="0" rIns="0" bIns="0" rtlCol="0" anchor="ctr"/>
          <a:lstStyle/>
          <a:p>
            <a:pPr marL="0" indent="0" algn="l">
              <a:lnSpc>
                <a:spcPts val="1482"/>
              </a:lnSpc>
              <a:buNone/>
            </a:pPr>
            <a:r>
              <a:rPr lang="en-US" sz="1200" i="1" dirty="0">
                <a:solidFill>
                  <a:srgbClr val="0D1B3E"/>
                </a:solidFill>
                <a:latin typeface="Calibri" pitchFamily="34" charset="0"/>
                <a:ea typeface="Calibri" pitchFamily="34" charset="-122"/>
                <a:cs typeface="Calibri" pitchFamily="34" charset="-120"/>
              </a:rPr>
              <a:t>These are example funders — your local landscape will look different. Start with one outcome and one funder. Even a single-site program can build this map — and it changes every conversation.</a:t>
            </a:r>
            <a:endParaRPr lang="en-US" sz="1200" dirty="0"/>
          </a:p>
        </p:txBody>
      </p:sp>
      <p:sp>
        <p:nvSpPr>
          <p:cNvPr id="70" name="Text 62"/>
          <p:cNvSpPr/>
          <p:nvPr/>
        </p:nvSpPr>
        <p:spPr>
          <a:xfrm>
            <a:off x="438745" y="1076920"/>
            <a:ext cx="1966617" cy="429220"/>
          </a:xfrm>
          <a:prstGeom prst="roundRect">
            <a:avLst>
              <a:gd name="adj" fmla="val 20120"/>
            </a:avLst>
          </a:prstGeom>
          <a:gradFill rotWithShape="1">
            <a:gsLst>
              <a:gs pos="0">
                <a:srgbClr val="E8A020">
                  <a:alpha val="7000"/>
                </a:srgbClr>
              </a:gs>
              <a:gs pos="100000">
                <a:srgbClr val="000000">
                  <a:alpha val="0"/>
                </a:srgbClr>
              </a:gs>
            </a:gsLst>
            <a:lin ang="5400000" scaled="1"/>
          </a:gradFill>
          <a:ln/>
        </p:spPr>
        <p:txBody>
          <a:bodyPr wrap="square" rtlCol="0" anchor="t"/>
          <a:lstStyle/>
          <a:p>
            <a:pPr marL="0" indent="0">
              <a:buNone/>
            </a:pPr>
            <a:endParaRPr lang="en-US" dirty="0"/>
          </a:p>
        </p:txBody>
      </p:sp>
      <p:sp>
        <p:nvSpPr>
          <p:cNvPr id="71" name="Text 63"/>
          <p:cNvSpPr/>
          <p:nvPr/>
        </p:nvSpPr>
        <p:spPr>
          <a:xfrm>
            <a:off x="2538710" y="1076920"/>
            <a:ext cx="1966617" cy="429220"/>
          </a:xfrm>
          <a:prstGeom prst="roundRect">
            <a:avLst>
              <a:gd name="adj" fmla="val 20120"/>
            </a:avLst>
          </a:prstGeom>
          <a:gradFill rotWithShape="1">
            <a:gsLst>
              <a:gs pos="0">
                <a:srgbClr val="E8A020">
                  <a:alpha val="7000"/>
                </a:srgbClr>
              </a:gs>
              <a:gs pos="100000">
                <a:srgbClr val="000000">
                  <a:alpha val="0"/>
                </a:srgbClr>
              </a:gs>
            </a:gsLst>
            <a:lin ang="5400000" scaled="1"/>
          </a:gradFill>
          <a:ln/>
        </p:spPr>
        <p:txBody>
          <a:bodyPr wrap="square" rtlCol="0" anchor="t"/>
          <a:lstStyle/>
          <a:p>
            <a:pPr marL="0" indent="0">
              <a:buNone/>
            </a:pPr>
            <a:endParaRPr lang="en-US" dirty="0"/>
          </a:p>
        </p:txBody>
      </p:sp>
      <p:sp>
        <p:nvSpPr>
          <p:cNvPr id="72" name="Text 64"/>
          <p:cNvSpPr/>
          <p:nvPr/>
        </p:nvSpPr>
        <p:spPr>
          <a:xfrm>
            <a:off x="4638675" y="1076920"/>
            <a:ext cx="1966617" cy="429220"/>
          </a:xfrm>
          <a:prstGeom prst="roundRect">
            <a:avLst>
              <a:gd name="adj" fmla="val 20120"/>
            </a:avLst>
          </a:prstGeom>
          <a:gradFill rotWithShape="1">
            <a:gsLst>
              <a:gs pos="0">
                <a:srgbClr val="E8A020">
                  <a:alpha val="7000"/>
                </a:srgbClr>
              </a:gs>
              <a:gs pos="100000">
                <a:srgbClr val="000000">
                  <a:alpha val="0"/>
                </a:srgbClr>
              </a:gs>
            </a:gsLst>
            <a:lin ang="5400000" scaled="1"/>
          </a:gradFill>
          <a:ln/>
        </p:spPr>
        <p:txBody>
          <a:bodyPr wrap="square" rtlCol="0" anchor="t"/>
          <a:lstStyle/>
          <a:p>
            <a:pPr marL="0" indent="0">
              <a:buNone/>
            </a:pPr>
            <a:endParaRPr lang="en-US" dirty="0"/>
          </a:p>
        </p:txBody>
      </p:sp>
      <p:sp>
        <p:nvSpPr>
          <p:cNvPr id="73" name="Text 65"/>
          <p:cNvSpPr/>
          <p:nvPr/>
        </p:nvSpPr>
        <p:spPr>
          <a:xfrm>
            <a:off x="6738640" y="1076920"/>
            <a:ext cx="1966617" cy="429220"/>
          </a:xfrm>
          <a:prstGeom prst="roundRect">
            <a:avLst>
              <a:gd name="adj" fmla="val 20120"/>
            </a:avLst>
          </a:prstGeom>
          <a:gradFill rotWithShape="1">
            <a:gsLst>
              <a:gs pos="0">
                <a:srgbClr val="E8A020">
                  <a:alpha val="7000"/>
                </a:srgbClr>
              </a:gs>
              <a:gs pos="100000">
                <a:srgbClr val="000000">
                  <a:alpha val="0"/>
                </a:srgbClr>
              </a:gs>
            </a:gsLst>
            <a:lin ang="5400000" scaled="1"/>
          </a:gradFill>
          <a:ln/>
        </p:spPr>
        <p:txBody>
          <a:bodyPr wrap="square" rtlCol="0" anchor="t"/>
          <a:lstStyle/>
          <a:p>
            <a:pPr marL="0" indent="0">
              <a:buNone/>
            </a:pPr>
            <a:endParaRPr lang="en-US" dirty="0"/>
          </a:p>
        </p:txBody>
      </p:sp>
      <p:sp>
        <p:nvSpPr>
          <p:cNvPr id="200" name="HandoutRef"/>
          <p:cNvSpPr txBox="1"/>
          <p:nvPr/>
        </p:nvSpPr>
        <p:spPr>
          <a:xfrm>
            <a:off x="7100000" y="4930000"/>
            <a:ext cx="1700000" cy="160000"/>
          </a:xfrm>
          <a:prstGeom prst="rect">
            <a:avLst/>
          </a:prstGeom>
          <a:noFill/>
          <a:ln>
            <a:noFill/>
          </a:ln>
        </p:spPr>
        <p:txBody>
          <a:bodyPr wrap="none" lIns="0" tIns="0" rIns="0" bIns="0" rtlCol="0" anchor="t"/>
          <a:lstStyle/>
          <a:p>
            <a:pPr algn="r">
              <a:buNone/>
            </a:pPr>
            <a:r>
              <a:rPr lang="en-US" sz="800" spc="43">
                <a:solidFill>
                  <a:srgbClr val="64748B"/>
                </a:solidFill>
                <a:latin typeface="Calibri" pitchFamily="34" charset="0"/>
              </a:rPr>
              <a:t>HANDOUT  ·  </a:t>
            </a:r>
            <a:r>
              <a:rPr lang="en-US" sz="800" b="1" spc="43">
                <a:solidFill>
                  <a:srgbClr val="E8A020"/>
                </a:solidFill>
                <a:latin typeface="Calibri" pitchFamily="34" charset="0"/>
              </a:rPr>
              <a:t>Outcomes</a:t>
            </a:r>
            <a:endParaRPr lang="en-US" sz="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Learning Check 4.1">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4</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1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 fatherhood program modeled after FMP Better Together tracks strong outputs: 120 fathers served, 85% completion rate, and 12 active MOUs. However, the program has not systematically collected short-term outcome data on employment placement or co-parenting improvement. From a logic model and funding strategy perspective, why does this gap create a critical vulnerability?</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Federal funders have stopped requiring outcome data and now focus exclusively on output volume</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The program should reduce its output tracking and reallocate all resources to outcome measurement</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Outputs demonstrate program reach, but funders increasingly require outcome evidence to justify continued investment and demonstrate actual impact on fathers’ lives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Short-term outcomes are only relevant for private foundation grants, not federal HMRF funding</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4.1</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Learning Check 4.2">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4</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2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 fatherhood practitioner maps the program’s ‘employment pathways’ activity to a state workforce board funder’s priorities while simultaneously using the same activity’s outcome data (68% employment placement) in the OFA HMRF renewal narrative. This dual-mapping approach BEST demonstrates which FSR-integrated strategy?</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Portfolio diversification through intentional alignment of a single program activity to multiple funder priorities across the logic model</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Environmental scanning by identifying new funders in the workforce development sector</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Response coordination by submitting two proposals simultaneously to different funders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Readiness assessment by confirming adequate employment outcome data exists for both applications</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4.2</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Learning Check 4.3">
    <p:bg>
      <p:bgPr>
        <a:solidFill>
          <a:srgbClr val="F2F3F5"/>
        </a:solidFill>
        <a:effectLst/>
      </p:bgPr>
    </p:bg>
    <p:spTree>
      <p:nvGrpSpPr>
        <p:cNvPr id="1" name=""/>
        <p:cNvGrpSpPr/>
        <p:nvPr/>
      </p:nvGrpSpPr>
      <p:grpSpPr>
        <a:xfrm>
          <a:off x="0" y="0"/>
          <a:ext cx="0" cy="0"/>
          <a:chOff x="0" y="0"/>
          <a:chExt cx="0" cy="0"/>
        </a:xfrm>
      </p:grpSpPr>
      <p:sp>
        <p:nvSpPr>
          <p:cNvPr id="2" name="BgGradient"/>
          <p:cNvSpPr/>
          <p:nvPr/>
        </p:nvSpPr>
        <p:spPr>
          <a:xfrm>
            <a:off x="0" y="0"/>
            <a:ext cx="9144000" cy="5143500"/>
          </a:xfrm>
          <a:prstGeom prst="rect">
            <a:avLst/>
          </a:prstGeom>
          <a:gradFill rotWithShape="1">
            <a:gsLst>
              <a:gs pos="0">
                <a:srgbClr val="E8A020">
                  <a:alpha val="3000"/>
                </a:srgbClr>
              </a:gs>
              <a:gs pos="70000">
                <a:srgbClr val="F2F3F5">
                  <a:alpha val="0"/>
                </a:srgbClr>
              </a:gs>
            </a:gsLst>
            <a:path path="circle">
              <a:fillToRect l="85000" t="50000" r="15000" b="50000"/>
            </a:path>
          </a:gradFill>
          <a:ln/>
        </p:spPr>
        <p:txBody>
          <a:bodyPr wrap="square" rtlCol="0" anchor="t"/>
          <a:lstStyle/>
          <a:p>
            <a:pPr marL="0" indent="0">
              <a:buNone/>
            </a:pPr>
            <a:endParaRPr lang="en-US"/>
          </a:p>
        </p:txBody>
      </p:sp>
      <p:sp>
        <p:nvSpPr>
          <p:cNvPr id="3" name="BgGradient2"/>
          <p:cNvSpPr/>
          <p:nvPr/>
        </p:nvSpPr>
        <p:spPr>
          <a:xfrm>
            <a:off x="0" y="0"/>
            <a:ext cx="9144000" cy="5143500"/>
          </a:xfrm>
          <a:prstGeom prst="rect">
            <a:avLst/>
          </a:prstGeom>
          <a:gradFill rotWithShape="1">
            <a:gsLst>
              <a:gs pos="0">
                <a:srgbClr val="F2F3F5">
                  <a:alpha val="0"/>
                </a:srgbClr>
              </a:gs>
              <a:gs pos="33333">
                <a:srgbClr val="F2F3F5">
                  <a:alpha val="0"/>
                </a:srgbClr>
              </a:gs>
              <a:gs pos="66667">
                <a:srgbClr val="E8A020">
                  <a:alpha val="2500"/>
                </a:srgbClr>
              </a:gs>
              <a:gs pos="100000">
                <a:srgbClr val="E8A020">
                  <a:alpha val="2500"/>
                </a:srgbClr>
              </a:gs>
            </a:gsLst>
            <a:lin ang="16200000" scaled="1"/>
          </a:gradFill>
          <a:ln/>
        </p:spPr>
        <p:txBody>
          <a:bodyPr wrap="square" rtlCol="0" anchor="t"/>
          <a:lstStyle/>
          <a:p>
            <a:pPr marL="0" indent="0">
              <a:buNone/>
            </a:pPr>
            <a:endParaRPr lang="en-US"/>
          </a:p>
        </p:txBody>
      </p:sp>
      <p:sp>
        <p:nvSpPr>
          <p:cNvPr id="4" name="LeftAccent"/>
          <p:cNvSpPr/>
          <p:nvPr/>
        </p:nvSpPr>
        <p:spPr>
          <a:xfrm>
            <a:off x="0" y="0"/>
            <a:ext cx="43160" cy="5143500"/>
          </a:xfrm>
          <a:prstGeom prst="rect">
            <a:avLst/>
          </a:prstGeom>
          <a:gradFill rotWithShape="1">
            <a:gsLst>
              <a:gs pos="0">
                <a:srgbClr val="000000">
                  <a:alpha val="0"/>
                </a:srgbClr>
              </a:gs>
              <a:gs pos="30000">
                <a:srgbClr val="E8A020">
                  <a:alpha val="80000"/>
                </a:srgbClr>
              </a:gs>
              <a:gs pos="70000">
                <a:srgbClr val="E8A020">
                  <a:alpha val="80000"/>
                </a:srgbClr>
              </a:gs>
              <a:gs pos="100000">
                <a:srgbClr val="000000">
                  <a:alpha val="0"/>
                </a:srgbClr>
              </a:gs>
            </a:gsLst>
            <a:lin ang="5400000" scaled="1"/>
          </a:gradFill>
          <a:ln/>
        </p:spPr>
        <p:txBody>
          <a:bodyPr wrap="square" rtlCol="0" anchor="t"/>
          <a:lstStyle/>
          <a:p>
            <a:pPr marL="0" indent="0">
              <a:buNone/>
            </a:pPr>
            <a:endParaRPr lang="en-US"/>
          </a:p>
        </p:txBody>
      </p:sp>
      <p:sp>
        <p:nvSpPr>
          <p:cNvPr id="5" name="SectionBadge"/>
          <p:cNvSpPr/>
          <p:nvPr/>
        </p:nvSpPr>
        <p:spPr>
          <a:xfrm>
            <a:off x="400050" y="266700"/>
            <a:ext cx="2600000" cy="244376"/>
          </a:xfrm>
          <a:prstGeom prst="roundRect">
            <a:avLst>
              <a:gd name="adj" fmla="val 58725"/>
            </a:avLst>
          </a:prstGeom>
          <a:solidFill>
            <a:srgbClr val="E8A020">
              <a:alpha val="15000"/>
            </a:srgbClr>
          </a:solidFill>
          <a:ln w="9525">
            <a:solidFill>
              <a:srgbClr val="B87A10">
                <a:alpha val="50000"/>
              </a:srgbClr>
            </a:solidFill>
          </a:ln>
        </p:spPr>
        <p:txBody>
          <a:bodyPr wrap="none" lIns="157480" tIns="43180" rIns="157480" bIns="43180" rtlCol="0" anchor="ctr"/>
          <a:lstStyle/>
          <a:p>
            <a:pPr marL="0" indent="0" algn="l">
              <a:buNone/>
            </a:pPr>
            <a:r>
              <a:rPr lang="en-US" sz="730" b="1" kern="0" spc="131">
                <a:solidFill>
                  <a:srgbClr val="8B6914"/>
                </a:solidFill>
                <a:latin typeface="Calibri" pitchFamily="34" charset="0"/>
                <a:ea typeface="Calibri" pitchFamily="34" charset="-122"/>
                <a:cs typeface="Calibri" pitchFamily="34" charset="-120"/>
              </a:rPr>
              <a:t>LEARNING CHECK  —  SECTION 4</a:t>
            </a:r>
            <a:endParaRPr lang="en-US" sz="730"/>
          </a:p>
        </p:txBody>
      </p:sp>
      <p:sp>
        <p:nvSpPr>
          <p:cNvPr id="6" name="QuestionNumber"/>
          <p:cNvSpPr/>
          <p:nvPr/>
        </p:nvSpPr>
        <p:spPr>
          <a:xfrm>
            <a:off x="400050" y="590550"/>
            <a:ext cx="8343900" cy="380000"/>
          </a:xfrm>
          <a:prstGeom prst="rect">
            <a:avLst/>
          </a:prstGeom>
          <a:noFill/>
          <a:ln/>
        </p:spPr>
        <p:txBody>
          <a:bodyPr wrap="square" lIns="0" tIns="0" rIns="0" bIns="0" rtlCol="0" anchor="b"/>
          <a:lstStyle/>
          <a:p>
            <a:pPr marL="0" indent="0" algn="l">
              <a:lnSpc>
                <a:spcPts val="2400"/>
              </a:lnSpc>
              <a:buNone/>
            </a:pPr>
            <a:r>
              <a:rPr lang="en-US" sz="1800" b="1" kern="0" spc="12">
                <a:solidFill>
                  <a:srgbClr val="8B6914"/>
                </a:solidFill>
                <a:latin typeface="Calibri Light" pitchFamily="34" charset="0"/>
                <a:ea typeface="Calibri Light" pitchFamily="34" charset="-122"/>
                <a:cs typeface="Calibri Light" pitchFamily="34" charset="-120"/>
              </a:rPr>
              <a:t>Question 3 of 3</a:t>
            </a:r>
            <a:endParaRPr lang="en-US" sz="1800"/>
          </a:p>
        </p:txBody>
      </p:sp>
      <p:sp>
        <p:nvSpPr>
          <p:cNvPr id="7" name="Divider"/>
          <p:cNvSpPr/>
          <p:nvPr/>
        </p:nvSpPr>
        <p:spPr>
          <a:xfrm>
            <a:off x="400050" y="1000000"/>
            <a:ext cx="8343900" cy="13841"/>
          </a:xfrm>
          <a:prstGeom prst="rect">
            <a:avLst/>
          </a:prstGeom>
          <a:gradFill rotWithShape="1">
            <a:gsLst>
              <a:gs pos="0">
                <a:srgbClr val="E8A020"/>
              </a:gs>
              <a:gs pos="60000">
                <a:srgbClr val="E8A020">
                  <a:alpha val="30000"/>
                </a:srgbClr>
              </a:gs>
              <a:gs pos="100000">
                <a:srgbClr val="F2F3F5">
                  <a:alpha val="0"/>
                </a:srgbClr>
              </a:gs>
            </a:gsLst>
            <a:lin ang="0" scaled="1"/>
          </a:gradFill>
          <a:ln/>
        </p:spPr>
        <p:txBody>
          <a:bodyPr wrap="none" rtlCol="0" anchor="t"/>
          <a:lstStyle/>
          <a:p>
            <a:pPr marL="0" indent="0">
              <a:buNone/>
            </a:pPr>
            <a:endParaRPr lang="en-US"/>
          </a:p>
        </p:txBody>
      </p:sp>
      <p:sp>
        <p:nvSpPr>
          <p:cNvPr id="8" name="Scenario"/>
          <p:cNvSpPr/>
          <p:nvPr/>
        </p:nvSpPr>
        <p:spPr>
          <a:xfrm>
            <a:off x="400050" y="1080000"/>
            <a:ext cx="8343900" cy="1400000"/>
          </a:xfrm>
          <a:prstGeom prst="rect">
            <a:avLst/>
          </a:prstGeom>
          <a:noFill/>
          <a:ln/>
        </p:spPr>
        <p:txBody>
          <a:bodyPr wrap="square" lIns="0" tIns="0" rIns="0" bIns="0" rtlCol="0" anchor="t"/>
          <a:lstStyle/>
          <a:p>
            <a:pPr marL="0" indent="0" algn="l">
              <a:lnSpc>
                <a:spcPts val="1800"/>
              </a:lnSpc>
              <a:buNone/>
            </a:pPr>
            <a:r>
              <a:rPr lang="en-US" sz="1200" i="1" kern="0" spc="20">
                <a:solidFill>
                  <a:srgbClr val="3A4A5E"/>
                </a:solidFill>
                <a:latin typeface="Calibri" pitchFamily="34" charset="0"/>
                <a:ea typeface="Calibri" pitchFamily="34" charset="-122"/>
                <a:cs typeface="Calibri" pitchFamily="34" charset="-120"/>
              </a:rPr>
              <a:t>After losing a competitive foundation grant, a fatherhood program conducts a structured debrief using the FSR Pillar 5 (Continuous Learning) framework. The debrief reveals that the proposal scored well on program design and mission alignment but received low marks for outcome measurement and evaluation planning. How should the program BEST apply this intelligence?</a:t>
            </a:r>
            <a:endParaRPr lang="en-US" sz="1200"/>
          </a:p>
        </p:txBody>
      </p:sp>
      <p:sp>
        <p:nvSpPr>
          <p:cNvPr id="9" name="Options"/>
          <p:cNvSpPr/>
          <p:nvPr/>
        </p:nvSpPr>
        <p:spPr>
          <a:xfrm>
            <a:off x="400050" y="2580000"/>
            <a:ext cx="8343900" cy="2200000"/>
          </a:xfrm>
          <a:prstGeom prst="rect">
            <a:avLst/>
          </a:prstGeom>
          <a:noFill/>
          <a:ln/>
        </p:spPr>
        <p:txBody>
          <a:bodyPr wrap="square" lIns="0" tIns="0" rIns="0" bIns="0" rtlCol="0" anchor="t"/>
          <a:lstStyle/>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A)  </a:t>
            </a:r>
            <a:r>
              <a:rPr lang="en-US" sz="1100" kern="0" spc="20">
                <a:solidFill>
                  <a:srgbClr val="2D3748"/>
                </a:solidFill>
                <a:latin typeface="Calibri" pitchFamily="34" charset="0"/>
                <a:ea typeface="Calibri" pitchFamily="34" charset="-122"/>
                <a:cs typeface="Calibri" pitchFamily="34" charset="-120"/>
              </a:rPr>
              <a:t>Avoid applying to this funder again since the program doesn’t meet their evaluation standards</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B)  </a:t>
            </a:r>
            <a:r>
              <a:rPr lang="en-US" sz="1100" kern="0" spc="20">
                <a:solidFill>
                  <a:srgbClr val="2D3748"/>
                </a:solidFill>
                <a:latin typeface="Calibri" pitchFamily="34" charset="0"/>
                <a:ea typeface="Calibri" pitchFamily="34" charset="-122"/>
                <a:cs typeface="Calibri" pitchFamily="34" charset="-120"/>
              </a:rPr>
              <a:t>Strengthen data readiness and evaluation capacity before the next cycle — the debrief pinpoints exactly where to invest for a stronger resubmission</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C)  </a:t>
            </a:r>
            <a:r>
              <a:rPr lang="en-US" sz="1100" kern="0" spc="20">
                <a:solidFill>
                  <a:srgbClr val="2D3748"/>
                </a:solidFill>
                <a:latin typeface="Calibri" pitchFamily="34" charset="0"/>
                <a:ea typeface="Calibri" pitchFamily="34" charset="-122"/>
                <a:cs typeface="Calibri" pitchFamily="34" charset="-120"/>
              </a:rPr>
              <a:t>Resubmit the same proposal next cycle with only minor edits to the evaluation section</a:t>
            </a:r>
            <a:endParaRPr lang="en-US" sz="1100"/>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D)  </a:t>
            </a:r>
            <a:r>
              <a:rPr lang="en-US" sz="1100" kern="0" spc="20">
                <a:solidFill>
                  <a:srgbClr val="2D3748"/>
                </a:solidFill>
                <a:latin typeface="Calibri" pitchFamily="34" charset="0"/>
                <a:ea typeface="Calibri" pitchFamily="34" charset="-122"/>
                <a:cs typeface="Calibri" pitchFamily="34" charset="-120"/>
              </a:rPr>
              <a:t>Shift focus entirely to funders who place less emphasis on evaluation and outcome measurement</a:t>
            </a:r>
            <a:endParaRPr lang="en-US" sz="1100" kern="0" spc="20">
              <a:solidFill>
                <a:srgbClr val="CEDAEE"/>
              </a:solidFill>
              <a:latin typeface="Calibri" pitchFamily="34" charset="0"/>
              <a:ea typeface="Calibri" pitchFamily="34" charset="-122"/>
              <a:cs typeface="Calibri" pitchFamily="34" charset="-120"/>
            </a:endParaRPr>
          </a:p>
          <a:p>
            <a:pPr marL="274320" indent="-274320" algn="l">
              <a:lnSpc>
                <a:spcPts val="1800"/>
              </a:lnSpc>
              <a:spcBef>
                <a:spcPts val="400"/>
              </a:spcBef>
              <a:buNone/>
            </a:pPr>
            <a:r>
              <a:rPr lang="en-US" sz="1100" b="1" kern="0" spc="20">
                <a:solidFill>
                  <a:srgbClr val="8B6914"/>
                </a:solidFill>
                <a:latin typeface="Calibri" pitchFamily="34" charset="0"/>
                <a:ea typeface="Calibri" pitchFamily="34" charset="-122"/>
                <a:cs typeface="Calibri" pitchFamily="34" charset="-120"/>
              </a:rPr>
              <a:t>E)  </a:t>
            </a:r>
            <a:r>
              <a:rPr lang="en-US" sz="1100" kern="0" spc="20">
                <a:solidFill>
                  <a:srgbClr val="2D3748"/>
                </a:solidFill>
                <a:latin typeface="Calibri" pitchFamily="34" charset="0"/>
                <a:ea typeface="Calibri" pitchFamily="34" charset="-122"/>
                <a:cs typeface="Calibri" pitchFamily="34" charset="-120"/>
              </a:rPr>
              <a:t>None of the above</a:t>
            </a:r>
            <a:endParaRPr lang="en-US" sz="1100"/>
          </a:p>
        </p:txBody>
      </p:sp>
      <p:sp>
        <p:nvSpPr>
          <p:cNvPr id="10" name="Footer"/>
          <p:cNvSpPr/>
          <p:nvPr/>
        </p:nvSpPr>
        <p:spPr>
          <a:xfrm>
            <a:off x="0" y="4828580"/>
            <a:ext cx="9144000" cy="314920"/>
          </a:xfrm>
          <a:prstGeom prst="rect">
            <a:avLst/>
          </a:prstGeom>
          <a:solidFill>
            <a:srgbClr val="0D1B3E"/>
          </a:solidFill>
          <a:ln/>
        </p:spPr>
        <p:txBody>
          <a:bodyPr wrap="square" rtlCol="0" anchor="t"/>
          <a:lstStyle/>
          <a:p>
            <a:pPr marL="0" indent="0">
              <a:buNone/>
            </a:pPr>
            <a:endParaRPr lang="en-US"/>
          </a:p>
        </p:txBody>
      </p:sp>
      <p:sp>
        <p:nvSpPr>
          <p:cNvPr id="11" name="FooterLine"/>
          <p:cNvSpPr/>
          <p:nvPr/>
        </p:nvSpPr>
        <p:spPr>
          <a:xfrm>
            <a:off x="0" y="4828580"/>
            <a:ext cx="9144000" cy="9525"/>
          </a:xfrm>
          <a:prstGeom prst="rect">
            <a:avLst/>
          </a:prstGeom>
          <a:solidFill>
            <a:srgbClr val="E8A020">
              <a:alpha val="40000"/>
            </a:srgbClr>
          </a:solidFill>
          <a:ln/>
        </p:spPr>
        <p:txBody>
          <a:bodyPr wrap="none" rtlCol="0" anchor="t"/>
          <a:lstStyle/>
          <a:p>
            <a:pPr marL="0" indent="0">
              <a:buNone/>
            </a:pPr>
            <a:endParaRPr lang="en-US"/>
          </a:p>
        </p:txBody>
      </p:sp>
      <p:sp>
        <p:nvSpPr>
          <p:cNvPr id="12" name="FooterLeft"/>
          <p:cNvSpPr/>
          <p:nvPr/>
        </p:nvSpPr>
        <p:spPr>
          <a:xfrm>
            <a:off x="400050" y="4921300"/>
            <a:ext cx="2204040" cy="139005"/>
          </a:xfrm>
          <a:prstGeom prst="rect">
            <a:avLst/>
          </a:prstGeom>
          <a:noFill/>
          <a:ln/>
        </p:spPr>
        <p:txBody>
          <a:bodyPr wrap="none" lIns="0" tIns="0" rIns="0" bIns="0" rtlCol="0" anchor="ctr"/>
          <a:lstStyle/>
          <a:p>
            <a:pPr marL="0" indent="0" algn="l">
              <a:lnSpc>
                <a:spcPts val="1095"/>
              </a:lnSpc>
              <a:buNone/>
            </a:pPr>
            <a:r>
              <a:rPr lang="en-US" sz="730">
                <a:solidFill>
                  <a:srgbClr val="FFFFFF"/>
                </a:solidFill>
                <a:latin typeface="Calibri" pitchFamily="34" charset="0"/>
                <a:ea typeface="Calibri" pitchFamily="34" charset="-122"/>
                <a:cs typeface="Calibri" pitchFamily="34" charset="-120"/>
              </a:rPr>
              <a:t>FUNDING WHAT WORKS  ·  IFC 2026</a:t>
            </a:r>
            <a:endParaRPr lang="en-US" sz="730"/>
          </a:p>
        </p:txBody>
      </p:sp>
      <p:sp>
        <p:nvSpPr>
          <p:cNvPr id="13" name="FooterRight"/>
          <p:cNvSpPr/>
          <p:nvPr/>
        </p:nvSpPr>
        <p:spPr>
          <a:xfrm>
            <a:off x="7200000" y="4921300"/>
            <a:ext cx="1600000" cy="139005"/>
          </a:xfrm>
          <a:prstGeom prst="rect">
            <a:avLst/>
          </a:prstGeom>
          <a:noFill/>
          <a:ln/>
        </p:spPr>
        <p:txBody>
          <a:bodyPr wrap="none" lIns="0" tIns="0" rIns="0" bIns="0" rtlCol="0" anchor="ctr"/>
          <a:lstStyle/>
          <a:p>
            <a:pPr marL="0" indent="0" algn="r">
              <a:lnSpc>
                <a:spcPts val="1095"/>
              </a:lnSpc>
              <a:buNone/>
            </a:pPr>
            <a:r>
              <a:rPr lang="en-US" sz="730">
                <a:solidFill>
                  <a:srgbClr val="E8A020"/>
                </a:solidFill>
                <a:latin typeface="Calibri" pitchFamily="34" charset="0"/>
                <a:ea typeface="Calibri" pitchFamily="34" charset="-122"/>
                <a:cs typeface="Calibri" pitchFamily="34" charset="-120"/>
              </a:rPr>
              <a:t>LEARNING CHECK 4.3</a:t>
            </a:r>
            <a:endParaRPr lang="en-US" sz="730"/>
          </a:p>
        </p:txBody>
      </p:sp>
      <p:sp>
        <p:nvSpPr>
          <p:cNvPr id="14" name="RightAccent"/>
          <p:cNvSpPr/>
          <p:nvPr/>
        </p:nvSpPr>
        <p:spPr>
          <a:xfrm>
            <a:off x="8791575" y="4528840"/>
            <a:ext cx="9525" cy="228600"/>
          </a:xfrm>
          <a:prstGeom prst="rect">
            <a:avLst/>
          </a:prstGeom>
          <a:solidFill>
            <a:srgbClr val="E8A020"/>
          </a:solidFill>
          <a:ln/>
        </p:spPr>
        <p:txBody>
          <a:bodyPr wrap="none" rtlCol="0" anchor="t"/>
          <a:lstStyle/>
          <a:p>
            <a:pPr marL="0" indent="0">
              <a:buNone/>
            </a:pP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0">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0" y="642491"/>
            <a:ext cx="9144000" cy="7590"/>
          </a:xfrm>
          <a:prstGeom prst="rect">
            <a:avLst/>
          </a:prstGeom>
          <a:solidFill>
            <a:srgbClr val="E8A020">
              <a:alpha val="4000"/>
            </a:srgbClr>
          </a:solidFill>
          <a:ln/>
        </p:spPr>
        <p:txBody>
          <a:bodyPr wrap="none" rtlCol="0" anchor="t"/>
          <a:lstStyle/>
          <a:p>
            <a:pPr marL="0" indent="0">
              <a:buNone/>
            </a:pPr>
            <a:endParaRPr lang="en-US" dirty="0"/>
          </a:p>
        </p:txBody>
      </p:sp>
      <p:sp>
        <p:nvSpPr>
          <p:cNvPr id="3" name="Text 1"/>
          <p:cNvSpPr/>
          <p:nvPr/>
        </p:nvSpPr>
        <p:spPr>
          <a:xfrm>
            <a:off x="0" y="1286470"/>
            <a:ext cx="9144000" cy="7590"/>
          </a:xfrm>
          <a:prstGeom prst="rect">
            <a:avLst/>
          </a:prstGeom>
          <a:solidFill>
            <a:srgbClr val="E8A020">
              <a:alpha val="4000"/>
            </a:srgbClr>
          </a:solidFill>
          <a:ln/>
        </p:spPr>
        <p:txBody>
          <a:bodyPr wrap="none" rtlCol="0" anchor="t"/>
          <a:lstStyle/>
          <a:p>
            <a:pPr marL="0" indent="0">
              <a:buNone/>
            </a:pPr>
            <a:endParaRPr lang="en-US" dirty="0"/>
          </a:p>
        </p:txBody>
      </p:sp>
      <p:sp>
        <p:nvSpPr>
          <p:cNvPr id="4" name="Text 2"/>
          <p:cNvSpPr/>
          <p:nvPr/>
        </p:nvSpPr>
        <p:spPr>
          <a:xfrm>
            <a:off x="0" y="1929110"/>
            <a:ext cx="9144000" cy="7590"/>
          </a:xfrm>
          <a:prstGeom prst="rect">
            <a:avLst/>
          </a:prstGeom>
          <a:solidFill>
            <a:srgbClr val="E8A020">
              <a:alpha val="4000"/>
            </a:srgbClr>
          </a:solidFill>
          <a:ln/>
        </p:spPr>
        <p:txBody>
          <a:bodyPr wrap="none" rtlCol="0" anchor="t"/>
          <a:lstStyle/>
          <a:p>
            <a:pPr marL="0" indent="0">
              <a:buNone/>
            </a:pPr>
            <a:endParaRPr lang="en-US" dirty="0"/>
          </a:p>
        </p:txBody>
      </p:sp>
      <p:sp>
        <p:nvSpPr>
          <p:cNvPr id="5" name="Text 3"/>
          <p:cNvSpPr/>
          <p:nvPr/>
        </p:nvSpPr>
        <p:spPr>
          <a:xfrm>
            <a:off x="0" y="2571750"/>
            <a:ext cx="9144000" cy="7590"/>
          </a:xfrm>
          <a:prstGeom prst="rect">
            <a:avLst/>
          </a:prstGeom>
          <a:solidFill>
            <a:srgbClr val="E8A020">
              <a:alpha val="4000"/>
            </a:srgbClr>
          </a:solidFill>
          <a:ln/>
        </p:spPr>
        <p:txBody>
          <a:bodyPr wrap="none" rtlCol="0" anchor="t"/>
          <a:lstStyle/>
          <a:p>
            <a:pPr marL="0" indent="0">
              <a:buNone/>
            </a:pPr>
            <a:endParaRPr lang="en-US" dirty="0"/>
          </a:p>
        </p:txBody>
      </p:sp>
      <p:sp>
        <p:nvSpPr>
          <p:cNvPr id="6" name="Text 4"/>
          <p:cNvSpPr/>
          <p:nvPr/>
        </p:nvSpPr>
        <p:spPr>
          <a:xfrm>
            <a:off x="0" y="3214241"/>
            <a:ext cx="9144000" cy="7590"/>
          </a:xfrm>
          <a:prstGeom prst="rect">
            <a:avLst/>
          </a:prstGeom>
          <a:solidFill>
            <a:srgbClr val="E8A020">
              <a:alpha val="4000"/>
            </a:srgbClr>
          </a:solidFill>
          <a:ln/>
        </p:spPr>
        <p:txBody>
          <a:bodyPr wrap="none" rtlCol="0" anchor="t"/>
          <a:lstStyle/>
          <a:p>
            <a:pPr marL="0" indent="0">
              <a:buNone/>
            </a:pPr>
            <a:endParaRPr lang="en-US" dirty="0"/>
          </a:p>
        </p:txBody>
      </p:sp>
      <p:sp>
        <p:nvSpPr>
          <p:cNvPr id="7" name="Text 5"/>
          <p:cNvSpPr/>
          <p:nvPr/>
        </p:nvSpPr>
        <p:spPr>
          <a:xfrm>
            <a:off x="0" y="3858220"/>
            <a:ext cx="9144000" cy="7590"/>
          </a:xfrm>
          <a:prstGeom prst="rect">
            <a:avLst/>
          </a:prstGeom>
          <a:solidFill>
            <a:srgbClr val="E8A020">
              <a:alpha val="4000"/>
            </a:srgbClr>
          </a:solidFill>
          <a:ln/>
        </p:spPr>
        <p:txBody>
          <a:bodyPr wrap="none" rtlCol="0" anchor="t"/>
          <a:lstStyle/>
          <a:p>
            <a:pPr marL="0" indent="0">
              <a:buNone/>
            </a:pPr>
            <a:endParaRPr lang="en-US" dirty="0"/>
          </a:p>
        </p:txBody>
      </p:sp>
      <p:sp>
        <p:nvSpPr>
          <p:cNvPr id="8" name="Text 6"/>
          <p:cNvSpPr/>
          <p:nvPr/>
        </p:nvSpPr>
        <p:spPr>
          <a:xfrm>
            <a:off x="0" y="4500860"/>
            <a:ext cx="9144000" cy="7590"/>
          </a:xfrm>
          <a:prstGeom prst="rect">
            <a:avLst/>
          </a:prstGeom>
          <a:solidFill>
            <a:srgbClr val="E8A020">
              <a:alpha val="4000"/>
            </a:srgbClr>
          </a:solidFill>
          <a:ln/>
        </p:spPr>
        <p:txBody>
          <a:bodyPr wrap="none" rtlCol="0" anchor="t"/>
          <a:lstStyle/>
          <a:p>
            <a:pPr marL="0" indent="0">
              <a:buNone/>
            </a:pPr>
            <a:endParaRPr lang="en-US" dirty="0"/>
          </a:p>
        </p:txBody>
      </p:sp>
      <p:sp>
        <p:nvSpPr>
          <p:cNvPr id="9" name="Text 7"/>
          <p:cNvSpPr/>
          <p:nvPr/>
        </p:nvSpPr>
        <p:spPr>
          <a:xfrm>
            <a:off x="914400" y="0"/>
            <a:ext cx="7590" cy="5143500"/>
          </a:xfrm>
          <a:prstGeom prst="rect">
            <a:avLst/>
          </a:prstGeom>
          <a:solidFill>
            <a:srgbClr val="E8A020">
              <a:alpha val="4000"/>
            </a:srgbClr>
          </a:solidFill>
          <a:ln/>
        </p:spPr>
        <p:txBody>
          <a:bodyPr wrap="square" rtlCol="0" anchor="t"/>
          <a:lstStyle/>
          <a:p>
            <a:pPr marL="0" indent="0">
              <a:buNone/>
            </a:pPr>
            <a:endParaRPr lang="en-US" dirty="0"/>
          </a:p>
        </p:txBody>
      </p:sp>
      <p:sp>
        <p:nvSpPr>
          <p:cNvPr id="10" name="Text 8"/>
          <p:cNvSpPr/>
          <p:nvPr/>
        </p:nvSpPr>
        <p:spPr>
          <a:xfrm>
            <a:off x="1828800" y="0"/>
            <a:ext cx="7590" cy="5143500"/>
          </a:xfrm>
          <a:prstGeom prst="rect">
            <a:avLst/>
          </a:prstGeom>
          <a:solidFill>
            <a:srgbClr val="E8A020">
              <a:alpha val="4000"/>
            </a:srgbClr>
          </a:solidFill>
          <a:ln/>
        </p:spPr>
        <p:txBody>
          <a:bodyPr wrap="square" rtlCol="0" anchor="t"/>
          <a:lstStyle/>
          <a:p>
            <a:pPr marL="0" indent="0">
              <a:buNone/>
            </a:pPr>
            <a:endParaRPr lang="en-US" dirty="0"/>
          </a:p>
        </p:txBody>
      </p:sp>
      <p:sp>
        <p:nvSpPr>
          <p:cNvPr id="11" name="Text 9"/>
          <p:cNvSpPr/>
          <p:nvPr/>
        </p:nvSpPr>
        <p:spPr>
          <a:xfrm>
            <a:off x="2743200" y="0"/>
            <a:ext cx="7590" cy="5143500"/>
          </a:xfrm>
          <a:prstGeom prst="rect">
            <a:avLst/>
          </a:prstGeom>
          <a:solidFill>
            <a:srgbClr val="E8A020">
              <a:alpha val="4000"/>
            </a:srgbClr>
          </a:solidFill>
          <a:ln/>
        </p:spPr>
        <p:txBody>
          <a:bodyPr wrap="square" rtlCol="0" anchor="t"/>
          <a:lstStyle/>
          <a:p>
            <a:pPr marL="0" indent="0">
              <a:buNone/>
            </a:pPr>
            <a:endParaRPr lang="en-US" dirty="0"/>
          </a:p>
        </p:txBody>
      </p:sp>
      <p:sp>
        <p:nvSpPr>
          <p:cNvPr id="12" name="Text 10"/>
          <p:cNvSpPr/>
          <p:nvPr/>
        </p:nvSpPr>
        <p:spPr>
          <a:xfrm>
            <a:off x="3657600" y="0"/>
            <a:ext cx="7590" cy="5143500"/>
          </a:xfrm>
          <a:prstGeom prst="rect">
            <a:avLst/>
          </a:prstGeom>
          <a:solidFill>
            <a:srgbClr val="E8A020">
              <a:alpha val="4000"/>
            </a:srgbClr>
          </a:solidFill>
          <a:ln/>
        </p:spPr>
        <p:txBody>
          <a:bodyPr wrap="square" rtlCol="0" anchor="t"/>
          <a:lstStyle/>
          <a:p>
            <a:pPr marL="0" indent="0">
              <a:buNone/>
            </a:pPr>
            <a:endParaRPr lang="en-US" dirty="0"/>
          </a:p>
        </p:txBody>
      </p:sp>
      <p:sp>
        <p:nvSpPr>
          <p:cNvPr id="13" name="Text 11"/>
          <p:cNvSpPr/>
          <p:nvPr/>
        </p:nvSpPr>
        <p:spPr>
          <a:xfrm>
            <a:off x="4572000" y="0"/>
            <a:ext cx="7590" cy="5143500"/>
          </a:xfrm>
          <a:prstGeom prst="rect">
            <a:avLst/>
          </a:prstGeom>
          <a:solidFill>
            <a:srgbClr val="E8A020">
              <a:alpha val="4000"/>
            </a:srgbClr>
          </a:solidFill>
          <a:ln/>
        </p:spPr>
        <p:txBody>
          <a:bodyPr wrap="square" rtlCol="0" anchor="t"/>
          <a:lstStyle/>
          <a:p>
            <a:pPr marL="0" indent="0">
              <a:buNone/>
            </a:pPr>
            <a:endParaRPr lang="en-US" dirty="0"/>
          </a:p>
        </p:txBody>
      </p:sp>
      <p:sp>
        <p:nvSpPr>
          <p:cNvPr id="14" name="Text 12"/>
          <p:cNvSpPr/>
          <p:nvPr/>
        </p:nvSpPr>
        <p:spPr>
          <a:xfrm>
            <a:off x="5486400" y="0"/>
            <a:ext cx="7590" cy="5143500"/>
          </a:xfrm>
          <a:prstGeom prst="rect">
            <a:avLst/>
          </a:prstGeom>
          <a:solidFill>
            <a:srgbClr val="E8A020">
              <a:alpha val="4000"/>
            </a:srgbClr>
          </a:solidFill>
          <a:ln/>
        </p:spPr>
        <p:txBody>
          <a:bodyPr wrap="square" rtlCol="0" anchor="t"/>
          <a:lstStyle/>
          <a:p>
            <a:pPr marL="0" indent="0">
              <a:buNone/>
            </a:pPr>
            <a:endParaRPr lang="en-US" dirty="0"/>
          </a:p>
        </p:txBody>
      </p:sp>
      <p:sp>
        <p:nvSpPr>
          <p:cNvPr id="15" name="Text 13"/>
          <p:cNvSpPr/>
          <p:nvPr/>
        </p:nvSpPr>
        <p:spPr>
          <a:xfrm>
            <a:off x="6400800" y="0"/>
            <a:ext cx="7590" cy="5143500"/>
          </a:xfrm>
          <a:prstGeom prst="rect">
            <a:avLst/>
          </a:prstGeom>
          <a:solidFill>
            <a:srgbClr val="E8A020">
              <a:alpha val="4000"/>
            </a:srgbClr>
          </a:solidFill>
          <a:ln/>
        </p:spPr>
        <p:txBody>
          <a:bodyPr wrap="square" rtlCol="0" anchor="t"/>
          <a:lstStyle/>
          <a:p>
            <a:pPr marL="0" indent="0">
              <a:buNone/>
            </a:pPr>
            <a:endParaRPr lang="en-US" dirty="0"/>
          </a:p>
        </p:txBody>
      </p:sp>
      <p:sp>
        <p:nvSpPr>
          <p:cNvPr id="16" name="Text 14"/>
          <p:cNvSpPr/>
          <p:nvPr/>
        </p:nvSpPr>
        <p:spPr>
          <a:xfrm>
            <a:off x="7315200" y="0"/>
            <a:ext cx="7590" cy="5143500"/>
          </a:xfrm>
          <a:prstGeom prst="rect">
            <a:avLst/>
          </a:prstGeom>
          <a:solidFill>
            <a:srgbClr val="E8A020">
              <a:alpha val="4000"/>
            </a:srgbClr>
          </a:solidFill>
          <a:ln/>
        </p:spPr>
        <p:txBody>
          <a:bodyPr wrap="square" rtlCol="0" anchor="t"/>
          <a:lstStyle/>
          <a:p>
            <a:pPr marL="0" indent="0">
              <a:buNone/>
            </a:pPr>
            <a:endParaRPr lang="en-US" dirty="0"/>
          </a:p>
        </p:txBody>
      </p:sp>
      <p:sp>
        <p:nvSpPr>
          <p:cNvPr id="17" name="Text 15"/>
          <p:cNvSpPr/>
          <p:nvPr/>
        </p:nvSpPr>
        <p:spPr>
          <a:xfrm>
            <a:off x="8229600" y="0"/>
            <a:ext cx="7590" cy="5143500"/>
          </a:xfrm>
          <a:prstGeom prst="rect">
            <a:avLst/>
          </a:prstGeom>
          <a:solidFill>
            <a:srgbClr val="E8A020">
              <a:alpha val="4000"/>
            </a:srgbClr>
          </a:solidFill>
          <a:ln/>
        </p:spPr>
        <p:txBody>
          <a:bodyPr wrap="square" rtlCol="0" anchor="t"/>
          <a:lstStyle/>
          <a:p>
            <a:pPr marL="0" indent="0">
              <a:buNone/>
            </a:pPr>
            <a:endParaRPr lang="en-US" dirty="0"/>
          </a:p>
        </p:txBody>
      </p:sp>
      <p:sp>
        <p:nvSpPr>
          <p:cNvPr id="18" name="Text 16"/>
          <p:cNvSpPr/>
          <p:nvPr/>
        </p:nvSpPr>
        <p:spPr>
          <a:xfrm>
            <a:off x="3857625" y="1857375"/>
            <a:ext cx="1428750" cy="1428750"/>
          </a:xfrm>
          <a:prstGeom prst="ellipse">
            <a:avLst/>
          </a:prstGeom>
          <a:noFill/>
          <a:ln w="9525">
            <a:solidFill>
              <a:srgbClr val="E8A020">
                <a:alpha val="7000"/>
              </a:srgbClr>
            </a:solidFill>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19" name="Text 17"/>
          <p:cNvSpPr/>
          <p:nvPr/>
        </p:nvSpPr>
        <p:spPr>
          <a:xfrm>
            <a:off x="3286125" y="1285875"/>
            <a:ext cx="2571750" cy="2571750"/>
          </a:xfrm>
          <a:prstGeom prst="ellipse">
            <a:avLst/>
          </a:prstGeom>
          <a:noFill/>
          <a:ln w="9525">
            <a:solidFill>
              <a:srgbClr val="E8A020">
                <a:alpha val="7000"/>
              </a:srgbClr>
            </a:solidFill>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20" name="Text 18"/>
          <p:cNvSpPr/>
          <p:nvPr/>
        </p:nvSpPr>
        <p:spPr>
          <a:xfrm>
            <a:off x="4572000" y="2571750"/>
            <a:ext cx="3714750" cy="2571750"/>
          </a:xfrm>
          <a:prstGeom prst="ellipse">
            <a:avLst/>
          </a:prstGeom>
          <a:noFill/>
          <a:ln w="9525">
            <a:solidFill>
              <a:srgbClr val="E8A020">
                <a:alpha val="7000"/>
              </a:srgbClr>
            </a:solidFill>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21" name="Text 19"/>
          <p:cNvSpPr/>
          <p:nvPr/>
        </p:nvSpPr>
        <p:spPr>
          <a:xfrm>
            <a:off x="4572000" y="2571750"/>
            <a:ext cx="4572000" cy="2571750"/>
          </a:xfrm>
          <a:prstGeom prst="ellipse">
            <a:avLst/>
          </a:prstGeom>
          <a:noFill/>
          <a:ln w="9525">
            <a:solidFill>
              <a:srgbClr val="E8A020">
                <a:alpha val="7000"/>
              </a:srgbClr>
            </a:solidFill>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22" name="Text 20"/>
          <p:cNvSpPr/>
          <p:nvPr/>
        </p:nvSpPr>
        <p:spPr>
          <a:xfrm>
            <a:off x="4572000" y="2571750"/>
            <a:ext cx="4572000" cy="2571750"/>
          </a:xfrm>
          <a:prstGeom prst="ellipse">
            <a:avLst/>
          </a:prstGeom>
          <a:noFill/>
          <a:ln w="9525">
            <a:solidFill>
              <a:srgbClr val="E8A020">
                <a:alpha val="7000"/>
              </a:srgbClr>
            </a:solidFill>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23" name="Text 21"/>
          <p:cNvSpPr/>
          <p:nvPr/>
        </p:nvSpPr>
        <p:spPr>
          <a:xfrm>
            <a:off x="4572000" y="2571750"/>
            <a:ext cx="4572000" cy="2571750"/>
          </a:xfrm>
          <a:prstGeom prst="ellipse">
            <a:avLst/>
          </a:prstGeom>
          <a:noFill/>
          <a:ln w="9525">
            <a:solidFill>
              <a:srgbClr val="E8A020">
                <a:alpha val="7000"/>
              </a:srgbClr>
            </a:solidFill>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24" name="Text 22"/>
          <p:cNvSpPr/>
          <p:nvPr/>
        </p:nvSpPr>
        <p:spPr>
          <a:xfrm>
            <a:off x="4572000" y="2571750"/>
            <a:ext cx="4572000" cy="2571750"/>
          </a:xfrm>
          <a:prstGeom prst="ellipse">
            <a:avLst/>
          </a:prstGeom>
          <a:noFill/>
          <a:ln w="9525">
            <a:solidFill>
              <a:srgbClr val="E8A020">
                <a:alpha val="7000"/>
              </a:srgbClr>
            </a:solidFill>
          </a:ln>
          <a:effectLst>
            <a:outerShdw blurRad="101600" dist="50800" dir="16200000" algn="bl" rotWithShape="0">
              <a:srgbClr val="FFFFFF">
                <a:alpha val="75000"/>
              </a:srgbClr>
            </a:outerShdw>
          </a:effectLst>
        </p:spPr>
        <p:txBody>
          <a:bodyPr wrap="square" rtlCol="0" anchor="t"/>
          <a:lstStyle/>
          <a:p>
            <a:pPr marL="0" indent="0">
              <a:buNone/>
            </a:pPr>
            <a:endParaRPr lang="en-US" dirty="0"/>
          </a:p>
        </p:txBody>
      </p:sp>
      <p:sp>
        <p:nvSpPr>
          <p:cNvPr id="25" name="Text 23"/>
          <p:cNvSpPr/>
          <p:nvPr/>
        </p:nvSpPr>
        <p:spPr>
          <a:xfrm>
            <a:off x="4572000" y="2571750"/>
            <a:ext cx="4572000" cy="7590"/>
          </a:xfrm>
          <a:prstGeom prst="rect">
            <a:avLst/>
          </a:prstGeom>
          <a:gradFill rotWithShape="1">
            <a:gsLst>
              <a:gs pos="0">
                <a:srgbClr val="E8A020">
                  <a:alpha val="9000"/>
                </a:srgbClr>
              </a:gs>
              <a:gs pos="100000">
                <a:srgbClr val="000000">
                  <a:alpha val="0"/>
                </a:srgbClr>
              </a:gs>
            </a:gsLst>
            <a:lin ang="0" scaled="1"/>
          </a:gradFill>
          <a:ln/>
        </p:spPr>
        <p:txBody>
          <a:bodyPr wrap="none" rtlCol="0" anchor="t"/>
          <a:lstStyle/>
          <a:p>
            <a:pPr marL="0" indent="0">
              <a:buNone/>
            </a:pPr>
            <a:endParaRPr lang="en-US" dirty="0"/>
          </a:p>
        </p:txBody>
      </p:sp>
      <p:sp>
        <p:nvSpPr>
          <p:cNvPr id="26" name="Text 24"/>
          <p:cNvSpPr/>
          <p:nvPr/>
        </p:nvSpPr>
        <p:spPr>
          <a:xfrm rot="1800000">
            <a:off x="4265734" y="3714750"/>
            <a:ext cx="4572000" cy="7590"/>
          </a:xfrm>
          <a:prstGeom prst="rect">
            <a:avLst/>
          </a:prstGeom>
          <a:gradFill rotWithShape="1">
            <a:gsLst>
              <a:gs pos="0">
                <a:srgbClr val="E8A020">
                  <a:alpha val="4000"/>
                </a:srgbClr>
              </a:gs>
              <a:gs pos="100000">
                <a:srgbClr val="000000">
                  <a:alpha val="0"/>
                </a:srgbClr>
              </a:gs>
            </a:gsLst>
            <a:lin ang="0" scaled="1"/>
          </a:gradFill>
          <a:ln/>
        </p:spPr>
        <p:txBody>
          <a:bodyPr wrap="none" rtlCol="0" anchor="t"/>
          <a:lstStyle/>
          <a:p>
            <a:pPr marL="0" indent="0">
              <a:buNone/>
            </a:pPr>
            <a:endParaRPr lang="en-US" dirty="0"/>
          </a:p>
        </p:txBody>
      </p:sp>
      <p:sp>
        <p:nvSpPr>
          <p:cNvPr id="27" name="Text 25"/>
          <p:cNvSpPr/>
          <p:nvPr/>
        </p:nvSpPr>
        <p:spPr>
          <a:xfrm rot="3600000">
            <a:off x="3429000" y="4551484"/>
            <a:ext cx="4572000" cy="7590"/>
          </a:xfrm>
          <a:prstGeom prst="rect">
            <a:avLst/>
          </a:prstGeom>
          <a:gradFill rotWithShape="1">
            <a:gsLst>
              <a:gs pos="0">
                <a:srgbClr val="E8A020">
                  <a:alpha val="3000"/>
                </a:srgbClr>
              </a:gs>
              <a:gs pos="100000">
                <a:srgbClr val="000000">
                  <a:alpha val="0"/>
                </a:srgbClr>
              </a:gs>
            </a:gsLst>
            <a:lin ang="0" scaled="1"/>
          </a:gradFill>
          <a:ln/>
        </p:spPr>
        <p:txBody>
          <a:bodyPr wrap="none" rtlCol="0" anchor="t"/>
          <a:lstStyle/>
          <a:p>
            <a:pPr marL="0" indent="0">
              <a:buNone/>
            </a:pPr>
            <a:endParaRPr lang="en-US" dirty="0"/>
          </a:p>
        </p:txBody>
      </p:sp>
      <p:sp>
        <p:nvSpPr>
          <p:cNvPr id="28" name="Text 26"/>
          <p:cNvSpPr/>
          <p:nvPr/>
        </p:nvSpPr>
        <p:spPr>
          <a:xfrm rot="5400000">
            <a:off x="2286000" y="4857750"/>
            <a:ext cx="4572000" cy="7590"/>
          </a:xfrm>
          <a:prstGeom prst="rect">
            <a:avLst/>
          </a:prstGeom>
          <a:gradFill rotWithShape="1">
            <a:gsLst>
              <a:gs pos="0">
                <a:srgbClr val="E8A020">
                  <a:alpha val="6000"/>
                </a:srgbClr>
              </a:gs>
              <a:gs pos="100000">
                <a:srgbClr val="000000">
                  <a:alpha val="0"/>
                </a:srgbClr>
              </a:gs>
            </a:gsLst>
            <a:lin ang="0" scaled="1"/>
          </a:gradFill>
          <a:ln/>
        </p:spPr>
        <p:txBody>
          <a:bodyPr wrap="none" rtlCol="0" anchor="t"/>
          <a:lstStyle/>
          <a:p>
            <a:pPr marL="0" indent="0">
              <a:buNone/>
            </a:pPr>
            <a:endParaRPr lang="en-US" dirty="0"/>
          </a:p>
        </p:txBody>
      </p:sp>
      <p:sp>
        <p:nvSpPr>
          <p:cNvPr id="29" name="Text 27"/>
          <p:cNvSpPr/>
          <p:nvPr/>
        </p:nvSpPr>
        <p:spPr>
          <a:xfrm rot="7200000">
            <a:off x="1143000" y="4551484"/>
            <a:ext cx="4572000" cy="7590"/>
          </a:xfrm>
          <a:prstGeom prst="rect">
            <a:avLst/>
          </a:prstGeom>
          <a:gradFill rotWithShape="1">
            <a:gsLst>
              <a:gs pos="0">
                <a:srgbClr val="E8A020">
                  <a:alpha val="3000"/>
                </a:srgbClr>
              </a:gs>
              <a:gs pos="100000">
                <a:srgbClr val="000000">
                  <a:alpha val="0"/>
                </a:srgbClr>
              </a:gs>
            </a:gsLst>
            <a:lin ang="0" scaled="1"/>
          </a:gradFill>
          <a:ln/>
        </p:spPr>
        <p:txBody>
          <a:bodyPr wrap="none" rtlCol="0" anchor="t"/>
          <a:lstStyle/>
          <a:p>
            <a:pPr marL="0" indent="0">
              <a:buNone/>
            </a:pPr>
            <a:endParaRPr lang="en-US" dirty="0"/>
          </a:p>
        </p:txBody>
      </p:sp>
      <p:sp>
        <p:nvSpPr>
          <p:cNvPr id="30" name="Text 28"/>
          <p:cNvSpPr/>
          <p:nvPr/>
        </p:nvSpPr>
        <p:spPr>
          <a:xfrm rot="9000000">
            <a:off x="306266" y="3714750"/>
            <a:ext cx="4572000" cy="7590"/>
          </a:xfrm>
          <a:prstGeom prst="rect">
            <a:avLst/>
          </a:prstGeom>
          <a:gradFill rotWithShape="1">
            <a:gsLst>
              <a:gs pos="0">
                <a:srgbClr val="E8A020">
                  <a:alpha val="4000"/>
                </a:srgbClr>
              </a:gs>
              <a:gs pos="100000">
                <a:srgbClr val="000000">
                  <a:alpha val="0"/>
                </a:srgbClr>
              </a:gs>
            </a:gsLst>
            <a:lin ang="0" scaled="1"/>
          </a:gradFill>
          <a:ln/>
        </p:spPr>
        <p:txBody>
          <a:bodyPr wrap="none" rtlCol="0" anchor="t"/>
          <a:lstStyle/>
          <a:p>
            <a:pPr marL="0" indent="0">
              <a:buNone/>
            </a:pPr>
            <a:endParaRPr lang="en-US" dirty="0"/>
          </a:p>
        </p:txBody>
      </p:sp>
      <p:sp>
        <p:nvSpPr>
          <p:cNvPr id="31" name="Text 29"/>
          <p:cNvSpPr/>
          <p:nvPr/>
        </p:nvSpPr>
        <p:spPr>
          <a:xfrm rot="10800000">
            <a:off x="0" y="2571750"/>
            <a:ext cx="4572000" cy="7590"/>
          </a:xfrm>
          <a:prstGeom prst="rect">
            <a:avLst/>
          </a:prstGeom>
          <a:gradFill rotWithShape="1">
            <a:gsLst>
              <a:gs pos="0">
                <a:srgbClr val="E8A020">
                  <a:alpha val="7000"/>
                </a:srgbClr>
              </a:gs>
              <a:gs pos="100000">
                <a:srgbClr val="000000">
                  <a:alpha val="0"/>
                </a:srgbClr>
              </a:gs>
            </a:gsLst>
            <a:lin ang="0" scaled="1"/>
          </a:gradFill>
          <a:ln/>
        </p:spPr>
        <p:txBody>
          <a:bodyPr wrap="none" rtlCol="0" anchor="t"/>
          <a:lstStyle/>
          <a:p>
            <a:pPr marL="0" indent="0">
              <a:buNone/>
            </a:pPr>
            <a:endParaRPr lang="en-US" dirty="0"/>
          </a:p>
        </p:txBody>
      </p:sp>
      <p:sp>
        <p:nvSpPr>
          <p:cNvPr id="32" name="Text 30"/>
          <p:cNvSpPr/>
          <p:nvPr/>
        </p:nvSpPr>
        <p:spPr>
          <a:xfrm rot="-9000000">
            <a:off x="306266" y="1428750"/>
            <a:ext cx="4572000" cy="7590"/>
          </a:xfrm>
          <a:prstGeom prst="rect">
            <a:avLst/>
          </a:prstGeom>
          <a:gradFill rotWithShape="1">
            <a:gsLst>
              <a:gs pos="0">
                <a:srgbClr val="E8A020">
                  <a:alpha val="3000"/>
                </a:srgbClr>
              </a:gs>
              <a:gs pos="100000">
                <a:srgbClr val="000000">
                  <a:alpha val="0"/>
                </a:srgbClr>
              </a:gs>
            </a:gsLst>
            <a:lin ang="0" scaled="1"/>
          </a:gradFill>
          <a:ln/>
        </p:spPr>
        <p:txBody>
          <a:bodyPr wrap="none" rtlCol="0" anchor="t"/>
          <a:lstStyle/>
          <a:p>
            <a:pPr marL="0" indent="0">
              <a:buNone/>
            </a:pPr>
            <a:endParaRPr lang="en-US" dirty="0"/>
          </a:p>
        </p:txBody>
      </p:sp>
      <p:sp>
        <p:nvSpPr>
          <p:cNvPr id="33" name="Text 31"/>
          <p:cNvSpPr/>
          <p:nvPr/>
        </p:nvSpPr>
        <p:spPr>
          <a:xfrm rot="-7200000">
            <a:off x="1143000" y="592016"/>
            <a:ext cx="4572000" cy="7590"/>
          </a:xfrm>
          <a:prstGeom prst="rect">
            <a:avLst/>
          </a:prstGeom>
          <a:gradFill rotWithShape="1">
            <a:gsLst>
              <a:gs pos="0">
                <a:srgbClr val="E8A020">
                  <a:alpha val="4000"/>
                </a:srgbClr>
              </a:gs>
              <a:gs pos="100000">
                <a:srgbClr val="000000">
                  <a:alpha val="0"/>
                </a:srgbClr>
              </a:gs>
            </a:gsLst>
            <a:lin ang="0" scaled="1"/>
          </a:gradFill>
          <a:ln/>
        </p:spPr>
        <p:txBody>
          <a:bodyPr wrap="none" rtlCol="0" anchor="t"/>
          <a:lstStyle/>
          <a:p>
            <a:pPr marL="0" indent="0">
              <a:buNone/>
            </a:pPr>
            <a:endParaRPr lang="en-US" dirty="0"/>
          </a:p>
        </p:txBody>
      </p:sp>
      <p:sp>
        <p:nvSpPr>
          <p:cNvPr id="34" name="Text 32"/>
          <p:cNvSpPr/>
          <p:nvPr/>
        </p:nvSpPr>
        <p:spPr>
          <a:xfrm rot="-5400000">
            <a:off x="2286000" y="285750"/>
            <a:ext cx="4572000" cy="7590"/>
          </a:xfrm>
          <a:prstGeom prst="rect">
            <a:avLst/>
          </a:prstGeom>
          <a:gradFill rotWithShape="1">
            <a:gsLst>
              <a:gs pos="0">
                <a:srgbClr val="E8A020">
                  <a:alpha val="6000"/>
                </a:srgbClr>
              </a:gs>
              <a:gs pos="100000">
                <a:srgbClr val="000000">
                  <a:alpha val="0"/>
                </a:srgbClr>
              </a:gs>
            </a:gsLst>
            <a:lin ang="0" scaled="1"/>
          </a:gradFill>
          <a:ln/>
        </p:spPr>
        <p:txBody>
          <a:bodyPr wrap="none" rtlCol="0" anchor="t"/>
          <a:lstStyle/>
          <a:p>
            <a:pPr marL="0" indent="0">
              <a:buNone/>
            </a:pPr>
            <a:endParaRPr lang="en-US" dirty="0"/>
          </a:p>
        </p:txBody>
      </p:sp>
      <p:sp>
        <p:nvSpPr>
          <p:cNvPr id="35" name="Text 33"/>
          <p:cNvSpPr/>
          <p:nvPr/>
        </p:nvSpPr>
        <p:spPr>
          <a:xfrm rot="-3600000">
            <a:off x="3429000" y="592016"/>
            <a:ext cx="4572000" cy="7590"/>
          </a:xfrm>
          <a:prstGeom prst="rect">
            <a:avLst/>
          </a:prstGeom>
          <a:gradFill rotWithShape="1">
            <a:gsLst>
              <a:gs pos="0">
                <a:srgbClr val="E8A020">
                  <a:alpha val="3000"/>
                </a:srgbClr>
              </a:gs>
              <a:gs pos="100000">
                <a:srgbClr val="000000">
                  <a:alpha val="0"/>
                </a:srgbClr>
              </a:gs>
            </a:gsLst>
            <a:lin ang="0" scaled="1"/>
          </a:gradFill>
          <a:ln/>
        </p:spPr>
        <p:txBody>
          <a:bodyPr wrap="none" rtlCol="0" anchor="t"/>
          <a:lstStyle/>
          <a:p>
            <a:pPr marL="0" indent="0">
              <a:buNone/>
            </a:pPr>
            <a:endParaRPr lang="en-US" dirty="0"/>
          </a:p>
        </p:txBody>
      </p:sp>
      <p:sp>
        <p:nvSpPr>
          <p:cNvPr id="36" name="Text 34"/>
          <p:cNvSpPr/>
          <p:nvPr/>
        </p:nvSpPr>
        <p:spPr>
          <a:xfrm rot="-1800000">
            <a:off x="4265734" y="1428750"/>
            <a:ext cx="4572000" cy="7590"/>
          </a:xfrm>
          <a:prstGeom prst="rect">
            <a:avLst/>
          </a:prstGeom>
          <a:gradFill rotWithShape="1">
            <a:gsLst>
              <a:gs pos="0">
                <a:srgbClr val="E8A020">
                  <a:alpha val="4000"/>
                </a:srgbClr>
              </a:gs>
              <a:gs pos="100000">
                <a:srgbClr val="000000">
                  <a:alpha val="0"/>
                </a:srgbClr>
              </a:gs>
            </a:gsLst>
            <a:lin ang="0" scaled="1"/>
          </a:gradFill>
          <a:ln/>
        </p:spPr>
        <p:txBody>
          <a:bodyPr wrap="none" rtlCol="0" anchor="t"/>
          <a:lstStyle/>
          <a:p>
            <a:pPr marL="0" indent="0">
              <a:buNone/>
            </a:pPr>
            <a:endParaRPr lang="en-US" dirty="0"/>
          </a:p>
        </p:txBody>
      </p:sp>
      <p:sp>
        <p:nvSpPr>
          <p:cNvPr id="37" name="Text 35"/>
          <p:cNvSpPr/>
          <p:nvPr/>
        </p:nvSpPr>
        <p:spPr>
          <a:xfrm>
            <a:off x="914400" y="514350"/>
            <a:ext cx="35421" cy="35421"/>
          </a:xfrm>
          <a:prstGeom prst="roundRect">
            <a:avLst>
              <a:gd name="adj" fmla="val 21513"/>
            </a:avLst>
          </a:prstGeom>
          <a:solidFill>
            <a:srgbClr val="E8A020">
              <a:alpha val="25000"/>
            </a:srgbClr>
          </a:solidFill>
          <a:ln/>
        </p:spPr>
        <p:txBody>
          <a:bodyPr wrap="none" rtlCol="0" anchor="t"/>
          <a:lstStyle/>
          <a:p>
            <a:pPr marL="0" indent="0">
              <a:buNone/>
            </a:pPr>
            <a:endParaRPr lang="en-US" dirty="0"/>
          </a:p>
        </p:txBody>
      </p:sp>
      <p:sp>
        <p:nvSpPr>
          <p:cNvPr id="38" name="Text 36"/>
          <p:cNvSpPr/>
          <p:nvPr/>
        </p:nvSpPr>
        <p:spPr>
          <a:xfrm>
            <a:off x="1828800" y="514350"/>
            <a:ext cx="35421" cy="35421"/>
          </a:xfrm>
          <a:prstGeom prst="roundRect">
            <a:avLst>
              <a:gd name="adj" fmla="val 21513"/>
            </a:avLst>
          </a:prstGeom>
          <a:solidFill>
            <a:srgbClr val="E8A020">
              <a:alpha val="25000"/>
            </a:srgbClr>
          </a:solidFill>
          <a:ln/>
        </p:spPr>
        <p:txBody>
          <a:bodyPr wrap="none" rtlCol="0" anchor="t"/>
          <a:lstStyle/>
          <a:p>
            <a:pPr marL="0" indent="0">
              <a:buNone/>
            </a:pPr>
            <a:endParaRPr lang="en-US" dirty="0"/>
          </a:p>
        </p:txBody>
      </p:sp>
      <p:sp>
        <p:nvSpPr>
          <p:cNvPr id="39" name="Text 37"/>
          <p:cNvSpPr/>
          <p:nvPr/>
        </p:nvSpPr>
        <p:spPr>
          <a:xfrm>
            <a:off x="7315200" y="1286470"/>
            <a:ext cx="35421" cy="35421"/>
          </a:xfrm>
          <a:prstGeom prst="roundRect">
            <a:avLst>
              <a:gd name="adj" fmla="val 21513"/>
            </a:avLst>
          </a:prstGeom>
          <a:solidFill>
            <a:srgbClr val="E8A020">
              <a:alpha val="25000"/>
            </a:srgbClr>
          </a:solidFill>
          <a:ln/>
        </p:spPr>
        <p:txBody>
          <a:bodyPr wrap="none" rtlCol="0" anchor="t"/>
          <a:lstStyle/>
          <a:p>
            <a:pPr marL="0" indent="0">
              <a:buNone/>
            </a:pPr>
            <a:endParaRPr lang="en-US" dirty="0"/>
          </a:p>
        </p:txBody>
      </p:sp>
      <p:sp>
        <p:nvSpPr>
          <p:cNvPr id="40" name="Text 38"/>
          <p:cNvSpPr/>
          <p:nvPr/>
        </p:nvSpPr>
        <p:spPr>
          <a:xfrm>
            <a:off x="8229600" y="1929110"/>
            <a:ext cx="35421" cy="35421"/>
          </a:xfrm>
          <a:prstGeom prst="roundRect">
            <a:avLst>
              <a:gd name="adj" fmla="val 21513"/>
            </a:avLst>
          </a:prstGeom>
          <a:solidFill>
            <a:srgbClr val="E8A020">
              <a:alpha val="25000"/>
            </a:srgbClr>
          </a:solidFill>
          <a:ln/>
        </p:spPr>
        <p:txBody>
          <a:bodyPr wrap="none" rtlCol="0" anchor="t"/>
          <a:lstStyle/>
          <a:p>
            <a:pPr marL="0" indent="0">
              <a:buNone/>
            </a:pPr>
            <a:endParaRPr lang="en-US" dirty="0"/>
          </a:p>
        </p:txBody>
      </p:sp>
      <p:sp>
        <p:nvSpPr>
          <p:cNvPr id="41" name="Text 39"/>
          <p:cNvSpPr/>
          <p:nvPr/>
        </p:nvSpPr>
        <p:spPr>
          <a:xfrm>
            <a:off x="914400" y="3858220"/>
            <a:ext cx="35421" cy="35421"/>
          </a:xfrm>
          <a:prstGeom prst="roundRect">
            <a:avLst>
              <a:gd name="adj" fmla="val 21513"/>
            </a:avLst>
          </a:prstGeom>
          <a:solidFill>
            <a:srgbClr val="E8A020">
              <a:alpha val="25000"/>
            </a:srgbClr>
          </a:solidFill>
          <a:ln/>
        </p:spPr>
        <p:txBody>
          <a:bodyPr wrap="none" rtlCol="0" anchor="t"/>
          <a:lstStyle/>
          <a:p>
            <a:pPr marL="0" indent="0">
              <a:buNone/>
            </a:pPr>
            <a:endParaRPr lang="en-US" dirty="0"/>
          </a:p>
        </p:txBody>
      </p:sp>
      <p:sp>
        <p:nvSpPr>
          <p:cNvPr id="42" name="Text 40"/>
          <p:cNvSpPr/>
          <p:nvPr/>
        </p:nvSpPr>
        <p:spPr>
          <a:xfrm>
            <a:off x="2743200" y="4500860"/>
            <a:ext cx="35421" cy="35421"/>
          </a:xfrm>
          <a:prstGeom prst="roundRect">
            <a:avLst>
              <a:gd name="adj" fmla="val 21513"/>
            </a:avLst>
          </a:prstGeom>
          <a:solidFill>
            <a:srgbClr val="E8A020">
              <a:alpha val="25000"/>
            </a:srgbClr>
          </a:solidFill>
          <a:ln/>
        </p:spPr>
        <p:txBody>
          <a:bodyPr wrap="none" rtlCol="0" anchor="t"/>
          <a:lstStyle/>
          <a:p>
            <a:pPr marL="0" indent="0">
              <a:buNone/>
            </a:pPr>
            <a:endParaRPr lang="en-US" dirty="0"/>
          </a:p>
        </p:txBody>
      </p:sp>
      <p:sp>
        <p:nvSpPr>
          <p:cNvPr id="43" name="Text 41"/>
          <p:cNvSpPr/>
          <p:nvPr/>
        </p:nvSpPr>
        <p:spPr>
          <a:xfrm>
            <a:off x="6400800" y="3214241"/>
            <a:ext cx="35421" cy="35421"/>
          </a:xfrm>
          <a:prstGeom prst="roundRect">
            <a:avLst>
              <a:gd name="adj" fmla="val 21513"/>
            </a:avLst>
          </a:prstGeom>
          <a:solidFill>
            <a:srgbClr val="E8A020">
              <a:alpha val="25000"/>
            </a:srgbClr>
          </a:solidFill>
          <a:ln/>
        </p:spPr>
        <p:txBody>
          <a:bodyPr wrap="none" rtlCol="0" anchor="t"/>
          <a:lstStyle/>
          <a:p>
            <a:pPr marL="0" indent="0">
              <a:buNone/>
            </a:pPr>
            <a:endParaRPr lang="en-US" dirty="0"/>
          </a:p>
        </p:txBody>
      </p:sp>
      <p:sp>
        <p:nvSpPr>
          <p:cNvPr id="44" name="Text 42"/>
          <p:cNvSpPr/>
          <p:nvPr/>
        </p:nvSpPr>
        <p:spPr>
          <a:xfrm>
            <a:off x="5486400" y="642491"/>
            <a:ext cx="35421" cy="35421"/>
          </a:xfrm>
          <a:prstGeom prst="roundRect">
            <a:avLst>
              <a:gd name="adj" fmla="val 21513"/>
            </a:avLst>
          </a:prstGeom>
          <a:solidFill>
            <a:srgbClr val="E8A020">
              <a:alpha val="25000"/>
            </a:srgbClr>
          </a:solidFill>
          <a:ln/>
        </p:spPr>
        <p:txBody>
          <a:bodyPr wrap="none" rtlCol="0" anchor="t"/>
          <a:lstStyle/>
          <a:p>
            <a:pPr marL="0" indent="0">
              <a:buNone/>
            </a:pPr>
            <a:endParaRPr lang="en-US" dirty="0"/>
          </a:p>
        </p:txBody>
      </p:sp>
      <p:sp>
        <p:nvSpPr>
          <p:cNvPr id="45" name="Text 43"/>
          <p:cNvSpPr/>
          <p:nvPr/>
        </p:nvSpPr>
        <p:spPr>
          <a:xfrm>
            <a:off x="4572000" y="2571750"/>
            <a:ext cx="3000966" cy="2571750"/>
          </a:xfrm>
          <a:prstGeom prst="ellipse">
            <a:avLst/>
          </a:prstGeom>
          <a:gradFill rotWithShape="1">
            <a:gsLst>
              <a:gs pos="0">
                <a:srgbClr val="E8A020">
                  <a:alpha val="7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46" name="Text 44"/>
          <p:cNvSpPr/>
          <p:nvPr/>
        </p:nvSpPr>
        <p:spPr>
          <a:xfrm>
            <a:off x="372070" y="571500"/>
            <a:ext cx="13841" cy="4286250"/>
          </a:xfrm>
          <a:prstGeom prst="rect">
            <a:avLst/>
          </a:prstGeom>
          <a:gradFill rotWithShape="1">
            <a:gsLst>
              <a:gs pos="0">
                <a:srgbClr val="000000">
                  <a:alpha val="0"/>
                </a:srgbClr>
              </a:gs>
              <a:gs pos="30000">
                <a:srgbClr val="E8A020">
                  <a:alpha val="30000"/>
                </a:srgbClr>
              </a:gs>
              <a:gs pos="70000">
                <a:srgbClr val="E8A020">
                  <a:alpha val="30000"/>
                </a:srgbClr>
              </a:gs>
              <a:gs pos="100000">
                <a:srgbClr val="000000">
                  <a:alpha val="0"/>
                </a:srgbClr>
              </a:gs>
            </a:gsLst>
            <a:lin ang="5400000" scaled="1"/>
          </a:gradFill>
          <a:ln/>
        </p:spPr>
        <p:txBody>
          <a:bodyPr wrap="square" rtlCol="0" anchor="t"/>
          <a:lstStyle/>
          <a:p>
            <a:pPr marL="0" indent="0">
              <a:buNone/>
            </a:pPr>
            <a:endParaRPr lang="en-US" dirty="0"/>
          </a:p>
        </p:txBody>
      </p:sp>
      <p:sp>
        <p:nvSpPr>
          <p:cNvPr id="47" name="Text 45"/>
          <p:cNvSpPr/>
          <p:nvPr/>
        </p:nvSpPr>
        <p:spPr>
          <a:xfrm>
            <a:off x="372070" y="257770"/>
            <a:ext cx="976863" cy="129480"/>
          </a:xfrm>
          <a:prstGeom prst="rect">
            <a:avLst/>
          </a:prstGeom>
          <a:noFill/>
          <a:ln/>
        </p:spPr>
        <p:txBody>
          <a:bodyPr wrap="none" lIns="0" tIns="0" rIns="0" bIns="0" rtlCol="0" anchor="t"/>
          <a:lstStyle/>
          <a:p>
            <a:pPr marL="0" indent="0" algn="l">
              <a:lnSpc>
                <a:spcPts val="1020"/>
              </a:lnSpc>
              <a:buNone/>
            </a:pPr>
            <a:r>
              <a:rPr lang="en-US" sz="680" kern="0" spc="122" dirty="0">
                <a:solidFill>
                  <a:srgbClr val="E8A020">
                    <a:alpha val="75000"/>
                  </a:srgbClr>
                </a:solidFill>
                <a:latin typeface="Calibri" pitchFamily="34" charset="0"/>
                <a:ea typeface="Calibri" pitchFamily="34" charset="-122"/>
                <a:cs typeface="Calibri" pitchFamily="34" charset="-120"/>
              </a:rPr>
              <a:t>SECTION 5 OF 5</a:t>
            </a:r>
            <a:endParaRPr lang="en-US" sz="680" dirty="0"/>
          </a:p>
        </p:txBody>
      </p:sp>
      <p:sp>
        <p:nvSpPr>
          <p:cNvPr id="48" name="Text 46"/>
          <p:cNvSpPr/>
          <p:nvPr/>
        </p:nvSpPr>
        <p:spPr>
          <a:xfrm>
            <a:off x="8027194" y="257770"/>
            <a:ext cx="759631" cy="216396"/>
          </a:xfrm>
          <a:prstGeom prst="roundRect">
            <a:avLst>
              <a:gd name="adj" fmla="val 9977"/>
            </a:avLst>
          </a:prstGeom>
          <a:solidFill>
            <a:srgbClr val="E8A020">
              <a:alpha val="5000"/>
            </a:srgbClr>
          </a:solidFill>
          <a:ln w="9525">
            <a:solidFill>
              <a:srgbClr val="E8A020">
                <a:alpha val="25000"/>
              </a:srgbClr>
            </a:solidFill>
          </a:ln>
        </p:spPr>
        <p:txBody>
          <a:bodyPr wrap="none" lIns="86360" tIns="29210" rIns="86360" bIns="29210" rtlCol="0" anchor="t"/>
          <a:lstStyle/>
          <a:p>
            <a:pPr marL="0" indent="0" algn="l">
              <a:buNone/>
            </a:pPr>
            <a:r>
              <a:rPr lang="en-US" sz="730" kern="0" spc="88" dirty="0">
                <a:solidFill>
                  <a:srgbClr val="8FA3C8"/>
                </a:solidFill>
                <a:latin typeface="Calibri" pitchFamily="34" charset="0"/>
                <a:ea typeface="Calibri" pitchFamily="34" charset="-122"/>
                <a:cs typeface="Calibri" pitchFamily="34" charset="-120"/>
              </a:rPr>
              <a:t>MIN 67–75</a:t>
            </a:r>
            <a:endParaRPr lang="en-US" sz="730" dirty="0"/>
          </a:p>
        </p:txBody>
      </p:sp>
      <p:sp>
        <p:nvSpPr>
          <p:cNvPr id="49" name="Text 47"/>
          <p:cNvSpPr/>
          <p:nvPr/>
        </p:nvSpPr>
        <p:spPr>
          <a:xfrm>
            <a:off x="4107258" y="1081534"/>
            <a:ext cx="929335" cy="1714500"/>
          </a:xfrm>
          <a:prstGeom prst="rect">
            <a:avLst/>
          </a:prstGeom>
          <a:noFill/>
          <a:ln/>
        </p:spPr>
        <p:txBody>
          <a:bodyPr wrap="none" lIns="0" tIns="0" rIns="0" bIns="0" rtlCol="0" anchor="t"/>
          <a:lstStyle/>
          <a:p>
            <a:pPr marL="0" indent="0" algn="ctr">
              <a:lnSpc>
                <a:spcPts val="13500"/>
              </a:lnSpc>
              <a:buNone/>
            </a:pPr>
            <a:r>
              <a:rPr lang="en-US" sz="13500" kern="0" spc="-540" dirty="0">
                <a:solidFill>
                  <a:srgbClr val="E8A020">
                    <a:alpha val="92000"/>
                  </a:srgbClr>
                </a:solidFill>
                <a:effectLst>
                  <a:glow rad="2857500">
                    <a:srgbClr val="E8A020">
                      <a:alpha val="4500"/>
                    </a:srgbClr>
                  </a:glow>
                </a:effectLst>
                <a:latin typeface="Calibri Light" pitchFamily="34" charset="0"/>
                <a:ea typeface="Calibri Light" pitchFamily="34" charset="-122"/>
                <a:cs typeface="Calibri Light" pitchFamily="34" charset="-120"/>
              </a:rPr>
              <a:t>5</a:t>
            </a:r>
            <a:endParaRPr lang="en-US" sz="13500" dirty="0"/>
          </a:p>
        </p:txBody>
      </p:sp>
      <p:sp>
        <p:nvSpPr>
          <p:cNvPr id="50" name="Text 48"/>
          <p:cNvSpPr/>
          <p:nvPr/>
        </p:nvSpPr>
        <p:spPr>
          <a:xfrm>
            <a:off x="2571155" y="2681734"/>
            <a:ext cx="57150" cy="57150"/>
          </a:xfrm>
          <a:prstGeom prst="ellipse">
            <a:avLst/>
          </a:prstGeom>
          <a:solidFill>
            <a:srgbClr val="E8A020">
              <a:alpha val="70000"/>
            </a:srgbClr>
          </a:solidFill>
          <a:ln/>
        </p:spPr>
        <p:txBody>
          <a:bodyPr wrap="none" rtlCol="0" anchor="t"/>
          <a:lstStyle/>
          <a:p>
            <a:pPr marL="0" indent="0">
              <a:buNone/>
            </a:pPr>
            <a:endParaRPr lang="en-US" dirty="0"/>
          </a:p>
        </p:txBody>
      </p:sp>
      <p:sp>
        <p:nvSpPr>
          <p:cNvPr id="51" name="Text 49"/>
          <p:cNvSpPr/>
          <p:nvPr/>
        </p:nvSpPr>
        <p:spPr>
          <a:xfrm>
            <a:off x="2714625" y="2703314"/>
            <a:ext cx="3714750" cy="13841"/>
          </a:xfrm>
          <a:prstGeom prst="rect">
            <a:avLst/>
          </a:prstGeom>
          <a:gradFill rotWithShape="1">
            <a:gsLst>
              <a:gs pos="0">
                <a:srgbClr val="000000">
                  <a:alpha val="0"/>
                </a:srgbClr>
              </a:gs>
              <a:gs pos="50000">
                <a:srgbClr val="E8A020"/>
              </a:gs>
              <a:gs pos="100000">
                <a:srgbClr val="000000">
                  <a:alpha val="0"/>
                </a:srgbClr>
              </a:gs>
            </a:gsLst>
            <a:lin ang="0" scaled="1"/>
          </a:gradFill>
          <a:ln/>
        </p:spPr>
        <p:txBody>
          <a:bodyPr wrap="none" rtlCol="0" anchor="t"/>
          <a:lstStyle/>
          <a:p>
            <a:pPr marL="0" indent="0">
              <a:buNone/>
            </a:pPr>
            <a:endParaRPr lang="en-US" dirty="0"/>
          </a:p>
        </p:txBody>
      </p:sp>
      <p:sp>
        <p:nvSpPr>
          <p:cNvPr id="52" name="Text 50"/>
          <p:cNvSpPr/>
          <p:nvPr/>
        </p:nvSpPr>
        <p:spPr>
          <a:xfrm>
            <a:off x="6515695" y="2681734"/>
            <a:ext cx="57150" cy="57150"/>
          </a:xfrm>
          <a:prstGeom prst="ellipse">
            <a:avLst/>
          </a:prstGeom>
          <a:solidFill>
            <a:srgbClr val="E8A020">
              <a:alpha val="70000"/>
            </a:srgbClr>
          </a:solidFill>
          <a:ln/>
        </p:spPr>
        <p:txBody>
          <a:bodyPr wrap="none" rtlCol="0" anchor="t"/>
          <a:lstStyle/>
          <a:p>
            <a:pPr marL="0" indent="0">
              <a:buNone/>
            </a:pPr>
            <a:endParaRPr lang="en-US" dirty="0"/>
          </a:p>
        </p:txBody>
      </p:sp>
      <p:sp>
        <p:nvSpPr>
          <p:cNvPr id="53" name="Text 51"/>
          <p:cNvSpPr/>
          <p:nvPr/>
        </p:nvSpPr>
        <p:spPr>
          <a:xfrm>
            <a:off x="1842753" y="2939504"/>
            <a:ext cx="5458495" cy="377875"/>
          </a:xfrm>
          <a:prstGeom prst="rect">
            <a:avLst/>
          </a:prstGeom>
          <a:noFill/>
          <a:ln/>
        </p:spPr>
        <p:txBody>
          <a:bodyPr wrap="none" lIns="0" tIns="0" rIns="0" bIns="0" rtlCol="0" anchor="t"/>
          <a:lstStyle/>
          <a:p>
            <a:pPr marL="0" indent="0" algn="ctr">
              <a:lnSpc>
                <a:spcPts val="2976"/>
              </a:lnSpc>
              <a:buNone/>
            </a:pPr>
            <a:r>
              <a:rPr lang="en-US" sz="2480" kern="0" spc="25" dirty="0">
                <a:solidFill>
                  <a:srgbClr val="F0F4FF"/>
                </a:solidFill>
                <a:latin typeface="Calibri Light" pitchFamily="34" charset="0"/>
                <a:ea typeface="Calibri Light" pitchFamily="34" charset="-122"/>
                <a:cs typeface="Calibri Light" pitchFamily="34" charset="-120"/>
              </a:rPr>
              <a:t>Build Your Own </a:t>
            </a:r>
            <a:r>
              <a:rPr lang="en-US" sz="2480" kern="0" spc="25">
                <a:solidFill>
                  <a:srgbClr val="F0F4FF"/>
                </a:solidFill>
                <a:latin typeface="Calibri Light" pitchFamily="34" charset="0"/>
                <a:ea typeface="Calibri Light" pitchFamily="34" charset="-122"/>
                <a:cs typeface="Calibri Light" pitchFamily="34" charset="-120"/>
              </a:rPr>
              <a:t>Funding Intelligence</a:t>
            </a:r>
            <a:r>
              <a:rPr lang="en-US" sz="2480" kern="0" spc="25" dirty="0">
                <a:solidFill>
                  <a:srgbClr val="F0F4FF"/>
                </a:solidFill>
                <a:latin typeface="Calibri Light" pitchFamily="34" charset="0"/>
                <a:ea typeface="Calibri Light" pitchFamily="34" charset="-122"/>
                <a:cs typeface="Calibri Light" pitchFamily="34" charset="-120"/>
              </a:rPr>
              <a:t> System</a:t>
            </a:r>
            <a:endParaRPr lang="en-US" sz="2480" dirty="0"/>
          </a:p>
        </p:txBody>
      </p:sp>
      <p:sp>
        <p:nvSpPr>
          <p:cNvPr id="54" name="Text 52"/>
          <p:cNvSpPr/>
          <p:nvPr/>
        </p:nvSpPr>
        <p:spPr>
          <a:xfrm>
            <a:off x="2998247" y="3403699"/>
            <a:ext cx="3147506" cy="200769"/>
          </a:xfrm>
          <a:prstGeom prst="rect">
            <a:avLst/>
          </a:prstGeom>
          <a:noFill/>
          <a:ln/>
        </p:spPr>
        <p:txBody>
          <a:bodyPr wrap="none" lIns="0" tIns="0" rIns="0" bIns="0" rtlCol="0" anchor="t"/>
          <a:lstStyle/>
          <a:p>
            <a:pPr marL="0" indent="0" algn="ctr">
              <a:lnSpc>
                <a:spcPts val="1582"/>
              </a:lnSpc>
              <a:spcBef>
                <a:spcPts val="680"/>
              </a:spcBef>
              <a:spcAft>
                <a:spcPts val="1800"/>
              </a:spcAft>
              <a:buNone/>
            </a:pPr>
            <a:r>
              <a:rPr lang="en-US" sz="1600" kern="0" spc="34" dirty="0">
                <a:solidFill>
                  <a:srgbClr val="8FA3C8"/>
                </a:solidFill>
                <a:latin typeface="Calibri" pitchFamily="34" charset="0"/>
                <a:ea typeface="Calibri" pitchFamily="34" charset="-122"/>
                <a:cs typeface="Calibri" pitchFamily="34" charset="-120"/>
              </a:rPr>
              <a:t>From Workshop to 90-Day Implementation</a:t>
            </a:r>
            <a:endParaRPr lang="en-US" sz="1600" dirty="0"/>
          </a:p>
        </p:txBody>
      </p:sp>
      <p:sp>
        <p:nvSpPr>
          <p:cNvPr id="55" name="Text 53"/>
          <p:cNvSpPr/>
          <p:nvPr/>
        </p:nvSpPr>
        <p:spPr>
          <a:xfrm>
            <a:off x="3189833" y="3833068"/>
            <a:ext cx="2819468" cy="228898"/>
          </a:xfrm>
          <a:prstGeom prst="roundRect">
            <a:avLst>
              <a:gd name="adj" fmla="val 62696"/>
            </a:avLst>
          </a:prstGeom>
          <a:solidFill>
            <a:srgbClr val="E8A020">
              <a:alpha val="10000"/>
            </a:srgbClr>
          </a:solidFill>
          <a:ln w="9525">
            <a:solidFill>
              <a:srgbClr val="E8A020">
                <a:alpha val="30000"/>
              </a:srgbClr>
            </a:solidFill>
          </a:ln>
        </p:spPr>
        <p:txBody>
          <a:bodyPr wrap="none" lIns="234831" tIns="35560" rIns="128270" bIns="35560" rtlCol="0" anchor="ctr"/>
          <a:lstStyle/>
          <a:p>
            <a:pPr marL="0" indent="0" algn="l">
              <a:buNone/>
            </a:pPr>
            <a:r>
              <a:rPr lang="en-US" sz="1200" kern="0" spc="102" dirty="0">
                <a:solidFill>
                  <a:srgbClr val="E8A020"/>
                </a:solidFill>
                <a:latin typeface="Calibri" pitchFamily="34" charset="0"/>
                <a:ea typeface="Calibri" pitchFamily="34" charset="-122"/>
                <a:cs typeface="Calibri" pitchFamily="34" charset="-120"/>
              </a:rPr>
              <a:t>THIS IS WHERE TODAY BECOMES MONDAY</a:t>
            </a:r>
            <a:endParaRPr lang="en-US" sz="1200" dirty="0"/>
          </a:p>
        </p:txBody>
      </p:sp>
      <p:sp>
        <p:nvSpPr>
          <p:cNvPr id="56" name="Text 54"/>
          <p:cNvSpPr/>
          <p:nvPr/>
        </p:nvSpPr>
        <p:spPr>
          <a:xfrm>
            <a:off x="3327499" y="3922812"/>
            <a:ext cx="49411" cy="49411"/>
          </a:xfrm>
          <a:prstGeom prst="ellipse">
            <a:avLst/>
          </a:prstGeom>
          <a:solidFill>
            <a:srgbClr val="E8A020">
              <a:alpha val="90000"/>
            </a:srgbClr>
          </a:solidFill>
          <a:ln/>
        </p:spPr>
        <p:txBody>
          <a:bodyPr wrap="none" rtlCol="0" anchor="t"/>
          <a:lstStyle/>
          <a:p>
            <a:pPr marL="0" indent="0">
              <a:buNone/>
            </a:pPr>
            <a:endParaRPr lang="en-US" dirty="0"/>
          </a:p>
        </p:txBody>
      </p:sp>
      <p:pic>
        <p:nvPicPr>
          <p:cNvPr id="5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639" y="4855006"/>
            <a:ext cx="132588" cy="132588"/>
          </a:xfrm>
          <a:prstGeom prst="rect">
            <a:avLst/>
          </a:prstGeom>
        </p:spPr>
      </p:pic>
      <p:sp>
        <p:nvSpPr>
          <p:cNvPr id="58" name="Text 55"/>
          <p:cNvSpPr/>
          <p:nvPr/>
        </p:nvSpPr>
        <p:spPr>
          <a:xfrm>
            <a:off x="528786" y="4856559"/>
            <a:ext cx="3843933" cy="129480"/>
          </a:xfrm>
          <a:prstGeom prst="rect">
            <a:avLst/>
          </a:prstGeom>
          <a:noFill/>
          <a:ln/>
        </p:spPr>
        <p:txBody>
          <a:bodyPr wrap="none" lIns="0" tIns="0" rIns="0" bIns="0" rtlCol="0" anchor="ctr"/>
          <a:lstStyle/>
          <a:p>
            <a:pPr marL="0" indent="0" algn="l">
              <a:lnSpc>
                <a:spcPts val="1020"/>
              </a:lnSpc>
              <a:buNone/>
            </a:pPr>
            <a:r>
              <a:rPr lang="en-US" sz="680">
                <a:solidFill>
                  <a:srgbClr val="8FA3C8">
                    <a:alpha val="45000"/>
                  </a:srgbClr>
                </a:solidFill>
                <a:latin typeface="Calibri" pitchFamily="34" charset="0"/>
                <a:ea typeface="Calibri" pitchFamily="34" charset="-122"/>
                <a:cs typeface="Calibri" pitchFamily="34" charset="-120"/>
              </a:rPr>
              <a:t>FSR </a:t>
            </a:r>
            <a:r>
              <a:rPr lang="en-US" sz="680" dirty="0">
                <a:solidFill>
                  <a:srgbClr val="8FA3C8">
                    <a:alpha val="45000"/>
                  </a:srgbClr>
                </a:solidFill>
                <a:latin typeface="Calibri" pitchFamily="34" charset="0"/>
                <a:ea typeface="Calibri" pitchFamily="34" charset="-122"/>
                <a:cs typeface="Calibri" pitchFamily="34" charset="-120"/>
              </a:rPr>
              <a:t>— FUNDING SURVEILLANCE &amp; RESPONSE SYSTEM</a:t>
            </a:r>
            <a:endParaRPr lang="en-US" sz="680" dirty="0"/>
          </a:p>
        </p:txBody>
      </p:sp>
      <p:sp>
        <p:nvSpPr>
          <p:cNvPr id="59" name="Text 56"/>
          <p:cNvSpPr/>
          <p:nvPr/>
        </p:nvSpPr>
        <p:spPr>
          <a:xfrm>
            <a:off x="0" y="5114330"/>
            <a:ext cx="9144000" cy="29170"/>
          </a:xfrm>
          <a:prstGeom prst="rect">
            <a:avLst/>
          </a:prstGeom>
          <a:gradFill rotWithShape="1">
            <a:gsLst>
              <a:gs pos="0">
                <a:srgbClr val="000000">
                  <a:alpha val="0"/>
                </a:srgbClr>
              </a:gs>
              <a:gs pos="20000">
                <a:srgbClr val="E8A020">
                  <a:alpha val="60000"/>
                </a:srgbClr>
              </a:gs>
              <a:gs pos="80000">
                <a:srgbClr val="E8A020">
                  <a:alpha val="60000"/>
                </a:srgbClr>
              </a:gs>
              <a:gs pos="100000">
                <a:srgbClr val="000000">
                  <a:alpha val="0"/>
                </a:srgbClr>
              </a:gs>
            </a:gsLst>
            <a:lin ang="0" scaled="1"/>
          </a:gradFill>
          <a:ln/>
        </p:spPr>
        <p:txBody>
          <a:bodyPr wrap="none" rtlCol="0" anchor="t"/>
          <a:lstStyle/>
          <a:p>
            <a:pPr marL="0" indent="0">
              <a:buNone/>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6294" y="276883"/>
            <a:ext cx="9144000" cy="29170"/>
          </a:xfrm>
          <a:prstGeom prst="rect">
            <a:avLst/>
          </a:prstGeom>
          <a:gradFill rotWithShape="1">
            <a:gsLst>
              <a:gs pos="0">
                <a:srgbClr val="000000">
                  <a:alpha val="0"/>
                </a:srgbClr>
              </a:gs>
              <a:gs pos="30000">
                <a:srgbClr val="E8A020"/>
              </a:gs>
              <a:gs pos="50000">
                <a:srgbClr val="F5C05A"/>
              </a:gs>
              <a:gs pos="70000">
                <a:srgbClr val="E8A020"/>
              </a:gs>
              <a:gs pos="100000">
                <a:srgbClr val="000000">
                  <a:alpha val="0"/>
                </a:srgbClr>
              </a:gs>
            </a:gsLst>
            <a:lin ang="0" scaled="1"/>
          </a:gradFill>
          <a:ln/>
        </p:spPr>
        <p:txBody>
          <a:bodyPr wrap="none" rtlCol="0" anchor="t"/>
          <a:lstStyle/>
          <a:p>
            <a:pPr marL="0" indent="0">
              <a:buNone/>
            </a:pPr>
            <a:endParaRPr lang="en-US"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0050" y="499548"/>
            <a:ext cx="150465" cy="150465"/>
          </a:xfrm>
          <a:prstGeom prst="rect">
            <a:avLst/>
          </a:prstGeom>
        </p:spPr>
      </p:pic>
      <p:sp>
        <p:nvSpPr>
          <p:cNvPr id="4" name="Text 1"/>
          <p:cNvSpPr/>
          <p:nvPr/>
        </p:nvSpPr>
        <p:spPr>
          <a:xfrm>
            <a:off x="650825" y="413823"/>
            <a:ext cx="4940451" cy="321915"/>
          </a:xfrm>
          <a:prstGeom prst="rect">
            <a:avLst/>
          </a:prstGeom>
          <a:noFill/>
          <a:ln/>
        </p:spPr>
        <p:txBody>
          <a:bodyPr wrap="none" lIns="0" tIns="0" rIns="0" bIns="0" rtlCol="0" anchor="ctr"/>
          <a:lstStyle/>
          <a:p>
            <a:pPr marL="0" indent="0" algn="l">
              <a:lnSpc>
                <a:spcPts val="2535"/>
              </a:lnSpc>
              <a:buNone/>
            </a:pPr>
            <a:r>
              <a:rPr lang="en-US" sz="1690" b="1" kern="0" spc="-17" dirty="0">
                <a:solidFill>
                  <a:srgbClr val="0D1B3E"/>
                </a:solidFill>
                <a:latin typeface="Calibri Light" pitchFamily="34" charset="0"/>
                <a:ea typeface="Calibri Light" pitchFamily="34" charset="-122"/>
                <a:cs typeface="Calibri Light" pitchFamily="34" charset="-120"/>
              </a:rPr>
              <a:t>Your 90-Day </a:t>
            </a:r>
            <a:r>
              <a:rPr lang="en-US" sz="1690" b="1" kern="0" spc="-17">
                <a:solidFill>
                  <a:srgbClr val="0D1B3E"/>
                </a:solidFill>
                <a:latin typeface="Calibri Light" pitchFamily="34" charset="0"/>
                <a:ea typeface="Calibri Light" pitchFamily="34" charset="-122"/>
                <a:cs typeface="Calibri Light" pitchFamily="34" charset="-120"/>
              </a:rPr>
              <a:t>FSR</a:t>
            </a:r>
            <a:r>
              <a:rPr lang="en-US" sz="1690" b="1" kern="0" spc="-17" dirty="0">
                <a:solidFill>
                  <a:srgbClr val="0D1B3E"/>
                </a:solidFill>
                <a:latin typeface="Calibri Light" pitchFamily="34" charset="0"/>
                <a:ea typeface="Calibri Light" pitchFamily="34" charset="-122"/>
                <a:cs typeface="Calibri Light" pitchFamily="34" charset="-120"/>
              </a:rPr>
              <a:t> Implementation Roadmap</a:t>
            </a:r>
            <a:endParaRPr lang="en-US" sz="1690" dirty="0"/>
          </a:p>
        </p:txBody>
      </p:sp>
      <p:sp>
        <p:nvSpPr>
          <p:cNvPr id="5" name="Text 2"/>
          <p:cNvSpPr/>
          <p:nvPr/>
        </p:nvSpPr>
        <p:spPr>
          <a:xfrm>
            <a:off x="699641" y="764908"/>
            <a:ext cx="8044309" cy="13841"/>
          </a:xfrm>
          <a:prstGeom prst="rect">
            <a:avLst/>
          </a:prstGeom>
          <a:gradFill rotWithShape="1">
            <a:gsLst>
              <a:gs pos="0">
                <a:srgbClr val="E8A020"/>
              </a:gs>
              <a:gs pos="60000">
                <a:srgbClr val="E8A020">
                  <a:alpha val="20000"/>
                </a:srgbClr>
              </a:gs>
              <a:gs pos="100000">
                <a:srgbClr val="000000">
                  <a:alpha val="0"/>
                </a:srgbClr>
              </a:gs>
            </a:gsLst>
            <a:lin ang="0" scaled="1"/>
          </a:gradFill>
          <a:ln/>
        </p:spPr>
        <p:txBody>
          <a:bodyPr wrap="none" rtlCol="0" anchor="t"/>
          <a:lstStyle/>
          <a:p>
            <a:pPr marL="0" indent="0">
              <a:buNone/>
            </a:pPr>
            <a:endParaRPr lang="en-US" dirty="0"/>
          </a:p>
        </p:txBody>
      </p:sp>
      <p:sp>
        <p:nvSpPr>
          <p:cNvPr id="6" name="Text 3"/>
          <p:cNvSpPr/>
          <p:nvPr/>
        </p:nvSpPr>
        <p:spPr>
          <a:xfrm>
            <a:off x="598983" y="1389490"/>
            <a:ext cx="2339316" cy="1411039"/>
          </a:xfrm>
          <a:prstGeom prst="roundRect">
            <a:avLst>
              <a:gd name="adj" fmla="val 6120"/>
            </a:avLst>
          </a:prstGeom>
          <a:solidFill>
            <a:srgbClr val="F0F4F8"/>
          </a:solidFill>
          <a:ln w="9525">
            <a:solidFill>
              <a:srgbClr val="E8A020">
                <a:alpha val="30000"/>
              </a:srgbClr>
            </a:solidFill>
          </a:ln>
        </p:spPr>
        <p:txBody>
          <a:bodyPr wrap="square" rtlCol="0" anchor="t"/>
          <a:lstStyle/>
          <a:p>
            <a:pPr marL="0" indent="0">
              <a:buNone/>
            </a:pPr>
            <a:endParaRPr lang="en-US" dirty="0"/>
          </a:p>
        </p:txBody>
      </p:sp>
      <p:sp>
        <p:nvSpPr>
          <p:cNvPr id="7" name="Text 4"/>
          <p:cNvSpPr/>
          <p:nvPr/>
        </p:nvSpPr>
        <p:spPr>
          <a:xfrm>
            <a:off x="2621379" y="1008687"/>
            <a:ext cx="200620" cy="220682"/>
          </a:xfrm>
          <a:prstGeom prst="ellipse">
            <a:avLst/>
          </a:prstGeom>
          <a:solidFill>
            <a:srgbClr val="FFFFFF"/>
          </a:solidFill>
          <a:ln w="9525">
            <a:solidFill>
              <a:srgbClr val="E8A020"/>
            </a:solidFill>
          </a:ln>
        </p:spPr>
        <p:txBody>
          <a:bodyPr wrap="none" lIns="0" tIns="0" rIns="0" bIns="0" rtlCol="0" anchor="ctr"/>
          <a:lstStyle/>
          <a:p>
            <a:pPr marL="0" indent="0" algn="ctr">
              <a:buNone/>
            </a:pPr>
            <a:r>
              <a:rPr lang="en-US" sz="949" b="1" dirty="0">
                <a:solidFill>
                  <a:srgbClr val="E8A020"/>
                </a:solidFill>
                <a:latin typeface="Calibri" pitchFamily="34" charset="0"/>
                <a:ea typeface="Calibri" pitchFamily="34" charset="-122"/>
                <a:cs typeface="Calibri" pitchFamily="34" charset="-120"/>
              </a:rPr>
              <a:t>1</a:t>
            </a:r>
            <a:endParaRPr lang="en-US" sz="949" dirty="0"/>
          </a:p>
        </p:txBody>
      </p:sp>
      <p:sp>
        <p:nvSpPr>
          <p:cNvPr id="8" name="Text 5"/>
          <p:cNvSpPr/>
          <p:nvPr/>
        </p:nvSpPr>
        <p:spPr>
          <a:xfrm>
            <a:off x="673447" y="1369571"/>
            <a:ext cx="1167885" cy="171450"/>
          </a:xfrm>
          <a:prstGeom prst="rect">
            <a:avLst/>
          </a:prstGeom>
          <a:noFill/>
          <a:ln/>
        </p:spPr>
        <p:txBody>
          <a:bodyPr wrap="none" lIns="0" tIns="0" rIns="0" bIns="0" rtlCol="0" anchor="t"/>
          <a:lstStyle/>
          <a:p>
            <a:pPr marL="0" indent="0" algn="l">
              <a:lnSpc>
                <a:spcPts val="1755"/>
              </a:lnSpc>
              <a:buNone/>
            </a:pPr>
            <a:r>
              <a:rPr lang="en-US" sz="1035" b="1" kern="0" spc="90" dirty="0">
                <a:solidFill>
                  <a:srgbClr val="E8A020"/>
                </a:solidFill>
                <a:latin typeface="Calibri Light" pitchFamily="34" charset="0"/>
                <a:ea typeface="Calibri Light" pitchFamily="34" charset="-122"/>
                <a:cs typeface="Calibri Light" pitchFamily="34" charset="-120"/>
              </a:rPr>
              <a:t>PHASE 1 — AUDIT</a:t>
            </a:r>
            <a:endParaRPr lang="en-US" sz="1035" dirty="0"/>
          </a:p>
        </p:txBody>
      </p:sp>
      <p:pic>
        <p:nvPicPr>
          <p:cNvPr id="9" name="Image 1" descr="preencoded.png"/>
          <p:cNvPicPr>
            <a:picLocks noChangeAspect="1"/>
          </p:cNvPicPr>
          <p:nvPr/>
        </p:nvPicPr>
        <p:blipFill>
          <a:blip>
            <a:alphaModFix amt="85000"/>
            <a:extLst>
              <a:ext uri="{96DAC541-7B7A-43D3-8B79-37D633B846F1}">
                <asvg:svgBlip xmlns:asvg="http://schemas.microsoft.com/office/drawing/2016/SVG/main" r:embed="rId4"/>
              </a:ext>
            </a:extLst>
          </a:blip>
          <a:stretch>
            <a:fillRect/>
          </a:stretch>
        </p:blipFill>
        <p:spPr>
          <a:xfrm>
            <a:off x="631206" y="1665765"/>
            <a:ext cx="155238" cy="155238"/>
          </a:xfrm>
          <a:prstGeom prst="rect">
            <a:avLst/>
          </a:prstGeom>
        </p:spPr>
      </p:pic>
      <p:sp>
        <p:nvSpPr>
          <p:cNvPr id="10" name="Text 6"/>
          <p:cNvSpPr/>
          <p:nvPr/>
        </p:nvSpPr>
        <p:spPr>
          <a:xfrm>
            <a:off x="820363" y="1690266"/>
            <a:ext cx="1571179" cy="149275"/>
          </a:xfrm>
          <a:prstGeom prst="rect">
            <a:avLst/>
          </a:prstGeom>
          <a:noFill/>
          <a:ln/>
        </p:spPr>
        <p:txBody>
          <a:bodyPr wrap="none" lIns="0" tIns="0" rIns="0" bIns="0" rtlCol="0" anchor="ctr"/>
          <a:lstStyle/>
          <a:p>
            <a:pPr marL="0" indent="0" algn="l">
              <a:lnSpc>
                <a:spcPts val="1528"/>
              </a:lnSpc>
              <a:buNone/>
            </a:pPr>
            <a:r>
              <a:rPr lang="en-US" sz="1092" dirty="0">
                <a:solidFill>
                  <a:srgbClr val="0D1B3E"/>
                </a:solidFill>
                <a:latin typeface="Calibri" pitchFamily="34" charset="0"/>
                <a:ea typeface="Calibri" pitchFamily="34" charset="-122"/>
                <a:cs typeface="Calibri" pitchFamily="34" charset="-120"/>
              </a:rPr>
              <a:t>Score your top 2–3 FSR pillars</a:t>
            </a:r>
            <a:endParaRPr lang="en-US" sz="1092" dirty="0"/>
          </a:p>
        </p:txBody>
      </p:sp>
      <p:pic>
        <p:nvPicPr>
          <p:cNvPr id="11" name="Image 2" descr="preencoded.png"/>
          <p:cNvPicPr>
            <a:picLocks noChangeAspect="1"/>
          </p:cNvPicPr>
          <p:nvPr/>
        </p:nvPicPr>
        <p:blipFill>
          <a:blip>
            <a:alphaModFix amt="85000"/>
            <a:extLst>
              <a:ext uri="{96DAC541-7B7A-43D3-8B79-37D633B846F1}">
                <asvg:svgBlip xmlns:asvg="http://schemas.microsoft.com/office/drawing/2016/SVG/main" r:embed="rId5"/>
              </a:ext>
            </a:extLst>
          </a:blip>
          <a:stretch>
            <a:fillRect/>
          </a:stretch>
        </p:blipFill>
        <p:spPr>
          <a:xfrm>
            <a:off x="611618" y="1998001"/>
            <a:ext cx="132588" cy="132588"/>
          </a:xfrm>
          <a:prstGeom prst="rect">
            <a:avLst/>
          </a:prstGeom>
        </p:spPr>
      </p:pic>
      <p:sp>
        <p:nvSpPr>
          <p:cNvPr id="12" name="Text 7"/>
          <p:cNvSpPr/>
          <p:nvPr/>
        </p:nvSpPr>
        <p:spPr>
          <a:xfrm>
            <a:off x="820363" y="1988231"/>
            <a:ext cx="1707014" cy="149275"/>
          </a:xfrm>
          <a:prstGeom prst="rect">
            <a:avLst/>
          </a:prstGeom>
          <a:noFill/>
          <a:ln/>
        </p:spPr>
        <p:txBody>
          <a:bodyPr wrap="none" lIns="0" tIns="0" rIns="0" bIns="0" rtlCol="0" anchor="ctr"/>
          <a:lstStyle/>
          <a:p>
            <a:pPr marL="0" indent="0" algn="l">
              <a:lnSpc>
                <a:spcPts val="1528"/>
              </a:lnSpc>
              <a:buNone/>
            </a:pPr>
            <a:r>
              <a:rPr lang="en-US" sz="1092" dirty="0">
                <a:solidFill>
                  <a:srgbClr val="0D1B3E"/>
                </a:solidFill>
                <a:latin typeface="Calibri" pitchFamily="34" charset="0"/>
                <a:ea typeface="Calibri" pitchFamily="34" charset="-122"/>
                <a:cs typeface="Calibri" pitchFamily="34" charset="-120"/>
              </a:rPr>
              <a:t>Map your current funder portfolio</a:t>
            </a:r>
            <a:endParaRPr lang="en-US" sz="1092" dirty="0"/>
          </a:p>
        </p:txBody>
      </p:sp>
      <p:pic>
        <p:nvPicPr>
          <p:cNvPr id="13" name="Image 3" descr="preencoded.png"/>
          <p:cNvPicPr>
            <a:picLocks noChangeAspect="1"/>
          </p:cNvPicPr>
          <p:nvPr/>
        </p:nvPicPr>
        <p:blipFill>
          <a:blip>
            <a:alphaModFix amt="85000"/>
            <a:extLst>
              <a:ext uri="{96DAC541-7B7A-43D3-8B79-37D633B846F1}">
                <asvg:svgBlip xmlns:asvg="http://schemas.microsoft.com/office/drawing/2016/SVG/main" r:embed="rId6"/>
              </a:ext>
            </a:extLst>
          </a:blip>
          <a:stretch>
            <a:fillRect/>
          </a:stretch>
        </p:blipFill>
        <p:spPr>
          <a:xfrm>
            <a:off x="623624" y="2258929"/>
            <a:ext cx="132588" cy="132588"/>
          </a:xfrm>
          <a:prstGeom prst="rect">
            <a:avLst/>
          </a:prstGeom>
        </p:spPr>
      </p:pic>
      <p:sp>
        <p:nvSpPr>
          <p:cNvPr id="14" name="Text 8"/>
          <p:cNvSpPr/>
          <p:nvPr/>
        </p:nvSpPr>
        <p:spPr>
          <a:xfrm>
            <a:off x="838400" y="2258929"/>
            <a:ext cx="1120765" cy="149275"/>
          </a:xfrm>
          <a:prstGeom prst="rect">
            <a:avLst/>
          </a:prstGeom>
          <a:noFill/>
          <a:ln/>
        </p:spPr>
        <p:txBody>
          <a:bodyPr wrap="none" lIns="0" tIns="0" rIns="0" bIns="0" rtlCol="0" anchor="ctr"/>
          <a:lstStyle/>
          <a:p>
            <a:pPr marL="0" indent="0" algn="l">
              <a:lnSpc>
                <a:spcPts val="1528"/>
              </a:lnSpc>
              <a:buNone/>
            </a:pPr>
            <a:r>
              <a:rPr lang="en-US" sz="1092" dirty="0">
                <a:solidFill>
                  <a:srgbClr val="0D1B3E"/>
                </a:solidFill>
                <a:latin typeface="Calibri" pitchFamily="34" charset="0"/>
                <a:ea typeface="Calibri" pitchFamily="34" charset="-122"/>
                <a:cs typeface="Calibri" pitchFamily="34" charset="-120"/>
              </a:rPr>
              <a:t>Identify funding gaps</a:t>
            </a:r>
            <a:endParaRPr lang="en-US" sz="1092" dirty="0"/>
          </a:p>
        </p:txBody>
      </p:sp>
      <p:pic>
        <p:nvPicPr>
          <p:cNvPr id="15" name="Image 4" descr="preencoded.png"/>
          <p:cNvPicPr>
            <a:picLocks noChangeAspect="1"/>
          </p:cNvPicPr>
          <p:nvPr/>
        </p:nvPicPr>
        <p:blipFill>
          <a:blip>
            <a:alphaModFix amt="85000"/>
            <a:extLst>
              <a:ext uri="{96DAC541-7B7A-43D3-8B79-37D633B846F1}">
                <asvg:svgBlip xmlns:asvg="http://schemas.microsoft.com/office/drawing/2016/SVG/main" r:embed="rId7"/>
              </a:ext>
            </a:extLst>
          </a:blip>
          <a:stretch>
            <a:fillRect/>
          </a:stretch>
        </p:blipFill>
        <p:spPr>
          <a:xfrm>
            <a:off x="618538" y="2512478"/>
            <a:ext cx="132588" cy="132588"/>
          </a:xfrm>
          <a:prstGeom prst="rect">
            <a:avLst/>
          </a:prstGeom>
        </p:spPr>
      </p:pic>
      <p:sp>
        <p:nvSpPr>
          <p:cNvPr id="16" name="Text 9"/>
          <p:cNvSpPr/>
          <p:nvPr/>
        </p:nvSpPr>
        <p:spPr>
          <a:xfrm>
            <a:off x="798685" y="2522643"/>
            <a:ext cx="1863849" cy="149275"/>
          </a:xfrm>
          <a:prstGeom prst="rect">
            <a:avLst/>
          </a:prstGeom>
          <a:noFill/>
          <a:ln/>
        </p:spPr>
        <p:txBody>
          <a:bodyPr wrap="none" lIns="0" tIns="0" rIns="0" bIns="0" rtlCol="0" anchor="ctr"/>
          <a:lstStyle/>
          <a:p>
            <a:pPr marL="0" indent="0" algn="l">
              <a:lnSpc>
                <a:spcPts val="1528"/>
              </a:lnSpc>
              <a:buNone/>
            </a:pPr>
            <a:r>
              <a:rPr lang="en-US" sz="1092" dirty="0">
                <a:solidFill>
                  <a:srgbClr val="0D1B3E"/>
                </a:solidFill>
                <a:latin typeface="Calibri" pitchFamily="34" charset="0"/>
                <a:ea typeface="Calibri" pitchFamily="34" charset="-122"/>
                <a:cs typeface="Calibri" pitchFamily="34" charset="-120"/>
              </a:rPr>
              <a:t>Designate a point person for funding</a:t>
            </a:r>
            <a:endParaRPr lang="en-US" sz="1092" dirty="0"/>
          </a:p>
        </p:txBody>
      </p:sp>
      <p:sp>
        <p:nvSpPr>
          <p:cNvPr id="17" name="Text 10"/>
          <p:cNvSpPr/>
          <p:nvPr/>
        </p:nvSpPr>
        <p:spPr>
          <a:xfrm>
            <a:off x="1584275" y="3459424"/>
            <a:ext cx="133350" cy="85725"/>
          </a:xfrm>
          <a:prstGeom prst="triangle">
            <a:avLst/>
          </a:prstGeom>
          <a:solidFill>
            <a:srgbClr val="F0F4F8"/>
          </a:solidFill>
          <a:ln/>
        </p:spPr>
        <p:txBody>
          <a:bodyPr wrap="none" rtlCol="0" anchor="t"/>
          <a:lstStyle/>
          <a:p>
            <a:pPr marL="0" indent="0">
              <a:buNone/>
            </a:pPr>
            <a:endParaRPr lang="en-US" dirty="0"/>
          </a:p>
        </p:txBody>
      </p:sp>
      <p:sp>
        <p:nvSpPr>
          <p:cNvPr id="18" name="Text 11"/>
          <p:cNvSpPr/>
          <p:nvPr/>
        </p:nvSpPr>
        <p:spPr>
          <a:xfrm>
            <a:off x="3385942" y="1391462"/>
            <a:ext cx="2214860" cy="1560314"/>
          </a:xfrm>
          <a:prstGeom prst="roundRect">
            <a:avLst>
              <a:gd name="adj" fmla="val 5535"/>
            </a:avLst>
          </a:prstGeom>
          <a:solidFill>
            <a:srgbClr val="F0F4F8"/>
          </a:solidFill>
          <a:ln w="9525">
            <a:solidFill>
              <a:srgbClr val="E8A020">
                <a:alpha val="30000"/>
              </a:srgbClr>
            </a:solidFill>
          </a:ln>
        </p:spPr>
        <p:txBody>
          <a:bodyPr wrap="square" rtlCol="0" anchor="t"/>
          <a:lstStyle/>
          <a:p>
            <a:pPr marL="0" indent="0">
              <a:buNone/>
            </a:pPr>
            <a:endParaRPr lang="en-US" dirty="0"/>
          </a:p>
        </p:txBody>
      </p:sp>
      <p:sp>
        <p:nvSpPr>
          <p:cNvPr id="19" name="Text 12"/>
          <p:cNvSpPr/>
          <p:nvPr/>
        </p:nvSpPr>
        <p:spPr>
          <a:xfrm>
            <a:off x="5341144" y="996508"/>
            <a:ext cx="200620" cy="220682"/>
          </a:xfrm>
          <a:prstGeom prst="ellipse">
            <a:avLst/>
          </a:prstGeom>
          <a:solidFill>
            <a:srgbClr val="FFFFFF"/>
          </a:solidFill>
          <a:ln w="9525">
            <a:solidFill>
              <a:srgbClr val="E8A020"/>
            </a:solidFill>
          </a:ln>
        </p:spPr>
        <p:txBody>
          <a:bodyPr wrap="none" lIns="0" tIns="0" rIns="0" bIns="0" rtlCol="0" anchor="ctr"/>
          <a:lstStyle/>
          <a:p>
            <a:pPr marL="0" indent="0" algn="ctr">
              <a:buNone/>
            </a:pPr>
            <a:r>
              <a:rPr lang="en-US" sz="949" b="1" dirty="0">
                <a:solidFill>
                  <a:srgbClr val="E8A020"/>
                </a:solidFill>
                <a:latin typeface="Calibri" pitchFamily="34" charset="0"/>
                <a:ea typeface="Calibri" pitchFamily="34" charset="-122"/>
                <a:cs typeface="Calibri" pitchFamily="34" charset="-120"/>
              </a:rPr>
              <a:t>2</a:t>
            </a:r>
            <a:endParaRPr lang="en-US" sz="949" dirty="0"/>
          </a:p>
        </p:txBody>
      </p:sp>
      <p:sp>
        <p:nvSpPr>
          <p:cNvPr id="20" name="Text 13"/>
          <p:cNvSpPr/>
          <p:nvPr/>
        </p:nvSpPr>
        <p:spPr>
          <a:xfrm>
            <a:off x="3470835" y="1397108"/>
            <a:ext cx="2068979" cy="171450"/>
          </a:xfrm>
          <a:prstGeom prst="rect">
            <a:avLst/>
          </a:prstGeom>
          <a:noFill/>
          <a:ln/>
        </p:spPr>
        <p:txBody>
          <a:bodyPr wrap="none" lIns="0" tIns="0" rIns="0" bIns="0" rtlCol="0" anchor="ctr"/>
          <a:lstStyle/>
          <a:p>
            <a:pPr marL="0" indent="0" algn="l">
              <a:lnSpc>
                <a:spcPts val="1755"/>
              </a:lnSpc>
              <a:buNone/>
            </a:pPr>
            <a:r>
              <a:rPr lang="en-US" sz="1035" b="1" kern="0" spc="90" dirty="0">
                <a:solidFill>
                  <a:srgbClr val="E8A020"/>
                </a:solidFill>
                <a:latin typeface="Calibri Light" pitchFamily="34" charset="0"/>
                <a:ea typeface="Calibri Light" pitchFamily="34" charset="-122"/>
                <a:cs typeface="Calibri Light" pitchFamily="34" charset="-120"/>
              </a:rPr>
              <a:t>PHASE 2 — BUILD</a:t>
            </a:r>
            <a:endParaRPr lang="en-US" sz="1035" dirty="0"/>
          </a:p>
        </p:txBody>
      </p:sp>
      <p:pic>
        <p:nvPicPr>
          <p:cNvPr id="21" name="Image 5" descr="preencoded.png"/>
          <p:cNvPicPr>
            <a:picLocks noChangeAspect="1"/>
          </p:cNvPicPr>
          <p:nvPr/>
        </p:nvPicPr>
        <p:blipFill>
          <a:blip>
            <a:alphaModFix amt="85000"/>
            <a:extLst>
              <a:ext uri="{96DAC541-7B7A-43D3-8B79-37D633B846F1}">
                <asvg:svgBlip xmlns:asvg="http://schemas.microsoft.com/office/drawing/2016/SVG/main" r:embed="rId8"/>
              </a:ext>
            </a:extLst>
          </a:blip>
          <a:stretch>
            <a:fillRect/>
          </a:stretch>
        </p:blipFill>
        <p:spPr>
          <a:xfrm>
            <a:off x="3435669" y="1683613"/>
            <a:ext cx="132588" cy="132588"/>
          </a:xfrm>
          <a:prstGeom prst="rect">
            <a:avLst/>
          </a:prstGeom>
        </p:spPr>
      </p:pic>
      <p:sp>
        <p:nvSpPr>
          <p:cNvPr id="22" name="Text 14"/>
          <p:cNvSpPr/>
          <p:nvPr/>
        </p:nvSpPr>
        <p:spPr>
          <a:xfrm>
            <a:off x="3615816" y="1685465"/>
            <a:ext cx="1140247" cy="149275"/>
          </a:xfrm>
          <a:prstGeom prst="rect">
            <a:avLst/>
          </a:prstGeom>
          <a:noFill/>
          <a:ln/>
        </p:spPr>
        <p:txBody>
          <a:bodyPr wrap="none" lIns="0" tIns="0" rIns="0" bIns="0" rtlCol="0" anchor="ctr"/>
          <a:lstStyle/>
          <a:p>
            <a:pPr marL="0" indent="0" algn="l">
              <a:lnSpc>
                <a:spcPts val="1528"/>
              </a:lnSpc>
              <a:buNone/>
            </a:pPr>
            <a:r>
              <a:rPr lang="en-US" sz="1092" dirty="0">
                <a:solidFill>
                  <a:srgbClr val="0D1B3E"/>
                </a:solidFill>
                <a:latin typeface="Calibri" pitchFamily="34" charset="0"/>
                <a:ea typeface="Calibri" pitchFamily="34" charset="-122"/>
                <a:cs typeface="Calibri" pitchFamily="34" charset="-120"/>
              </a:rPr>
              <a:t>Set up scanning tools</a:t>
            </a:r>
            <a:endParaRPr lang="en-US" sz="1092" dirty="0"/>
          </a:p>
        </p:txBody>
      </p:sp>
      <p:pic>
        <p:nvPicPr>
          <p:cNvPr id="23" name="Image 6" descr="preencoded.png"/>
          <p:cNvPicPr>
            <a:picLocks noChangeAspect="1"/>
          </p:cNvPicPr>
          <p:nvPr/>
        </p:nvPicPr>
        <p:blipFill>
          <a:blip>
            <a:alphaModFix amt="85000"/>
            <a:extLst>
              <a:ext uri="{96DAC541-7B7A-43D3-8B79-37D633B846F1}">
                <asvg:svgBlip xmlns:asvg="http://schemas.microsoft.com/office/drawing/2016/SVG/main" r:embed="rId9"/>
              </a:ext>
            </a:extLst>
          </a:blip>
          <a:stretch>
            <a:fillRect/>
          </a:stretch>
        </p:blipFill>
        <p:spPr>
          <a:xfrm>
            <a:off x="3418341" y="1986424"/>
            <a:ext cx="132588" cy="132588"/>
          </a:xfrm>
          <a:prstGeom prst="rect">
            <a:avLst/>
          </a:prstGeom>
        </p:spPr>
      </p:pic>
      <p:sp>
        <p:nvSpPr>
          <p:cNvPr id="24" name="Text 15"/>
          <p:cNvSpPr/>
          <p:nvPr/>
        </p:nvSpPr>
        <p:spPr>
          <a:xfrm>
            <a:off x="3598488" y="1988275"/>
            <a:ext cx="1680984" cy="149275"/>
          </a:xfrm>
          <a:prstGeom prst="rect">
            <a:avLst/>
          </a:prstGeom>
          <a:noFill/>
          <a:ln/>
        </p:spPr>
        <p:txBody>
          <a:bodyPr wrap="none" lIns="0" tIns="0" rIns="0" bIns="0" rtlCol="0" anchor="ctr"/>
          <a:lstStyle/>
          <a:p>
            <a:pPr marL="0" indent="0" algn="l">
              <a:lnSpc>
                <a:spcPts val="1528"/>
              </a:lnSpc>
              <a:buNone/>
            </a:pPr>
            <a:r>
              <a:rPr lang="en-US" sz="1092">
                <a:solidFill>
                  <a:srgbClr val="0D1B3E"/>
                </a:solidFill>
                <a:latin typeface="Calibri" pitchFamily="34" charset="0"/>
                <a:ea typeface="Calibri" pitchFamily="34" charset="-122"/>
                <a:cs typeface="Calibri" pitchFamily="34" charset="-120"/>
              </a:rPr>
              <a:t>Draft your Opportunity Calendar</a:t>
            </a:r>
            <a:endParaRPr lang="en-US" sz="1092"/>
          </a:p>
        </p:txBody>
      </p:sp>
      <p:pic>
        <p:nvPicPr>
          <p:cNvPr id="25" name="Image 7" descr="preencoded.png"/>
          <p:cNvPicPr>
            <a:picLocks noChangeAspect="1"/>
          </p:cNvPicPr>
          <p:nvPr/>
        </p:nvPicPr>
        <p:blipFill>
          <a:blip>
            <a:alphaModFix amt="85000"/>
            <a:extLst>
              <a:ext uri="{96DAC541-7B7A-43D3-8B79-37D633B846F1}">
                <asvg:svgBlip xmlns:asvg="http://schemas.microsoft.com/office/drawing/2016/SVG/main" r:embed="rId10"/>
              </a:ext>
            </a:extLst>
          </a:blip>
          <a:stretch>
            <a:fillRect/>
          </a:stretch>
        </p:blipFill>
        <p:spPr>
          <a:xfrm>
            <a:off x="3447096" y="2271936"/>
            <a:ext cx="132588" cy="132588"/>
          </a:xfrm>
          <a:prstGeom prst="rect">
            <a:avLst/>
          </a:prstGeom>
        </p:spPr>
      </p:pic>
      <p:sp>
        <p:nvSpPr>
          <p:cNvPr id="26" name="Text 16"/>
          <p:cNvSpPr/>
          <p:nvPr/>
        </p:nvSpPr>
        <p:spPr>
          <a:xfrm>
            <a:off x="3627243" y="2273787"/>
            <a:ext cx="1407259" cy="149275"/>
          </a:xfrm>
          <a:prstGeom prst="rect">
            <a:avLst/>
          </a:prstGeom>
          <a:noFill/>
          <a:ln/>
        </p:spPr>
        <p:txBody>
          <a:bodyPr wrap="none" lIns="0" tIns="0" rIns="0" bIns="0" rtlCol="0" anchor="ctr"/>
          <a:lstStyle/>
          <a:p>
            <a:pPr marL="0" indent="0" algn="l">
              <a:lnSpc>
                <a:spcPts val="1528"/>
              </a:lnSpc>
              <a:buNone/>
            </a:pPr>
            <a:r>
              <a:rPr lang="en-US" sz="1092">
                <a:solidFill>
                  <a:srgbClr val="0D1B3E"/>
                </a:solidFill>
                <a:latin typeface="Calibri" pitchFamily="34" charset="0"/>
                <a:ea typeface="Calibri" pitchFamily="34" charset="-122"/>
                <a:cs typeface="Calibri" pitchFamily="34" charset="-120"/>
              </a:rPr>
              <a:t>Create your Scoring Matrix</a:t>
            </a:r>
            <a:endParaRPr lang="en-US" sz="1092"/>
          </a:p>
        </p:txBody>
      </p:sp>
      <p:pic>
        <p:nvPicPr>
          <p:cNvPr id="27" name="Image 8" descr="preencoded.png"/>
          <p:cNvPicPr>
            <a:picLocks noChangeAspect="1"/>
          </p:cNvPicPr>
          <p:nvPr/>
        </p:nvPicPr>
        <p:blipFill>
          <a:blip>
            <a:alphaModFix amt="85000"/>
            <a:extLst>
              <a:ext uri="{96DAC541-7B7A-43D3-8B79-37D633B846F1}">
                <asvg:svgBlip xmlns:asvg="http://schemas.microsoft.com/office/drawing/2016/SVG/main" r:embed="rId11"/>
              </a:ext>
            </a:extLst>
          </a:blip>
          <a:stretch>
            <a:fillRect/>
          </a:stretch>
        </p:blipFill>
        <p:spPr>
          <a:xfrm>
            <a:off x="3435594" y="2522944"/>
            <a:ext cx="132588" cy="132588"/>
          </a:xfrm>
          <a:prstGeom prst="rect">
            <a:avLst/>
          </a:prstGeom>
        </p:spPr>
      </p:pic>
      <p:sp>
        <p:nvSpPr>
          <p:cNvPr id="28" name="Text 17"/>
          <p:cNvSpPr/>
          <p:nvPr/>
        </p:nvSpPr>
        <p:spPr>
          <a:xfrm>
            <a:off x="3615741" y="2524796"/>
            <a:ext cx="1758657" cy="313477"/>
          </a:xfrm>
          <a:prstGeom prst="rect">
            <a:avLst/>
          </a:prstGeom>
          <a:noFill/>
          <a:ln/>
        </p:spPr>
        <p:txBody>
          <a:bodyPr wrap="square" lIns="0" tIns="0" rIns="0" bIns="0" rtlCol="0" anchor="ctr"/>
          <a:lstStyle/>
          <a:p>
            <a:pPr marL="0" indent="0" algn="l">
              <a:lnSpc>
                <a:spcPts val="1528"/>
              </a:lnSpc>
              <a:buNone/>
            </a:pPr>
            <a:r>
              <a:rPr lang="en-US" sz="1092">
                <a:solidFill>
                  <a:srgbClr val="0D1B3E"/>
                </a:solidFill>
                <a:latin typeface="Calibri" pitchFamily="34" charset="0"/>
                <a:ea typeface="Calibri" pitchFamily="34" charset="-122"/>
                <a:cs typeface="Calibri" pitchFamily="34" charset="-120"/>
              </a:rPr>
              <a:t>Schedule quarterly funding check-ins</a:t>
            </a:r>
            <a:endParaRPr lang="en-US" sz="1092"/>
          </a:p>
        </p:txBody>
      </p:sp>
      <p:sp>
        <p:nvSpPr>
          <p:cNvPr id="29" name="Text 18"/>
          <p:cNvSpPr/>
          <p:nvPr/>
        </p:nvSpPr>
        <p:spPr>
          <a:xfrm>
            <a:off x="4505325" y="3459424"/>
            <a:ext cx="133350" cy="85725"/>
          </a:xfrm>
          <a:prstGeom prst="triangle">
            <a:avLst/>
          </a:prstGeom>
          <a:solidFill>
            <a:srgbClr val="F0F4F8"/>
          </a:solidFill>
          <a:ln/>
        </p:spPr>
        <p:txBody>
          <a:bodyPr wrap="none" rtlCol="0" anchor="t"/>
          <a:lstStyle/>
          <a:p>
            <a:pPr marL="0" indent="0">
              <a:buNone/>
            </a:pPr>
            <a:endParaRPr lang="en-US" dirty="0"/>
          </a:p>
        </p:txBody>
      </p:sp>
      <p:sp>
        <p:nvSpPr>
          <p:cNvPr id="30" name="Text 19"/>
          <p:cNvSpPr/>
          <p:nvPr/>
        </p:nvSpPr>
        <p:spPr>
          <a:xfrm>
            <a:off x="6264622" y="1404099"/>
            <a:ext cx="2214860" cy="1560314"/>
          </a:xfrm>
          <a:prstGeom prst="roundRect">
            <a:avLst>
              <a:gd name="adj" fmla="val 5535"/>
            </a:avLst>
          </a:prstGeom>
          <a:solidFill>
            <a:srgbClr val="F0F4F8"/>
          </a:solidFill>
          <a:ln w="9525">
            <a:solidFill>
              <a:srgbClr val="E8A020">
                <a:alpha val="30000"/>
              </a:srgbClr>
            </a:solidFill>
          </a:ln>
        </p:spPr>
        <p:txBody>
          <a:bodyPr wrap="square" rtlCol="0" anchor="t"/>
          <a:lstStyle/>
          <a:p>
            <a:pPr marL="0" indent="0">
              <a:buNone/>
            </a:pPr>
            <a:endParaRPr lang="en-US" dirty="0"/>
          </a:p>
        </p:txBody>
      </p:sp>
      <p:sp>
        <p:nvSpPr>
          <p:cNvPr id="31" name="Text 20"/>
          <p:cNvSpPr/>
          <p:nvPr/>
        </p:nvSpPr>
        <p:spPr>
          <a:xfrm>
            <a:off x="8202294" y="1008687"/>
            <a:ext cx="200620" cy="220682"/>
          </a:xfrm>
          <a:prstGeom prst="ellipse">
            <a:avLst/>
          </a:prstGeom>
          <a:solidFill>
            <a:srgbClr val="FFFFFF"/>
          </a:solidFill>
          <a:ln w="9525">
            <a:solidFill>
              <a:srgbClr val="E8A020"/>
            </a:solidFill>
          </a:ln>
        </p:spPr>
        <p:txBody>
          <a:bodyPr wrap="none" lIns="0" tIns="0" rIns="0" bIns="0" rtlCol="0" anchor="ctr"/>
          <a:lstStyle/>
          <a:p>
            <a:pPr marL="0" indent="0" algn="ctr">
              <a:buNone/>
            </a:pPr>
            <a:r>
              <a:rPr lang="en-US" sz="949" b="1">
                <a:solidFill>
                  <a:srgbClr val="E8A020"/>
                </a:solidFill>
                <a:latin typeface="Calibri" pitchFamily="34" charset="0"/>
                <a:ea typeface="Calibri" pitchFamily="34" charset="-122"/>
                <a:cs typeface="Calibri" pitchFamily="34" charset="-120"/>
              </a:rPr>
              <a:t>3</a:t>
            </a:r>
            <a:endParaRPr lang="en-US" sz="949"/>
          </a:p>
        </p:txBody>
      </p:sp>
      <p:sp>
        <p:nvSpPr>
          <p:cNvPr id="32" name="Text 21"/>
          <p:cNvSpPr/>
          <p:nvPr/>
        </p:nvSpPr>
        <p:spPr>
          <a:xfrm>
            <a:off x="6331678" y="1433156"/>
            <a:ext cx="2068979" cy="171450"/>
          </a:xfrm>
          <a:prstGeom prst="rect">
            <a:avLst/>
          </a:prstGeom>
          <a:noFill/>
          <a:ln/>
        </p:spPr>
        <p:txBody>
          <a:bodyPr wrap="none" lIns="0" tIns="0" rIns="0" bIns="0" rtlCol="0" anchor="ctr"/>
          <a:lstStyle/>
          <a:p>
            <a:pPr marL="0" indent="0" algn="l">
              <a:lnSpc>
                <a:spcPts val="1755"/>
              </a:lnSpc>
              <a:buNone/>
            </a:pPr>
            <a:r>
              <a:rPr lang="en-US" sz="1035" b="1" kern="0" spc="90" dirty="0">
                <a:solidFill>
                  <a:srgbClr val="E8A020"/>
                </a:solidFill>
                <a:latin typeface="Calibri Light" pitchFamily="34" charset="0"/>
                <a:ea typeface="Calibri Light" pitchFamily="34" charset="-122"/>
                <a:cs typeface="Calibri Light" pitchFamily="34" charset="-120"/>
              </a:rPr>
              <a:t>PHASE 3 — ACTIVATE</a:t>
            </a:r>
            <a:endParaRPr lang="en-US" sz="1035" dirty="0"/>
          </a:p>
        </p:txBody>
      </p:sp>
      <p:pic>
        <p:nvPicPr>
          <p:cNvPr id="33" name="Image 9" descr="preencoded.png"/>
          <p:cNvPicPr>
            <a:picLocks noChangeAspect="1"/>
          </p:cNvPicPr>
          <p:nvPr/>
        </p:nvPicPr>
        <p:blipFill>
          <a:blip>
            <a:alphaModFix amt="85000"/>
            <a:extLst>
              <a:ext uri="{96DAC541-7B7A-43D3-8B79-37D633B846F1}">
                <asvg:svgBlip xmlns:asvg="http://schemas.microsoft.com/office/drawing/2016/SVG/main" r:embed="rId12"/>
              </a:ext>
            </a:extLst>
          </a:blip>
          <a:stretch>
            <a:fillRect/>
          </a:stretch>
        </p:blipFill>
        <p:spPr>
          <a:xfrm>
            <a:off x="6268264" y="1712950"/>
            <a:ext cx="159349" cy="159349"/>
          </a:xfrm>
          <a:prstGeom prst="rect">
            <a:avLst/>
          </a:prstGeom>
        </p:spPr>
      </p:pic>
      <p:sp>
        <p:nvSpPr>
          <p:cNvPr id="34" name="Text 22"/>
          <p:cNvSpPr/>
          <p:nvPr/>
        </p:nvSpPr>
        <p:spPr>
          <a:xfrm>
            <a:off x="6448413" y="1741563"/>
            <a:ext cx="1628924" cy="149275"/>
          </a:xfrm>
          <a:prstGeom prst="rect">
            <a:avLst/>
          </a:prstGeom>
          <a:noFill/>
          <a:ln/>
        </p:spPr>
        <p:txBody>
          <a:bodyPr wrap="none" lIns="0" tIns="0" rIns="0" bIns="0" rtlCol="0" anchor="ctr"/>
          <a:lstStyle/>
          <a:p>
            <a:pPr marL="0" indent="0" algn="l">
              <a:lnSpc>
                <a:spcPts val="1528"/>
              </a:lnSpc>
              <a:buNone/>
            </a:pPr>
            <a:r>
              <a:rPr lang="en-US" sz="1092">
                <a:solidFill>
                  <a:srgbClr val="0D1B3E"/>
                </a:solidFill>
                <a:latin typeface="Calibri" pitchFamily="34" charset="0"/>
                <a:ea typeface="Calibri" pitchFamily="34" charset="-122"/>
                <a:cs typeface="Calibri" pitchFamily="34" charset="-120"/>
              </a:rPr>
              <a:t>Score 2–3 real opportunities</a:t>
            </a:r>
            <a:endParaRPr lang="en-US" sz="1092"/>
          </a:p>
        </p:txBody>
      </p:sp>
      <p:pic>
        <p:nvPicPr>
          <p:cNvPr id="35" name="Image 10" descr="preencoded.png"/>
          <p:cNvPicPr>
            <a:picLocks noChangeAspect="1"/>
          </p:cNvPicPr>
          <p:nvPr/>
        </p:nvPicPr>
        <p:blipFill>
          <a:blip>
            <a:alphaModFix amt="85000"/>
            <a:extLst>
              <a:ext uri="{96DAC541-7B7A-43D3-8B79-37D633B846F1}">
                <asvg:svgBlip xmlns:asvg="http://schemas.microsoft.com/office/drawing/2016/SVG/main" r:embed="rId13"/>
              </a:ext>
            </a:extLst>
          </a:blip>
          <a:stretch>
            <a:fillRect/>
          </a:stretch>
        </p:blipFill>
        <p:spPr>
          <a:xfrm>
            <a:off x="6268265" y="2025944"/>
            <a:ext cx="132588" cy="132588"/>
          </a:xfrm>
          <a:prstGeom prst="rect">
            <a:avLst/>
          </a:prstGeom>
        </p:spPr>
      </p:pic>
      <p:sp>
        <p:nvSpPr>
          <p:cNvPr id="36" name="Text 23"/>
          <p:cNvSpPr/>
          <p:nvPr/>
        </p:nvSpPr>
        <p:spPr>
          <a:xfrm>
            <a:off x="6448413" y="2027795"/>
            <a:ext cx="1628924" cy="149275"/>
          </a:xfrm>
          <a:prstGeom prst="rect">
            <a:avLst/>
          </a:prstGeom>
          <a:noFill/>
          <a:ln/>
        </p:spPr>
        <p:txBody>
          <a:bodyPr wrap="none" lIns="0" tIns="0" rIns="0" bIns="0" rtlCol="0" anchor="ctr"/>
          <a:lstStyle/>
          <a:p>
            <a:pPr marL="0" indent="0" algn="l">
              <a:lnSpc>
                <a:spcPts val="1528"/>
              </a:lnSpc>
              <a:buNone/>
            </a:pPr>
            <a:r>
              <a:rPr lang="en-US" sz="1092">
                <a:solidFill>
                  <a:srgbClr val="0D1B3E"/>
                </a:solidFill>
                <a:latin typeface="Calibri" pitchFamily="34" charset="0"/>
                <a:ea typeface="Calibri" pitchFamily="34" charset="-122"/>
                <a:cs typeface="Calibri" pitchFamily="34" charset="-120"/>
              </a:rPr>
              <a:t>Draft 1 LOI or concept paper</a:t>
            </a:r>
            <a:endParaRPr lang="en-US" sz="1092"/>
          </a:p>
        </p:txBody>
      </p:sp>
      <p:pic>
        <p:nvPicPr>
          <p:cNvPr id="37" name="Image 11" descr="preencoded.png"/>
          <p:cNvPicPr>
            <a:picLocks noChangeAspect="1"/>
          </p:cNvPicPr>
          <p:nvPr/>
        </p:nvPicPr>
        <p:blipFill>
          <a:blip>
            <a:alphaModFix amt="85000"/>
            <a:extLst>
              <a:ext uri="{96DAC541-7B7A-43D3-8B79-37D633B846F1}">
                <asvg:svgBlip xmlns:asvg="http://schemas.microsoft.com/office/drawing/2016/SVG/main" r:embed="rId14"/>
              </a:ext>
            </a:extLst>
          </a:blip>
          <a:stretch>
            <a:fillRect/>
          </a:stretch>
        </p:blipFill>
        <p:spPr>
          <a:xfrm>
            <a:off x="6268265" y="2318362"/>
            <a:ext cx="132588" cy="132588"/>
          </a:xfrm>
          <a:prstGeom prst="rect">
            <a:avLst/>
          </a:prstGeom>
        </p:spPr>
      </p:pic>
      <p:sp>
        <p:nvSpPr>
          <p:cNvPr id="38" name="Text 24"/>
          <p:cNvSpPr/>
          <p:nvPr/>
        </p:nvSpPr>
        <p:spPr>
          <a:xfrm>
            <a:off x="6448413" y="2320213"/>
            <a:ext cx="1537573" cy="149275"/>
          </a:xfrm>
          <a:prstGeom prst="rect">
            <a:avLst/>
          </a:prstGeom>
          <a:noFill/>
          <a:ln/>
        </p:spPr>
        <p:txBody>
          <a:bodyPr wrap="none" lIns="0" tIns="0" rIns="0" bIns="0" rtlCol="0" anchor="ctr"/>
          <a:lstStyle/>
          <a:p>
            <a:pPr marL="0" indent="0" algn="l">
              <a:lnSpc>
                <a:spcPts val="1528"/>
              </a:lnSpc>
              <a:buNone/>
            </a:pPr>
            <a:r>
              <a:rPr lang="en-US" sz="1092">
                <a:solidFill>
                  <a:srgbClr val="0D1B3E"/>
                </a:solidFill>
                <a:latin typeface="Calibri" pitchFamily="34" charset="0"/>
                <a:ea typeface="Calibri" pitchFamily="34" charset="-122"/>
                <a:cs typeface="Calibri" pitchFamily="34" charset="-120"/>
              </a:rPr>
              <a:t>Conduct first learning debrief</a:t>
            </a:r>
            <a:endParaRPr lang="en-US" sz="1092"/>
          </a:p>
        </p:txBody>
      </p:sp>
      <p:pic>
        <p:nvPicPr>
          <p:cNvPr id="39" name="Image 12" descr="preencoded.png"/>
          <p:cNvPicPr>
            <a:picLocks noChangeAspect="1"/>
          </p:cNvPicPr>
          <p:nvPr/>
        </p:nvPicPr>
        <p:blipFill>
          <a:blip>
            <a:alphaModFix amt="85000"/>
            <a:extLst>
              <a:ext uri="{96DAC541-7B7A-43D3-8B79-37D633B846F1}">
                <asvg:svgBlip xmlns:asvg="http://schemas.microsoft.com/office/drawing/2016/SVG/main" r:embed="rId15"/>
              </a:ext>
            </a:extLst>
          </a:blip>
          <a:stretch>
            <a:fillRect/>
          </a:stretch>
        </p:blipFill>
        <p:spPr>
          <a:xfrm>
            <a:off x="6268265" y="2602287"/>
            <a:ext cx="132588" cy="132588"/>
          </a:xfrm>
          <a:prstGeom prst="rect">
            <a:avLst/>
          </a:prstGeom>
        </p:spPr>
      </p:pic>
      <p:sp>
        <p:nvSpPr>
          <p:cNvPr id="40" name="Text 25"/>
          <p:cNvSpPr/>
          <p:nvPr/>
        </p:nvSpPr>
        <p:spPr>
          <a:xfrm>
            <a:off x="6448413" y="2604139"/>
            <a:ext cx="1758657" cy="313477"/>
          </a:xfrm>
          <a:prstGeom prst="rect">
            <a:avLst/>
          </a:prstGeom>
          <a:noFill/>
          <a:ln/>
        </p:spPr>
        <p:txBody>
          <a:bodyPr wrap="square" lIns="0" tIns="0" rIns="0" bIns="0" rtlCol="0" anchor="ctr"/>
          <a:lstStyle/>
          <a:p>
            <a:pPr marL="0" indent="0" algn="l">
              <a:lnSpc>
                <a:spcPts val="1528"/>
              </a:lnSpc>
              <a:buNone/>
            </a:pPr>
            <a:r>
              <a:rPr lang="en-US" sz="1092">
                <a:solidFill>
                  <a:srgbClr val="0D1B3E"/>
                </a:solidFill>
                <a:latin typeface="Calibri" pitchFamily="34" charset="0"/>
                <a:ea typeface="Calibri" pitchFamily="34" charset="-122"/>
                <a:cs typeface="Calibri" pitchFamily="34" charset="-120"/>
              </a:rPr>
              <a:t>Share intelligence with 1 peer program</a:t>
            </a:r>
            <a:endParaRPr lang="en-US" sz="1092"/>
          </a:p>
        </p:txBody>
      </p:sp>
      <p:sp>
        <p:nvSpPr>
          <p:cNvPr id="41" name="Text 26"/>
          <p:cNvSpPr/>
          <p:nvPr/>
        </p:nvSpPr>
        <p:spPr>
          <a:xfrm>
            <a:off x="7426375" y="3459424"/>
            <a:ext cx="133350" cy="85725"/>
          </a:xfrm>
          <a:prstGeom prst="triangle">
            <a:avLst/>
          </a:prstGeom>
          <a:solidFill>
            <a:srgbClr val="F0F4F8"/>
          </a:solidFill>
          <a:ln/>
        </p:spPr>
        <p:txBody>
          <a:bodyPr wrap="none" rtlCol="0" anchor="t"/>
          <a:lstStyle/>
          <a:p>
            <a:pPr marL="0" indent="0">
              <a:buNone/>
            </a:pPr>
            <a:endParaRPr lang="en-US" dirty="0"/>
          </a:p>
        </p:txBody>
      </p:sp>
      <p:sp>
        <p:nvSpPr>
          <p:cNvPr id="42" name="Text 27"/>
          <p:cNvSpPr/>
          <p:nvPr/>
        </p:nvSpPr>
        <p:spPr>
          <a:xfrm>
            <a:off x="612393" y="3632033"/>
            <a:ext cx="8056959" cy="157460"/>
          </a:xfrm>
          <a:prstGeom prst="roundRect">
            <a:avLst>
              <a:gd name="adj" fmla="val 50006"/>
            </a:avLst>
          </a:prstGeom>
          <a:gradFill rotWithShape="1">
            <a:gsLst>
              <a:gs pos="0">
                <a:srgbClr val="E0E8F0"/>
              </a:gs>
              <a:gs pos="50000">
                <a:srgbClr val="F0F4F8"/>
              </a:gs>
              <a:gs pos="100000">
                <a:srgbClr val="E0E8F0"/>
              </a:gs>
            </a:gsLst>
            <a:lin ang="5400000" scaled="1"/>
          </a:gradFill>
          <a:ln/>
          <a:effectLst>
            <a:outerShdw blurRad="86360" dist="13970" dir="5400000" algn="bl" rotWithShape="0">
              <a:srgbClr val="000000">
                <a:alpha val="12000"/>
              </a:srgbClr>
            </a:outerShdw>
          </a:effectLst>
        </p:spPr>
        <p:txBody>
          <a:bodyPr wrap="none" rtlCol="0" anchor="t"/>
          <a:lstStyle/>
          <a:p>
            <a:pPr marL="0" indent="0">
              <a:buNone/>
            </a:pPr>
            <a:endParaRPr lang="en-US" dirty="0"/>
          </a:p>
        </p:txBody>
      </p:sp>
      <p:sp>
        <p:nvSpPr>
          <p:cNvPr id="43" name="Text 28"/>
          <p:cNvSpPr/>
          <p:nvPr/>
        </p:nvSpPr>
        <p:spPr>
          <a:xfrm>
            <a:off x="756212" y="3695589"/>
            <a:ext cx="8056959" cy="21580"/>
          </a:xfrm>
          <a:prstGeom prst="roundRect">
            <a:avLst>
              <a:gd name="adj" fmla="val 64736"/>
            </a:avLst>
          </a:prstGeom>
          <a:gradFill rotWithShape="1">
            <a:gsLst>
              <a:gs pos="0">
                <a:srgbClr val="E8A020">
                  <a:alpha val="70000"/>
                </a:srgbClr>
              </a:gs>
              <a:gs pos="33333">
                <a:srgbClr val="E8A020">
                  <a:alpha val="70000"/>
                </a:srgbClr>
              </a:gs>
              <a:gs pos="66667">
                <a:srgbClr val="000000">
                  <a:alpha val="0"/>
                </a:srgbClr>
              </a:gs>
              <a:gs pos="100000">
                <a:srgbClr val="000000">
                  <a:alpha val="0"/>
                </a:srgbClr>
              </a:gs>
            </a:gsLst>
            <a:lin ang="0" scaled="1"/>
          </a:gradFill>
          <a:ln/>
        </p:spPr>
        <p:txBody>
          <a:bodyPr wrap="none" rtlCol="0" anchor="t"/>
          <a:lstStyle/>
          <a:p>
            <a:pPr marL="0" indent="0">
              <a:buNone/>
            </a:pPr>
            <a:endParaRPr lang="en-US" dirty="0"/>
          </a:p>
        </p:txBody>
      </p:sp>
      <p:sp>
        <p:nvSpPr>
          <p:cNvPr id="44" name="Text 29"/>
          <p:cNvSpPr/>
          <p:nvPr/>
        </p:nvSpPr>
        <p:spPr>
          <a:xfrm>
            <a:off x="543520" y="3844740"/>
            <a:ext cx="8056959" cy="13841"/>
          </a:xfrm>
          <a:prstGeom prst="roundRect">
            <a:avLst>
              <a:gd name="adj" fmla="val 55054"/>
            </a:avLst>
          </a:prstGeom>
          <a:gradFill rotWithShape="1">
            <a:gsLst>
              <a:gs pos="0">
                <a:srgbClr val="000000">
                  <a:alpha val="0"/>
                </a:srgbClr>
              </a:gs>
              <a:gs pos="50000">
                <a:srgbClr val="E8A020">
                  <a:alpha val="40000"/>
                </a:srgbClr>
              </a:gs>
              <a:gs pos="100000">
                <a:srgbClr val="000000">
                  <a:alpha val="0"/>
                </a:srgbClr>
              </a:gs>
            </a:gsLst>
            <a:lin ang="0" scaled="1"/>
          </a:gradFill>
          <a:ln/>
        </p:spPr>
        <p:txBody>
          <a:bodyPr wrap="none" rtlCol="0" anchor="t"/>
          <a:lstStyle/>
          <a:p>
            <a:pPr marL="0" indent="0">
              <a:buNone/>
            </a:pPr>
            <a:endParaRPr lang="en-US" dirty="0"/>
          </a:p>
        </p:txBody>
      </p:sp>
      <p:sp>
        <p:nvSpPr>
          <p:cNvPr id="45" name="Text 30"/>
          <p:cNvSpPr/>
          <p:nvPr/>
        </p:nvSpPr>
        <p:spPr>
          <a:xfrm>
            <a:off x="0" y="5912261"/>
            <a:ext cx="9144000" cy="364182"/>
          </a:xfrm>
          <a:prstGeom prst="rect">
            <a:avLst/>
          </a:prstGeom>
          <a:solidFill>
            <a:srgbClr val="E8A020"/>
          </a:solidFill>
          <a:ln/>
        </p:spPr>
        <p:txBody>
          <a:bodyPr wrap="square" rtlCol="0" anchor="t"/>
          <a:lstStyle/>
          <a:p>
            <a:pPr marL="0" indent="0">
              <a:buNone/>
            </a:pPr>
            <a:endParaRPr lang="en-US" dirty="0"/>
          </a:p>
        </p:txBody>
      </p:sp>
      <p:pic>
        <p:nvPicPr>
          <p:cNvPr id="46" name="Image 13" descr="preencoded.png"/>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87557" y="6028058"/>
            <a:ext cx="132588" cy="132588"/>
          </a:xfrm>
          <a:prstGeom prst="rect">
            <a:avLst/>
          </a:prstGeom>
        </p:spPr>
      </p:pic>
      <p:sp>
        <p:nvSpPr>
          <p:cNvPr id="47" name="Text 31"/>
          <p:cNvSpPr/>
          <p:nvPr/>
        </p:nvSpPr>
        <p:spPr>
          <a:xfrm>
            <a:off x="621953" y="6014357"/>
            <a:ext cx="6303362" cy="159990"/>
          </a:xfrm>
          <a:prstGeom prst="rect">
            <a:avLst/>
          </a:prstGeom>
          <a:noFill/>
          <a:ln/>
        </p:spPr>
        <p:txBody>
          <a:bodyPr wrap="none" lIns="0" tIns="0" rIns="0" bIns="0" rtlCol="0" anchor="ctr"/>
          <a:lstStyle/>
          <a:p>
            <a:pPr marL="0" indent="0" algn="l">
              <a:lnSpc>
                <a:spcPts val="1638"/>
              </a:lnSpc>
              <a:buNone/>
            </a:pPr>
            <a:r>
              <a:rPr lang="en-US" sz="1092" kern="0" spc="8">
                <a:solidFill>
                  <a:srgbClr val="FFFFFF"/>
                </a:solidFill>
                <a:latin typeface="Calibri Light" pitchFamily="34" charset="0"/>
                <a:ea typeface="Calibri Light" pitchFamily="34" charset="-122"/>
                <a:cs typeface="Calibri Light" pitchFamily="34" charset="-120"/>
              </a:rPr>
              <a:t>"90 days from today, your program will have a working foundation of FSR. Start where you are — it is a </a:t>
            </a:r>
            <a:r>
              <a:rPr lang="en-US" sz="1092" b="1" kern="0" spc="8">
                <a:solidFill>
                  <a:srgbClr val="FFFFFF"/>
                </a:solidFill>
                <a:latin typeface="Calibri Light" pitchFamily="34" charset="0"/>
                <a:ea typeface="Calibri Light" pitchFamily="34" charset="-122"/>
                <a:cs typeface="Calibri Light" pitchFamily="34" charset="-120"/>
              </a:rPr>
              <a:t>starting point. Requires one point person (2–4 hrs/month) and leadership buy-in</a:t>
            </a:r>
            <a:r>
              <a:rPr lang="en-US" sz="1092" kern="0" spc="8">
                <a:solidFill>
                  <a:srgbClr val="FFFFFF"/>
                </a:solidFill>
                <a:latin typeface="Calibri Light" pitchFamily="34" charset="0"/>
                <a:ea typeface="Calibri Light" pitchFamily="34" charset="-122"/>
                <a:cs typeface="Calibri Light" pitchFamily="34" charset="-120"/>
              </a:rPr>
              <a:t>."</a:t>
            </a:r>
            <a:endParaRPr lang="en-US" sz="1092"/>
          </a:p>
        </p:txBody>
      </p:sp>
      <p:sp>
        <p:nvSpPr>
          <p:cNvPr id="48" name="Text 32"/>
          <p:cNvSpPr/>
          <p:nvPr/>
        </p:nvSpPr>
        <p:spPr>
          <a:xfrm>
            <a:off x="593054" y="1258513"/>
            <a:ext cx="2195808" cy="21580"/>
          </a:xfrm>
          <a:custGeom>
            <a:avLst/>
            <a:gdLst/>
            <a:ahLst/>
            <a:cxnLst/>
            <a:rect l="l" t="t" r="r" b="b"/>
            <a:pathLst>
              <a:path w="2195808" h="21580">
                <a:moveTo>
                  <a:pt x="86360" y="0"/>
                </a:moveTo>
                <a:lnTo>
                  <a:pt x="2109448" y="0"/>
                </a:lnTo>
                <a:lnTo>
                  <a:pt x="2109448" y="0"/>
                </a:lnTo>
                <a:lnTo>
                  <a:pt x="2126296" y="1659"/>
                </a:lnTo>
                <a:lnTo>
                  <a:pt x="2142496" y="6574"/>
                </a:lnTo>
                <a:lnTo>
                  <a:pt x="2157427" y="14554"/>
                </a:lnTo>
                <a:lnTo>
                  <a:pt x="2170514" y="21580"/>
                </a:lnTo>
                <a:lnTo>
                  <a:pt x="2181253" y="21580"/>
                </a:lnTo>
                <a:lnTo>
                  <a:pt x="2189234" y="21580"/>
                </a:lnTo>
                <a:lnTo>
                  <a:pt x="2194148" y="21580"/>
                </a:lnTo>
                <a:lnTo>
                  <a:pt x="2195808" y="21580"/>
                </a:lnTo>
                <a:lnTo>
                  <a:pt x="2195808" y="21580"/>
                </a:lnTo>
                <a:lnTo>
                  <a:pt x="0" y="21580"/>
                </a:lnTo>
                <a:lnTo>
                  <a:pt x="0" y="86360"/>
                </a:lnTo>
                <a:lnTo>
                  <a:pt x="86360" y="0"/>
                </a:lnTo>
                <a:lnTo>
                  <a:pt x="69512" y="1659"/>
                </a:lnTo>
                <a:lnTo>
                  <a:pt x="53311" y="6574"/>
                </a:lnTo>
                <a:lnTo>
                  <a:pt x="38381" y="14554"/>
                </a:lnTo>
                <a:lnTo>
                  <a:pt x="25294" y="21580"/>
                </a:lnTo>
                <a:lnTo>
                  <a:pt x="14554" y="21580"/>
                </a:lnTo>
                <a:lnTo>
                  <a:pt x="6574" y="21580"/>
                </a:lnTo>
                <a:lnTo>
                  <a:pt x="1659" y="21580"/>
                </a:lnTo>
                <a:lnTo>
                  <a:pt x="0" y="21580"/>
                </a:lnTo>
                <a:close/>
              </a:path>
            </a:pathLst>
          </a:custGeom>
          <a:solidFill>
            <a:srgbClr val="E8A020"/>
          </a:solidFill>
          <a:ln/>
        </p:spPr>
        <p:txBody>
          <a:bodyPr wrap="none" rtlCol="0" anchor="t"/>
          <a:lstStyle/>
          <a:p>
            <a:pPr marL="0" indent="0">
              <a:buNone/>
            </a:pPr>
            <a:endParaRPr lang="en-US" dirty="0"/>
          </a:p>
        </p:txBody>
      </p:sp>
      <p:sp>
        <p:nvSpPr>
          <p:cNvPr id="49" name="Text 33"/>
          <p:cNvSpPr/>
          <p:nvPr/>
        </p:nvSpPr>
        <p:spPr>
          <a:xfrm>
            <a:off x="3395468" y="1264640"/>
            <a:ext cx="2195808" cy="21580"/>
          </a:xfrm>
          <a:custGeom>
            <a:avLst/>
            <a:gdLst/>
            <a:ahLst/>
            <a:cxnLst/>
            <a:rect l="l" t="t" r="r" b="b"/>
            <a:pathLst>
              <a:path w="2195808" h="21580">
                <a:moveTo>
                  <a:pt x="86360" y="0"/>
                </a:moveTo>
                <a:lnTo>
                  <a:pt x="2109448" y="0"/>
                </a:lnTo>
                <a:lnTo>
                  <a:pt x="2109448" y="0"/>
                </a:lnTo>
                <a:lnTo>
                  <a:pt x="2126296" y="1659"/>
                </a:lnTo>
                <a:lnTo>
                  <a:pt x="2142496" y="6574"/>
                </a:lnTo>
                <a:lnTo>
                  <a:pt x="2157427" y="14554"/>
                </a:lnTo>
                <a:lnTo>
                  <a:pt x="2170514" y="21580"/>
                </a:lnTo>
                <a:lnTo>
                  <a:pt x="2181253" y="21580"/>
                </a:lnTo>
                <a:lnTo>
                  <a:pt x="2189234" y="21580"/>
                </a:lnTo>
                <a:lnTo>
                  <a:pt x="2194148" y="21580"/>
                </a:lnTo>
                <a:lnTo>
                  <a:pt x="2195808" y="21580"/>
                </a:lnTo>
                <a:lnTo>
                  <a:pt x="2195808" y="21580"/>
                </a:lnTo>
                <a:lnTo>
                  <a:pt x="0" y="21580"/>
                </a:lnTo>
                <a:lnTo>
                  <a:pt x="0" y="86360"/>
                </a:lnTo>
                <a:lnTo>
                  <a:pt x="86360" y="0"/>
                </a:lnTo>
                <a:lnTo>
                  <a:pt x="69512" y="1659"/>
                </a:lnTo>
                <a:lnTo>
                  <a:pt x="53311" y="6574"/>
                </a:lnTo>
                <a:lnTo>
                  <a:pt x="38381" y="14554"/>
                </a:lnTo>
                <a:lnTo>
                  <a:pt x="25294" y="21580"/>
                </a:lnTo>
                <a:lnTo>
                  <a:pt x="14554" y="21580"/>
                </a:lnTo>
                <a:lnTo>
                  <a:pt x="6574" y="21580"/>
                </a:lnTo>
                <a:lnTo>
                  <a:pt x="1659" y="21580"/>
                </a:lnTo>
                <a:lnTo>
                  <a:pt x="0" y="21580"/>
                </a:lnTo>
                <a:close/>
              </a:path>
            </a:pathLst>
          </a:custGeom>
          <a:solidFill>
            <a:srgbClr val="E8A020"/>
          </a:solidFill>
          <a:ln/>
        </p:spPr>
        <p:txBody>
          <a:bodyPr wrap="none" rtlCol="0" anchor="t"/>
          <a:lstStyle/>
          <a:p>
            <a:pPr marL="0" indent="0">
              <a:buNone/>
            </a:pPr>
            <a:endParaRPr lang="en-US" dirty="0"/>
          </a:p>
        </p:txBody>
      </p:sp>
      <p:sp>
        <p:nvSpPr>
          <p:cNvPr id="50" name="Text 34"/>
          <p:cNvSpPr/>
          <p:nvPr/>
        </p:nvSpPr>
        <p:spPr>
          <a:xfrm>
            <a:off x="6268264" y="1281541"/>
            <a:ext cx="2195808" cy="21580"/>
          </a:xfrm>
          <a:custGeom>
            <a:avLst/>
            <a:gdLst/>
            <a:ahLst/>
            <a:cxnLst/>
            <a:rect l="l" t="t" r="r" b="b"/>
            <a:pathLst>
              <a:path w="2195808" h="21580">
                <a:moveTo>
                  <a:pt x="86360" y="0"/>
                </a:moveTo>
                <a:lnTo>
                  <a:pt x="2109448" y="0"/>
                </a:lnTo>
                <a:lnTo>
                  <a:pt x="2109448" y="0"/>
                </a:lnTo>
                <a:lnTo>
                  <a:pt x="2126296" y="1659"/>
                </a:lnTo>
                <a:lnTo>
                  <a:pt x="2142496" y="6574"/>
                </a:lnTo>
                <a:lnTo>
                  <a:pt x="2157427" y="14554"/>
                </a:lnTo>
                <a:lnTo>
                  <a:pt x="2170514" y="21580"/>
                </a:lnTo>
                <a:lnTo>
                  <a:pt x="2181253" y="21580"/>
                </a:lnTo>
                <a:lnTo>
                  <a:pt x="2189234" y="21580"/>
                </a:lnTo>
                <a:lnTo>
                  <a:pt x="2194148" y="21580"/>
                </a:lnTo>
                <a:lnTo>
                  <a:pt x="2195808" y="21580"/>
                </a:lnTo>
                <a:lnTo>
                  <a:pt x="2195808" y="21580"/>
                </a:lnTo>
                <a:lnTo>
                  <a:pt x="0" y="21580"/>
                </a:lnTo>
                <a:lnTo>
                  <a:pt x="0" y="86360"/>
                </a:lnTo>
                <a:lnTo>
                  <a:pt x="86360" y="0"/>
                </a:lnTo>
                <a:lnTo>
                  <a:pt x="69512" y="1659"/>
                </a:lnTo>
                <a:lnTo>
                  <a:pt x="53311" y="6574"/>
                </a:lnTo>
                <a:lnTo>
                  <a:pt x="38381" y="14554"/>
                </a:lnTo>
                <a:lnTo>
                  <a:pt x="25294" y="21580"/>
                </a:lnTo>
                <a:lnTo>
                  <a:pt x="14554" y="21580"/>
                </a:lnTo>
                <a:lnTo>
                  <a:pt x="6574" y="21580"/>
                </a:lnTo>
                <a:lnTo>
                  <a:pt x="1659" y="21580"/>
                </a:lnTo>
                <a:lnTo>
                  <a:pt x="0" y="21580"/>
                </a:lnTo>
                <a:close/>
              </a:path>
            </a:pathLst>
          </a:custGeom>
          <a:solidFill>
            <a:srgbClr val="E8A020"/>
          </a:solidFill>
          <a:ln/>
        </p:spPr>
        <p:txBody>
          <a:bodyPr wrap="none" rtlCol="0" anchor="t"/>
          <a:lstStyle/>
          <a:p>
            <a:pPr marL="0" indent="0">
              <a:buNone/>
            </a:pPr>
            <a:endParaRPr lang="en-US" dirty="0"/>
          </a:p>
        </p:txBody>
      </p:sp>
      <p:sp>
        <p:nvSpPr>
          <p:cNvPr id="51" name="Text 35"/>
          <p:cNvSpPr/>
          <p:nvPr/>
        </p:nvSpPr>
        <p:spPr>
          <a:xfrm>
            <a:off x="1346341" y="3324772"/>
            <a:ext cx="772120" cy="772120"/>
          </a:xfrm>
          <a:prstGeom prst="ellipse">
            <a:avLst/>
          </a:prstGeom>
          <a:solidFill>
            <a:srgbClr val="E8A020"/>
          </a:solidFill>
          <a:ln/>
          <a:effectLst>
            <a:outerShdw blurRad="101600" dist="50800" dir="16200000" algn="bl" rotWithShape="0">
              <a:srgbClr val="E8A020">
                <a:alpha val="22000"/>
              </a:srgbClr>
            </a:outerShdw>
          </a:effectLst>
        </p:spPr>
        <p:txBody>
          <a:bodyPr wrap="square" rtlCol="0" anchor="t"/>
          <a:lstStyle/>
          <a:p>
            <a:pPr marL="0" indent="0">
              <a:buNone/>
            </a:pPr>
            <a:endParaRPr lang="en-US" dirty="0"/>
          </a:p>
        </p:txBody>
      </p:sp>
      <p:sp>
        <p:nvSpPr>
          <p:cNvPr id="52" name="Text 36"/>
          <p:cNvSpPr/>
          <p:nvPr/>
        </p:nvSpPr>
        <p:spPr>
          <a:xfrm>
            <a:off x="1477077" y="3549523"/>
            <a:ext cx="510942" cy="118021"/>
          </a:xfrm>
          <a:prstGeom prst="rect">
            <a:avLst/>
          </a:prstGeom>
          <a:noFill/>
          <a:ln/>
        </p:spPr>
        <p:txBody>
          <a:bodyPr wrap="none" lIns="0" tIns="0" rIns="0" bIns="0" rtlCol="0" anchor="ctr"/>
          <a:lstStyle/>
          <a:p>
            <a:pPr marL="0" indent="0" algn="ctr">
              <a:lnSpc>
                <a:spcPts val="1209"/>
              </a:lnSpc>
              <a:buNone/>
            </a:pPr>
            <a:r>
              <a:rPr lang="en-US" sz="1000" b="1" dirty="0">
                <a:solidFill>
                  <a:srgbClr val="FFFFFF">
                    <a:alpha val="85000"/>
                  </a:srgbClr>
                </a:solidFill>
                <a:latin typeface="Calibri Light" pitchFamily="34" charset="0"/>
                <a:ea typeface="Calibri Light" pitchFamily="34" charset="-122"/>
                <a:cs typeface="Calibri Light" pitchFamily="34" charset="-120"/>
              </a:rPr>
              <a:t>DAYS 1–30</a:t>
            </a:r>
            <a:endParaRPr lang="en-US" sz="1000" dirty="0"/>
          </a:p>
        </p:txBody>
      </p:sp>
      <p:sp>
        <p:nvSpPr>
          <p:cNvPr id="53" name="Text 37"/>
          <p:cNvSpPr/>
          <p:nvPr/>
        </p:nvSpPr>
        <p:spPr>
          <a:xfrm>
            <a:off x="1474259" y="3693713"/>
            <a:ext cx="512117" cy="157460"/>
          </a:xfrm>
          <a:prstGeom prst="rect">
            <a:avLst/>
          </a:prstGeom>
          <a:noFill/>
          <a:ln/>
        </p:spPr>
        <p:txBody>
          <a:bodyPr wrap="none" lIns="0" tIns="0" rIns="0" bIns="0" rtlCol="0" anchor="ctr"/>
          <a:lstStyle/>
          <a:p>
            <a:pPr marL="0" indent="0" algn="ctr">
              <a:lnSpc>
                <a:spcPts val="1612"/>
              </a:lnSpc>
              <a:buNone/>
            </a:pPr>
            <a:r>
              <a:rPr lang="en-US" sz="1096" b="1" dirty="0">
                <a:solidFill>
                  <a:srgbClr val="FFFFFF"/>
                </a:solidFill>
                <a:latin typeface="Calibri" pitchFamily="34" charset="0"/>
                <a:ea typeface="Calibri" pitchFamily="34" charset="-122"/>
                <a:cs typeface="Calibri" pitchFamily="34" charset="-120"/>
              </a:rPr>
              <a:t>AUDIT</a:t>
            </a:r>
            <a:endParaRPr lang="en-US" sz="1096" dirty="0"/>
          </a:p>
        </p:txBody>
      </p:sp>
      <p:pic>
        <p:nvPicPr>
          <p:cNvPr id="54" name="Image 14" descr="preencoded.png"/>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63286" y="4016571"/>
            <a:ext cx="132588" cy="132588"/>
          </a:xfrm>
          <a:prstGeom prst="rect">
            <a:avLst/>
          </a:prstGeom>
        </p:spPr>
      </p:pic>
      <p:pic>
        <p:nvPicPr>
          <p:cNvPr id="55" name="Image 15" descr="preencoded.png"/>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622203" y="3880757"/>
            <a:ext cx="257175" cy="85725"/>
          </a:xfrm>
          <a:prstGeom prst="rect">
            <a:avLst/>
          </a:prstGeom>
        </p:spPr>
      </p:pic>
      <p:sp>
        <p:nvSpPr>
          <p:cNvPr id="56" name="Text 38"/>
          <p:cNvSpPr/>
          <p:nvPr/>
        </p:nvSpPr>
        <p:spPr>
          <a:xfrm>
            <a:off x="3984655" y="3282257"/>
            <a:ext cx="772120" cy="772120"/>
          </a:xfrm>
          <a:prstGeom prst="ellipse">
            <a:avLst/>
          </a:prstGeom>
          <a:solidFill>
            <a:srgbClr val="E8A020"/>
          </a:solidFill>
          <a:ln/>
          <a:effectLst>
            <a:outerShdw blurRad="101600" dist="50800" dir="16200000" algn="bl" rotWithShape="0">
              <a:srgbClr val="E8A020">
                <a:alpha val="22000"/>
              </a:srgbClr>
            </a:outerShdw>
          </a:effectLst>
        </p:spPr>
        <p:txBody>
          <a:bodyPr wrap="square" rtlCol="0" anchor="t"/>
          <a:lstStyle/>
          <a:p>
            <a:pPr marL="0" indent="0">
              <a:buNone/>
            </a:pPr>
            <a:endParaRPr lang="en-US" dirty="0"/>
          </a:p>
        </p:txBody>
      </p:sp>
      <p:sp>
        <p:nvSpPr>
          <p:cNvPr id="57" name="Text 39"/>
          <p:cNvSpPr/>
          <p:nvPr/>
        </p:nvSpPr>
        <p:spPr>
          <a:xfrm>
            <a:off x="4078885" y="3515017"/>
            <a:ext cx="565949" cy="118021"/>
          </a:xfrm>
          <a:prstGeom prst="rect">
            <a:avLst/>
          </a:prstGeom>
          <a:noFill/>
          <a:ln/>
        </p:spPr>
        <p:txBody>
          <a:bodyPr wrap="none" lIns="0" tIns="0" rIns="0" bIns="0" rtlCol="0" anchor="ctr"/>
          <a:lstStyle/>
          <a:p>
            <a:pPr marL="0" indent="0" algn="ctr">
              <a:lnSpc>
                <a:spcPts val="1209"/>
              </a:lnSpc>
              <a:buNone/>
            </a:pPr>
            <a:r>
              <a:rPr lang="en-US" sz="1000" b="1" dirty="0">
                <a:solidFill>
                  <a:srgbClr val="FFFFFF">
                    <a:alpha val="85000"/>
                  </a:srgbClr>
                </a:solidFill>
                <a:latin typeface="Calibri Light" pitchFamily="34" charset="0"/>
                <a:ea typeface="Calibri Light" pitchFamily="34" charset="-122"/>
                <a:cs typeface="Calibri Light" pitchFamily="34" charset="-120"/>
              </a:rPr>
              <a:t>DAYS 31–60</a:t>
            </a:r>
            <a:endParaRPr lang="en-US" sz="1000" dirty="0"/>
          </a:p>
        </p:txBody>
      </p:sp>
      <p:sp>
        <p:nvSpPr>
          <p:cNvPr id="58" name="Text 40"/>
          <p:cNvSpPr/>
          <p:nvPr/>
        </p:nvSpPr>
        <p:spPr>
          <a:xfrm>
            <a:off x="4091578" y="3643289"/>
            <a:ext cx="563329" cy="130132"/>
          </a:xfrm>
          <a:prstGeom prst="rect">
            <a:avLst/>
          </a:prstGeom>
          <a:noFill/>
          <a:ln/>
        </p:spPr>
        <p:txBody>
          <a:bodyPr wrap="none" lIns="0" tIns="0" rIns="0" bIns="0" rtlCol="0" anchor="ctr"/>
          <a:lstStyle/>
          <a:p>
            <a:pPr marL="0" indent="0" algn="ctr">
              <a:lnSpc>
                <a:spcPts val="1612"/>
              </a:lnSpc>
              <a:buNone/>
            </a:pPr>
            <a:r>
              <a:rPr lang="en-US" sz="1096" b="1" dirty="0">
                <a:solidFill>
                  <a:srgbClr val="FFFFFF"/>
                </a:solidFill>
                <a:latin typeface="Calibri" pitchFamily="34" charset="0"/>
                <a:ea typeface="Calibri" pitchFamily="34" charset="-122"/>
                <a:cs typeface="Calibri" pitchFamily="34" charset="-120"/>
              </a:rPr>
              <a:t>BUILD</a:t>
            </a:r>
            <a:endParaRPr lang="en-US" sz="1096" dirty="0"/>
          </a:p>
        </p:txBody>
      </p:sp>
      <p:pic>
        <p:nvPicPr>
          <p:cNvPr id="59" name="Image 16" descr="preencoded.png"/>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304421" y="3780780"/>
            <a:ext cx="132588" cy="132588"/>
          </a:xfrm>
          <a:prstGeom prst="rect">
            <a:avLst/>
          </a:prstGeom>
        </p:spPr>
      </p:pic>
      <p:pic>
        <p:nvPicPr>
          <p:cNvPr id="60" name="Image 17" descr="preencoded.png"/>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264622" y="3880757"/>
            <a:ext cx="257175" cy="85725"/>
          </a:xfrm>
          <a:prstGeom prst="rect">
            <a:avLst/>
          </a:prstGeom>
        </p:spPr>
      </p:pic>
      <p:sp>
        <p:nvSpPr>
          <p:cNvPr id="61" name="Text 41"/>
          <p:cNvSpPr/>
          <p:nvPr/>
        </p:nvSpPr>
        <p:spPr>
          <a:xfrm>
            <a:off x="7005973" y="3307519"/>
            <a:ext cx="772120" cy="772120"/>
          </a:xfrm>
          <a:prstGeom prst="ellipse">
            <a:avLst/>
          </a:prstGeom>
          <a:solidFill>
            <a:srgbClr val="E8A020"/>
          </a:solidFill>
          <a:ln/>
          <a:effectLst>
            <a:outerShdw blurRad="101600" dist="50800" dir="16200000" algn="bl" rotWithShape="0">
              <a:srgbClr val="E8A020">
                <a:alpha val="28000"/>
              </a:srgbClr>
            </a:outerShdw>
          </a:effectLst>
        </p:spPr>
        <p:txBody>
          <a:bodyPr wrap="square" rtlCol="0" anchor="t"/>
          <a:lstStyle/>
          <a:p>
            <a:pPr marL="0" indent="0">
              <a:buNone/>
            </a:pPr>
            <a:endParaRPr lang="en-US" dirty="0"/>
          </a:p>
        </p:txBody>
      </p:sp>
      <p:sp>
        <p:nvSpPr>
          <p:cNvPr id="62" name="Text 42"/>
          <p:cNvSpPr/>
          <p:nvPr/>
        </p:nvSpPr>
        <p:spPr>
          <a:xfrm>
            <a:off x="7094452" y="3486262"/>
            <a:ext cx="565949" cy="118021"/>
          </a:xfrm>
          <a:prstGeom prst="rect">
            <a:avLst/>
          </a:prstGeom>
          <a:noFill/>
          <a:ln/>
        </p:spPr>
        <p:txBody>
          <a:bodyPr wrap="none" lIns="0" tIns="0" rIns="0" bIns="0" rtlCol="0" anchor="ctr"/>
          <a:lstStyle/>
          <a:p>
            <a:pPr marL="0" indent="0" algn="ctr">
              <a:lnSpc>
                <a:spcPts val="1209"/>
              </a:lnSpc>
              <a:buNone/>
            </a:pPr>
            <a:r>
              <a:rPr lang="en-US" sz="1000" b="1" dirty="0">
                <a:solidFill>
                  <a:srgbClr val="FFFFFF">
                    <a:alpha val="85000"/>
                  </a:srgbClr>
                </a:solidFill>
                <a:latin typeface="Calibri Light" pitchFamily="34" charset="0"/>
                <a:ea typeface="Calibri Light" pitchFamily="34" charset="-122"/>
                <a:cs typeface="Calibri Light" pitchFamily="34" charset="-120"/>
              </a:rPr>
              <a:t>DAYS 61–90</a:t>
            </a:r>
            <a:endParaRPr lang="en-US" sz="1000" dirty="0"/>
          </a:p>
        </p:txBody>
      </p:sp>
      <p:sp>
        <p:nvSpPr>
          <p:cNvPr id="63" name="Text 43"/>
          <p:cNvSpPr/>
          <p:nvPr/>
        </p:nvSpPr>
        <p:spPr>
          <a:xfrm>
            <a:off x="7063877" y="3618123"/>
            <a:ext cx="611303" cy="157460"/>
          </a:xfrm>
          <a:prstGeom prst="rect">
            <a:avLst/>
          </a:prstGeom>
          <a:noFill/>
          <a:ln/>
        </p:spPr>
        <p:txBody>
          <a:bodyPr wrap="none" lIns="0" tIns="0" rIns="0" bIns="0" rtlCol="0" anchor="ctr"/>
          <a:lstStyle/>
          <a:p>
            <a:pPr marL="0" indent="0" algn="ctr">
              <a:lnSpc>
                <a:spcPts val="1612"/>
              </a:lnSpc>
              <a:buNone/>
            </a:pPr>
            <a:r>
              <a:rPr lang="en-US" sz="1096" b="1" dirty="0">
                <a:solidFill>
                  <a:srgbClr val="FFFFFF"/>
                </a:solidFill>
                <a:latin typeface="Calibri" pitchFamily="34" charset="0"/>
                <a:ea typeface="Calibri" pitchFamily="34" charset="-122"/>
                <a:cs typeface="Calibri" pitchFamily="34" charset="-120"/>
              </a:rPr>
              <a:t>ACTIVATE</a:t>
            </a:r>
            <a:endParaRPr lang="en-US" sz="1096" dirty="0"/>
          </a:p>
        </p:txBody>
      </p:sp>
      <p:pic>
        <p:nvPicPr>
          <p:cNvPr id="64" name="Image 18" descr="preencoded.png"/>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8148126" y="4016571"/>
            <a:ext cx="132588" cy="132588"/>
          </a:xfrm>
          <a:prstGeom prst="rect">
            <a:avLst/>
          </a:prstGeom>
        </p:spPr>
      </p:pic>
      <p:sp>
        <p:nvSpPr>
          <p:cNvPr id="200" name="HandoutRef"/>
          <p:cNvSpPr txBox="1"/>
          <p:nvPr/>
        </p:nvSpPr>
        <p:spPr>
          <a:xfrm>
            <a:off x="7100000" y="4960620"/>
            <a:ext cx="1700000" cy="182880"/>
          </a:xfrm>
          <a:prstGeom prst="rect">
            <a:avLst/>
          </a:prstGeom>
          <a:noFill/>
          <a:ln>
            <a:noFill/>
          </a:ln>
        </p:spPr>
        <p:txBody>
          <a:bodyPr wrap="none" lIns="0" tIns="0" rIns="0" bIns="0" rtlCol="0" anchor="t"/>
          <a:lstStyle/>
          <a:p>
            <a:pPr algn="r">
              <a:buNone/>
            </a:pPr>
            <a:r>
              <a:rPr lang="en-US" sz="800" spc="43">
                <a:solidFill>
                  <a:srgbClr val="64748B"/>
                </a:solidFill>
                <a:latin typeface="Calibri" pitchFamily="34" charset="0"/>
              </a:rPr>
              <a:t>HANDOUT  ·  </a:t>
            </a:r>
            <a:r>
              <a:rPr lang="en-US" sz="800" b="1" spc="43">
                <a:solidFill>
                  <a:srgbClr val="E8A020"/>
                </a:solidFill>
                <a:latin typeface="Calibri" pitchFamily="34" charset="0"/>
              </a:rPr>
              <a:t>Section 3</a:t>
            </a:r>
            <a:endParaRPr lang="en-US" sz="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E8A020">
                  <a:alpha val="6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E8A020">
                  <a:alpha val="6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0" y="0"/>
            <a:ext cx="3000970" cy="2715220"/>
          </a:xfrm>
          <a:prstGeom prst="rect">
            <a:avLst/>
          </a:prstGeom>
          <a:gradFill rotWithShape="1">
            <a:gsLst>
              <a:gs pos="0">
                <a:srgbClr val="E8A020">
                  <a:alpha val="8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409575" y="762000"/>
            <a:ext cx="2695280" cy="13841"/>
          </a:xfrm>
          <a:custGeom>
            <a:avLst/>
            <a:gdLst/>
            <a:ahLst/>
            <a:cxnLst/>
            <a:rect l="l" t="t" r="r" b="b"/>
            <a:pathLst>
              <a:path w="2695280" h="13841">
                <a:moveTo>
                  <a:pt x="71120" y="0"/>
                </a:moveTo>
                <a:lnTo>
                  <a:pt x="2624160" y="0"/>
                </a:lnTo>
                <a:lnTo>
                  <a:pt x="2639751" y="1730"/>
                </a:lnTo>
                <a:lnTo>
                  <a:pt x="2646073" y="3460"/>
                </a:lnTo>
                <a:lnTo>
                  <a:pt x="2650831" y="5190"/>
                </a:lnTo>
                <a:lnTo>
                  <a:pt x="2654762" y="6920"/>
                </a:lnTo>
                <a:lnTo>
                  <a:pt x="2658154" y="8651"/>
                </a:lnTo>
                <a:lnTo>
                  <a:pt x="2661157" y="10381"/>
                </a:lnTo>
                <a:lnTo>
                  <a:pt x="2663858" y="12111"/>
                </a:lnTo>
                <a:lnTo>
                  <a:pt x="2666316" y="13841"/>
                </a:lnTo>
                <a:lnTo>
                  <a:pt x="28964" y="13841"/>
                </a:lnTo>
                <a:lnTo>
                  <a:pt x="31421" y="12111"/>
                </a:lnTo>
                <a:lnTo>
                  <a:pt x="34123" y="10381"/>
                </a:lnTo>
                <a:lnTo>
                  <a:pt x="37125" y="8651"/>
                </a:lnTo>
                <a:lnTo>
                  <a:pt x="40518" y="6920"/>
                </a:lnTo>
                <a:lnTo>
                  <a:pt x="44449" y="5190"/>
                </a:lnTo>
                <a:lnTo>
                  <a:pt x="49206" y="3460"/>
                </a:lnTo>
                <a:lnTo>
                  <a:pt x="55528" y="1730"/>
                </a:lnTo>
                <a:close/>
              </a:path>
            </a:pathLst>
          </a:custGeom>
          <a:solidFill>
            <a:srgbClr val="E8A020"/>
          </a:solidFill>
          <a:ln/>
        </p:spPr>
        <p:txBody>
          <a:bodyPr wrap="none" rtlCol="0" anchor="t"/>
          <a:lstStyle/>
          <a:p>
            <a:pPr marL="0" indent="0">
              <a:buNone/>
            </a:pPr>
            <a:endParaRPr lang="en-US" dirty="0"/>
          </a:p>
        </p:txBody>
      </p:sp>
      <p:sp>
        <p:nvSpPr>
          <p:cNvPr id="6" name="Text 4"/>
          <p:cNvSpPr/>
          <p:nvPr/>
        </p:nvSpPr>
        <p:spPr>
          <a:xfrm>
            <a:off x="3224213" y="762000"/>
            <a:ext cx="2695423" cy="13841"/>
          </a:xfrm>
          <a:custGeom>
            <a:avLst/>
            <a:gdLst/>
            <a:ahLst/>
            <a:cxnLst/>
            <a:rect l="l" t="t" r="r" b="b"/>
            <a:pathLst>
              <a:path w="2695423" h="13841">
                <a:moveTo>
                  <a:pt x="71120" y="0"/>
                </a:moveTo>
                <a:lnTo>
                  <a:pt x="2624303" y="0"/>
                </a:lnTo>
                <a:lnTo>
                  <a:pt x="2639894" y="1730"/>
                </a:lnTo>
                <a:lnTo>
                  <a:pt x="2646216" y="3460"/>
                </a:lnTo>
                <a:lnTo>
                  <a:pt x="2650973" y="5190"/>
                </a:lnTo>
                <a:lnTo>
                  <a:pt x="2654904" y="6920"/>
                </a:lnTo>
                <a:lnTo>
                  <a:pt x="2658297" y="8651"/>
                </a:lnTo>
                <a:lnTo>
                  <a:pt x="2661300" y="10381"/>
                </a:lnTo>
                <a:lnTo>
                  <a:pt x="2664001" y="12111"/>
                </a:lnTo>
                <a:lnTo>
                  <a:pt x="2666459" y="13841"/>
                </a:lnTo>
                <a:lnTo>
                  <a:pt x="28964" y="13841"/>
                </a:lnTo>
                <a:lnTo>
                  <a:pt x="31421" y="12111"/>
                </a:lnTo>
                <a:lnTo>
                  <a:pt x="34123" y="10381"/>
                </a:lnTo>
                <a:lnTo>
                  <a:pt x="37125" y="8651"/>
                </a:lnTo>
                <a:lnTo>
                  <a:pt x="40518" y="6920"/>
                </a:lnTo>
                <a:lnTo>
                  <a:pt x="44449" y="5190"/>
                </a:lnTo>
                <a:lnTo>
                  <a:pt x="49206" y="3460"/>
                </a:lnTo>
                <a:lnTo>
                  <a:pt x="55528" y="1730"/>
                </a:lnTo>
                <a:close/>
              </a:path>
            </a:pathLst>
          </a:custGeom>
          <a:solidFill>
            <a:srgbClr val="E8A020"/>
          </a:solidFill>
          <a:ln/>
        </p:spPr>
        <p:txBody>
          <a:bodyPr wrap="none" rtlCol="0" anchor="t"/>
          <a:lstStyle/>
          <a:p>
            <a:pPr marL="0" indent="0">
              <a:buNone/>
            </a:pPr>
            <a:endParaRPr lang="en-US" dirty="0"/>
          </a:p>
        </p:txBody>
      </p:sp>
      <p:sp>
        <p:nvSpPr>
          <p:cNvPr id="7" name="Text 5"/>
          <p:cNvSpPr/>
          <p:nvPr/>
        </p:nvSpPr>
        <p:spPr>
          <a:xfrm>
            <a:off x="6038999" y="762000"/>
            <a:ext cx="2695280" cy="13841"/>
          </a:xfrm>
          <a:custGeom>
            <a:avLst/>
            <a:gdLst/>
            <a:ahLst/>
            <a:cxnLst/>
            <a:rect l="l" t="t" r="r" b="b"/>
            <a:pathLst>
              <a:path w="2695280" h="13841">
                <a:moveTo>
                  <a:pt x="71120" y="0"/>
                </a:moveTo>
                <a:lnTo>
                  <a:pt x="2624160" y="0"/>
                </a:lnTo>
                <a:lnTo>
                  <a:pt x="2639751" y="1730"/>
                </a:lnTo>
                <a:lnTo>
                  <a:pt x="2646073" y="3460"/>
                </a:lnTo>
                <a:lnTo>
                  <a:pt x="2650831" y="5190"/>
                </a:lnTo>
                <a:lnTo>
                  <a:pt x="2654762" y="6920"/>
                </a:lnTo>
                <a:lnTo>
                  <a:pt x="2658154" y="8651"/>
                </a:lnTo>
                <a:lnTo>
                  <a:pt x="2661157" y="10381"/>
                </a:lnTo>
                <a:lnTo>
                  <a:pt x="2663858" y="12111"/>
                </a:lnTo>
                <a:lnTo>
                  <a:pt x="2666316" y="13841"/>
                </a:lnTo>
                <a:lnTo>
                  <a:pt x="28964" y="13841"/>
                </a:lnTo>
                <a:lnTo>
                  <a:pt x="31421" y="12111"/>
                </a:lnTo>
                <a:lnTo>
                  <a:pt x="34123" y="10381"/>
                </a:lnTo>
                <a:lnTo>
                  <a:pt x="37125" y="8651"/>
                </a:lnTo>
                <a:lnTo>
                  <a:pt x="40518" y="6920"/>
                </a:lnTo>
                <a:lnTo>
                  <a:pt x="44449" y="5190"/>
                </a:lnTo>
                <a:lnTo>
                  <a:pt x="49206" y="3460"/>
                </a:lnTo>
                <a:lnTo>
                  <a:pt x="55528" y="1730"/>
                </a:lnTo>
                <a:close/>
              </a:path>
            </a:pathLst>
          </a:custGeom>
          <a:solidFill>
            <a:srgbClr val="E8A020"/>
          </a:solidFill>
          <a:ln/>
        </p:spPr>
        <p:txBody>
          <a:bodyPr wrap="none" rtlCol="0" anchor="t"/>
          <a:lstStyle/>
          <a:p>
            <a:pPr marL="0" indent="0">
              <a:buNone/>
            </a:pPr>
            <a:endParaRPr lang="en-US" dirty="0"/>
          </a:p>
        </p:txBody>
      </p:sp>
      <p:sp>
        <p:nvSpPr>
          <p:cNvPr id="8" name="Text 6"/>
          <p:cNvSpPr/>
          <p:nvPr/>
        </p:nvSpPr>
        <p:spPr>
          <a:xfrm>
            <a:off x="409575" y="2720727"/>
            <a:ext cx="2695280" cy="13841"/>
          </a:xfrm>
          <a:custGeom>
            <a:avLst/>
            <a:gdLst/>
            <a:ahLst/>
            <a:cxnLst/>
            <a:rect l="l" t="t" r="r" b="b"/>
            <a:pathLst>
              <a:path w="2695280" h="13841">
                <a:moveTo>
                  <a:pt x="71120" y="0"/>
                </a:moveTo>
                <a:lnTo>
                  <a:pt x="2624160" y="0"/>
                </a:lnTo>
                <a:lnTo>
                  <a:pt x="2639751" y="1730"/>
                </a:lnTo>
                <a:lnTo>
                  <a:pt x="2646073" y="3460"/>
                </a:lnTo>
                <a:lnTo>
                  <a:pt x="2650831" y="5190"/>
                </a:lnTo>
                <a:lnTo>
                  <a:pt x="2654762" y="6920"/>
                </a:lnTo>
                <a:lnTo>
                  <a:pt x="2658154" y="8651"/>
                </a:lnTo>
                <a:lnTo>
                  <a:pt x="2661157" y="10381"/>
                </a:lnTo>
                <a:lnTo>
                  <a:pt x="2663858" y="12111"/>
                </a:lnTo>
                <a:lnTo>
                  <a:pt x="2666316" y="13841"/>
                </a:lnTo>
                <a:lnTo>
                  <a:pt x="28964" y="13841"/>
                </a:lnTo>
                <a:lnTo>
                  <a:pt x="31421" y="12111"/>
                </a:lnTo>
                <a:lnTo>
                  <a:pt x="34123" y="10381"/>
                </a:lnTo>
                <a:lnTo>
                  <a:pt x="37125" y="8651"/>
                </a:lnTo>
                <a:lnTo>
                  <a:pt x="40518" y="6920"/>
                </a:lnTo>
                <a:lnTo>
                  <a:pt x="44449" y="5190"/>
                </a:lnTo>
                <a:lnTo>
                  <a:pt x="49206" y="3460"/>
                </a:lnTo>
                <a:lnTo>
                  <a:pt x="55528" y="1730"/>
                </a:lnTo>
                <a:close/>
              </a:path>
            </a:pathLst>
          </a:custGeom>
          <a:solidFill>
            <a:srgbClr val="E8A020"/>
          </a:solidFill>
          <a:ln/>
        </p:spPr>
        <p:txBody>
          <a:bodyPr wrap="none" rtlCol="0" anchor="t"/>
          <a:lstStyle/>
          <a:p>
            <a:pPr marL="0" indent="0">
              <a:buNone/>
            </a:pPr>
            <a:endParaRPr lang="en-US" dirty="0"/>
          </a:p>
        </p:txBody>
      </p:sp>
      <p:sp>
        <p:nvSpPr>
          <p:cNvPr id="9" name="Text 7"/>
          <p:cNvSpPr/>
          <p:nvPr/>
        </p:nvSpPr>
        <p:spPr>
          <a:xfrm>
            <a:off x="3224213" y="2720727"/>
            <a:ext cx="2695423" cy="13841"/>
          </a:xfrm>
          <a:custGeom>
            <a:avLst/>
            <a:gdLst/>
            <a:ahLst/>
            <a:cxnLst/>
            <a:rect l="l" t="t" r="r" b="b"/>
            <a:pathLst>
              <a:path w="2695423" h="13841">
                <a:moveTo>
                  <a:pt x="71120" y="0"/>
                </a:moveTo>
                <a:lnTo>
                  <a:pt x="2624303" y="0"/>
                </a:lnTo>
                <a:lnTo>
                  <a:pt x="2639894" y="1730"/>
                </a:lnTo>
                <a:lnTo>
                  <a:pt x="2646216" y="3460"/>
                </a:lnTo>
                <a:lnTo>
                  <a:pt x="2650973" y="5190"/>
                </a:lnTo>
                <a:lnTo>
                  <a:pt x="2654904" y="6920"/>
                </a:lnTo>
                <a:lnTo>
                  <a:pt x="2658297" y="8651"/>
                </a:lnTo>
                <a:lnTo>
                  <a:pt x="2661300" y="10381"/>
                </a:lnTo>
                <a:lnTo>
                  <a:pt x="2664001" y="12111"/>
                </a:lnTo>
                <a:lnTo>
                  <a:pt x="2666459" y="13841"/>
                </a:lnTo>
                <a:lnTo>
                  <a:pt x="28964" y="13841"/>
                </a:lnTo>
                <a:lnTo>
                  <a:pt x="31421" y="12111"/>
                </a:lnTo>
                <a:lnTo>
                  <a:pt x="34123" y="10381"/>
                </a:lnTo>
                <a:lnTo>
                  <a:pt x="37125" y="8651"/>
                </a:lnTo>
                <a:lnTo>
                  <a:pt x="40518" y="6920"/>
                </a:lnTo>
                <a:lnTo>
                  <a:pt x="44449" y="5190"/>
                </a:lnTo>
                <a:lnTo>
                  <a:pt x="49206" y="3460"/>
                </a:lnTo>
                <a:lnTo>
                  <a:pt x="55528" y="1730"/>
                </a:lnTo>
                <a:close/>
              </a:path>
            </a:pathLst>
          </a:custGeom>
          <a:solidFill>
            <a:srgbClr val="E8A020"/>
          </a:solidFill>
          <a:ln/>
        </p:spPr>
        <p:txBody>
          <a:bodyPr wrap="none" rtlCol="0" anchor="t"/>
          <a:lstStyle/>
          <a:p>
            <a:pPr marL="0" indent="0">
              <a:buNone/>
            </a:pPr>
            <a:endParaRPr lang="en-US" dirty="0"/>
          </a:p>
        </p:txBody>
      </p:sp>
      <p:sp>
        <p:nvSpPr>
          <p:cNvPr id="10" name="Text 8"/>
          <p:cNvSpPr/>
          <p:nvPr/>
        </p:nvSpPr>
        <p:spPr>
          <a:xfrm>
            <a:off x="6038999" y="2720727"/>
            <a:ext cx="2695280" cy="13841"/>
          </a:xfrm>
          <a:custGeom>
            <a:avLst/>
            <a:gdLst/>
            <a:ahLst/>
            <a:cxnLst/>
            <a:rect l="l" t="t" r="r" b="b"/>
            <a:pathLst>
              <a:path w="2695280" h="13841">
                <a:moveTo>
                  <a:pt x="71120" y="0"/>
                </a:moveTo>
                <a:lnTo>
                  <a:pt x="2624160" y="0"/>
                </a:lnTo>
                <a:lnTo>
                  <a:pt x="2639751" y="1730"/>
                </a:lnTo>
                <a:lnTo>
                  <a:pt x="2646073" y="3460"/>
                </a:lnTo>
                <a:lnTo>
                  <a:pt x="2650831" y="5190"/>
                </a:lnTo>
                <a:lnTo>
                  <a:pt x="2654762" y="6920"/>
                </a:lnTo>
                <a:lnTo>
                  <a:pt x="2658154" y="8651"/>
                </a:lnTo>
                <a:lnTo>
                  <a:pt x="2661157" y="10381"/>
                </a:lnTo>
                <a:lnTo>
                  <a:pt x="2663858" y="12111"/>
                </a:lnTo>
                <a:lnTo>
                  <a:pt x="2666316" y="13841"/>
                </a:lnTo>
                <a:lnTo>
                  <a:pt x="28964" y="13841"/>
                </a:lnTo>
                <a:lnTo>
                  <a:pt x="31421" y="12111"/>
                </a:lnTo>
                <a:lnTo>
                  <a:pt x="34123" y="10381"/>
                </a:lnTo>
                <a:lnTo>
                  <a:pt x="37125" y="8651"/>
                </a:lnTo>
                <a:lnTo>
                  <a:pt x="40518" y="6920"/>
                </a:lnTo>
                <a:lnTo>
                  <a:pt x="44449" y="5190"/>
                </a:lnTo>
                <a:lnTo>
                  <a:pt x="49206" y="3460"/>
                </a:lnTo>
                <a:lnTo>
                  <a:pt x="55528" y="1730"/>
                </a:lnTo>
                <a:close/>
              </a:path>
            </a:pathLst>
          </a:custGeom>
          <a:solidFill>
            <a:srgbClr val="E8A020"/>
          </a:solidFill>
          <a:ln/>
        </p:spPr>
        <p:txBody>
          <a:bodyPr wrap="none" rtlCol="0" anchor="t"/>
          <a:lstStyle/>
          <a:p>
            <a:pPr marL="0" indent="0">
              <a:buNone/>
            </a:pPr>
            <a:endParaRPr lang="en-US" dirty="0"/>
          </a:p>
        </p:txBody>
      </p:sp>
      <p:sp>
        <p:nvSpPr>
          <p:cNvPr id="11" name="Text 9"/>
          <p:cNvSpPr/>
          <p:nvPr/>
        </p:nvSpPr>
        <p:spPr>
          <a:xfrm>
            <a:off x="400050" y="258440"/>
            <a:ext cx="143470" cy="13841"/>
          </a:xfrm>
          <a:prstGeom prst="rect">
            <a:avLst/>
          </a:prstGeom>
          <a:solidFill>
            <a:srgbClr val="E8A020"/>
          </a:solidFill>
          <a:ln/>
        </p:spPr>
        <p:txBody>
          <a:bodyPr wrap="none" rtlCol="0" anchor="t"/>
          <a:lstStyle/>
          <a:p>
            <a:pPr marL="0" indent="0">
              <a:buNone/>
            </a:pPr>
            <a:endParaRPr lang="en-US" dirty="0"/>
          </a:p>
        </p:txBody>
      </p:sp>
      <p:sp>
        <p:nvSpPr>
          <p:cNvPr id="12" name="Text 10"/>
          <p:cNvSpPr/>
          <p:nvPr/>
        </p:nvSpPr>
        <p:spPr>
          <a:xfrm>
            <a:off x="600670" y="200620"/>
            <a:ext cx="2817793" cy="129480"/>
          </a:xfrm>
          <a:prstGeom prst="rect">
            <a:avLst/>
          </a:prstGeom>
          <a:noFill/>
          <a:ln/>
        </p:spPr>
        <p:txBody>
          <a:bodyPr wrap="none" lIns="0" tIns="0" rIns="0" bIns="0" rtlCol="0" anchor="t"/>
          <a:lstStyle/>
          <a:p>
            <a:pPr marL="0" indent="0" algn="l">
              <a:lnSpc>
                <a:spcPts val="1326"/>
              </a:lnSpc>
              <a:buNone/>
            </a:pPr>
            <a:r>
              <a:rPr lang="en-US" sz="884" b="1" kern="0" spc="140">
                <a:solidFill>
                  <a:srgbClr val="E8A020"/>
                </a:solidFill>
                <a:latin typeface="Calibri" pitchFamily="34" charset="0"/>
                <a:ea typeface="Calibri" pitchFamily="34" charset="-122"/>
                <a:cs typeface="Calibri" pitchFamily="34" charset="-120"/>
              </a:rPr>
              <a:t>SECTION 5 — IMPLEMENTATION RESOURCES</a:t>
            </a:r>
            <a:endParaRPr lang="en-US" sz="884"/>
          </a:p>
        </p:txBody>
      </p:sp>
      <p:sp>
        <p:nvSpPr>
          <p:cNvPr id="13" name="Text 11"/>
          <p:cNvSpPr/>
          <p:nvPr/>
        </p:nvSpPr>
        <p:spPr>
          <a:xfrm>
            <a:off x="400050" y="404394"/>
            <a:ext cx="4612423" cy="278904"/>
          </a:xfrm>
          <a:prstGeom prst="rect">
            <a:avLst/>
          </a:prstGeom>
          <a:noFill/>
          <a:ln/>
        </p:spPr>
        <p:txBody>
          <a:bodyPr wrap="none" lIns="0" tIns="0" rIns="0" bIns="0" rtlCol="0" anchor="t"/>
          <a:lstStyle/>
          <a:p>
            <a:pPr marL="0" indent="0" algn="l">
              <a:lnSpc>
                <a:spcPts val="2197"/>
              </a:lnSpc>
              <a:buNone/>
            </a:pPr>
            <a:r>
              <a:rPr lang="en-US" sz="1910" kern="0" spc="-20" dirty="0">
                <a:solidFill>
                  <a:srgbClr val="0D1B3E"/>
                </a:solidFill>
                <a:latin typeface="Calibri Light" pitchFamily="34" charset="0"/>
                <a:ea typeface="Calibri Light" pitchFamily="34" charset="-122"/>
                <a:cs typeface="Calibri Light" pitchFamily="34" charset="-120"/>
              </a:rPr>
              <a:t>Tools &amp; Resources to </a:t>
            </a:r>
            <a:r>
              <a:rPr lang="en-US" sz="1910" b="1" kern="0" spc="-20" dirty="0">
                <a:solidFill>
                  <a:srgbClr val="E8A020"/>
                </a:solidFill>
                <a:latin typeface="Calibri Light" pitchFamily="34" charset="0"/>
                <a:ea typeface="Calibri Light" pitchFamily="34" charset="-122"/>
                <a:cs typeface="Calibri Light" pitchFamily="34" charset="-120"/>
              </a:rPr>
              <a:t>Start Monday Morning</a:t>
            </a:r>
            <a:endParaRPr lang="en-US" sz="1910" dirty="0"/>
          </a:p>
        </p:txBody>
      </p:sp>
      <p:sp>
        <p:nvSpPr>
          <p:cNvPr id="14" name="Text 12"/>
          <p:cNvSpPr/>
          <p:nvPr/>
        </p:nvSpPr>
        <p:spPr>
          <a:xfrm>
            <a:off x="400050" y="752475"/>
            <a:ext cx="2714327" cy="1858417"/>
          </a:xfrm>
          <a:prstGeom prst="roundRect">
            <a:avLst>
              <a:gd name="adj" fmla="val 3827"/>
            </a:avLst>
          </a:prstGeom>
          <a:solidFill>
            <a:srgbClr val="FFFBF0"/>
          </a:solidFill>
          <a:ln w="9525">
            <a:solidFill>
              <a:srgbClr val="E8A020">
                <a:alpha val="50000"/>
              </a:srgbClr>
            </a:solidFill>
          </a:ln>
        </p:spPr>
        <p:txBody>
          <a:bodyPr wrap="square" rtlCol="0" anchor="t"/>
          <a:lstStyle/>
          <a:p>
            <a:pPr marL="0" indent="0">
              <a:buNone/>
            </a:pPr>
            <a:endParaRPr lang="en-US" dirty="0"/>
          </a:p>
        </p:txBody>
      </p:sp>
      <p:sp>
        <p:nvSpPr>
          <p:cNvPr id="15" name="Text 13"/>
          <p:cNvSpPr/>
          <p:nvPr/>
        </p:nvSpPr>
        <p:spPr>
          <a:xfrm>
            <a:off x="553045" y="890141"/>
            <a:ext cx="328910" cy="328910"/>
          </a:xfrm>
          <a:prstGeom prst="roundRect">
            <a:avLst>
              <a:gd name="adj" fmla="val 21623"/>
            </a:avLst>
          </a:prstGeom>
          <a:solidFill>
            <a:srgbClr val="E8A020">
              <a:alpha val="15000"/>
            </a:srgbClr>
          </a:solidFill>
          <a:ln w="9525">
            <a:solidFill>
              <a:srgbClr val="E8A020">
                <a:alpha val="50000"/>
              </a:srgbClr>
            </a:solidFill>
          </a:ln>
        </p:spPr>
        <p:txBody>
          <a:bodyPr wrap="square" rtlCol="0" anchor="t"/>
          <a:lstStyle/>
          <a:p>
            <a:pPr marL="0" indent="0">
              <a:buNone/>
            </a:pPr>
            <a:endParaRPr lang="en-US" dirty="0"/>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1206" y="988302"/>
            <a:ext cx="132588" cy="132588"/>
          </a:xfrm>
          <a:prstGeom prst="rect">
            <a:avLst/>
          </a:prstGeom>
        </p:spPr>
      </p:pic>
      <p:sp>
        <p:nvSpPr>
          <p:cNvPr id="17" name="Text 14"/>
          <p:cNvSpPr/>
          <p:nvPr/>
        </p:nvSpPr>
        <p:spPr>
          <a:xfrm>
            <a:off x="996255" y="890141"/>
            <a:ext cx="2161639" cy="71140"/>
          </a:xfrm>
          <a:prstGeom prst="rect">
            <a:avLst/>
          </a:prstGeom>
          <a:noFill/>
          <a:ln/>
        </p:spPr>
        <p:txBody>
          <a:bodyPr wrap="none" lIns="0" tIns="0" rIns="0" bIns="0" rtlCol="0" anchor="t"/>
          <a:lstStyle/>
          <a:p>
            <a:pPr marL="0" indent="0" algn="l">
              <a:lnSpc>
                <a:spcPts val="728"/>
              </a:lnSpc>
              <a:buNone/>
            </a:pPr>
            <a:r>
              <a:rPr lang="en-US" sz="728" b="1" kern="0" spc="110">
                <a:solidFill>
                  <a:srgbClr val="E8A020">
                    <a:alpha val="70000"/>
                  </a:srgbClr>
                </a:solidFill>
                <a:latin typeface="Calibri" pitchFamily="34" charset="0"/>
                <a:ea typeface="Calibri" pitchFamily="34" charset="-122"/>
                <a:cs typeface="Calibri" pitchFamily="34" charset="-120"/>
              </a:rPr>
              <a:t>01</a:t>
            </a:r>
            <a:endParaRPr lang="en-US" sz="728"/>
          </a:p>
        </p:txBody>
      </p:sp>
      <p:sp>
        <p:nvSpPr>
          <p:cNvPr id="18" name="Text 15"/>
          <p:cNvSpPr/>
          <p:nvPr/>
        </p:nvSpPr>
        <p:spPr>
          <a:xfrm>
            <a:off x="996255" y="990451"/>
            <a:ext cx="2161639" cy="137071"/>
          </a:xfrm>
          <a:prstGeom prst="rect">
            <a:avLst/>
          </a:prstGeom>
          <a:noFill/>
          <a:ln/>
        </p:spPr>
        <p:txBody>
          <a:bodyPr wrap="none" lIns="0" tIns="0" rIns="0" bIns="0" rtlCol="0" anchor="t"/>
          <a:lstStyle/>
          <a:p>
            <a:pPr marL="0" indent="0" algn="l">
              <a:lnSpc>
                <a:spcPts val="1404"/>
              </a:lnSpc>
              <a:buNone/>
            </a:pPr>
            <a:r>
              <a:rPr lang="en-US" sz="1170" b="1">
                <a:solidFill>
                  <a:srgbClr val="0D1B3E"/>
                </a:solidFill>
                <a:latin typeface="Calibri" pitchFamily="34" charset="0"/>
                <a:ea typeface="Calibri" pitchFamily="34" charset="-122"/>
                <a:cs typeface="Calibri" pitchFamily="34" charset="-120"/>
              </a:rPr>
              <a:t>Grants.gov</a:t>
            </a:r>
            <a:endParaRPr lang="en-US" sz="1170"/>
          </a:p>
        </p:txBody>
      </p:sp>
      <p:sp>
        <p:nvSpPr>
          <p:cNvPr id="19" name="Text 16"/>
          <p:cNvSpPr/>
          <p:nvPr/>
        </p:nvSpPr>
        <p:spPr>
          <a:xfrm>
            <a:off x="996255" y="1156692"/>
            <a:ext cx="2004429" cy="283785"/>
          </a:xfrm>
          <a:prstGeom prst="rect">
            <a:avLst/>
          </a:prstGeom>
          <a:noFill/>
          <a:ln/>
        </p:spPr>
        <p:txBody>
          <a:bodyPr wrap="square" lIns="0" tIns="0" rIns="0" bIns="0" rtlCol="0" anchor="t"/>
          <a:lstStyle/>
          <a:p>
            <a:pPr marL="0" indent="0" algn="l">
              <a:lnSpc>
                <a:spcPts val="1383"/>
              </a:lnSpc>
              <a:buNone/>
            </a:pPr>
            <a:r>
              <a:rPr lang="en-US" sz="988">
                <a:solidFill>
                  <a:srgbClr val="64748B"/>
                </a:solidFill>
                <a:latin typeface="Calibri" pitchFamily="34" charset="0"/>
                <a:ea typeface="Calibri" pitchFamily="34" charset="-122"/>
                <a:cs typeface="Calibri" pitchFamily="34" charset="-120"/>
              </a:rPr>
              <a:t>Federal funding opportunities + free email alert subscriptions by CFDA category</a:t>
            </a:r>
            <a:endParaRPr lang="en-US" sz="988"/>
          </a:p>
        </p:txBody>
      </p:sp>
      <p:sp>
        <p:nvSpPr>
          <p:cNvPr id="20" name="Text 17"/>
          <p:cNvSpPr/>
          <p:nvPr/>
        </p:nvSpPr>
        <p:spPr>
          <a:xfrm>
            <a:off x="3214688" y="752475"/>
            <a:ext cx="2714476" cy="1858417"/>
          </a:xfrm>
          <a:prstGeom prst="roundRect">
            <a:avLst>
              <a:gd name="adj" fmla="val 3827"/>
            </a:avLst>
          </a:prstGeom>
          <a:solidFill>
            <a:srgbClr val="F0F4F8"/>
          </a:solidFill>
          <a:ln w="9525">
            <a:solidFill>
              <a:srgbClr val="000000">
                <a:alpha val="8000"/>
              </a:srgbClr>
            </a:solidFill>
          </a:ln>
        </p:spPr>
        <p:txBody>
          <a:bodyPr wrap="square" rtlCol="0" anchor="t"/>
          <a:lstStyle/>
          <a:p>
            <a:pPr marL="0" indent="0">
              <a:buNone/>
            </a:pPr>
            <a:endParaRPr lang="en-US" dirty="0"/>
          </a:p>
        </p:txBody>
      </p:sp>
      <p:sp>
        <p:nvSpPr>
          <p:cNvPr id="21" name="Text 18"/>
          <p:cNvSpPr/>
          <p:nvPr/>
        </p:nvSpPr>
        <p:spPr>
          <a:xfrm>
            <a:off x="3367683" y="890141"/>
            <a:ext cx="328910" cy="328910"/>
          </a:xfrm>
          <a:prstGeom prst="roundRect">
            <a:avLst>
              <a:gd name="adj" fmla="val 21623"/>
            </a:avLst>
          </a:prstGeom>
          <a:solidFill>
            <a:srgbClr val="E8A020">
              <a:alpha val="15000"/>
            </a:srgbClr>
          </a:solidFill>
          <a:ln w="9525">
            <a:solidFill>
              <a:srgbClr val="E8A020">
                <a:alpha val="50000"/>
              </a:srgbClr>
            </a:solidFill>
          </a:ln>
        </p:spPr>
        <p:txBody>
          <a:bodyPr wrap="square" rtlCol="0" anchor="t"/>
          <a:lstStyle/>
          <a:p>
            <a:pPr marL="0" indent="0">
              <a:buNone/>
            </a:pPr>
            <a:endParaRPr lang="en-US" dirty="0"/>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65844" y="988302"/>
            <a:ext cx="132588" cy="132588"/>
          </a:xfrm>
          <a:prstGeom prst="rect">
            <a:avLst/>
          </a:prstGeom>
        </p:spPr>
      </p:pic>
      <p:sp>
        <p:nvSpPr>
          <p:cNvPr id="23" name="Text 19"/>
          <p:cNvSpPr/>
          <p:nvPr/>
        </p:nvSpPr>
        <p:spPr>
          <a:xfrm>
            <a:off x="3810893" y="890141"/>
            <a:ext cx="2161803" cy="71140"/>
          </a:xfrm>
          <a:prstGeom prst="rect">
            <a:avLst/>
          </a:prstGeom>
          <a:noFill/>
          <a:ln/>
        </p:spPr>
        <p:txBody>
          <a:bodyPr wrap="none" lIns="0" tIns="0" rIns="0" bIns="0" rtlCol="0" anchor="t"/>
          <a:lstStyle/>
          <a:p>
            <a:pPr marL="0" indent="0" algn="l">
              <a:lnSpc>
                <a:spcPts val="728"/>
              </a:lnSpc>
              <a:buNone/>
            </a:pPr>
            <a:r>
              <a:rPr lang="en-US" sz="728" b="1" kern="0" spc="110">
                <a:solidFill>
                  <a:srgbClr val="E8A020">
                    <a:alpha val="70000"/>
                  </a:srgbClr>
                </a:solidFill>
                <a:latin typeface="Calibri" pitchFamily="34" charset="0"/>
                <a:ea typeface="Calibri" pitchFamily="34" charset="-122"/>
                <a:cs typeface="Calibri" pitchFamily="34" charset="-120"/>
              </a:rPr>
              <a:t>02</a:t>
            </a:r>
            <a:endParaRPr lang="en-US" sz="728"/>
          </a:p>
        </p:txBody>
      </p:sp>
      <p:sp>
        <p:nvSpPr>
          <p:cNvPr id="24" name="Text 20"/>
          <p:cNvSpPr/>
          <p:nvPr/>
        </p:nvSpPr>
        <p:spPr>
          <a:xfrm>
            <a:off x="3810893" y="990451"/>
            <a:ext cx="2161803" cy="137071"/>
          </a:xfrm>
          <a:prstGeom prst="rect">
            <a:avLst/>
          </a:prstGeom>
          <a:noFill/>
          <a:ln/>
        </p:spPr>
        <p:txBody>
          <a:bodyPr wrap="none" lIns="0" tIns="0" rIns="0" bIns="0" rtlCol="0" anchor="t"/>
          <a:lstStyle/>
          <a:p>
            <a:pPr marL="0" indent="0" algn="l">
              <a:lnSpc>
                <a:spcPts val="1404"/>
              </a:lnSpc>
              <a:buNone/>
            </a:pPr>
            <a:r>
              <a:rPr lang="en-US" sz="1170" b="1">
                <a:solidFill>
                  <a:srgbClr val="0D1B3E"/>
                </a:solidFill>
                <a:latin typeface="Calibri" pitchFamily="34" charset="0"/>
                <a:ea typeface="Calibri" pitchFamily="34" charset="-122"/>
                <a:cs typeface="Calibri" pitchFamily="34" charset="-120"/>
              </a:rPr>
              <a:t>Candid / GuideStar</a:t>
            </a:r>
            <a:endParaRPr lang="en-US" sz="1170"/>
          </a:p>
        </p:txBody>
      </p:sp>
      <p:sp>
        <p:nvSpPr>
          <p:cNvPr id="25" name="Text 21"/>
          <p:cNvSpPr/>
          <p:nvPr/>
        </p:nvSpPr>
        <p:spPr>
          <a:xfrm>
            <a:off x="3810893" y="1156692"/>
            <a:ext cx="2004581" cy="283785"/>
          </a:xfrm>
          <a:prstGeom prst="rect">
            <a:avLst/>
          </a:prstGeom>
          <a:noFill/>
          <a:ln/>
        </p:spPr>
        <p:txBody>
          <a:bodyPr wrap="square" lIns="0" tIns="0" rIns="0" bIns="0" rtlCol="0" anchor="t"/>
          <a:lstStyle/>
          <a:p>
            <a:pPr marL="0" indent="0" algn="l">
              <a:lnSpc>
                <a:spcPts val="1383"/>
              </a:lnSpc>
              <a:buNone/>
            </a:pPr>
            <a:r>
              <a:rPr lang="en-US" sz="988">
                <a:solidFill>
                  <a:srgbClr val="64748B"/>
                </a:solidFill>
                <a:latin typeface="Calibri" pitchFamily="34" charset="0"/>
                <a:ea typeface="Calibri" pitchFamily="34" charset="-122"/>
                <a:cs typeface="Calibri" pitchFamily="34" charset="-120"/>
              </a:rPr>
              <a:t>Foundation research, grantee profiles, and sector data — free tier available</a:t>
            </a:r>
            <a:endParaRPr lang="en-US" sz="988"/>
          </a:p>
        </p:txBody>
      </p:sp>
      <p:sp>
        <p:nvSpPr>
          <p:cNvPr id="26" name="Text 22"/>
          <p:cNvSpPr/>
          <p:nvPr/>
        </p:nvSpPr>
        <p:spPr>
          <a:xfrm>
            <a:off x="6029474" y="752475"/>
            <a:ext cx="2714327" cy="1858417"/>
          </a:xfrm>
          <a:prstGeom prst="roundRect">
            <a:avLst>
              <a:gd name="adj" fmla="val 3827"/>
            </a:avLst>
          </a:prstGeom>
          <a:solidFill>
            <a:srgbClr val="F0F4F8"/>
          </a:solidFill>
          <a:ln w="9525">
            <a:solidFill>
              <a:srgbClr val="000000">
                <a:alpha val="8000"/>
              </a:srgbClr>
            </a:solidFill>
          </a:ln>
        </p:spPr>
        <p:txBody>
          <a:bodyPr wrap="square" rtlCol="0" anchor="t"/>
          <a:lstStyle/>
          <a:p>
            <a:pPr marL="0" indent="0">
              <a:buNone/>
            </a:pPr>
            <a:endParaRPr lang="en-US" dirty="0"/>
          </a:p>
        </p:txBody>
      </p:sp>
      <p:sp>
        <p:nvSpPr>
          <p:cNvPr id="27" name="Text 23"/>
          <p:cNvSpPr/>
          <p:nvPr/>
        </p:nvSpPr>
        <p:spPr>
          <a:xfrm>
            <a:off x="6182469" y="890141"/>
            <a:ext cx="328910" cy="328910"/>
          </a:xfrm>
          <a:prstGeom prst="roundRect">
            <a:avLst>
              <a:gd name="adj" fmla="val 21623"/>
            </a:avLst>
          </a:prstGeom>
          <a:solidFill>
            <a:srgbClr val="E8A020">
              <a:alpha val="15000"/>
            </a:srgbClr>
          </a:solidFill>
          <a:ln w="9525">
            <a:solidFill>
              <a:srgbClr val="E8A020">
                <a:alpha val="50000"/>
              </a:srgbClr>
            </a:solidFill>
          </a:ln>
        </p:spPr>
        <p:txBody>
          <a:bodyPr wrap="square" rtlCol="0" anchor="t"/>
          <a:lstStyle/>
          <a:p>
            <a:pPr marL="0" indent="0">
              <a:buNone/>
            </a:pPr>
            <a:endParaRPr lang="en-US" dirty="0"/>
          </a:p>
        </p:txBody>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0630" y="988302"/>
            <a:ext cx="132588" cy="132588"/>
          </a:xfrm>
          <a:prstGeom prst="rect">
            <a:avLst/>
          </a:prstGeom>
        </p:spPr>
      </p:pic>
      <p:sp>
        <p:nvSpPr>
          <p:cNvPr id="29" name="Text 24"/>
          <p:cNvSpPr/>
          <p:nvPr/>
        </p:nvSpPr>
        <p:spPr>
          <a:xfrm>
            <a:off x="6625679" y="890141"/>
            <a:ext cx="2161639" cy="71140"/>
          </a:xfrm>
          <a:prstGeom prst="rect">
            <a:avLst/>
          </a:prstGeom>
          <a:noFill/>
          <a:ln/>
        </p:spPr>
        <p:txBody>
          <a:bodyPr wrap="none" lIns="0" tIns="0" rIns="0" bIns="0" rtlCol="0" anchor="t"/>
          <a:lstStyle/>
          <a:p>
            <a:pPr marL="0" indent="0" algn="l">
              <a:lnSpc>
                <a:spcPts val="728"/>
              </a:lnSpc>
              <a:buNone/>
            </a:pPr>
            <a:r>
              <a:rPr lang="en-US" sz="728" b="1" kern="0" spc="110">
                <a:solidFill>
                  <a:srgbClr val="E8A020">
                    <a:alpha val="70000"/>
                  </a:srgbClr>
                </a:solidFill>
                <a:latin typeface="Calibri" pitchFamily="34" charset="0"/>
                <a:ea typeface="Calibri" pitchFamily="34" charset="-122"/>
                <a:cs typeface="Calibri" pitchFamily="34" charset="-120"/>
              </a:rPr>
              <a:t>03</a:t>
            </a:r>
            <a:endParaRPr lang="en-US" sz="728"/>
          </a:p>
        </p:txBody>
      </p:sp>
      <p:sp>
        <p:nvSpPr>
          <p:cNvPr id="30" name="Text 25"/>
          <p:cNvSpPr/>
          <p:nvPr/>
        </p:nvSpPr>
        <p:spPr>
          <a:xfrm>
            <a:off x="6625679" y="990451"/>
            <a:ext cx="2161639" cy="137071"/>
          </a:xfrm>
          <a:prstGeom prst="rect">
            <a:avLst/>
          </a:prstGeom>
          <a:noFill/>
          <a:ln/>
        </p:spPr>
        <p:txBody>
          <a:bodyPr wrap="none" lIns="0" tIns="0" rIns="0" bIns="0" rtlCol="0" anchor="t"/>
          <a:lstStyle/>
          <a:p>
            <a:pPr marL="0" indent="0" algn="l">
              <a:lnSpc>
                <a:spcPts val="1404"/>
              </a:lnSpc>
              <a:buNone/>
            </a:pPr>
            <a:r>
              <a:rPr lang="en-US" sz="1170" b="1">
                <a:solidFill>
                  <a:srgbClr val="0D1B3E"/>
                </a:solidFill>
                <a:latin typeface="Calibri" pitchFamily="34" charset="0"/>
                <a:ea typeface="Calibri" pitchFamily="34" charset="-122"/>
                <a:cs typeface="Calibri" pitchFamily="34" charset="-120"/>
              </a:rPr>
              <a:t>ProPublica Nonprofit Explorer</a:t>
            </a:r>
            <a:endParaRPr lang="en-US" sz="1170"/>
          </a:p>
        </p:txBody>
      </p:sp>
      <p:sp>
        <p:nvSpPr>
          <p:cNvPr id="31" name="Text 26"/>
          <p:cNvSpPr/>
          <p:nvPr/>
        </p:nvSpPr>
        <p:spPr>
          <a:xfrm>
            <a:off x="6625679" y="1156692"/>
            <a:ext cx="2004429" cy="283785"/>
          </a:xfrm>
          <a:prstGeom prst="rect">
            <a:avLst/>
          </a:prstGeom>
          <a:noFill/>
          <a:ln/>
        </p:spPr>
        <p:txBody>
          <a:bodyPr wrap="square" lIns="0" tIns="0" rIns="0" bIns="0" rtlCol="0" anchor="t"/>
          <a:lstStyle/>
          <a:p>
            <a:pPr marL="0" indent="0" algn="l">
              <a:lnSpc>
                <a:spcPts val="1383"/>
              </a:lnSpc>
              <a:buNone/>
            </a:pPr>
            <a:r>
              <a:rPr lang="en-US" sz="988">
                <a:solidFill>
                  <a:srgbClr val="64748B"/>
                </a:solidFill>
                <a:latin typeface="Calibri" pitchFamily="34" charset="0"/>
                <a:ea typeface="Calibri" pitchFamily="34" charset="-122"/>
                <a:cs typeface="Calibri" pitchFamily="34" charset="-120"/>
              </a:rPr>
              <a:t>Free IRS 990 database — mine funder priorities and giving patterns</a:t>
            </a:r>
            <a:endParaRPr lang="en-US" sz="988"/>
          </a:p>
        </p:txBody>
      </p:sp>
      <p:sp>
        <p:nvSpPr>
          <p:cNvPr id="32" name="Text 27"/>
          <p:cNvSpPr/>
          <p:nvPr/>
        </p:nvSpPr>
        <p:spPr>
          <a:xfrm>
            <a:off x="400050" y="2711202"/>
            <a:ext cx="2714327" cy="1858417"/>
          </a:xfrm>
          <a:prstGeom prst="roundRect">
            <a:avLst>
              <a:gd name="adj" fmla="val 3827"/>
            </a:avLst>
          </a:prstGeom>
          <a:solidFill>
            <a:srgbClr val="F0F4F8"/>
          </a:solidFill>
          <a:ln w="9525">
            <a:solidFill>
              <a:srgbClr val="000000">
                <a:alpha val="8000"/>
              </a:srgbClr>
            </a:solidFill>
          </a:ln>
        </p:spPr>
        <p:txBody>
          <a:bodyPr wrap="square" rtlCol="0" anchor="t"/>
          <a:lstStyle/>
          <a:p>
            <a:pPr marL="0" indent="0">
              <a:buNone/>
            </a:pPr>
            <a:endParaRPr lang="en-US" dirty="0"/>
          </a:p>
        </p:txBody>
      </p:sp>
      <p:sp>
        <p:nvSpPr>
          <p:cNvPr id="33" name="Text 28"/>
          <p:cNvSpPr/>
          <p:nvPr/>
        </p:nvSpPr>
        <p:spPr>
          <a:xfrm>
            <a:off x="553045" y="2848868"/>
            <a:ext cx="328910" cy="328910"/>
          </a:xfrm>
          <a:prstGeom prst="roundRect">
            <a:avLst>
              <a:gd name="adj" fmla="val 21623"/>
            </a:avLst>
          </a:prstGeom>
          <a:solidFill>
            <a:srgbClr val="E8A020">
              <a:alpha val="15000"/>
            </a:srgbClr>
          </a:solidFill>
          <a:ln w="9525">
            <a:solidFill>
              <a:srgbClr val="E8A020">
                <a:alpha val="50000"/>
              </a:srgbClr>
            </a:solidFill>
          </a:ln>
        </p:spPr>
        <p:txBody>
          <a:bodyPr wrap="square" rtlCol="0" anchor="t"/>
          <a:lstStyle/>
          <a:p>
            <a:pPr marL="0" indent="0">
              <a:buNone/>
            </a:pPr>
            <a:endParaRPr lang="en-US" dirty="0"/>
          </a:p>
        </p:txBody>
      </p:sp>
      <p:pic>
        <p:nvPicPr>
          <p:cNvPr id="3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206" y="2947029"/>
            <a:ext cx="132588" cy="132588"/>
          </a:xfrm>
          <a:prstGeom prst="rect">
            <a:avLst/>
          </a:prstGeom>
        </p:spPr>
      </p:pic>
      <p:sp>
        <p:nvSpPr>
          <p:cNvPr id="35" name="Text 29"/>
          <p:cNvSpPr/>
          <p:nvPr/>
        </p:nvSpPr>
        <p:spPr>
          <a:xfrm>
            <a:off x="996255" y="2848868"/>
            <a:ext cx="2161639" cy="71140"/>
          </a:xfrm>
          <a:prstGeom prst="rect">
            <a:avLst/>
          </a:prstGeom>
          <a:noFill/>
          <a:ln/>
        </p:spPr>
        <p:txBody>
          <a:bodyPr wrap="none" lIns="0" tIns="0" rIns="0" bIns="0" rtlCol="0" anchor="t"/>
          <a:lstStyle/>
          <a:p>
            <a:pPr marL="0" indent="0" algn="l">
              <a:lnSpc>
                <a:spcPts val="728"/>
              </a:lnSpc>
              <a:buNone/>
            </a:pPr>
            <a:r>
              <a:rPr lang="en-US" sz="728" b="1" kern="0" spc="110">
                <a:solidFill>
                  <a:srgbClr val="E8A020">
                    <a:alpha val="70000"/>
                  </a:srgbClr>
                </a:solidFill>
                <a:latin typeface="Calibri" pitchFamily="34" charset="0"/>
                <a:ea typeface="Calibri" pitchFamily="34" charset="-122"/>
                <a:cs typeface="Calibri" pitchFamily="34" charset="-120"/>
              </a:rPr>
              <a:t>04</a:t>
            </a:r>
            <a:endParaRPr lang="en-US" sz="728"/>
          </a:p>
        </p:txBody>
      </p:sp>
      <p:sp>
        <p:nvSpPr>
          <p:cNvPr id="36" name="Text 30"/>
          <p:cNvSpPr/>
          <p:nvPr/>
        </p:nvSpPr>
        <p:spPr>
          <a:xfrm>
            <a:off x="996255" y="2949178"/>
            <a:ext cx="2161639" cy="137071"/>
          </a:xfrm>
          <a:prstGeom prst="rect">
            <a:avLst/>
          </a:prstGeom>
          <a:noFill/>
          <a:ln/>
        </p:spPr>
        <p:txBody>
          <a:bodyPr wrap="none" lIns="0" tIns="0" rIns="0" bIns="0" rtlCol="0" anchor="t"/>
          <a:lstStyle/>
          <a:p>
            <a:pPr marL="0" indent="0" algn="l">
              <a:lnSpc>
                <a:spcPts val="1404"/>
              </a:lnSpc>
              <a:buNone/>
            </a:pPr>
            <a:r>
              <a:rPr lang="en-US" sz="1170" b="1">
                <a:solidFill>
                  <a:srgbClr val="0D1B3E"/>
                </a:solidFill>
                <a:latin typeface="Calibri" pitchFamily="34" charset="0"/>
                <a:ea typeface="Calibri" pitchFamily="34" charset="-122"/>
                <a:cs typeface="Calibri" pitchFamily="34" charset="-120"/>
              </a:rPr>
              <a:t>OFA Peer TA Network</a:t>
            </a:r>
            <a:endParaRPr lang="en-US" sz="1170"/>
          </a:p>
        </p:txBody>
      </p:sp>
      <p:sp>
        <p:nvSpPr>
          <p:cNvPr id="37" name="Text 31"/>
          <p:cNvSpPr/>
          <p:nvPr/>
        </p:nvSpPr>
        <p:spPr>
          <a:xfrm>
            <a:off x="996255" y="3115419"/>
            <a:ext cx="2004429" cy="283785"/>
          </a:xfrm>
          <a:prstGeom prst="rect">
            <a:avLst/>
          </a:prstGeom>
          <a:noFill/>
          <a:ln/>
        </p:spPr>
        <p:txBody>
          <a:bodyPr wrap="square" lIns="0" tIns="0" rIns="0" bIns="0" rtlCol="0" anchor="t"/>
          <a:lstStyle/>
          <a:p>
            <a:pPr marL="0" indent="0" algn="l">
              <a:lnSpc>
                <a:spcPts val="1383"/>
              </a:lnSpc>
              <a:buNone/>
            </a:pPr>
            <a:r>
              <a:rPr lang="en-US" sz="988">
                <a:solidFill>
                  <a:srgbClr val="64748B"/>
                </a:solidFill>
                <a:latin typeface="Calibri" pitchFamily="34" charset="0"/>
                <a:ea typeface="Calibri" pitchFamily="34" charset="-122"/>
                <a:cs typeface="Calibri" pitchFamily="34" charset="-120"/>
              </a:rPr>
              <a:t>NPCL-facilitated RF practitioner connections, funding intelligence, and technical assistance</a:t>
            </a:r>
            <a:endParaRPr lang="en-US" sz="988"/>
          </a:p>
        </p:txBody>
      </p:sp>
      <p:sp>
        <p:nvSpPr>
          <p:cNvPr id="38" name="Text 32"/>
          <p:cNvSpPr/>
          <p:nvPr/>
        </p:nvSpPr>
        <p:spPr>
          <a:xfrm>
            <a:off x="3214688" y="2711202"/>
            <a:ext cx="2714476" cy="1858417"/>
          </a:xfrm>
          <a:prstGeom prst="roundRect">
            <a:avLst>
              <a:gd name="adj" fmla="val 3827"/>
            </a:avLst>
          </a:prstGeom>
          <a:solidFill>
            <a:srgbClr val="F0F4F8"/>
          </a:solidFill>
          <a:ln w="9525">
            <a:solidFill>
              <a:srgbClr val="000000">
                <a:alpha val="8000"/>
              </a:srgbClr>
            </a:solidFill>
          </a:ln>
        </p:spPr>
        <p:txBody>
          <a:bodyPr wrap="square" rtlCol="0" anchor="t"/>
          <a:lstStyle/>
          <a:p>
            <a:pPr marL="0" indent="0">
              <a:buNone/>
            </a:pPr>
            <a:endParaRPr lang="en-US" dirty="0"/>
          </a:p>
        </p:txBody>
      </p:sp>
      <p:sp>
        <p:nvSpPr>
          <p:cNvPr id="39" name="Text 33"/>
          <p:cNvSpPr/>
          <p:nvPr/>
        </p:nvSpPr>
        <p:spPr>
          <a:xfrm>
            <a:off x="3367683" y="2848868"/>
            <a:ext cx="328910" cy="328910"/>
          </a:xfrm>
          <a:prstGeom prst="roundRect">
            <a:avLst>
              <a:gd name="adj" fmla="val 21623"/>
            </a:avLst>
          </a:prstGeom>
          <a:solidFill>
            <a:srgbClr val="E8A020">
              <a:alpha val="15000"/>
            </a:srgbClr>
          </a:solidFill>
          <a:ln w="9525">
            <a:solidFill>
              <a:srgbClr val="E8A020">
                <a:alpha val="50000"/>
              </a:srgbClr>
            </a:solidFill>
          </a:ln>
        </p:spPr>
        <p:txBody>
          <a:bodyPr wrap="square" rtlCol="0" anchor="t"/>
          <a:lstStyle/>
          <a:p>
            <a:pPr marL="0" indent="0">
              <a:buNone/>
            </a:pPr>
            <a:endParaRPr lang="en-US" dirty="0"/>
          </a:p>
        </p:txBody>
      </p:sp>
      <p:pic>
        <p:nvPicPr>
          <p:cNvPr id="4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65844" y="2947029"/>
            <a:ext cx="132588" cy="132588"/>
          </a:xfrm>
          <a:prstGeom prst="rect">
            <a:avLst/>
          </a:prstGeom>
        </p:spPr>
      </p:pic>
      <p:sp>
        <p:nvSpPr>
          <p:cNvPr id="41" name="Text 34"/>
          <p:cNvSpPr/>
          <p:nvPr/>
        </p:nvSpPr>
        <p:spPr>
          <a:xfrm>
            <a:off x="3810893" y="2848868"/>
            <a:ext cx="2161803" cy="71140"/>
          </a:xfrm>
          <a:prstGeom prst="rect">
            <a:avLst/>
          </a:prstGeom>
          <a:noFill/>
          <a:ln/>
        </p:spPr>
        <p:txBody>
          <a:bodyPr wrap="none" lIns="0" tIns="0" rIns="0" bIns="0" rtlCol="0" anchor="t"/>
          <a:lstStyle/>
          <a:p>
            <a:pPr marL="0" indent="0" algn="l">
              <a:lnSpc>
                <a:spcPts val="728"/>
              </a:lnSpc>
              <a:buNone/>
            </a:pPr>
            <a:r>
              <a:rPr lang="en-US" sz="728" b="1" kern="0" spc="110">
                <a:solidFill>
                  <a:srgbClr val="E8A020">
                    <a:alpha val="70000"/>
                  </a:srgbClr>
                </a:solidFill>
                <a:latin typeface="Calibri" pitchFamily="34" charset="0"/>
                <a:ea typeface="Calibri" pitchFamily="34" charset="-122"/>
                <a:cs typeface="Calibri" pitchFamily="34" charset="-120"/>
              </a:rPr>
              <a:t>05</a:t>
            </a:r>
            <a:endParaRPr lang="en-US" sz="728"/>
          </a:p>
        </p:txBody>
      </p:sp>
      <p:sp>
        <p:nvSpPr>
          <p:cNvPr id="42" name="Text 35"/>
          <p:cNvSpPr/>
          <p:nvPr/>
        </p:nvSpPr>
        <p:spPr>
          <a:xfrm>
            <a:off x="3810893" y="2949178"/>
            <a:ext cx="2161803" cy="137071"/>
          </a:xfrm>
          <a:prstGeom prst="rect">
            <a:avLst/>
          </a:prstGeom>
          <a:noFill/>
          <a:ln/>
        </p:spPr>
        <p:txBody>
          <a:bodyPr wrap="none" lIns="0" tIns="0" rIns="0" bIns="0" rtlCol="0" anchor="t"/>
          <a:lstStyle/>
          <a:p>
            <a:pPr marL="0" indent="0" algn="l">
              <a:lnSpc>
                <a:spcPts val="1404"/>
              </a:lnSpc>
              <a:buNone/>
            </a:pPr>
            <a:r>
              <a:rPr lang="en-US" sz="1170" b="1">
                <a:solidFill>
                  <a:srgbClr val="0D1B3E"/>
                </a:solidFill>
                <a:latin typeface="Calibri" pitchFamily="34" charset="0"/>
                <a:ea typeface="Calibri" pitchFamily="34" charset="-122"/>
                <a:cs typeface="Calibri" pitchFamily="34" charset="-120"/>
              </a:rPr>
              <a:t>IFC 2026 Resource Hub</a:t>
            </a:r>
            <a:endParaRPr lang="en-US" sz="1170"/>
          </a:p>
        </p:txBody>
      </p:sp>
      <p:sp>
        <p:nvSpPr>
          <p:cNvPr id="43" name="Text 36"/>
          <p:cNvSpPr/>
          <p:nvPr/>
        </p:nvSpPr>
        <p:spPr>
          <a:xfrm>
            <a:off x="3810893" y="3115419"/>
            <a:ext cx="2004581" cy="283785"/>
          </a:xfrm>
          <a:prstGeom prst="rect">
            <a:avLst/>
          </a:prstGeom>
          <a:noFill/>
          <a:ln/>
        </p:spPr>
        <p:txBody>
          <a:bodyPr wrap="square" lIns="0" tIns="0" rIns="0" bIns="0" rtlCol="0" anchor="t"/>
          <a:lstStyle/>
          <a:p>
            <a:pPr marL="0" indent="0" algn="l">
              <a:lnSpc>
                <a:spcPts val="1383"/>
              </a:lnSpc>
              <a:buNone/>
            </a:pPr>
            <a:r>
              <a:rPr lang="en-US" sz="988">
                <a:solidFill>
                  <a:srgbClr val="64748B"/>
                </a:solidFill>
                <a:latin typeface="Calibri" pitchFamily="34" charset="0"/>
                <a:ea typeface="Calibri" pitchFamily="34" charset="-122"/>
                <a:cs typeface="Calibri" pitchFamily="34" charset="-120"/>
              </a:rPr>
              <a:t>Session handouts, logic models, templates, and presenter contact information</a:t>
            </a:r>
            <a:endParaRPr lang="en-US" sz="988"/>
          </a:p>
        </p:txBody>
      </p:sp>
      <p:sp>
        <p:nvSpPr>
          <p:cNvPr id="44" name="Text 37"/>
          <p:cNvSpPr/>
          <p:nvPr/>
        </p:nvSpPr>
        <p:spPr>
          <a:xfrm>
            <a:off x="6029474" y="2711202"/>
            <a:ext cx="2714327" cy="1858417"/>
          </a:xfrm>
          <a:prstGeom prst="roundRect">
            <a:avLst>
              <a:gd name="adj" fmla="val 3827"/>
            </a:avLst>
          </a:prstGeom>
          <a:solidFill>
            <a:srgbClr val="FFFBF0"/>
          </a:solidFill>
          <a:ln w="9525">
            <a:solidFill>
              <a:srgbClr val="E8A020">
                <a:alpha val="50000"/>
              </a:srgbClr>
            </a:solidFill>
          </a:ln>
        </p:spPr>
        <p:txBody>
          <a:bodyPr wrap="square" rtlCol="0" anchor="t"/>
          <a:lstStyle/>
          <a:p>
            <a:pPr marL="0" indent="0">
              <a:buNone/>
            </a:pPr>
            <a:endParaRPr lang="en-US" dirty="0"/>
          </a:p>
        </p:txBody>
      </p:sp>
      <p:sp>
        <p:nvSpPr>
          <p:cNvPr id="45" name="Text 38"/>
          <p:cNvSpPr/>
          <p:nvPr/>
        </p:nvSpPr>
        <p:spPr>
          <a:xfrm>
            <a:off x="6182469" y="2848868"/>
            <a:ext cx="328910" cy="328910"/>
          </a:xfrm>
          <a:prstGeom prst="roundRect">
            <a:avLst>
              <a:gd name="adj" fmla="val 21623"/>
            </a:avLst>
          </a:prstGeom>
          <a:solidFill>
            <a:srgbClr val="E8A020">
              <a:alpha val="15000"/>
            </a:srgbClr>
          </a:solidFill>
          <a:ln w="9525">
            <a:solidFill>
              <a:srgbClr val="E8A020">
                <a:alpha val="50000"/>
              </a:srgbClr>
            </a:solidFill>
          </a:ln>
        </p:spPr>
        <p:txBody>
          <a:bodyPr wrap="square" rtlCol="0" anchor="t"/>
          <a:lstStyle/>
          <a:p>
            <a:pPr marL="0" indent="0">
              <a:buNone/>
            </a:pPr>
            <a:endParaRPr lang="en-US" dirty="0"/>
          </a:p>
        </p:txBody>
      </p:sp>
      <p:pic>
        <p:nvPicPr>
          <p:cNvPr id="4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80630" y="2947029"/>
            <a:ext cx="132588" cy="132588"/>
          </a:xfrm>
          <a:prstGeom prst="rect">
            <a:avLst/>
          </a:prstGeom>
        </p:spPr>
      </p:pic>
      <p:sp>
        <p:nvSpPr>
          <p:cNvPr id="47" name="Text 39"/>
          <p:cNvSpPr/>
          <p:nvPr/>
        </p:nvSpPr>
        <p:spPr>
          <a:xfrm>
            <a:off x="6625679" y="2848868"/>
            <a:ext cx="2161639" cy="71140"/>
          </a:xfrm>
          <a:prstGeom prst="rect">
            <a:avLst/>
          </a:prstGeom>
          <a:noFill/>
          <a:ln/>
        </p:spPr>
        <p:txBody>
          <a:bodyPr wrap="none" lIns="0" tIns="0" rIns="0" bIns="0" rtlCol="0" anchor="t"/>
          <a:lstStyle/>
          <a:p>
            <a:pPr marL="0" indent="0" algn="l">
              <a:lnSpc>
                <a:spcPts val="728"/>
              </a:lnSpc>
              <a:buNone/>
            </a:pPr>
            <a:r>
              <a:rPr lang="en-US" sz="728" b="1" kern="0" spc="110">
                <a:solidFill>
                  <a:srgbClr val="E8A020">
                    <a:alpha val="70000"/>
                  </a:srgbClr>
                </a:solidFill>
                <a:latin typeface="Calibri" pitchFamily="34" charset="0"/>
                <a:ea typeface="Calibri" pitchFamily="34" charset="-122"/>
                <a:cs typeface="Calibri" pitchFamily="34" charset="-120"/>
              </a:rPr>
              <a:t>06</a:t>
            </a:r>
            <a:endParaRPr lang="en-US" sz="728"/>
          </a:p>
        </p:txBody>
      </p:sp>
      <p:sp>
        <p:nvSpPr>
          <p:cNvPr id="48" name="Text 40"/>
          <p:cNvSpPr/>
          <p:nvPr/>
        </p:nvSpPr>
        <p:spPr>
          <a:xfrm>
            <a:off x="6625679" y="2949178"/>
            <a:ext cx="2161639" cy="137071"/>
          </a:xfrm>
          <a:prstGeom prst="rect">
            <a:avLst/>
          </a:prstGeom>
          <a:noFill/>
          <a:ln/>
        </p:spPr>
        <p:txBody>
          <a:bodyPr wrap="none" lIns="0" tIns="0" rIns="0" bIns="0" rtlCol="0" anchor="t"/>
          <a:lstStyle/>
          <a:p>
            <a:pPr marL="0" indent="0" algn="l">
              <a:lnSpc>
                <a:spcPts val="1404"/>
              </a:lnSpc>
              <a:buNone/>
            </a:pPr>
            <a:r>
              <a:rPr lang="en-US" sz="1170" b="1">
                <a:solidFill>
                  <a:srgbClr val="0D1B3E"/>
                </a:solidFill>
                <a:latin typeface="Calibri" pitchFamily="34" charset="0"/>
                <a:ea typeface="Calibri" pitchFamily="34" charset="-122"/>
                <a:cs typeface="Calibri" pitchFamily="34" charset="-120"/>
              </a:rPr>
              <a:t>FSR Starter Kit</a:t>
            </a:r>
            <a:endParaRPr lang="en-US" sz="1170"/>
          </a:p>
        </p:txBody>
      </p:sp>
      <p:sp>
        <p:nvSpPr>
          <p:cNvPr id="49" name="Text 41"/>
          <p:cNvSpPr/>
          <p:nvPr/>
        </p:nvSpPr>
        <p:spPr>
          <a:xfrm>
            <a:off x="6625679" y="3115419"/>
            <a:ext cx="2004429" cy="425678"/>
          </a:xfrm>
          <a:prstGeom prst="rect">
            <a:avLst/>
          </a:prstGeom>
          <a:noFill/>
          <a:ln/>
        </p:spPr>
        <p:txBody>
          <a:bodyPr wrap="square" lIns="0" tIns="0" rIns="0" bIns="0" rtlCol="0" anchor="t"/>
          <a:lstStyle/>
          <a:p>
            <a:pPr marL="0" indent="0" algn="l">
              <a:lnSpc>
                <a:spcPts val="1383"/>
              </a:lnSpc>
              <a:buNone/>
            </a:pPr>
            <a:r>
              <a:rPr lang="en-US" sz="988">
                <a:solidFill>
                  <a:srgbClr val="64748B"/>
                </a:solidFill>
                <a:latin typeface="Calibri" pitchFamily="34" charset="0"/>
                <a:ea typeface="Calibri" pitchFamily="34" charset="-122"/>
                <a:cs typeface="Calibri" pitchFamily="34" charset="-120"/>
              </a:rPr>
              <a:t>Today's handout package — Self-Assessment, Opportunity Scoring, 90-Day Calendar, Logic Model, Outcomes, and Commitment Card</a:t>
            </a:r>
            <a:endParaRPr lang="en-US" sz="988"/>
          </a:p>
        </p:txBody>
      </p:sp>
      <p:sp>
        <p:nvSpPr>
          <p:cNvPr id="50" name="Text 42"/>
          <p:cNvSpPr/>
          <p:nvPr/>
        </p:nvSpPr>
        <p:spPr>
          <a:xfrm>
            <a:off x="400050" y="4655939"/>
            <a:ext cx="8343900" cy="344091"/>
          </a:xfrm>
          <a:prstGeom prst="roundRect">
            <a:avLst>
              <a:gd name="adj" fmla="val 16609"/>
            </a:avLst>
          </a:prstGeom>
          <a:gradFill rotWithShape="1">
            <a:gsLst>
              <a:gs pos="0">
                <a:srgbClr val="E8A020"/>
              </a:gs>
              <a:gs pos="100000">
                <a:srgbClr val="C87D10"/>
              </a:gs>
            </a:gsLst>
            <a:lin ang="0" scaled="1"/>
          </a:gradFill>
          <a:ln/>
        </p:spPr>
        <p:txBody>
          <a:bodyPr wrap="square" rtlCol="0" anchor="t"/>
          <a:lstStyle/>
          <a:p>
            <a:pPr marL="0" indent="0">
              <a:buNone/>
            </a:pPr>
            <a:endParaRPr lang="en-US" dirty="0"/>
          </a:p>
        </p:txBody>
      </p:sp>
      <p:sp>
        <p:nvSpPr>
          <p:cNvPr id="51" name="Text 43"/>
          <p:cNvSpPr/>
          <p:nvPr/>
        </p:nvSpPr>
        <p:spPr>
          <a:xfrm>
            <a:off x="651205" y="4748638"/>
            <a:ext cx="3619711" cy="171450"/>
          </a:xfrm>
          <a:prstGeom prst="rect">
            <a:avLst/>
          </a:prstGeom>
          <a:noFill/>
          <a:ln/>
        </p:spPr>
        <p:txBody>
          <a:bodyPr wrap="none" lIns="0" tIns="0" rIns="0" bIns="0" rtlCol="0" anchor="ctr"/>
          <a:lstStyle/>
          <a:p>
            <a:pPr marL="0" indent="0" algn="l">
              <a:lnSpc>
                <a:spcPts val="1755"/>
              </a:lnSpc>
              <a:buNone/>
            </a:pPr>
            <a:r>
              <a:rPr lang="en-US" sz="1170" b="1" kern="0" spc="10" dirty="0">
                <a:solidFill>
                  <a:srgbClr val="0D1B3E"/>
                </a:solidFill>
                <a:latin typeface="Calibri" pitchFamily="34" charset="0"/>
                <a:ea typeface="Calibri" pitchFamily="34" charset="-122"/>
                <a:cs typeface="Calibri" pitchFamily="34" charset="-120"/>
              </a:rPr>
              <a:t>🌐 All six are available to you. Start with one this week.</a:t>
            </a:r>
            <a:endParaRPr lang="en-US" sz="1170" dirty="0"/>
          </a:p>
        </p:txBody>
      </p:sp>
      <p:sp>
        <p:nvSpPr>
          <p:cNvPr id="52" name="Text 44"/>
          <p:cNvSpPr/>
          <p:nvPr/>
        </p:nvSpPr>
        <p:spPr>
          <a:xfrm>
            <a:off x="6688523" y="4758482"/>
            <a:ext cx="1745650" cy="139005"/>
          </a:xfrm>
          <a:prstGeom prst="rect">
            <a:avLst/>
          </a:prstGeom>
          <a:noFill/>
          <a:ln/>
        </p:spPr>
        <p:txBody>
          <a:bodyPr wrap="none" lIns="0" tIns="0" rIns="0" bIns="0" rtlCol="0" anchor="ctr"/>
          <a:lstStyle/>
          <a:p>
            <a:pPr marL="0" indent="0" algn="l">
              <a:lnSpc>
                <a:spcPts val="1423"/>
              </a:lnSpc>
              <a:buNone/>
            </a:pPr>
            <a:r>
              <a:rPr lang="en-US" sz="949" b="1" kern="0" spc="30" dirty="0">
                <a:solidFill>
                  <a:srgbClr val="0D1B3E">
                    <a:alpha val="75000"/>
                  </a:srgbClr>
                </a:solidFill>
                <a:latin typeface="Calibri" pitchFamily="34" charset="0"/>
                <a:ea typeface="Calibri" pitchFamily="34" charset="-122"/>
                <a:cs typeface="Calibri" pitchFamily="34" charset="-120"/>
              </a:rPr>
              <a:t>YOUR SYSTEM STARTS MONDAY</a:t>
            </a:r>
            <a:endParaRPr lang="en-US" sz="949" dirty="0"/>
          </a:p>
        </p:txBody>
      </p:sp>
      <p:pic>
        <p:nvPicPr>
          <p:cNvPr id="5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34173" y="4761690"/>
            <a:ext cx="132588" cy="132588"/>
          </a:xfrm>
          <a:prstGeom prst="rect">
            <a:avLst/>
          </a:prstGeom>
        </p:spPr>
      </p:pic>
      <p:sp>
        <p:nvSpPr>
          <p:cNvPr id="200" name="HandoutRef"/>
          <p:cNvSpPr txBox="1"/>
          <p:nvPr/>
        </p:nvSpPr>
        <p:spPr>
          <a:xfrm>
            <a:off x="6600000" y="4930000"/>
            <a:ext cx="2200000" cy="160000"/>
          </a:xfrm>
          <a:prstGeom prst="rect">
            <a:avLst/>
          </a:prstGeom>
          <a:noFill/>
          <a:ln>
            <a:noFill/>
          </a:ln>
        </p:spPr>
        <p:txBody>
          <a:bodyPr wrap="none" lIns="0" tIns="0" rIns="0" bIns="0" rtlCol="0" anchor="t"/>
          <a:lstStyle/>
          <a:p>
            <a:pPr algn="r">
              <a:buNone/>
            </a:pPr>
            <a:r>
              <a:rPr lang="en-US" sz="800" spc="43">
                <a:solidFill>
                  <a:srgbClr val="64748B"/>
                </a:solidFill>
                <a:latin typeface="Calibri" pitchFamily="34" charset="0"/>
              </a:rPr>
              <a:t>HANDOUT  ·  </a:t>
            </a:r>
            <a:r>
              <a:rPr lang="en-US" sz="800" b="1" spc="43">
                <a:solidFill>
                  <a:srgbClr val="E8A020"/>
                </a:solidFill>
                <a:latin typeface="Calibri" pitchFamily="34" charset="0"/>
              </a:rPr>
              <a:t>All Sections</a:t>
            </a:r>
            <a:endParaRPr lang="en-US" sz="8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9144000" cy="5143500"/>
          </a:xfrm>
          <a:prstGeom prst="rect">
            <a:avLst/>
          </a:prstGeom>
          <a:gradFill rotWithShape="1">
            <a:gsLst>
              <a:gs pos="0">
                <a:srgbClr val="E8A020">
                  <a:alpha val="5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Shape 3"/>
          <p:cNvSpPr/>
          <p:nvPr/>
        </p:nvSpPr>
        <p:spPr>
          <a:xfrm>
            <a:off x="0" y="0"/>
            <a:ext cx="9144000" cy="21580"/>
          </a:xfrm>
          <a:prstGeom prst="rect">
            <a:avLst/>
          </a:prstGeom>
          <a:gradFill rotWithShape="1">
            <a:gsLst>
              <a:gs pos="0">
                <a:srgbClr val="000000">
                  <a:alpha val="0"/>
                </a:srgbClr>
              </a:gs>
              <a:gs pos="50000">
                <a:srgbClr val="E8A020"/>
              </a:gs>
              <a:gs pos="100000">
                <a:srgbClr val="000000">
                  <a:alpha val="0"/>
                </a:srgbClr>
              </a:gs>
            </a:gsLst>
            <a:lin ang="0" scaled="1"/>
          </a:gradFill>
          <a:ln/>
        </p:spPr>
        <p:txBody>
          <a:bodyPr wrap="square" rtlCol="0" anchor="t"/>
          <a:lstStyle/>
          <a:p>
            <a:pPr marL="0" indent="0">
              <a:buNone/>
            </a:pPr>
            <a:endParaRPr lang="en-US" dirty="0"/>
          </a:p>
        </p:txBody>
      </p:sp>
      <p:sp>
        <p:nvSpPr>
          <p:cNvPr id="4" name="Shape 4"/>
          <p:cNvSpPr/>
          <p:nvPr/>
        </p:nvSpPr>
        <p:spPr>
          <a:xfrm>
            <a:off x="3400000" y="250000"/>
            <a:ext cx="2344000" cy="240000"/>
          </a:xfrm>
          <a:prstGeom prst="roundRect">
            <a:avLst>
              <a:gd name="adj" fmla="val 68388"/>
            </a:avLst>
          </a:prstGeom>
          <a:solidFill>
            <a:srgbClr val="E8A020"/>
          </a:solidFill>
          <a:ln/>
        </p:spPr>
        <p:txBody>
          <a:bodyPr wrap="square" rtlCol="0" anchor="t"/>
          <a:lstStyle/>
          <a:p>
            <a:pPr marL="0" indent="0">
              <a:buNone/>
            </a:pPr>
            <a:endParaRPr lang="en-US" dirty="0"/>
          </a:p>
        </p:txBody>
      </p:sp>
      <p:pic>
        <p:nvPicPr>
          <p:cNvPr id="5" name="Icon 5" descr="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0000" y="300000"/>
            <a:ext cx="140000" cy="140000"/>
          </a:xfrm>
          <a:prstGeom prst="rect">
            <a:avLst/>
          </a:prstGeom>
        </p:spPr>
      </p:pic>
      <p:sp>
        <p:nvSpPr>
          <p:cNvPr id="6" name="Text 6"/>
          <p:cNvSpPr/>
          <p:nvPr/>
        </p:nvSpPr>
        <p:spPr>
          <a:xfrm>
            <a:off x="3630000" y="280000"/>
            <a:ext cx="2100000" cy="210000"/>
          </a:xfrm>
          <a:prstGeom prst="rect">
            <a:avLst/>
          </a:prstGeom>
          <a:noFill/>
          <a:ln/>
        </p:spPr>
        <p:txBody>
          <a:bodyPr wrap="square" lIns="0" tIns="0" rIns="0" bIns="0" rtlCol="0" anchor="ctr"/>
          <a:lstStyle/>
          <a:p>
            <a:pPr marL="0" indent="0" algn="l">
              <a:buNone/>
            </a:pPr>
            <a:r>
              <a:rPr lang="en-US" sz="949" b="1" kern="0" spc="80">
                <a:solidFill>
                  <a:srgbClr val="0D1B3E"/>
                </a:solidFill>
                <a:latin typeface="Calibri" pitchFamily="34" charset="0"/>
                <a:ea typeface="Calibri" pitchFamily="34" charset="-122"/>
                <a:cs typeface="Calibri" pitchFamily="34" charset="-120"/>
              </a:rPr>
              <a:t>SECTION 5  ·  YOUR COMMITMENT</a:t>
            </a:r>
            <a:endParaRPr lang="en-US" sz="949"/>
          </a:p>
        </p:txBody>
      </p:sp>
      <p:sp>
        <p:nvSpPr>
          <p:cNvPr id="7" name="Text 7"/>
          <p:cNvSpPr/>
          <p:nvPr/>
        </p:nvSpPr>
        <p:spPr>
          <a:xfrm>
            <a:off x="457200" y="600000"/>
            <a:ext cx="8229600" cy="450000"/>
          </a:xfrm>
          <a:prstGeom prst="rect">
            <a:avLst/>
          </a:prstGeom>
          <a:noFill/>
          <a:ln/>
        </p:spPr>
        <p:txBody>
          <a:bodyPr wrap="square" lIns="0" tIns="0" rIns="0" bIns="0" rtlCol="0" anchor="ctr"/>
          <a:lstStyle/>
          <a:p>
            <a:pPr marL="0" indent="0" algn="ctr">
              <a:buNone/>
            </a:pPr>
            <a:r>
              <a:rPr lang="en-US" sz="3200" b="1" kern="0" spc="-30">
                <a:solidFill>
                  <a:srgbClr val="0D1B3E"/>
                </a:solidFill>
                <a:latin typeface="Calibri Light" pitchFamily="34" charset="0"/>
                <a:ea typeface="Calibri Light" pitchFamily="34" charset="-122"/>
                <a:cs typeface="Calibri Light" pitchFamily="34" charset="-120"/>
              </a:rPr>
              <a:t>One Action. 30 Days.</a:t>
            </a:r>
            <a:endParaRPr lang="en-US" sz="3200"/>
          </a:p>
        </p:txBody>
      </p:sp>
      <p:sp>
        <p:nvSpPr>
          <p:cNvPr id="8" name="Text 8"/>
          <p:cNvSpPr/>
          <p:nvPr/>
        </p:nvSpPr>
        <p:spPr>
          <a:xfrm>
            <a:off x="1200000" y="1050000"/>
            <a:ext cx="6744000" cy="250000"/>
          </a:xfrm>
          <a:prstGeom prst="rect">
            <a:avLst/>
          </a:prstGeom>
          <a:noFill/>
          <a:ln/>
        </p:spPr>
        <p:txBody>
          <a:bodyPr wrap="square" lIns="0" tIns="0" rIns="0" bIns="0" rtlCol="0" anchor="ctr"/>
          <a:lstStyle/>
          <a:p>
            <a:pPr marL="0" indent="0" algn="ctr">
              <a:buNone/>
            </a:pPr>
            <a:r>
              <a:rPr lang="en-US" sz="1300" kern="0" spc="10">
                <a:solidFill>
                  <a:srgbClr val="E8A020"/>
                </a:solidFill>
                <a:latin typeface="Calibri Light" pitchFamily="34" charset="0"/>
                <a:ea typeface="Calibri Light" pitchFamily="34" charset="-122"/>
                <a:cs typeface="Calibri Light" pitchFamily="34" charset="-120"/>
              </a:rPr>
              <a:t>Choose your first step and commit to it before you leave this room</a:t>
            </a:r>
            <a:endParaRPr lang="en-US" sz="1300"/>
          </a:p>
        </p:txBody>
      </p:sp>
      <p:sp>
        <p:nvSpPr>
          <p:cNvPr id="9" name="Shape 9"/>
          <p:cNvSpPr/>
          <p:nvPr/>
        </p:nvSpPr>
        <p:spPr>
          <a:xfrm>
            <a:off x="4100000" y="1380000"/>
            <a:ext cx="944000" cy="13841"/>
          </a:xfrm>
          <a:prstGeom prst="roundRect">
            <a:avLst>
              <a:gd name="adj" fmla="val 100932"/>
            </a:avLst>
          </a:prstGeom>
          <a:solidFill>
            <a:srgbClr val="E8A020"/>
          </a:solidFill>
          <a:ln/>
        </p:spPr>
        <p:txBody>
          <a:bodyPr wrap="square" rtlCol="0" anchor="t"/>
          <a:lstStyle/>
          <a:p>
            <a:pPr marL="0" indent="0">
              <a:buNone/>
            </a:pPr>
            <a:endParaRPr lang="en-US"/>
          </a:p>
        </p:txBody>
      </p:sp>
      <p:sp>
        <p:nvSpPr>
          <p:cNvPr id="10" name="Shape 10"/>
          <p:cNvSpPr/>
          <p:nvPr/>
        </p:nvSpPr>
        <p:spPr>
          <a:xfrm>
            <a:off x="622000" y="1550000"/>
            <a:ext cx="2500000" cy="2100000"/>
          </a:xfrm>
          <a:prstGeom prst="roundRect">
            <a:avLst>
              <a:gd name="adj" fmla="val 4850"/>
            </a:avLst>
          </a:prstGeom>
          <a:solidFill>
            <a:srgbClr val="F0F4F8"/>
          </a:solidFill>
          <a:ln w="9525">
            <a:solidFill>
              <a:srgbClr val="E8A020">
                <a:alpha val="20000"/>
              </a:srgbClr>
            </a:solidFill>
          </a:ln>
        </p:spPr>
        <p:txBody>
          <a:bodyPr wrap="square" rtlCol="0" anchor="t"/>
          <a:lstStyle/>
          <a:p>
            <a:pPr marL="0" indent="0">
              <a:buNone/>
            </a:pPr>
            <a:endParaRPr lang="en-US"/>
          </a:p>
        </p:txBody>
      </p:sp>
      <p:sp>
        <p:nvSpPr>
          <p:cNvPr id="11" name="Shape 11"/>
          <p:cNvSpPr/>
          <p:nvPr/>
        </p:nvSpPr>
        <p:spPr>
          <a:xfrm>
            <a:off x="622000" y="1559525"/>
            <a:ext cx="28575" cy="2080950"/>
          </a:xfrm>
          <a:prstGeom prst="roundRect">
            <a:avLst>
              <a:gd name="adj" fmla="val 100932"/>
            </a:avLst>
          </a:prstGeom>
          <a:solidFill>
            <a:srgbClr val="E8A020"/>
          </a:solidFill>
          <a:ln/>
        </p:spPr>
        <p:txBody>
          <a:bodyPr wrap="square" rtlCol="0" anchor="t"/>
          <a:lstStyle/>
          <a:p>
            <a:pPr marL="0" indent="0">
              <a:buNone/>
            </a:pPr>
            <a:endParaRPr lang="en-US"/>
          </a:p>
        </p:txBody>
      </p:sp>
      <p:sp>
        <p:nvSpPr>
          <p:cNvPr id="12" name="Shape 12"/>
          <p:cNvSpPr/>
          <p:nvPr/>
        </p:nvSpPr>
        <p:spPr>
          <a:xfrm>
            <a:off x="1752000" y="1730000"/>
            <a:ext cx="240000" cy="240000"/>
          </a:xfrm>
          <a:prstGeom prst="ellipse">
            <a:avLst/>
          </a:prstGeom>
          <a:solidFill>
            <a:srgbClr val="E8A020"/>
          </a:solidFill>
          <a:ln/>
        </p:spPr>
        <p:txBody>
          <a:bodyPr wrap="square" rtlCol="0" anchor="t"/>
          <a:lstStyle/>
          <a:p>
            <a:pPr marL="0" indent="0">
              <a:buNone/>
            </a:pPr>
            <a:endParaRPr lang="en-US"/>
          </a:p>
        </p:txBody>
      </p:sp>
      <p:sp>
        <p:nvSpPr>
          <p:cNvPr id="13" name="Text 13"/>
          <p:cNvSpPr/>
          <p:nvPr/>
        </p:nvSpPr>
        <p:spPr>
          <a:xfrm>
            <a:off x="1752000" y="1730000"/>
            <a:ext cx="240000" cy="24000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1</a:t>
            </a:r>
            <a:endParaRPr lang="en-US" sz="1400"/>
          </a:p>
        </p:txBody>
      </p:sp>
      <p:sp>
        <p:nvSpPr>
          <p:cNvPr id="14" name="Shape 14"/>
          <p:cNvSpPr/>
          <p:nvPr/>
        </p:nvSpPr>
        <p:spPr>
          <a:xfrm>
            <a:off x="1722000" y="2080000"/>
            <a:ext cx="300000" cy="300000"/>
          </a:xfrm>
          <a:prstGeom prst="ellipse">
            <a:avLst/>
          </a:prstGeom>
          <a:solidFill>
            <a:srgbClr val="E8A020">
              <a:alpha val="10000"/>
            </a:srgbClr>
          </a:solidFill>
          <a:ln/>
        </p:spPr>
        <p:txBody>
          <a:bodyPr wrap="square" rtlCol="0" anchor="t"/>
          <a:lstStyle/>
          <a:p>
            <a:pPr marL="0" indent="0">
              <a:buNone/>
            </a:pPr>
            <a:endParaRPr lang="en-US" dirty="0"/>
          </a:p>
        </p:txBody>
      </p:sp>
      <p:pic>
        <p:nvPicPr>
          <p:cNvPr id="15" name="Icon 15" descr="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02000" y="2160000"/>
            <a:ext cx="140000" cy="140000"/>
          </a:xfrm>
          <a:prstGeom prst="rect">
            <a:avLst/>
          </a:prstGeom>
        </p:spPr>
      </p:pic>
      <p:sp>
        <p:nvSpPr>
          <p:cNvPr id="16" name="Text 16"/>
          <p:cNvSpPr/>
          <p:nvPr/>
        </p:nvSpPr>
        <p:spPr>
          <a:xfrm>
            <a:off x="722000" y="2470000"/>
            <a:ext cx="2300000" cy="250000"/>
          </a:xfrm>
          <a:prstGeom prst="rect">
            <a:avLst/>
          </a:prstGeom>
          <a:noFill/>
          <a:ln/>
        </p:spPr>
        <p:txBody>
          <a:bodyPr wrap="square" lIns="0" tIns="0" rIns="0" bIns="0" rtlCol="0" anchor="ctr"/>
          <a:lstStyle/>
          <a:p>
            <a:pPr marL="0" indent="0" algn="ctr">
              <a:buNone/>
            </a:pPr>
            <a:r>
              <a:rPr lang="en-US" sz="1600" b="1" kern="0" spc="30">
                <a:solidFill>
                  <a:srgbClr val="E8A020"/>
                </a:solidFill>
                <a:latin typeface="Calibri Light" pitchFamily="34" charset="0"/>
                <a:ea typeface="Calibri Light" pitchFamily="34" charset="-122"/>
                <a:cs typeface="Calibri Light" pitchFamily="34" charset="-120"/>
              </a:rPr>
              <a:t>What Action?</a:t>
            </a:r>
            <a:endParaRPr lang="en-US" sz="1600"/>
          </a:p>
        </p:txBody>
      </p:sp>
      <p:sp>
        <p:nvSpPr>
          <p:cNvPr id="17" name="Text 17"/>
          <p:cNvSpPr/>
          <p:nvPr/>
        </p:nvSpPr>
        <p:spPr>
          <a:xfrm>
            <a:off x="772000" y="2750000"/>
            <a:ext cx="2200000" cy="800000"/>
          </a:xfrm>
          <a:prstGeom prst="rect">
            <a:avLst/>
          </a:prstGeom>
          <a:noFill/>
          <a:ln/>
        </p:spPr>
        <p:txBody>
          <a:bodyPr wrap="square" lIns="0" tIns="0" rIns="0" bIns="0" rtlCol="0" anchor="t"/>
          <a:lstStyle/>
          <a:p>
            <a:pPr marL="0" indent="0" algn="ctr">
              <a:lnSpc>
                <a:spcPts val="1800"/>
              </a:lnSpc>
              <a:buNone/>
            </a:pPr>
            <a:r>
              <a:rPr lang="en-US" sz="1200">
                <a:solidFill>
                  <a:srgbClr val="0D1B3E"/>
                </a:solidFill>
                <a:latin typeface="Calibri" pitchFamily="34" charset="0"/>
                <a:ea typeface="Calibri" pitchFamily="34" charset="-122"/>
                <a:cs typeface="Calibri" pitchFamily="34" charset="-120"/>
              </a:rPr>
              <a:t>Choose one FSR practice</a:t>
            </a:r>
            <a:endParaRPr lang="en-US"/>
          </a:p>
          <a:p>
            <a:pPr marL="0" indent="0" algn="ctr">
              <a:lnSpc>
                <a:spcPts val="1800"/>
              </a:lnSpc>
              <a:buNone/>
            </a:pPr>
            <a:r>
              <a:rPr lang="en-US" sz="1200">
                <a:solidFill>
                  <a:srgbClr val="0D1B3E"/>
                </a:solidFill>
                <a:latin typeface="Calibri" pitchFamily="34" charset="0"/>
                <a:ea typeface="Calibri" pitchFamily="34" charset="-122"/>
                <a:cs typeface="Calibri" pitchFamily="34" charset="-120"/>
              </a:rPr>
              <a:t>from today’s session</a:t>
            </a:r>
            <a:endParaRPr lang="en-US"/>
          </a:p>
          <a:p>
            <a:pPr marL="0" indent="0" algn="ctr">
              <a:lnSpc>
                <a:spcPts val="1800"/>
              </a:lnSpc>
              <a:buNone/>
            </a:pPr>
            <a:r>
              <a:rPr lang="en-US" sz="1200">
                <a:solidFill>
                  <a:srgbClr val="0D1B3E"/>
                </a:solidFill>
                <a:latin typeface="Calibri" pitchFamily="34" charset="0"/>
                <a:ea typeface="Calibri" pitchFamily="34" charset="-122"/>
                <a:cs typeface="Calibri" pitchFamily="34" charset="-120"/>
              </a:rPr>
              <a:t>to implement first.</a:t>
            </a:r>
            <a:endParaRPr lang="en-US"/>
          </a:p>
        </p:txBody>
      </p:sp>
      <p:sp>
        <p:nvSpPr>
          <p:cNvPr id="18" name="Shape 18"/>
          <p:cNvSpPr/>
          <p:nvPr/>
        </p:nvSpPr>
        <p:spPr>
          <a:xfrm>
            <a:off x="3322000" y="1550000"/>
            <a:ext cx="2500000" cy="2100000"/>
          </a:xfrm>
          <a:prstGeom prst="roundRect">
            <a:avLst>
              <a:gd name="adj" fmla="val 4850"/>
            </a:avLst>
          </a:prstGeom>
          <a:solidFill>
            <a:srgbClr val="F0F4F8"/>
          </a:solidFill>
          <a:ln w="9525">
            <a:solidFill>
              <a:srgbClr val="E8A020">
                <a:alpha val="20000"/>
              </a:srgbClr>
            </a:solidFill>
          </a:ln>
        </p:spPr>
        <p:txBody>
          <a:bodyPr wrap="square" rtlCol="0" anchor="t"/>
          <a:lstStyle/>
          <a:p>
            <a:pPr marL="0" indent="0">
              <a:buNone/>
            </a:pPr>
            <a:endParaRPr lang="en-US"/>
          </a:p>
        </p:txBody>
      </p:sp>
      <p:sp>
        <p:nvSpPr>
          <p:cNvPr id="19" name="Shape 19"/>
          <p:cNvSpPr/>
          <p:nvPr/>
        </p:nvSpPr>
        <p:spPr>
          <a:xfrm>
            <a:off x="3322000" y="1559525"/>
            <a:ext cx="28575" cy="2080950"/>
          </a:xfrm>
          <a:prstGeom prst="roundRect">
            <a:avLst>
              <a:gd name="adj" fmla="val 100932"/>
            </a:avLst>
          </a:prstGeom>
          <a:solidFill>
            <a:srgbClr val="E8A020"/>
          </a:solidFill>
          <a:ln/>
        </p:spPr>
        <p:txBody>
          <a:bodyPr wrap="square" rtlCol="0" anchor="t"/>
          <a:lstStyle/>
          <a:p>
            <a:pPr marL="0" indent="0">
              <a:buNone/>
            </a:pPr>
            <a:endParaRPr lang="en-US" dirty="0"/>
          </a:p>
        </p:txBody>
      </p:sp>
      <p:sp>
        <p:nvSpPr>
          <p:cNvPr id="20" name="Shape 20"/>
          <p:cNvSpPr/>
          <p:nvPr/>
        </p:nvSpPr>
        <p:spPr>
          <a:xfrm>
            <a:off x="4452000" y="1730000"/>
            <a:ext cx="240000" cy="240000"/>
          </a:xfrm>
          <a:prstGeom prst="ellipse">
            <a:avLst/>
          </a:prstGeom>
          <a:solidFill>
            <a:srgbClr val="E8A020"/>
          </a:solidFill>
          <a:ln/>
        </p:spPr>
        <p:txBody>
          <a:bodyPr wrap="square" rtlCol="0" anchor="t"/>
          <a:lstStyle/>
          <a:p>
            <a:pPr marL="0" indent="0">
              <a:buNone/>
            </a:pPr>
            <a:endParaRPr lang="en-US" dirty="0"/>
          </a:p>
        </p:txBody>
      </p:sp>
      <p:sp>
        <p:nvSpPr>
          <p:cNvPr id="21" name="Text 21"/>
          <p:cNvSpPr/>
          <p:nvPr/>
        </p:nvSpPr>
        <p:spPr>
          <a:xfrm>
            <a:off x="4452000" y="1730000"/>
            <a:ext cx="240000" cy="24000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2</a:t>
            </a:r>
            <a:endParaRPr lang="en-US" sz="1400"/>
          </a:p>
        </p:txBody>
      </p:sp>
      <p:sp>
        <p:nvSpPr>
          <p:cNvPr id="22" name="Shape 22"/>
          <p:cNvSpPr/>
          <p:nvPr/>
        </p:nvSpPr>
        <p:spPr>
          <a:xfrm>
            <a:off x="4422000" y="2080000"/>
            <a:ext cx="300000" cy="300000"/>
          </a:xfrm>
          <a:prstGeom prst="ellipse">
            <a:avLst/>
          </a:prstGeom>
          <a:solidFill>
            <a:srgbClr val="E8A020">
              <a:alpha val="10000"/>
            </a:srgbClr>
          </a:solidFill>
          <a:ln/>
        </p:spPr>
        <p:txBody>
          <a:bodyPr wrap="square" rtlCol="0" anchor="t"/>
          <a:lstStyle/>
          <a:p>
            <a:pPr marL="0" indent="0">
              <a:buNone/>
            </a:pPr>
            <a:endParaRPr lang="en-US"/>
          </a:p>
        </p:txBody>
      </p:sp>
      <p:pic>
        <p:nvPicPr>
          <p:cNvPr id="23" name="Icon 23" descr="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02000" y="2160000"/>
            <a:ext cx="140000" cy="140000"/>
          </a:xfrm>
          <a:prstGeom prst="rect">
            <a:avLst/>
          </a:prstGeom>
        </p:spPr>
      </p:pic>
      <p:sp>
        <p:nvSpPr>
          <p:cNvPr id="24" name="Text 24"/>
          <p:cNvSpPr/>
          <p:nvPr/>
        </p:nvSpPr>
        <p:spPr>
          <a:xfrm>
            <a:off x="3422000" y="2470000"/>
            <a:ext cx="2300000" cy="250000"/>
          </a:xfrm>
          <a:prstGeom prst="rect">
            <a:avLst/>
          </a:prstGeom>
          <a:noFill/>
          <a:ln/>
        </p:spPr>
        <p:txBody>
          <a:bodyPr wrap="square" lIns="0" tIns="0" rIns="0" bIns="0" rtlCol="0" anchor="ctr"/>
          <a:lstStyle/>
          <a:p>
            <a:pPr marL="0" indent="0" algn="ctr">
              <a:buNone/>
            </a:pPr>
            <a:r>
              <a:rPr lang="en-US" sz="1600" b="1" kern="0" spc="30">
                <a:solidFill>
                  <a:srgbClr val="E8A020"/>
                </a:solidFill>
                <a:latin typeface="Calibri Light" pitchFamily="34" charset="0"/>
                <a:ea typeface="Calibri Light" pitchFamily="34" charset="-122"/>
                <a:cs typeface="Calibri Light" pitchFamily="34" charset="-120"/>
              </a:rPr>
              <a:t>By What Date?</a:t>
            </a:r>
            <a:endParaRPr lang="en-US" sz="1600"/>
          </a:p>
        </p:txBody>
      </p:sp>
      <p:sp>
        <p:nvSpPr>
          <p:cNvPr id="25" name="Text 25"/>
          <p:cNvSpPr/>
          <p:nvPr/>
        </p:nvSpPr>
        <p:spPr>
          <a:xfrm>
            <a:off x="3472000" y="2750000"/>
            <a:ext cx="2200000" cy="800000"/>
          </a:xfrm>
          <a:prstGeom prst="rect">
            <a:avLst/>
          </a:prstGeom>
          <a:noFill/>
          <a:ln/>
        </p:spPr>
        <p:txBody>
          <a:bodyPr wrap="square" lIns="0" tIns="0" rIns="0" bIns="0" rtlCol="0" anchor="t"/>
          <a:lstStyle/>
          <a:p>
            <a:pPr marL="0" indent="0" algn="ctr">
              <a:lnSpc>
                <a:spcPts val="1800"/>
              </a:lnSpc>
              <a:buNone/>
            </a:pPr>
            <a:r>
              <a:rPr lang="en-US" sz="1200">
                <a:solidFill>
                  <a:srgbClr val="0D1B3E"/>
                </a:solidFill>
                <a:latin typeface="Calibri" pitchFamily="34" charset="0"/>
                <a:ea typeface="Calibri" pitchFamily="34" charset="-122"/>
                <a:cs typeface="Calibri" pitchFamily="34" charset="-120"/>
              </a:rPr>
              <a:t>Name a specific date</a:t>
            </a:r>
            <a:endParaRPr lang="en-US"/>
          </a:p>
          <a:p>
            <a:pPr marL="0" indent="0" algn="ctr">
              <a:lnSpc>
                <a:spcPts val="1800"/>
              </a:lnSpc>
              <a:buNone/>
            </a:pPr>
            <a:r>
              <a:rPr lang="en-US" sz="1200">
                <a:solidFill>
                  <a:srgbClr val="0D1B3E"/>
                </a:solidFill>
                <a:latin typeface="Calibri" pitchFamily="34" charset="0"/>
                <a:ea typeface="Calibri" pitchFamily="34" charset="-122"/>
                <a:cs typeface="Calibri" pitchFamily="34" charset="-120"/>
              </a:rPr>
              <a:t>within the next 30 days.</a:t>
            </a:r>
            <a:endParaRPr lang="en-US"/>
          </a:p>
          <a:p>
            <a:pPr marL="0" indent="0" algn="ctr">
              <a:lnSpc>
                <a:spcPts val="1800"/>
              </a:lnSpc>
              <a:buNone/>
            </a:pPr>
            <a:r>
              <a:rPr lang="en-US" sz="1200">
                <a:solidFill>
                  <a:srgbClr val="0D1B3E"/>
                </a:solidFill>
                <a:latin typeface="Calibri" pitchFamily="34" charset="0"/>
                <a:ea typeface="Calibri" pitchFamily="34" charset="-122"/>
                <a:cs typeface="Calibri" pitchFamily="34" charset="-120"/>
              </a:rPr>
              <a:t>Not “soon” — a date.</a:t>
            </a:r>
            <a:endParaRPr lang="en-US"/>
          </a:p>
        </p:txBody>
      </p:sp>
      <p:sp>
        <p:nvSpPr>
          <p:cNvPr id="26" name="Shape 26"/>
          <p:cNvSpPr/>
          <p:nvPr/>
        </p:nvSpPr>
        <p:spPr>
          <a:xfrm>
            <a:off x="6022000" y="1550000"/>
            <a:ext cx="2500000" cy="2100000"/>
          </a:xfrm>
          <a:prstGeom prst="roundRect">
            <a:avLst>
              <a:gd name="adj" fmla="val 4850"/>
            </a:avLst>
          </a:prstGeom>
          <a:solidFill>
            <a:srgbClr val="F0F4F8"/>
          </a:solidFill>
          <a:ln w="9525">
            <a:solidFill>
              <a:srgbClr val="E8A020">
                <a:alpha val="20000"/>
              </a:srgbClr>
            </a:solidFill>
          </a:ln>
        </p:spPr>
        <p:txBody>
          <a:bodyPr wrap="square" rtlCol="0" anchor="t"/>
          <a:lstStyle/>
          <a:p>
            <a:pPr marL="0" indent="0">
              <a:buNone/>
            </a:pPr>
            <a:endParaRPr lang="en-US"/>
          </a:p>
        </p:txBody>
      </p:sp>
      <p:sp>
        <p:nvSpPr>
          <p:cNvPr id="27" name="Shape 27"/>
          <p:cNvSpPr/>
          <p:nvPr/>
        </p:nvSpPr>
        <p:spPr>
          <a:xfrm>
            <a:off x="6022000" y="1559525"/>
            <a:ext cx="28575" cy="2080950"/>
          </a:xfrm>
          <a:prstGeom prst="roundRect">
            <a:avLst>
              <a:gd name="adj" fmla="val 100932"/>
            </a:avLst>
          </a:prstGeom>
          <a:solidFill>
            <a:srgbClr val="E8A020"/>
          </a:solidFill>
          <a:ln/>
        </p:spPr>
        <p:txBody>
          <a:bodyPr wrap="square" rtlCol="0" anchor="t"/>
          <a:lstStyle/>
          <a:p>
            <a:pPr marL="0" indent="0">
              <a:buNone/>
            </a:pPr>
            <a:endParaRPr lang="en-US" dirty="0"/>
          </a:p>
        </p:txBody>
      </p:sp>
      <p:sp>
        <p:nvSpPr>
          <p:cNvPr id="28" name="Shape 28"/>
          <p:cNvSpPr/>
          <p:nvPr/>
        </p:nvSpPr>
        <p:spPr>
          <a:xfrm>
            <a:off x="7152000" y="1730000"/>
            <a:ext cx="240000" cy="240000"/>
          </a:xfrm>
          <a:prstGeom prst="ellipse">
            <a:avLst/>
          </a:prstGeom>
          <a:solidFill>
            <a:srgbClr val="E8A020"/>
          </a:solidFill>
          <a:ln/>
        </p:spPr>
        <p:txBody>
          <a:bodyPr wrap="square" rtlCol="0" anchor="t"/>
          <a:lstStyle/>
          <a:p>
            <a:pPr marL="0" indent="0">
              <a:buNone/>
            </a:pPr>
            <a:endParaRPr lang="en-US" dirty="0"/>
          </a:p>
        </p:txBody>
      </p:sp>
      <p:sp>
        <p:nvSpPr>
          <p:cNvPr id="29" name="Text 29"/>
          <p:cNvSpPr/>
          <p:nvPr/>
        </p:nvSpPr>
        <p:spPr>
          <a:xfrm>
            <a:off x="7152000" y="1730000"/>
            <a:ext cx="240000" cy="24000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3</a:t>
            </a:r>
            <a:endParaRPr lang="en-US" sz="1400"/>
          </a:p>
        </p:txBody>
      </p:sp>
      <p:sp>
        <p:nvSpPr>
          <p:cNvPr id="30" name="Shape 30"/>
          <p:cNvSpPr/>
          <p:nvPr/>
        </p:nvSpPr>
        <p:spPr>
          <a:xfrm>
            <a:off x="7122000" y="2080000"/>
            <a:ext cx="300000" cy="300000"/>
          </a:xfrm>
          <a:prstGeom prst="ellipse">
            <a:avLst/>
          </a:prstGeom>
          <a:solidFill>
            <a:srgbClr val="E8A020">
              <a:alpha val="10000"/>
            </a:srgbClr>
          </a:solidFill>
          <a:ln/>
        </p:spPr>
        <p:txBody>
          <a:bodyPr wrap="square" rtlCol="0" anchor="t"/>
          <a:lstStyle/>
          <a:p>
            <a:pPr marL="0" indent="0">
              <a:buNone/>
            </a:pPr>
            <a:endParaRPr lang="en-US"/>
          </a:p>
        </p:txBody>
      </p:sp>
      <p:pic>
        <p:nvPicPr>
          <p:cNvPr id="31" name="Icon 31" descr="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02000" y="2160000"/>
            <a:ext cx="140000" cy="140000"/>
          </a:xfrm>
          <a:prstGeom prst="rect">
            <a:avLst/>
          </a:prstGeom>
        </p:spPr>
      </p:pic>
      <p:sp>
        <p:nvSpPr>
          <p:cNvPr id="32" name="Text 32"/>
          <p:cNvSpPr/>
          <p:nvPr/>
        </p:nvSpPr>
        <p:spPr>
          <a:xfrm>
            <a:off x="6122000" y="2470000"/>
            <a:ext cx="2300000" cy="250000"/>
          </a:xfrm>
          <a:prstGeom prst="rect">
            <a:avLst/>
          </a:prstGeom>
          <a:noFill/>
          <a:ln/>
        </p:spPr>
        <p:txBody>
          <a:bodyPr wrap="square" lIns="0" tIns="0" rIns="0" bIns="0" rtlCol="0" anchor="ctr"/>
          <a:lstStyle/>
          <a:p>
            <a:pPr marL="0" indent="0" algn="ctr">
              <a:buNone/>
            </a:pPr>
            <a:r>
              <a:rPr lang="en-US" sz="1600" b="1" kern="0" spc="30">
                <a:solidFill>
                  <a:srgbClr val="E8A020"/>
                </a:solidFill>
                <a:latin typeface="Calibri Light" pitchFamily="34" charset="0"/>
                <a:ea typeface="Calibri Light" pitchFamily="34" charset="-122"/>
                <a:cs typeface="Calibri Light" pitchFamily="34" charset="-120"/>
              </a:rPr>
              <a:t>Who Will You Tell?</a:t>
            </a:r>
            <a:endParaRPr lang="en-US" sz="1600"/>
          </a:p>
        </p:txBody>
      </p:sp>
      <p:sp>
        <p:nvSpPr>
          <p:cNvPr id="33" name="Text 33"/>
          <p:cNvSpPr/>
          <p:nvPr/>
        </p:nvSpPr>
        <p:spPr>
          <a:xfrm>
            <a:off x="6172000" y="2750000"/>
            <a:ext cx="2200000" cy="800000"/>
          </a:xfrm>
          <a:prstGeom prst="rect">
            <a:avLst/>
          </a:prstGeom>
          <a:noFill/>
          <a:ln/>
        </p:spPr>
        <p:txBody>
          <a:bodyPr wrap="square" lIns="0" tIns="0" rIns="0" bIns="0" rtlCol="0" anchor="t"/>
          <a:lstStyle/>
          <a:p>
            <a:pPr marL="0" indent="0" algn="ctr">
              <a:lnSpc>
                <a:spcPts val="1800"/>
              </a:lnSpc>
              <a:buNone/>
            </a:pPr>
            <a:r>
              <a:rPr lang="en-US" sz="1200">
                <a:solidFill>
                  <a:srgbClr val="0D1B3E"/>
                </a:solidFill>
                <a:latin typeface="Calibri" pitchFamily="34" charset="0"/>
                <a:ea typeface="Calibri" pitchFamily="34" charset="-122"/>
                <a:cs typeface="Calibri" pitchFamily="34" charset="-120"/>
              </a:rPr>
              <a:t>Name the person who</a:t>
            </a:r>
            <a:endParaRPr lang="en-US"/>
          </a:p>
          <a:p>
            <a:pPr marL="0" indent="0" algn="ctr">
              <a:lnSpc>
                <a:spcPts val="1800"/>
              </a:lnSpc>
              <a:buNone/>
            </a:pPr>
            <a:r>
              <a:rPr lang="en-US" sz="1200">
                <a:solidFill>
                  <a:srgbClr val="0D1B3E"/>
                </a:solidFill>
                <a:latin typeface="Calibri" pitchFamily="34" charset="0"/>
                <a:ea typeface="Calibri" pitchFamily="34" charset="-122"/>
                <a:cs typeface="Calibri" pitchFamily="34" charset="-120"/>
              </a:rPr>
              <a:t>will walk with you on it.</a:t>
            </a:r>
            <a:endParaRPr lang="en-US"/>
          </a:p>
          <a:p>
            <a:pPr marL="0" indent="0" algn="ctr">
              <a:lnSpc>
                <a:spcPts val="1800"/>
              </a:lnSpc>
              <a:buNone/>
            </a:pPr>
            <a:r>
              <a:rPr lang="en-US" sz="1200">
                <a:solidFill>
                  <a:srgbClr val="0D1B3E"/>
                </a:solidFill>
                <a:latin typeface="Calibri" pitchFamily="34" charset="0"/>
                <a:ea typeface="Calibri" pitchFamily="34" charset="-122"/>
                <a:cs typeface="Calibri" pitchFamily="34" charset="-120"/>
              </a:rPr>
              <a:t>Tell them today.</a:t>
            </a:r>
            <a:endParaRPr lang="en-US"/>
          </a:p>
        </p:txBody>
      </p:sp>
      <p:sp>
        <p:nvSpPr>
          <p:cNvPr id="34" name="Shape 34"/>
          <p:cNvSpPr/>
          <p:nvPr/>
        </p:nvSpPr>
        <p:spPr>
          <a:xfrm>
            <a:off x="0" y="4520000"/>
            <a:ext cx="9144000" cy="340000"/>
          </a:xfrm>
          <a:prstGeom prst="rect">
            <a:avLst/>
          </a:prstGeom>
          <a:solidFill>
            <a:srgbClr val="E8A020"/>
          </a:solidFill>
          <a:ln/>
        </p:spPr>
        <p:txBody>
          <a:bodyPr wrap="square" rtlCol="0" anchor="t"/>
          <a:lstStyle/>
          <a:p>
            <a:pPr marL="0" indent="0">
              <a:buNone/>
            </a:pPr>
            <a:endParaRPr lang="en-US"/>
          </a:p>
        </p:txBody>
      </p:sp>
      <p:sp>
        <p:nvSpPr>
          <p:cNvPr id="35" name="Text 35"/>
          <p:cNvSpPr/>
          <p:nvPr/>
        </p:nvSpPr>
        <p:spPr>
          <a:xfrm>
            <a:off x="457200" y="4529525"/>
            <a:ext cx="8229600" cy="320475"/>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Spoken commitments are kept more often than silent ones.</a:t>
            </a:r>
            <a:endParaRPr lang="en-US" sz="1300" dirty="0"/>
          </a:p>
        </p:txBody>
      </p:sp>
      <p:sp>
        <p:nvSpPr>
          <p:cNvPr id="36" name="Shape 36"/>
          <p:cNvSpPr/>
          <p:nvPr/>
        </p:nvSpPr>
        <p:spPr>
          <a:xfrm>
            <a:off x="0" y="4860000"/>
            <a:ext cx="9144000" cy="29170"/>
          </a:xfrm>
          <a:prstGeom prst="rect">
            <a:avLst/>
          </a:prstGeom>
          <a:gradFill rotWithShape="1">
            <a:gsLst>
              <a:gs pos="0">
                <a:srgbClr val="000000">
                  <a:alpha val="0"/>
                </a:srgbClr>
              </a:gs>
              <a:gs pos="50000">
                <a:srgbClr val="E8A020"/>
              </a:gs>
              <a:gs pos="100000">
                <a:srgbClr val="000000">
                  <a:alpha val="0"/>
                </a:srgbClr>
              </a:gs>
            </a:gsLst>
            <a:lin ang="0" scaled="1"/>
          </a:gradFill>
          <a:ln/>
        </p:spPr>
        <p:txBody>
          <a:bodyPr wrap="square" rtlCol="0" anchor="t"/>
          <a:lstStyle/>
          <a:p>
            <a:pPr marL="0" indent="0">
              <a:buNone/>
            </a:pPr>
            <a:endParaRPr lang="en-US" dirty="0"/>
          </a:p>
        </p:txBody>
      </p:sp>
      <p:sp>
        <p:nvSpPr>
          <p:cNvPr id="37" name="Shape 37"/>
          <p:cNvSpPr/>
          <p:nvPr/>
        </p:nvSpPr>
        <p:spPr>
          <a:xfrm>
            <a:off x="7715250" y="0"/>
            <a:ext cx="1428750" cy="1428750"/>
          </a:xfrm>
          <a:prstGeom prst="ellipse">
            <a:avLst/>
          </a:prstGeom>
          <a:noFill/>
          <a:ln w="9525">
            <a:solidFill>
              <a:srgbClr val="E8A020">
                <a:alpha val="10000"/>
              </a:srgbClr>
            </a:solidFill>
          </a:ln>
        </p:spPr>
        <p:txBody>
          <a:bodyPr wrap="square" rtlCol="0" anchor="t"/>
          <a:lstStyle/>
          <a:p>
            <a:pPr marL="0" indent="0">
              <a:buNone/>
            </a:pPr>
            <a:endParaRPr lang="en-US" dirty="0"/>
          </a:p>
        </p:txBody>
      </p:sp>
      <p:sp>
        <p:nvSpPr>
          <p:cNvPr id="38" name="Shape 38"/>
          <p:cNvSpPr/>
          <p:nvPr/>
        </p:nvSpPr>
        <p:spPr>
          <a:xfrm>
            <a:off x="8072140" y="0"/>
            <a:ext cx="1071860" cy="1071860"/>
          </a:xfrm>
          <a:prstGeom prst="ellipse">
            <a:avLst/>
          </a:prstGeom>
          <a:noFill/>
          <a:ln w="9525">
            <a:solidFill>
              <a:srgbClr val="E8A020">
                <a:alpha val="6000"/>
              </a:srgbClr>
            </a:solidFill>
          </a:ln>
        </p:spPr>
        <p:txBody>
          <a:bodyPr wrap="square" rtlCol="0" anchor="t"/>
          <a:lstStyle/>
          <a:p>
            <a:pPr marL="0" indent="0">
              <a:buNone/>
            </a:pPr>
            <a:endParaRPr lang="en-US"/>
          </a:p>
        </p:txBody>
      </p:sp>
      <p:sp>
        <p:nvSpPr>
          <p:cNvPr id="200" name="HandoutRef"/>
          <p:cNvSpPr txBox="1"/>
          <p:nvPr/>
        </p:nvSpPr>
        <p:spPr>
          <a:xfrm>
            <a:off x="7100000" y="4930000"/>
            <a:ext cx="1700000" cy="160000"/>
          </a:xfrm>
          <a:prstGeom prst="rect">
            <a:avLst/>
          </a:prstGeom>
          <a:noFill/>
          <a:ln>
            <a:noFill/>
          </a:ln>
        </p:spPr>
        <p:txBody>
          <a:bodyPr wrap="none" lIns="0" tIns="0" rIns="0" bIns="0" rtlCol="0" anchor="t"/>
          <a:lstStyle/>
          <a:p>
            <a:pPr algn="r">
              <a:buNone/>
            </a:pPr>
            <a:r>
              <a:rPr lang="en-US" sz="800" spc="43">
                <a:solidFill>
                  <a:srgbClr val="64748B"/>
                </a:solidFill>
                <a:latin typeface="Calibri" pitchFamily="34" charset="0"/>
              </a:rPr>
              <a:t>HANDOUT  ·  </a:t>
            </a:r>
            <a:r>
              <a:rPr lang="en-US" sz="800" b="1" spc="43">
                <a:solidFill>
                  <a:srgbClr val="E8A020"/>
                </a:solidFill>
                <a:latin typeface="Calibri" pitchFamily="34" charset="0"/>
              </a:rPr>
              <a:t>Section 4</a:t>
            </a:r>
            <a:endParaRPr lang="en-US" sz="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Handout Summary">
    <p:bg>
      <p:bgPr>
        <a:solidFill>
          <a:srgbClr val="FFFFFF"/>
        </a:solidFill>
        <a:effectLst/>
      </p:bgPr>
    </p:bg>
    <p:spTree>
      <p:nvGrpSpPr>
        <p:cNvPr id="1" name=""/>
        <p:cNvGrpSpPr/>
        <p:nvPr/>
      </p:nvGrpSpPr>
      <p:grpSpPr>
        <a:xfrm>
          <a:off x="0" y="0"/>
          <a:ext cx="0" cy="0"/>
          <a:chOff x="0" y="0"/>
          <a:chExt cx="0" cy="0"/>
        </a:xfrm>
      </p:grpSpPr>
      <p:sp>
        <p:nvSpPr>
          <p:cNvPr id="2" name="AccentLine"/>
          <p:cNvSpPr/>
          <p:nvPr/>
        </p:nvSpPr>
        <p:spPr>
          <a:xfrm>
            <a:off x="0" y="0"/>
            <a:ext cx="9144000" cy="29170"/>
          </a:xfrm>
          <a:prstGeom prst="rect">
            <a:avLst/>
          </a:prstGeom>
          <a:gradFill rotWithShape="1">
            <a:gsLst>
              <a:gs pos="0">
                <a:srgbClr val="000000">
                  <a:alpha val="0"/>
                </a:srgbClr>
              </a:gs>
              <a:gs pos="30000">
                <a:srgbClr val="E8A020"/>
              </a:gs>
              <a:gs pos="50000">
                <a:srgbClr val="F5C05A"/>
              </a:gs>
              <a:gs pos="70000">
                <a:srgbClr val="E8A020"/>
              </a:gs>
              <a:gs pos="100000">
                <a:srgbClr val="000000">
                  <a:alpha val="0"/>
                </a:srgbClr>
              </a:gs>
            </a:gsLst>
            <a:lin ang="0" scaled="1"/>
          </a:gradFill>
          <a:ln/>
        </p:spPr>
        <p:txBody>
          <a:bodyPr wrap="none" rtlCol="0" anchor="t"/>
          <a:lstStyle/>
          <a:p>
            <a:pPr marL="0" indent="0">
              <a:buNone/>
            </a:pPr>
            <a:endParaRPr lang="en-US"/>
          </a:p>
        </p:txBody>
      </p:sp>
      <p:sp>
        <p:nvSpPr>
          <p:cNvPr id="3" name="SectionLabel"/>
          <p:cNvSpPr/>
          <p:nvPr/>
        </p:nvSpPr>
        <p:spPr>
          <a:xfrm>
            <a:off x="457200" y="200000"/>
            <a:ext cx="8229600" cy="220000"/>
          </a:xfrm>
          <a:prstGeom prst="rect">
            <a:avLst/>
          </a:prstGeom>
          <a:noFill/>
          <a:ln>
            <a:noFill/>
          </a:ln>
        </p:spPr>
        <p:txBody>
          <a:bodyPr wrap="square" lIns="0" tIns="0" rIns="0" bIns="0" rtlCol="0" anchor="b"/>
          <a:lstStyle/>
          <a:p>
            <a:pPr marL="0" indent="0" algn="l">
              <a:buNone/>
            </a:pPr>
            <a:r>
              <a:rPr lang="en-US" sz="900" b="1" kern="0" spc="80">
                <a:solidFill>
                  <a:srgbClr val="E8A020"/>
                </a:solidFill>
                <a:latin typeface="Calibri" pitchFamily="34" charset="0"/>
              </a:rPr>
              <a:t>HANDOUT REFERENCE GUIDE</a:t>
            </a:r>
            <a:endParaRPr lang="en-US" sz="900"/>
          </a:p>
        </p:txBody>
      </p:sp>
      <p:sp>
        <p:nvSpPr>
          <p:cNvPr id="4" name="Title"/>
          <p:cNvSpPr/>
          <p:nvPr/>
        </p:nvSpPr>
        <p:spPr>
          <a:xfrm>
            <a:off x="457200" y="400000"/>
            <a:ext cx="8229600" cy="400000"/>
          </a:xfrm>
          <a:prstGeom prst="rect">
            <a:avLst/>
          </a:prstGeom>
          <a:noFill/>
          <a:ln>
            <a:noFill/>
          </a:ln>
        </p:spPr>
        <p:txBody>
          <a:bodyPr wrap="square" lIns="0" tIns="0" rIns="0" bIns="0" rtlCol="0" anchor="t"/>
          <a:lstStyle/>
          <a:p>
            <a:pPr marL="0" indent="0" algn="l">
              <a:buNone/>
            </a:pPr>
            <a:r>
              <a:rPr lang="en-US" sz="2200" b="1" kern="0" spc="-20">
                <a:solidFill>
                  <a:srgbClr val="0D1B3E"/>
                </a:solidFill>
                <a:latin typeface="Calibri Light" pitchFamily="34" charset="0"/>
              </a:rPr>
              <a:t>Your Session Handouts — At a Glance</a:t>
            </a:r>
            <a:endParaRPr lang="en-US" sz="2200"/>
          </a:p>
        </p:txBody>
      </p:sp>
      <p:sp>
        <p:nvSpPr>
          <p:cNvPr id="5" name="TitleRule"/>
          <p:cNvSpPr/>
          <p:nvPr/>
        </p:nvSpPr>
        <p:spPr>
          <a:xfrm>
            <a:off x="457200" y="810000"/>
            <a:ext cx="5000000" cy="13841"/>
          </a:xfrm>
          <a:prstGeom prst="rect">
            <a:avLst/>
          </a:prstGeom>
          <a:gradFill rotWithShape="1">
            <a:gsLst>
              <a:gs pos="0">
                <a:srgbClr val="E8A020"/>
              </a:gs>
              <a:gs pos="60000">
                <a:srgbClr val="E8A020">
                  <a:alpha val="20000"/>
                </a:srgbClr>
              </a:gs>
              <a:gs pos="100000">
                <a:srgbClr val="000000">
                  <a:alpha val="0"/>
                </a:srgbClr>
              </a:gs>
            </a:gsLst>
            <a:lin ang="0" scaled="1"/>
          </a:gradFill>
          <a:ln/>
        </p:spPr>
        <p:txBody>
          <a:bodyPr wrap="none" rtlCol="0" anchor="t"/>
          <a:lstStyle/>
          <a:p>
            <a:pPr marL="0" indent="0">
              <a:buNone/>
            </a:pPr>
            <a:endParaRPr lang="en-US"/>
          </a:p>
        </p:txBody>
      </p:sp>
      <p:sp>
        <p:nvSpPr>
          <p:cNvPr id="10" name="Row1Num"/>
          <p:cNvSpPr/>
          <p:nvPr/>
        </p:nvSpPr>
        <p:spPr>
          <a:xfrm>
            <a:off x="457200" y="1000000"/>
            <a:ext cx="300000" cy="300000"/>
          </a:xfrm>
          <a:prstGeom prst="ellipse">
            <a:avLst/>
          </a:prstGeom>
          <a:solidFill>
            <a:srgbClr val="E8A020"/>
          </a:solidFill>
          <a:ln>
            <a:noFill/>
          </a:ln>
        </p:spPr>
        <p:txBody>
          <a:bodyPr wrap="none" lIns="0" tIns="0" rIns="0" bIns="0" rtlCol="0" anchor="ctr"/>
          <a:lstStyle/>
          <a:p>
            <a:pPr algn="ctr">
              <a:buNone/>
            </a:pPr>
            <a:r>
              <a:rPr lang="en-US" sz="1100" b="1">
                <a:solidFill>
                  <a:srgbClr val="FFFFFF"/>
                </a:solidFill>
                <a:latin typeface="Calibri" pitchFamily="34" charset="0"/>
              </a:rPr>
              <a:t>1</a:t>
            </a:r>
            <a:endParaRPr lang="en-US" sz="1000"/>
          </a:p>
        </p:txBody>
      </p:sp>
      <p:sp>
        <p:nvSpPr>
          <p:cNvPr id="11" name="Row1Title"/>
          <p:cNvSpPr/>
          <p:nvPr/>
        </p:nvSpPr>
        <p:spPr>
          <a:xfrm>
            <a:off x="870000" y="990000"/>
            <a:ext cx="4200000" cy="320000"/>
          </a:xfrm>
          <a:prstGeom prst="rect">
            <a:avLst/>
          </a:prstGeom>
          <a:noFill/>
          <a:ln>
            <a:noFill/>
          </a:ln>
        </p:spPr>
        <p:txBody>
          <a:bodyPr wrap="square" lIns="0" tIns="0" rIns="0" bIns="0" rtlCol="0" anchor="ctr"/>
          <a:lstStyle/>
          <a:p>
            <a:pPr marL="0" indent="0" algn="l">
              <a:buNone/>
            </a:pPr>
            <a:r>
              <a:rPr lang="en-US" sz="1400" b="1">
                <a:solidFill>
                  <a:srgbClr val="0D1B3E"/>
                </a:solidFill>
                <a:latin typeface="Calibri" pitchFamily="34" charset="0"/>
              </a:rPr>
              <a:t>FNSRS Capacity Self-Assessment</a:t>
            </a:r>
            <a:endParaRPr lang="en-US" sz="1200"/>
          </a:p>
        </p:txBody>
      </p:sp>
      <p:sp>
        <p:nvSpPr>
          <p:cNvPr id="12" name="Row1Desc"/>
          <p:cNvSpPr/>
          <p:nvPr/>
        </p:nvSpPr>
        <p:spPr>
          <a:xfrm>
            <a:off x="5200000" y="990000"/>
            <a:ext cx="3500000" cy="320000"/>
          </a:xfrm>
          <a:prstGeom prst="rect">
            <a:avLst/>
          </a:prstGeom>
          <a:noFill/>
          <a:ln>
            <a:noFill/>
          </a:ln>
        </p:spPr>
        <p:txBody>
          <a:bodyPr wrap="square" lIns="0" tIns="0" rIns="0" bIns="0" rtlCol="0" anchor="ctr"/>
          <a:lstStyle/>
          <a:p>
            <a:pPr marL="0" indent="0" algn="l">
              <a:buNone/>
            </a:pPr>
            <a:r>
              <a:rPr lang="en-US" sz="1000">
                <a:solidFill>
                  <a:srgbClr val="64748B"/>
                </a:solidFill>
                <a:latin typeface="Calibri" pitchFamily="34" charset="0"/>
              </a:rPr>
              <a:t>Rate your program on each FSR pillar</a:t>
            </a:r>
            <a:r>
              <a:rPr lang="en-US" sz="1000">
                <a:solidFill>
                  <a:srgbClr val="94A3B8"/>
                </a:solidFill>
                <a:latin typeface="Calibri" pitchFamily="34" charset="0"/>
              </a:rPr>
              <a:t>  •  </a:t>
            </a:r>
            <a:r>
              <a:rPr lang="en-US" sz="1000" b="1">
                <a:solidFill>
                  <a:srgbClr val="E8A020"/>
                </a:solidFill>
                <a:latin typeface="Calibri" pitchFamily="34" charset="0"/>
              </a:rPr>
              <a:t>Slide 24</a:t>
            </a:r>
            <a:endParaRPr lang="en-US" sz="1000"/>
          </a:p>
        </p:txBody>
      </p:sp>
      <p:sp>
        <p:nvSpPr>
          <p:cNvPr id="13" name="Div1"/>
          <p:cNvSpPr/>
          <p:nvPr/>
        </p:nvSpPr>
        <p:spPr>
          <a:xfrm>
            <a:off x="457200" y="1340000"/>
            <a:ext cx="8229600" cy="9525"/>
          </a:xfrm>
          <a:prstGeom prst="rect">
            <a:avLst/>
          </a:prstGeom>
          <a:solidFill>
            <a:srgbClr val="E8E8F0"/>
          </a:solidFill>
          <a:ln>
            <a:noFill/>
          </a:ln>
        </p:spPr>
        <p:txBody>
          <a:bodyPr/>
          <a:lstStyle/>
          <a:p>
            <a:endParaRPr lang="en-US"/>
          </a:p>
        </p:txBody>
      </p:sp>
      <p:sp>
        <p:nvSpPr>
          <p:cNvPr id="20" name="Row2Num"/>
          <p:cNvSpPr/>
          <p:nvPr/>
        </p:nvSpPr>
        <p:spPr>
          <a:xfrm>
            <a:off x="457200" y="1560000"/>
            <a:ext cx="300000" cy="300000"/>
          </a:xfrm>
          <a:prstGeom prst="ellipse">
            <a:avLst/>
          </a:prstGeom>
          <a:solidFill>
            <a:srgbClr val="E8A020"/>
          </a:solidFill>
          <a:ln>
            <a:noFill/>
          </a:ln>
        </p:spPr>
        <p:txBody>
          <a:bodyPr wrap="none" lIns="0" tIns="0" rIns="0" bIns="0" rtlCol="0" anchor="ctr"/>
          <a:lstStyle/>
          <a:p>
            <a:pPr algn="ctr">
              <a:buNone/>
            </a:pPr>
            <a:r>
              <a:rPr lang="en-US" sz="1100" b="1">
                <a:solidFill>
                  <a:srgbClr val="FFFFFF"/>
                </a:solidFill>
                <a:latin typeface="Calibri" pitchFamily="34" charset="0"/>
              </a:rPr>
              <a:t>2</a:t>
            </a:r>
            <a:endParaRPr lang="en-US" sz="1000"/>
          </a:p>
        </p:txBody>
      </p:sp>
      <p:sp>
        <p:nvSpPr>
          <p:cNvPr id="21" name="Row2Title"/>
          <p:cNvSpPr/>
          <p:nvPr/>
        </p:nvSpPr>
        <p:spPr>
          <a:xfrm>
            <a:off x="870000" y="1550000"/>
            <a:ext cx="4200000" cy="320000"/>
          </a:xfrm>
          <a:prstGeom prst="rect">
            <a:avLst/>
          </a:prstGeom>
          <a:noFill/>
          <a:ln>
            <a:noFill/>
          </a:ln>
        </p:spPr>
        <p:txBody>
          <a:bodyPr wrap="square" lIns="0" tIns="0" rIns="0" bIns="0" rtlCol="0" anchor="ctr"/>
          <a:lstStyle/>
          <a:p>
            <a:pPr marL="0" indent="0" algn="l">
              <a:buNone/>
            </a:pPr>
            <a:r>
              <a:rPr lang="en-US" sz="1400" b="1">
                <a:solidFill>
                  <a:srgbClr val="0D1B3E"/>
                </a:solidFill>
                <a:latin typeface="Calibri" pitchFamily="34" charset="0"/>
              </a:rPr>
              <a:t>Opportunity Scoring Matrix</a:t>
            </a:r>
            <a:endParaRPr lang="en-US" sz="1200"/>
          </a:p>
        </p:txBody>
      </p:sp>
      <p:sp>
        <p:nvSpPr>
          <p:cNvPr id="22" name="Row2Desc"/>
          <p:cNvSpPr/>
          <p:nvPr/>
        </p:nvSpPr>
        <p:spPr>
          <a:xfrm>
            <a:off x="5200000" y="1550000"/>
            <a:ext cx="3500000" cy="320000"/>
          </a:xfrm>
          <a:prstGeom prst="rect">
            <a:avLst/>
          </a:prstGeom>
          <a:noFill/>
          <a:ln>
            <a:noFill/>
          </a:ln>
        </p:spPr>
        <p:txBody>
          <a:bodyPr wrap="square" lIns="0" tIns="0" rIns="0" bIns="0" rtlCol="0" anchor="ctr"/>
          <a:lstStyle/>
          <a:p>
            <a:pPr marL="0" indent="0" algn="l">
              <a:buNone/>
            </a:pPr>
            <a:r>
              <a:rPr lang="en-US" sz="1000">
                <a:solidFill>
                  <a:srgbClr val="64748B"/>
                </a:solidFill>
                <a:latin typeface="Calibri" pitchFamily="34" charset="0"/>
              </a:rPr>
              <a:t>The 4-Question Test for every opportunity</a:t>
            </a:r>
            <a:r>
              <a:rPr lang="en-US" sz="1000">
                <a:solidFill>
                  <a:srgbClr val="94A3B8"/>
                </a:solidFill>
                <a:latin typeface="Calibri" pitchFamily="34" charset="0"/>
              </a:rPr>
              <a:t>  •  </a:t>
            </a:r>
            <a:r>
              <a:rPr lang="en-US" sz="1000" b="1">
                <a:solidFill>
                  <a:srgbClr val="E8A020"/>
                </a:solidFill>
                <a:latin typeface="Calibri" pitchFamily="34" charset="0"/>
              </a:rPr>
              <a:t>Slide 21</a:t>
            </a:r>
            <a:endParaRPr lang="en-US" sz="1000"/>
          </a:p>
        </p:txBody>
      </p:sp>
      <p:sp>
        <p:nvSpPr>
          <p:cNvPr id="23" name="Div2"/>
          <p:cNvSpPr/>
          <p:nvPr/>
        </p:nvSpPr>
        <p:spPr>
          <a:xfrm>
            <a:off x="457200" y="1900000"/>
            <a:ext cx="8229600" cy="9525"/>
          </a:xfrm>
          <a:prstGeom prst="rect">
            <a:avLst/>
          </a:prstGeom>
          <a:solidFill>
            <a:srgbClr val="E8E8F0"/>
          </a:solidFill>
          <a:ln>
            <a:noFill/>
          </a:ln>
        </p:spPr>
        <p:txBody>
          <a:bodyPr/>
          <a:lstStyle/>
          <a:p>
            <a:endParaRPr lang="en-US"/>
          </a:p>
        </p:txBody>
      </p:sp>
      <p:sp>
        <p:nvSpPr>
          <p:cNvPr id="30" name="Row3Num"/>
          <p:cNvSpPr/>
          <p:nvPr/>
        </p:nvSpPr>
        <p:spPr>
          <a:xfrm>
            <a:off x="457200" y="2120000"/>
            <a:ext cx="300000" cy="300000"/>
          </a:xfrm>
          <a:prstGeom prst="ellipse">
            <a:avLst/>
          </a:prstGeom>
          <a:solidFill>
            <a:srgbClr val="E8A020"/>
          </a:solidFill>
          <a:ln>
            <a:noFill/>
          </a:ln>
        </p:spPr>
        <p:txBody>
          <a:bodyPr wrap="none" lIns="0" tIns="0" rIns="0" bIns="0" rtlCol="0" anchor="ctr"/>
          <a:lstStyle/>
          <a:p>
            <a:pPr algn="ctr">
              <a:buNone/>
            </a:pPr>
            <a:r>
              <a:rPr lang="en-US" sz="1100" b="1">
                <a:solidFill>
                  <a:srgbClr val="FFFFFF"/>
                </a:solidFill>
                <a:latin typeface="Calibri" pitchFamily="34" charset="0"/>
              </a:rPr>
              <a:t>3</a:t>
            </a:r>
            <a:endParaRPr lang="en-US" sz="1000"/>
          </a:p>
        </p:txBody>
      </p:sp>
      <p:sp>
        <p:nvSpPr>
          <p:cNvPr id="31" name="Row3Title"/>
          <p:cNvSpPr/>
          <p:nvPr/>
        </p:nvSpPr>
        <p:spPr>
          <a:xfrm>
            <a:off x="870000" y="2110000"/>
            <a:ext cx="4200000" cy="320000"/>
          </a:xfrm>
          <a:prstGeom prst="rect">
            <a:avLst/>
          </a:prstGeom>
          <a:noFill/>
          <a:ln>
            <a:noFill/>
          </a:ln>
        </p:spPr>
        <p:txBody>
          <a:bodyPr wrap="square" lIns="0" tIns="0" rIns="0" bIns="0" rtlCol="0" anchor="ctr"/>
          <a:lstStyle/>
          <a:p>
            <a:pPr marL="0" indent="0" algn="l">
              <a:buNone/>
            </a:pPr>
            <a:r>
              <a:rPr lang="en-US" sz="1400" b="1">
                <a:solidFill>
                  <a:srgbClr val="0D1B3E"/>
                </a:solidFill>
                <a:latin typeface="Calibri" pitchFamily="34" charset="0"/>
              </a:rPr>
              <a:t>90-Day Funding Opportunity Calendar</a:t>
            </a:r>
            <a:endParaRPr lang="en-US" sz="1200"/>
          </a:p>
        </p:txBody>
      </p:sp>
      <p:sp>
        <p:nvSpPr>
          <p:cNvPr id="32" name="Row3Desc"/>
          <p:cNvSpPr/>
          <p:nvPr/>
        </p:nvSpPr>
        <p:spPr>
          <a:xfrm>
            <a:off x="5200000" y="2110000"/>
            <a:ext cx="3500000" cy="320000"/>
          </a:xfrm>
          <a:prstGeom prst="rect">
            <a:avLst/>
          </a:prstGeom>
          <a:noFill/>
          <a:ln>
            <a:noFill/>
          </a:ln>
        </p:spPr>
        <p:txBody>
          <a:bodyPr wrap="square" lIns="0" tIns="0" rIns="0" bIns="0" rtlCol="0" anchor="ctr"/>
          <a:lstStyle/>
          <a:p>
            <a:pPr marL="0" indent="0" algn="l">
              <a:buNone/>
            </a:pPr>
            <a:r>
              <a:rPr lang="en-US" sz="1000">
                <a:solidFill>
                  <a:srgbClr val="64748B"/>
                </a:solidFill>
                <a:latin typeface="Calibri" pitchFamily="34" charset="0"/>
              </a:rPr>
              <a:t>Week-by-week funding activity tracker</a:t>
            </a:r>
            <a:r>
              <a:rPr lang="en-US" sz="1000">
                <a:solidFill>
                  <a:srgbClr val="94A3B8"/>
                </a:solidFill>
                <a:latin typeface="Calibri" pitchFamily="34" charset="0"/>
              </a:rPr>
              <a:t>  •  </a:t>
            </a:r>
            <a:r>
              <a:rPr lang="en-US" sz="1000" b="1">
                <a:solidFill>
                  <a:srgbClr val="E8A020"/>
                </a:solidFill>
                <a:latin typeface="Calibri" pitchFamily="34" charset="0"/>
              </a:rPr>
              <a:t>Slide 45</a:t>
            </a:r>
            <a:endParaRPr lang="en-US" sz="1000"/>
          </a:p>
        </p:txBody>
      </p:sp>
      <p:sp>
        <p:nvSpPr>
          <p:cNvPr id="33" name="Div3"/>
          <p:cNvSpPr/>
          <p:nvPr/>
        </p:nvSpPr>
        <p:spPr>
          <a:xfrm>
            <a:off x="457200" y="2460000"/>
            <a:ext cx="8229600" cy="9525"/>
          </a:xfrm>
          <a:prstGeom prst="rect">
            <a:avLst/>
          </a:prstGeom>
          <a:solidFill>
            <a:srgbClr val="E8E8F0"/>
          </a:solidFill>
          <a:ln>
            <a:noFill/>
          </a:ln>
        </p:spPr>
        <p:txBody>
          <a:bodyPr/>
          <a:lstStyle/>
          <a:p>
            <a:endParaRPr lang="en-US"/>
          </a:p>
        </p:txBody>
      </p:sp>
      <p:sp>
        <p:nvSpPr>
          <p:cNvPr id="40" name="Row4Num"/>
          <p:cNvSpPr/>
          <p:nvPr/>
        </p:nvSpPr>
        <p:spPr>
          <a:xfrm>
            <a:off x="457200" y="2680000"/>
            <a:ext cx="300000" cy="300000"/>
          </a:xfrm>
          <a:prstGeom prst="ellipse">
            <a:avLst/>
          </a:prstGeom>
          <a:solidFill>
            <a:srgbClr val="E8A020"/>
          </a:solidFill>
          <a:ln>
            <a:noFill/>
          </a:ln>
        </p:spPr>
        <p:txBody>
          <a:bodyPr wrap="none" lIns="0" tIns="0" rIns="0" bIns="0" rtlCol="0" anchor="ctr"/>
          <a:lstStyle/>
          <a:p>
            <a:pPr algn="ctr">
              <a:buNone/>
            </a:pPr>
            <a:r>
              <a:rPr lang="en-US" sz="1100" b="1">
                <a:solidFill>
                  <a:srgbClr val="FFFFFF"/>
                </a:solidFill>
                <a:latin typeface="Calibri" pitchFamily="34" charset="0"/>
              </a:rPr>
              <a:t>4</a:t>
            </a:r>
            <a:endParaRPr lang="en-US" sz="1000"/>
          </a:p>
        </p:txBody>
      </p:sp>
      <p:sp>
        <p:nvSpPr>
          <p:cNvPr id="41" name="Row4Title"/>
          <p:cNvSpPr/>
          <p:nvPr/>
        </p:nvSpPr>
        <p:spPr>
          <a:xfrm>
            <a:off x="870000" y="2670000"/>
            <a:ext cx="4200000" cy="320000"/>
          </a:xfrm>
          <a:prstGeom prst="rect">
            <a:avLst/>
          </a:prstGeom>
          <a:noFill/>
          <a:ln>
            <a:noFill/>
          </a:ln>
        </p:spPr>
        <p:txBody>
          <a:bodyPr wrap="square" lIns="0" tIns="0" rIns="0" bIns="0" rtlCol="0" anchor="ctr"/>
          <a:lstStyle/>
          <a:p>
            <a:pPr marL="0" indent="0" algn="l">
              <a:buNone/>
            </a:pPr>
            <a:r>
              <a:rPr lang="en-US" sz="1400" b="1">
                <a:solidFill>
                  <a:srgbClr val="0D1B3E"/>
                </a:solidFill>
                <a:latin typeface="Calibri" pitchFamily="34" charset="0"/>
              </a:rPr>
              <a:t>Logic Model</a:t>
            </a:r>
            <a:endParaRPr lang="en-US" sz="1200"/>
          </a:p>
        </p:txBody>
      </p:sp>
      <p:sp>
        <p:nvSpPr>
          <p:cNvPr id="42" name="Row4Desc"/>
          <p:cNvSpPr/>
          <p:nvPr/>
        </p:nvSpPr>
        <p:spPr>
          <a:xfrm>
            <a:off x="5200000" y="2670000"/>
            <a:ext cx="3500000" cy="320000"/>
          </a:xfrm>
          <a:prstGeom prst="rect">
            <a:avLst/>
          </a:prstGeom>
          <a:noFill/>
          <a:ln>
            <a:noFill/>
          </a:ln>
        </p:spPr>
        <p:txBody>
          <a:bodyPr wrap="square" lIns="0" tIns="0" rIns="0" bIns="0" rtlCol="0" anchor="ctr"/>
          <a:lstStyle/>
          <a:p>
            <a:pPr marL="0" indent="0" algn="l">
              <a:buNone/>
            </a:pPr>
            <a:r>
              <a:rPr lang="en-US" sz="1000">
                <a:solidFill>
                  <a:srgbClr val="64748B"/>
                </a:solidFill>
                <a:latin typeface="Calibri" pitchFamily="34" charset="0"/>
              </a:rPr>
              <a:t>FMP Better Together logic model reference</a:t>
            </a:r>
            <a:r>
              <a:rPr lang="en-US" sz="1000">
                <a:solidFill>
                  <a:srgbClr val="94A3B8"/>
                </a:solidFill>
                <a:latin typeface="Calibri" pitchFamily="34" charset="0"/>
              </a:rPr>
              <a:t>  •  </a:t>
            </a:r>
            <a:r>
              <a:rPr lang="en-US" sz="1000" b="1">
                <a:solidFill>
                  <a:srgbClr val="E8A020"/>
                </a:solidFill>
                <a:latin typeface="Calibri" pitchFamily="34" charset="0"/>
              </a:rPr>
              <a:t>Slide 38</a:t>
            </a:r>
            <a:endParaRPr lang="en-US" sz="1000"/>
          </a:p>
        </p:txBody>
      </p:sp>
      <p:sp>
        <p:nvSpPr>
          <p:cNvPr id="43" name="Div4"/>
          <p:cNvSpPr/>
          <p:nvPr/>
        </p:nvSpPr>
        <p:spPr>
          <a:xfrm>
            <a:off x="457200" y="3020000"/>
            <a:ext cx="8229600" cy="9525"/>
          </a:xfrm>
          <a:prstGeom prst="rect">
            <a:avLst/>
          </a:prstGeom>
          <a:solidFill>
            <a:srgbClr val="E8E8F0"/>
          </a:solidFill>
          <a:ln>
            <a:noFill/>
          </a:ln>
        </p:spPr>
        <p:txBody>
          <a:bodyPr/>
          <a:lstStyle/>
          <a:p>
            <a:endParaRPr lang="en-US"/>
          </a:p>
        </p:txBody>
      </p:sp>
      <p:sp>
        <p:nvSpPr>
          <p:cNvPr id="50" name="Row5Num"/>
          <p:cNvSpPr/>
          <p:nvPr/>
        </p:nvSpPr>
        <p:spPr>
          <a:xfrm>
            <a:off x="457200" y="3240000"/>
            <a:ext cx="300000" cy="300000"/>
          </a:xfrm>
          <a:prstGeom prst="ellipse">
            <a:avLst/>
          </a:prstGeom>
          <a:solidFill>
            <a:srgbClr val="E8A020"/>
          </a:solidFill>
          <a:ln>
            <a:noFill/>
          </a:ln>
        </p:spPr>
        <p:txBody>
          <a:bodyPr wrap="none" lIns="0" tIns="0" rIns="0" bIns="0" rtlCol="0" anchor="ctr"/>
          <a:lstStyle/>
          <a:p>
            <a:pPr algn="ctr">
              <a:buNone/>
            </a:pPr>
            <a:r>
              <a:rPr lang="en-US" sz="1100" b="1">
                <a:solidFill>
                  <a:srgbClr val="FFFFFF"/>
                </a:solidFill>
                <a:latin typeface="Calibri" pitchFamily="34" charset="0"/>
              </a:rPr>
              <a:t>5</a:t>
            </a:r>
            <a:endParaRPr lang="en-US" sz="1000"/>
          </a:p>
        </p:txBody>
      </p:sp>
      <p:sp>
        <p:nvSpPr>
          <p:cNvPr id="51" name="Row5Title"/>
          <p:cNvSpPr/>
          <p:nvPr/>
        </p:nvSpPr>
        <p:spPr>
          <a:xfrm>
            <a:off x="870000" y="3230000"/>
            <a:ext cx="4200000" cy="320000"/>
          </a:xfrm>
          <a:prstGeom prst="rect">
            <a:avLst/>
          </a:prstGeom>
          <a:noFill/>
          <a:ln>
            <a:noFill/>
          </a:ln>
        </p:spPr>
        <p:txBody>
          <a:bodyPr wrap="square" lIns="0" tIns="0" rIns="0" bIns="0" rtlCol="0" anchor="ctr"/>
          <a:lstStyle/>
          <a:p>
            <a:pPr marL="0" indent="0" algn="l">
              <a:buNone/>
            </a:pPr>
            <a:r>
              <a:rPr lang="en-US" sz="1400" b="1">
                <a:solidFill>
                  <a:srgbClr val="0D1B3E"/>
                </a:solidFill>
                <a:latin typeface="Calibri" pitchFamily="34" charset="0"/>
              </a:rPr>
              <a:t>Outcomes</a:t>
            </a:r>
            <a:endParaRPr lang="en-US" sz="1200"/>
          </a:p>
        </p:txBody>
      </p:sp>
      <p:sp>
        <p:nvSpPr>
          <p:cNvPr id="52" name="Row5Desc"/>
          <p:cNvSpPr/>
          <p:nvPr/>
        </p:nvSpPr>
        <p:spPr>
          <a:xfrm>
            <a:off x="5200000" y="3230000"/>
            <a:ext cx="3500000" cy="320000"/>
          </a:xfrm>
          <a:prstGeom prst="rect">
            <a:avLst/>
          </a:prstGeom>
          <a:noFill/>
          <a:ln>
            <a:noFill/>
          </a:ln>
        </p:spPr>
        <p:txBody>
          <a:bodyPr wrap="square" lIns="0" tIns="0" rIns="0" bIns="0" rtlCol="0" anchor="ctr"/>
          <a:lstStyle/>
          <a:p>
            <a:pPr marL="0" indent="0" algn="l">
              <a:buNone/>
            </a:pPr>
            <a:r>
              <a:rPr lang="en-US" sz="1000">
                <a:solidFill>
                  <a:srgbClr val="64748B"/>
                </a:solidFill>
                <a:latin typeface="Calibri" pitchFamily="34" charset="0"/>
              </a:rPr>
              <a:t>Long-term outcomes mapped to funder priorities</a:t>
            </a:r>
            <a:r>
              <a:rPr lang="en-US" sz="1000">
                <a:solidFill>
                  <a:srgbClr val="94A3B8"/>
                </a:solidFill>
                <a:latin typeface="Calibri" pitchFamily="34" charset="0"/>
              </a:rPr>
              <a:t>  •  </a:t>
            </a:r>
            <a:r>
              <a:rPr lang="en-US" sz="1000" b="1">
                <a:solidFill>
                  <a:srgbClr val="E8A020"/>
                </a:solidFill>
                <a:latin typeface="Calibri" pitchFamily="34" charset="0"/>
              </a:rPr>
              <a:t>Slide 40</a:t>
            </a:r>
            <a:endParaRPr lang="en-US" sz="1000"/>
          </a:p>
        </p:txBody>
      </p:sp>
      <p:sp>
        <p:nvSpPr>
          <p:cNvPr id="53" name="Div5"/>
          <p:cNvSpPr/>
          <p:nvPr/>
        </p:nvSpPr>
        <p:spPr>
          <a:xfrm>
            <a:off x="457200" y="3580000"/>
            <a:ext cx="8229600" cy="9525"/>
          </a:xfrm>
          <a:prstGeom prst="rect">
            <a:avLst/>
          </a:prstGeom>
          <a:solidFill>
            <a:srgbClr val="E8E8F0"/>
          </a:solidFill>
          <a:ln>
            <a:noFill/>
          </a:ln>
        </p:spPr>
        <p:txBody>
          <a:bodyPr/>
          <a:lstStyle/>
          <a:p>
            <a:endParaRPr lang="en-US"/>
          </a:p>
        </p:txBody>
      </p:sp>
      <p:sp>
        <p:nvSpPr>
          <p:cNvPr id="60" name="Row6Num"/>
          <p:cNvSpPr/>
          <p:nvPr/>
        </p:nvSpPr>
        <p:spPr>
          <a:xfrm>
            <a:off x="457200" y="3800000"/>
            <a:ext cx="300000" cy="300000"/>
          </a:xfrm>
          <a:prstGeom prst="ellipse">
            <a:avLst/>
          </a:prstGeom>
          <a:solidFill>
            <a:srgbClr val="E8A020"/>
          </a:solidFill>
          <a:ln>
            <a:noFill/>
          </a:ln>
        </p:spPr>
        <p:txBody>
          <a:bodyPr wrap="none" lIns="0" tIns="0" rIns="0" bIns="0" rtlCol="0" anchor="ctr"/>
          <a:lstStyle/>
          <a:p>
            <a:pPr algn="ctr">
              <a:buNone/>
            </a:pPr>
            <a:r>
              <a:rPr lang="en-US" sz="1100" b="1">
                <a:solidFill>
                  <a:srgbClr val="FFFFFF"/>
                </a:solidFill>
                <a:latin typeface="Calibri" pitchFamily="34" charset="0"/>
              </a:rPr>
              <a:t>6</a:t>
            </a:r>
            <a:endParaRPr lang="en-US" sz="1000"/>
          </a:p>
        </p:txBody>
      </p:sp>
      <p:sp>
        <p:nvSpPr>
          <p:cNvPr id="61" name="Row6Title"/>
          <p:cNvSpPr/>
          <p:nvPr/>
        </p:nvSpPr>
        <p:spPr>
          <a:xfrm>
            <a:off x="870000" y="3790000"/>
            <a:ext cx="4200000" cy="320000"/>
          </a:xfrm>
          <a:prstGeom prst="rect">
            <a:avLst/>
          </a:prstGeom>
          <a:noFill/>
          <a:ln>
            <a:noFill/>
          </a:ln>
        </p:spPr>
        <p:txBody>
          <a:bodyPr wrap="square" lIns="0" tIns="0" rIns="0" bIns="0" rtlCol="0" anchor="ctr"/>
          <a:lstStyle/>
          <a:p>
            <a:pPr marL="0" indent="0" algn="l">
              <a:buNone/>
            </a:pPr>
            <a:r>
              <a:rPr lang="en-US" sz="1400" b="1">
                <a:solidFill>
                  <a:srgbClr val="0D1B3E"/>
                </a:solidFill>
                <a:latin typeface="Calibri" pitchFamily="34" charset="0"/>
              </a:rPr>
              <a:t>My Funding System Commitment</a:t>
            </a:r>
            <a:endParaRPr lang="en-US" sz="1200"/>
          </a:p>
        </p:txBody>
      </p:sp>
      <p:sp>
        <p:nvSpPr>
          <p:cNvPr id="62" name="Row6Desc"/>
          <p:cNvSpPr/>
          <p:nvPr/>
        </p:nvSpPr>
        <p:spPr>
          <a:xfrm>
            <a:off x="5200000" y="3790000"/>
            <a:ext cx="3500000" cy="320000"/>
          </a:xfrm>
          <a:prstGeom prst="rect">
            <a:avLst/>
          </a:prstGeom>
          <a:noFill/>
          <a:ln>
            <a:noFill/>
          </a:ln>
        </p:spPr>
        <p:txBody>
          <a:bodyPr wrap="square" lIns="0" tIns="0" rIns="0" bIns="0" rtlCol="0" anchor="ctr"/>
          <a:lstStyle/>
          <a:p>
            <a:pPr marL="0" indent="0" algn="l">
              <a:buNone/>
            </a:pPr>
            <a:r>
              <a:rPr lang="en-US" sz="1000">
                <a:solidFill>
                  <a:srgbClr val="64748B"/>
                </a:solidFill>
                <a:latin typeface="Calibri" pitchFamily="34" charset="0"/>
              </a:rPr>
              <a:t>Your 30-day action commitment card</a:t>
            </a:r>
            <a:r>
              <a:rPr lang="en-US" sz="1000">
                <a:solidFill>
                  <a:srgbClr val="94A3B8"/>
                </a:solidFill>
                <a:latin typeface="Calibri" pitchFamily="34" charset="0"/>
              </a:rPr>
              <a:t>  •  </a:t>
            </a:r>
            <a:r>
              <a:rPr lang="en-US" sz="1000" b="1">
                <a:solidFill>
                  <a:srgbClr val="E8A020"/>
                </a:solidFill>
                <a:latin typeface="Calibri" pitchFamily="34" charset="0"/>
              </a:rPr>
              <a:t>Slide 47</a:t>
            </a:r>
            <a:endParaRPr lang="en-US" sz="1000"/>
          </a:p>
        </p:txBody>
      </p:sp>
      <p:sp>
        <p:nvSpPr>
          <p:cNvPr id="70" name="BottomBanner"/>
          <p:cNvSpPr/>
          <p:nvPr/>
        </p:nvSpPr>
        <p:spPr>
          <a:xfrm>
            <a:off x="0" y="4300000"/>
            <a:ext cx="9144000" cy="380000"/>
          </a:xfrm>
          <a:prstGeom prst="rect">
            <a:avLst/>
          </a:prstGeom>
          <a:solidFill>
            <a:srgbClr val="E8A020"/>
          </a:solidFill>
          <a:ln>
            <a:noFill/>
          </a:ln>
        </p:spPr>
        <p:txBody>
          <a:bodyPr wrap="square" lIns="457200" tIns="0" rIns="457200" bIns="0" rtlCol="0" anchor="ctr"/>
          <a:lstStyle/>
          <a:p>
            <a:pPr marL="0" indent="0" algn="ctr">
              <a:buNone/>
            </a:pPr>
            <a:r>
              <a:rPr lang="en-US" sz="1200" b="1" i="1">
                <a:solidFill>
                  <a:srgbClr val="FFFFFF"/>
                </a:solidFill>
                <a:latin typeface="Calibri" pitchFamily="34" charset="0"/>
              </a:rPr>
              <a:t>Confirm you have all six handouts before leaving today.</a:t>
            </a:r>
            <a:endParaRPr lang="en-US" sz="1200"/>
          </a:p>
        </p:txBody>
      </p:sp>
      <p:sp>
        <p:nvSpPr>
          <p:cNvPr id="71" name="Footer"/>
          <p:cNvSpPr/>
          <p:nvPr/>
        </p:nvSpPr>
        <p:spPr>
          <a:xfrm>
            <a:off x="457200" y="4750000"/>
            <a:ext cx="8229600" cy="200000"/>
          </a:xfrm>
          <a:prstGeom prst="rect">
            <a:avLst/>
          </a:prstGeom>
          <a:noFill/>
          <a:ln>
            <a:noFill/>
          </a:ln>
        </p:spPr>
        <p:txBody>
          <a:bodyPr wrap="square" lIns="0" tIns="0" rIns="0" bIns="0" rtlCol="0" anchor="t"/>
          <a:lstStyle/>
          <a:p>
            <a:pPr marL="0" indent="0" algn="ctr">
              <a:buNone/>
            </a:pPr>
            <a:r>
              <a:rPr lang="en-US" sz="800">
                <a:solidFill>
                  <a:srgbClr val="94A3B8"/>
                </a:solidFill>
                <a:latin typeface="Calibri" pitchFamily="34" charset="0"/>
              </a:rPr>
              <a:t>Funding What Works  •  IFC 2026 Workshop  •  Confidential — For Participant Use Only</a:t>
            </a:r>
            <a:endParaRPr lang="en-US"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457200" y="342900"/>
            <a:ext cx="8229600" cy="7590"/>
          </a:xfrm>
          <a:prstGeom prst="rect">
            <a:avLst/>
          </a:prstGeom>
          <a:gradFill rotWithShape="1">
            <a:gsLst>
              <a:gs pos="0">
                <a:srgbClr val="000000">
                  <a:alpha val="0"/>
                </a:srgbClr>
              </a:gs>
              <a:gs pos="50000">
                <a:srgbClr val="E8A020">
                  <a:alpha val="40000"/>
                </a:srgbClr>
              </a:gs>
              <a:gs pos="100000">
                <a:srgbClr val="000000">
                  <a:alpha val="0"/>
                </a:srgbClr>
              </a:gs>
            </a:gsLst>
            <a:lin ang="0" scaled="1"/>
          </a:gradFill>
          <a:ln/>
        </p:spPr>
        <p:txBody>
          <a:bodyPr wrap="square" rtlCol="0" anchor="t"/>
          <a:lstStyle/>
          <a:p>
            <a:pPr marL="0" indent="0">
              <a:buNone/>
            </a:pPr>
            <a:endParaRPr lang="en-US" dirty="0"/>
          </a:p>
        </p:txBody>
      </p:sp>
      <p:sp>
        <p:nvSpPr>
          <p:cNvPr id="4" name="Shape 4"/>
          <p:cNvSpPr/>
          <p:nvPr/>
        </p:nvSpPr>
        <p:spPr>
          <a:xfrm>
            <a:off x="4650000" y="580000"/>
            <a:ext cx="7590" cy="3800000"/>
          </a:xfrm>
          <a:prstGeom prst="rect">
            <a:avLst/>
          </a:prstGeom>
          <a:gradFill rotWithShape="1">
            <a:gsLst>
              <a:gs pos="0">
                <a:srgbClr val="000000">
                  <a:alpha val="0"/>
                </a:srgbClr>
              </a:gs>
              <a:gs pos="50000">
                <a:srgbClr val="E8A020">
                  <a:alpha val="25000"/>
                </a:srgbClr>
              </a:gs>
              <a:gs pos="100000">
                <a:srgbClr val="000000">
                  <a:alpha val="0"/>
                </a:srgbClr>
              </a:gs>
            </a:gsLst>
            <a:lin ang="5400000" scaled="1"/>
          </a:gradFill>
          <a:ln/>
        </p:spPr>
        <p:txBody>
          <a:bodyPr wrap="square" rtlCol="0" anchor="t"/>
          <a:lstStyle/>
          <a:p>
            <a:pPr marL="0" indent="0">
              <a:buNone/>
            </a:pPr>
            <a:endParaRPr lang="en-US"/>
          </a:p>
        </p:txBody>
      </p:sp>
      <p:sp>
        <p:nvSpPr>
          <p:cNvPr id="5" name="Shape 5"/>
          <p:cNvSpPr/>
          <p:nvPr/>
        </p:nvSpPr>
        <p:spPr>
          <a:xfrm>
            <a:off x="400050" y="480000"/>
            <a:ext cx="257770" cy="257770"/>
          </a:xfrm>
          <a:prstGeom prst="ellipse">
            <a:avLst/>
          </a:prstGeom>
          <a:solidFill>
            <a:srgbClr val="E8A020">
              <a:alpha val="12000"/>
            </a:srgbClr>
          </a:solidFill>
          <a:ln w="9525">
            <a:solidFill>
              <a:srgbClr val="E8A020">
                <a:alpha val="35000"/>
              </a:srgbClr>
            </a:solidFill>
          </a:ln>
        </p:spPr>
        <p:txBody>
          <a:bodyPr wrap="square" rtlCol="0" anchor="t"/>
          <a:lstStyle/>
          <a:p>
            <a:pPr marL="0" indent="0">
              <a:buNone/>
            </a:pPr>
            <a:endParaRPr lang="en-US" dirty="0"/>
          </a:p>
        </p:txBody>
      </p:sp>
      <p:pic>
        <p:nvPicPr>
          <p:cNvPr id="6" name="Icon 6" descr="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2567" y="542517"/>
            <a:ext cx="132588" cy="132588"/>
          </a:xfrm>
          <a:prstGeom prst="rect">
            <a:avLst/>
          </a:prstGeom>
        </p:spPr>
      </p:pic>
      <p:sp>
        <p:nvSpPr>
          <p:cNvPr id="7" name="Text 7"/>
          <p:cNvSpPr/>
          <p:nvPr/>
        </p:nvSpPr>
        <p:spPr>
          <a:xfrm>
            <a:off x="780000" y="530000"/>
            <a:ext cx="1200000" cy="180000"/>
          </a:xfrm>
          <a:prstGeom prst="rect">
            <a:avLst/>
          </a:prstGeom>
          <a:noFill/>
          <a:ln/>
        </p:spPr>
        <p:txBody>
          <a:bodyPr wrap="square" lIns="0" tIns="0" rIns="0" bIns="0" rtlCol="0" anchor="ctr"/>
          <a:lstStyle/>
          <a:p>
            <a:pPr marL="0" indent="0" algn="l">
              <a:buNone/>
            </a:pPr>
            <a:r>
              <a:rPr lang="en-US" sz="1200" b="1" kern="0" spc="80">
                <a:solidFill>
                  <a:srgbClr val="E8A020"/>
                </a:solidFill>
                <a:latin typeface="Calibri" pitchFamily="34" charset="0"/>
                <a:ea typeface="Calibri" pitchFamily="34" charset="-122"/>
                <a:cs typeface="Calibri" pitchFamily="34" charset="-120"/>
              </a:rPr>
              <a:t>OPEN FORUM</a:t>
            </a:r>
            <a:endParaRPr lang="en-US" sz="1200"/>
          </a:p>
        </p:txBody>
      </p:sp>
      <p:sp>
        <p:nvSpPr>
          <p:cNvPr id="8" name="Text 8"/>
          <p:cNvSpPr/>
          <p:nvPr/>
        </p:nvSpPr>
        <p:spPr>
          <a:xfrm>
            <a:off x="457200" y="850000"/>
            <a:ext cx="3900000" cy="700000"/>
          </a:xfrm>
          <a:prstGeom prst="rect">
            <a:avLst/>
          </a:prstGeom>
          <a:noFill/>
          <a:ln/>
        </p:spPr>
        <p:txBody>
          <a:bodyPr wrap="square" lIns="0" tIns="0" rIns="0" bIns="0" rtlCol="0" anchor="t"/>
          <a:lstStyle/>
          <a:p>
            <a:pPr marL="0" indent="0" algn="l">
              <a:lnSpc>
                <a:spcPts val="3800"/>
              </a:lnSpc>
              <a:buNone/>
            </a:pPr>
            <a:r>
              <a:rPr lang="en-US" sz="3200" kern="0" spc="-30">
                <a:solidFill>
                  <a:srgbClr val="0D1B3E"/>
                </a:solidFill>
                <a:latin typeface="Calibri Light" pitchFamily="34" charset="0"/>
                <a:ea typeface="Calibri Light" pitchFamily="34" charset="-122"/>
                <a:cs typeface="Calibri Light" pitchFamily="34" charset="-120"/>
              </a:rPr>
              <a:t>Questions &amp;
Discussion</a:t>
            </a:r>
            <a:endParaRPr lang="en-US" sz="3200"/>
          </a:p>
        </p:txBody>
      </p:sp>
      <p:sp>
        <p:nvSpPr>
          <p:cNvPr id="9" name="Shape 9"/>
          <p:cNvSpPr/>
          <p:nvPr/>
        </p:nvSpPr>
        <p:spPr>
          <a:xfrm>
            <a:off x="500000" y="2115000"/>
            <a:ext cx="43160" cy="43160"/>
          </a:xfrm>
          <a:prstGeom prst="ellipse">
            <a:avLst/>
          </a:prstGeom>
          <a:solidFill>
            <a:srgbClr val="E8A020">
              <a:alpha val="70000"/>
            </a:srgbClr>
          </a:solidFill>
          <a:ln/>
        </p:spPr>
        <p:txBody>
          <a:bodyPr wrap="square" rtlCol="0" anchor="t"/>
          <a:lstStyle/>
          <a:p>
            <a:pPr marL="0" indent="0">
              <a:buNone/>
            </a:pPr>
            <a:endParaRPr lang="en-US"/>
          </a:p>
        </p:txBody>
      </p:sp>
      <p:sp>
        <p:nvSpPr>
          <p:cNvPr id="10" name="Text 10"/>
          <p:cNvSpPr/>
          <p:nvPr/>
        </p:nvSpPr>
        <p:spPr>
          <a:xfrm>
            <a:off x="618150" y="1933839"/>
            <a:ext cx="4076000" cy="569113"/>
          </a:xfrm>
          <a:prstGeom prst="rect">
            <a:avLst/>
          </a:prstGeom>
          <a:noFill/>
          <a:ln/>
        </p:spPr>
        <p:txBody>
          <a:bodyPr wrap="square" lIns="0" tIns="0" rIns="0" bIns="0" rtlCol="0" anchor="ctr"/>
          <a:lstStyle/>
          <a:p>
            <a:pPr marL="0" indent="0" algn="l">
              <a:buNone/>
            </a:pPr>
            <a:r>
              <a:rPr lang="en-US" sz="1400" dirty="0">
                <a:solidFill>
                  <a:srgbClr val="0D1B3E"/>
                </a:solidFill>
                <a:latin typeface="Calibri" pitchFamily="34" charset="0"/>
                <a:ea typeface="Calibri" pitchFamily="34" charset="-122"/>
                <a:cs typeface="Calibri" pitchFamily="34" charset="-120"/>
              </a:rPr>
              <a:t>What is the one thing you are taking back to your program?</a:t>
            </a:r>
            <a:endParaRPr lang="en-US" sz="1400" dirty="0"/>
          </a:p>
        </p:txBody>
      </p:sp>
      <p:sp>
        <p:nvSpPr>
          <p:cNvPr id="11" name="Shape 11"/>
          <p:cNvSpPr/>
          <p:nvPr/>
        </p:nvSpPr>
        <p:spPr>
          <a:xfrm>
            <a:off x="483274" y="2593240"/>
            <a:ext cx="43160" cy="43160"/>
          </a:xfrm>
          <a:prstGeom prst="ellipse">
            <a:avLst/>
          </a:prstGeom>
          <a:solidFill>
            <a:srgbClr val="E8A020">
              <a:alpha val="70000"/>
            </a:srgbClr>
          </a:solidFill>
          <a:ln/>
        </p:spPr>
        <p:txBody>
          <a:bodyPr wrap="square" rtlCol="0" anchor="t"/>
          <a:lstStyle/>
          <a:p>
            <a:pPr marL="0" indent="0">
              <a:buNone/>
            </a:pPr>
            <a:endParaRPr lang="en-US"/>
          </a:p>
        </p:txBody>
      </p:sp>
      <p:sp>
        <p:nvSpPr>
          <p:cNvPr id="12" name="Text 12"/>
          <p:cNvSpPr/>
          <p:nvPr/>
        </p:nvSpPr>
        <p:spPr>
          <a:xfrm>
            <a:off x="630000" y="2515833"/>
            <a:ext cx="3700000" cy="413839"/>
          </a:xfrm>
          <a:prstGeom prst="rect">
            <a:avLst/>
          </a:prstGeom>
          <a:noFill/>
          <a:ln/>
        </p:spPr>
        <p:txBody>
          <a:bodyPr wrap="square" lIns="0" tIns="0" rIns="0" bIns="0" rtlCol="0" anchor="ctr"/>
          <a:lstStyle/>
          <a:p>
            <a:pPr marL="0" indent="0" algn="l">
              <a:buNone/>
            </a:pPr>
            <a:r>
              <a:rPr lang="en-US" sz="1400" dirty="0">
                <a:solidFill>
                  <a:srgbClr val="0D1B3E"/>
                </a:solidFill>
                <a:latin typeface="Calibri" pitchFamily="34" charset="0"/>
                <a:ea typeface="Calibri" pitchFamily="34" charset="-122"/>
                <a:cs typeface="Calibri" pitchFamily="34" charset="-120"/>
              </a:rPr>
              <a:t>What in today’s session challenged your current thinking?</a:t>
            </a:r>
            <a:endParaRPr lang="en-US" sz="1400" dirty="0"/>
          </a:p>
        </p:txBody>
      </p:sp>
      <p:sp>
        <p:nvSpPr>
          <p:cNvPr id="13" name="Shape 13"/>
          <p:cNvSpPr/>
          <p:nvPr/>
        </p:nvSpPr>
        <p:spPr>
          <a:xfrm>
            <a:off x="500000" y="3127236"/>
            <a:ext cx="43160" cy="43160"/>
          </a:xfrm>
          <a:prstGeom prst="ellipse">
            <a:avLst/>
          </a:prstGeom>
          <a:solidFill>
            <a:srgbClr val="E8A020">
              <a:alpha val="70000"/>
            </a:srgbClr>
          </a:solidFill>
          <a:ln/>
        </p:spPr>
        <p:txBody>
          <a:bodyPr wrap="square" rtlCol="0" anchor="t"/>
          <a:lstStyle/>
          <a:p>
            <a:pPr marL="0" indent="0">
              <a:buNone/>
            </a:pPr>
            <a:endParaRPr lang="en-US" dirty="0"/>
          </a:p>
        </p:txBody>
      </p:sp>
      <p:sp>
        <p:nvSpPr>
          <p:cNvPr id="14" name="Text 14"/>
          <p:cNvSpPr/>
          <p:nvPr/>
        </p:nvSpPr>
        <p:spPr>
          <a:xfrm>
            <a:off x="627588" y="3085883"/>
            <a:ext cx="3700000" cy="360000"/>
          </a:xfrm>
          <a:prstGeom prst="rect">
            <a:avLst/>
          </a:prstGeom>
          <a:noFill/>
          <a:ln/>
        </p:spPr>
        <p:txBody>
          <a:bodyPr wrap="square" lIns="0" tIns="0" rIns="0" bIns="0" rtlCol="0" anchor="ctr"/>
          <a:lstStyle/>
          <a:p>
            <a:pPr marL="0" indent="0" algn="l">
              <a:buNone/>
            </a:pPr>
            <a:r>
              <a:rPr lang="en-US" sz="1400" dirty="0">
                <a:solidFill>
                  <a:srgbClr val="0D1B3E"/>
                </a:solidFill>
                <a:latin typeface="Calibri" pitchFamily="34" charset="0"/>
                <a:ea typeface="Calibri" pitchFamily="34" charset="-122"/>
                <a:cs typeface="Calibri" pitchFamily="34" charset="-120"/>
              </a:rPr>
              <a:t>What support do you need to make FSR real in your program?</a:t>
            </a:r>
            <a:endParaRPr lang="en-US" sz="1400" dirty="0"/>
          </a:p>
        </p:txBody>
      </p:sp>
      <p:sp>
        <p:nvSpPr>
          <p:cNvPr id="15" name="Shape 15"/>
          <p:cNvSpPr/>
          <p:nvPr/>
        </p:nvSpPr>
        <p:spPr>
          <a:xfrm>
            <a:off x="500000" y="3200000"/>
            <a:ext cx="3600000" cy="7590"/>
          </a:xfrm>
          <a:prstGeom prst="roundRect">
            <a:avLst>
              <a:gd name="adj" fmla="val 100932"/>
            </a:avLst>
          </a:prstGeom>
          <a:solidFill>
            <a:srgbClr val="E8A020">
              <a:alpha val="30000"/>
            </a:srgbClr>
          </a:solidFill>
          <a:ln/>
        </p:spPr>
        <p:txBody>
          <a:bodyPr wrap="square" rtlCol="0" anchor="t"/>
          <a:lstStyle/>
          <a:p>
            <a:pPr marL="0" indent="0">
              <a:buNone/>
            </a:pPr>
            <a:endParaRPr lang="en-US"/>
          </a:p>
        </p:txBody>
      </p:sp>
      <p:sp>
        <p:nvSpPr>
          <p:cNvPr id="16" name="Text 16"/>
          <p:cNvSpPr/>
          <p:nvPr/>
        </p:nvSpPr>
        <p:spPr>
          <a:xfrm>
            <a:off x="543159" y="3752242"/>
            <a:ext cx="6415202" cy="334060"/>
          </a:xfrm>
          <a:prstGeom prst="rect">
            <a:avLst/>
          </a:prstGeom>
          <a:noFill/>
          <a:ln/>
        </p:spPr>
        <p:txBody>
          <a:bodyPr wrap="square" lIns="0" tIns="0" rIns="0" bIns="0" rtlCol="0" anchor="t"/>
          <a:lstStyle/>
          <a:p>
            <a:pPr marL="0" indent="0" algn="l">
              <a:buNone/>
            </a:pPr>
            <a:r>
              <a:rPr lang="en-US" i="1" kern="0" spc="10" dirty="0">
                <a:solidFill>
                  <a:srgbClr val="0D1B3E"/>
                </a:solidFill>
                <a:latin typeface="Calibri Light" pitchFamily="34" charset="0"/>
                <a:ea typeface="Calibri Light" pitchFamily="34" charset="-122"/>
                <a:cs typeface="Calibri Light" pitchFamily="34" charset="-120"/>
              </a:rPr>
              <a:t>“</a:t>
            </a:r>
            <a:r>
              <a:rPr lang="en-US" i="1" kern="0" spc="10" dirty="0">
                <a:solidFill>
                  <a:srgbClr val="0D1B3E"/>
                </a:solidFill>
                <a:effectLst>
                  <a:outerShdw blurRad="38100" dist="38100" dir="2700000" algn="tl">
                    <a:srgbClr val="000000">
                      <a:alpha val="43137"/>
                    </a:srgbClr>
                  </a:outerShdw>
                </a:effectLst>
                <a:latin typeface="Calibri Light" pitchFamily="34" charset="0"/>
                <a:ea typeface="Calibri Light" pitchFamily="34" charset="-122"/>
                <a:cs typeface="Calibri Light" pitchFamily="34" charset="-120"/>
              </a:rPr>
              <a:t>What is one practice you want to implement immediately?”</a:t>
            </a:r>
            <a:endParaRPr lang="en-US" dirty="0">
              <a:effectLst>
                <a:outerShdw blurRad="38100" dist="38100" dir="2700000" algn="tl">
                  <a:srgbClr val="000000">
                    <a:alpha val="43137"/>
                  </a:srgbClr>
                </a:outerShdw>
              </a:effectLst>
            </a:endParaRPr>
          </a:p>
        </p:txBody>
      </p:sp>
      <p:sp>
        <p:nvSpPr>
          <p:cNvPr id="18" name="Shape 18"/>
          <p:cNvSpPr/>
          <p:nvPr/>
        </p:nvSpPr>
        <p:spPr>
          <a:xfrm>
            <a:off x="4950000" y="1972844"/>
            <a:ext cx="3700000" cy="1050000"/>
          </a:xfrm>
          <a:prstGeom prst="roundRect">
            <a:avLst>
              <a:gd name="adj" fmla="val 4850"/>
            </a:avLst>
          </a:prstGeom>
          <a:solidFill>
            <a:srgbClr val="FFFBF0"/>
          </a:solidFill>
          <a:ln w="12700">
            <a:solidFill>
              <a:srgbClr val="E8A020"/>
            </a:solidFill>
          </a:ln>
        </p:spPr>
        <p:txBody>
          <a:bodyPr wrap="square" rtlCol="0" anchor="t"/>
          <a:lstStyle/>
          <a:p>
            <a:pPr marL="0" indent="0">
              <a:buNone/>
            </a:pPr>
            <a:endParaRPr lang="en-US"/>
          </a:p>
        </p:txBody>
      </p:sp>
      <p:sp>
        <p:nvSpPr>
          <p:cNvPr id="19" name="Shape 19"/>
          <p:cNvSpPr/>
          <p:nvPr/>
        </p:nvSpPr>
        <p:spPr>
          <a:xfrm>
            <a:off x="5150000" y="2172844"/>
            <a:ext cx="285750" cy="285750"/>
          </a:xfrm>
          <a:prstGeom prst="ellipse">
            <a:avLst/>
          </a:prstGeom>
          <a:solidFill>
            <a:srgbClr val="E8A020">
              <a:alpha val="12000"/>
            </a:srgbClr>
          </a:solidFill>
          <a:ln/>
        </p:spPr>
        <p:txBody>
          <a:bodyPr wrap="square" rtlCol="0" anchor="t"/>
          <a:lstStyle/>
          <a:p>
            <a:pPr marL="0" indent="0">
              <a:buNone/>
            </a:pPr>
            <a:endParaRPr lang="en-US" dirty="0"/>
          </a:p>
        </p:txBody>
      </p:sp>
      <p:pic>
        <p:nvPicPr>
          <p:cNvPr id="20" name="Icon 20" descr="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6581" y="2266159"/>
            <a:ext cx="132588" cy="132588"/>
          </a:xfrm>
          <a:prstGeom prst="rect">
            <a:avLst/>
          </a:prstGeom>
        </p:spPr>
      </p:pic>
      <p:sp>
        <p:nvSpPr>
          <p:cNvPr id="21" name="Text 21"/>
          <p:cNvSpPr/>
          <p:nvPr/>
        </p:nvSpPr>
        <p:spPr>
          <a:xfrm>
            <a:off x="5550000" y="2122844"/>
            <a:ext cx="2900000" cy="650000"/>
          </a:xfrm>
          <a:prstGeom prst="rect">
            <a:avLst/>
          </a:prstGeom>
          <a:noFill/>
          <a:ln/>
        </p:spPr>
        <p:txBody>
          <a:bodyPr wrap="square" lIns="0" tIns="0" rIns="0" bIns="0" rtlCol="0" anchor="ctr"/>
          <a:lstStyle/>
          <a:p>
            <a:pPr marL="0" indent="0" algn="l">
              <a:lnSpc>
                <a:spcPts val="2200"/>
              </a:lnSpc>
              <a:spcAft>
                <a:spcPts val="400"/>
              </a:spcAft>
              <a:buNone/>
            </a:pPr>
            <a:r>
              <a:rPr lang="en-US" sz="1600">
                <a:solidFill>
                  <a:srgbClr val="0D1B3E"/>
                </a:solidFill>
                <a:latin typeface="Calibri" pitchFamily="34" charset="0"/>
                <a:ea typeface="Calibri" pitchFamily="34" charset="-122"/>
                <a:cs typeface="Calibri" pitchFamily="34" charset="-120"/>
              </a:rPr>
              <a:t>Raise your hand. We have time.</a:t>
            </a:r>
            <a:endParaRPr lang="en-US"/>
          </a:p>
          <a:p>
            <a:pPr marL="0" indent="0" algn="l">
              <a:lnSpc>
                <a:spcPts val="2000"/>
              </a:lnSpc>
              <a:buNone/>
            </a:pPr>
            <a:r>
              <a:rPr lang="en-US" sz="1400" b="1">
                <a:solidFill>
                  <a:srgbClr val="E8A020"/>
                </a:solidFill>
                <a:latin typeface="Calibri" pitchFamily="34" charset="0"/>
                <a:ea typeface="Calibri" pitchFamily="34" charset="-122"/>
                <a:cs typeface="Calibri" pitchFamily="34" charset="-120"/>
              </a:rPr>
              <a:t>Your question is someone else’s question too.</a:t>
            </a:r>
            <a:endParaRPr lang="en-US"/>
          </a:p>
        </p:txBody>
      </p:sp>
      <p:pic>
        <p:nvPicPr>
          <p:cNvPr id="26" name="Icon 26" descr="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70000" y="3335844"/>
            <a:ext cx="132588" cy="132588"/>
          </a:xfrm>
          <a:prstGeom prst="rect">
            <a:avLst/>
          </a:prstGeom>
        </p:spPr>
      </p:pic>
      <p:sp>
        <p:nvSpPr>
          <p:cNvPr id="27" name="Text 27"/>
          <p:cNvSpPr/>
          <p:nvPr/>
        </p:nvSpPr>
        <p:spPr>
          <a:xfrm>
            <a:off x="6115000" y="3282844"/>
            <a:ext cx="1105000" cy="24000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IFC 2026 Workshop</a:t>
            </a:r>
            <a:endParaRPr lang="en-US" sz="1100" dirty="0"/>
          </a:p>
        </p:txBody>
      </p:sp>
      <p:sp>
        <p:nvSpPr>
          <p:cNvPr id="31" name="Shape 31"/>
          <p:cNvSpPr/>
          <p:nvPr/>
        </p:nvSpPr>
        <p:spPr>
          <a:xfrm>
            <a:off x="457200" y="4763839"/>
            <a:ext cx="8229600" cy="7590"/>
          </a:xfrm>
          <a:prstGeom prst="rect">
            <a:avLst/>
          </a:prstGeom>
          <a:gradFill rotWithShape="1">
            <a:gsLst>
              <a:gs pos="0">
                <a:srgbClr val="000000">
                  <a:alpha val="0"/>
                </a:srgbClr>
              </a:gs>
              <a:gs pos="50000">
                <a:srgbClr val="E8A020">
                  <a:alpha val="40000"/>
                </a:srgbClr>
              </a:gs>
              <a:gs pos="100000">
                <a:srgbClr val="000000">
                  <a:alpha val="0"/>
                </a:srgbClr>
              </a:gs>
            </a:gsLst>
            <a:lin ang="0" scaled="1"/>
          </a:gradFill>
          <a:ln/>
        </p:spPr>
        <p:txBody>
          <a:bodyPr wrap="square" rtlCol="0" anchor="t"/>
          <a:lstStyle/>
          <a:p>
            <a:pPr marL="0" indent="0">
              <a:buNone/>
            </a:pPr>
            <a:endParaRPr lang="en-US" dirty="0"/>
          </a:p>
        </p:txBody>
      </p:sp>
      <p:sp>
        <p:nvSpPr>
          <p:cNvPr id="33" name="Shape 33"/>
          <p:cNvSpPr/>
          <p:nvPr/>
        </p:nvSpPr>
        <p:spPr>
          <a:xfrm>
            <a:off x="0" y="5114330"/>
            <a:ext cx="9144000" cy="29170"/>
          </a:xfrm>
          <a:prstGeom prst="rect">
            <a:avLst/>
          </a:prstGeom>
          <a:gradFill rotWithShape="1">
            <a:gsLst>
              <a:gs pos="0">
                <a:srgbClr val="000000">
                  <a:alpha val="0"/>
                </a:srgbClr>
              </a:gs>
              <a:gs pos="30000">
                <a:srgbClr val="E8A020">
                  <a:alpha val="60000"/>
                </a:srgbClr>
              </a:gs>
              <a:gs pos="70000">
                <a:srgbClr val="E8A020">
                  <a:alpha val="60000"/>
                </a:srgbClr>
              </a:gs>
              <a:gs pos="100000">
                <a:srgbClr val="000000">
                  <a:alpha val="0"/>
                </a:srgbClr>
              </a:gs>
            </a:gsLst>
            <a:lin ang="0" scaled="1"/>
          </a:gradFill>
          <a:ln/>
        </p:spPr>
        <p:txBody>
          <a:bodyPr wrap="square" rtlCol="0" anchor="t"/>
          <a:lstStyle/>
          <a:p>
            <a:pPr marL="0" indent="0">
              <a:buNone/>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8">
    <p:bg>
      <p:bgPr>
        <a:solidFill>
          <a:srgbClr val="0D1B3E"/>
        </a:solidFill>
        <a:effectLst/>
      </p:bgPr>
    </p:bg>
    <p:spTree>
      <p:nvGrpSpPr>
        <p:cNvPr id="1" name=""/>
        <p:cNvGrpSpPr/>
        <p:nvPr/>
      </p:nvGrpSpPr>
      <p:grpSpPr>
        <a:xfrm>
          <a:off x="0" y="0"/>
          <a:ext cx="0" cy="0"/>
          <a:chOff x="0" y="0"/>
          <a:chExt cx="0" cy="0"/>
        </a:xfrm>
      </p:grpSpPr>
      <p:sp>
        <p:nvSpPr>
          <p:cNvPr id="3" name="Shape 3"/>
          <p:cNvSpPr/>
          <p:nvPr/>
        </p:nvSpPr>
        <p:spPr>
          <a:xfrm>
            <a:off x="0" y="0"/>
            <a:ext cx="9144000" cy="29170"/>
          </a:xfrm>
          <a:prstGeom prst="rect">
            <a:avLst/>
          </a:prstGeom>
          <a:gradFill rotWithShape="1">
            <a:gsLst>
              <a:gs pos="0">
                <a:srgbClr val="000000">
                  <a:alpha val="0"/>
                </a:srgbClr>
              </a:gs>
              <a:gs pos="50000">
                <a:srgbClr val="E8A020"/>
              </a:gs>
              <a:gs pos="100000">
                <a:srgbClr val="000000">
                  <a:alpha val="0"/>
                </a:srgbClr>
              </a:gs>
            </a:gsLst>
            <a:lin ang="0" scaled="1"/>
          </a:gradFill>
          <a:ln/>
        </p:spPr>
        <p:txBody>
          <a:bodyPr wrap="square" rtlCol="0" anchor="t"/>
          <a:lstStyle/>
          <a:p>
            <a:pPr marL="0" indent="0">
              <a:buNone/>
            </a:pPr>
            <a:endParaRPr lang="en-US" dirty="0"/>
          </a:p>
        </p:txBody>
      </p:sp>
      <p:sp>
        <p:nvSpPr>
          <p:cNvPr id="6" name="Shape 6"/>
          <p:cNvSpPr/>
          <p:nvPr/>
        </p:nvSpPr>
        <p:spPr>
          <a:xfrm rot="-900000">
            <a:off x="3455600" y="665523"/>
            <a:ext cx="500000" cy="4400000"/>
          </a:xfrm>
          <a:prstGeom prst="rect">
            <a:avLst/>
          </a:prstGeom>
          <a:gradFill rotWithShape="1">
            <a:gsLst>
              <a:gs pos="0">
                <a:srgbClr val="E8A020">
                  <a:alpha val="4000"/>
                </a:srgbClr>
              </a:gs>
              <a:gs pos="100000">
                <a:srgbClr val="000000">
                  <a:alpha val="0"/>
                </a:srgbClr>
              </a:gs>
            </a:gsLst>
            <a:lin ang="16200000" scaled="1"/>
          </a:gradFill>
          <a:ln/>
        </p:spPr>
        <p:txBody>
          <a:bodyPr wrap="square" rtlCol="0" anchor="t"/>
          <a:lstStyle/>
          <a:p>
            <a:pPr marL="0" indent="0">
              <a:buNone/>
            </a:pPr>
            <a:endParaRPr lang="en-US" dirty="0"/>
          </a:p>
        </p:txBody>
      </p:sp>
      <p:sp>
        <p:nvSpPr>
          <p:cNvPr id="7" name="Shape 7"/>
          <p:cNvSpPr/>
          <p:nvPr/>
        </p:nvSpPr>
        <p:spPr>
          <a:xfrm>
            <a:off x="3700165" y="46142"/>
            <a:ext cx="1428750" cy="5001220"/>
          </a:xfrm>
          <a:prstGeom prst="rect">
            <a:avLst/>
          </a:prstGeom>
          <a:gradFill rotWithShape="1">
            <a:gsLst>
              <a:gs pos="0">
                <a:srgbClr val="E8A020">
                  <a:alpha val="6000"/>
                </a:srgbClr>
              </a:gs>
              <a:gs pos="100000">
                <a:srgbClr val="000000">
                  <a:alpha val="0"/>
                </a:srgbClr>
              </a:gs>
            </a:gsLst>
            <a:lin ang="16200000" scaled="1"/>
          </a:gradFill>
          <a:ln/>
        </p:spPr>
        <p:txBody>
          <a:bodyPr wrap="square" rtlCol="0" anchor="t"/>
          <a:lstStyle/>
          <a:p>
            <a:pPr marL="0" indent="0">
              <a:buNone/>
            </a:pPr>
            <a:endParaRPr lang="en-US" dirty="0"/>
          </a:p>
        </p:txBody>
      </p:sp>
      <p:sp>
        <p:nvSpPr>
          <p:cNvPr id="8" name="Shape 8"/>
          <p:cNvSpPr/>
          <p:nvPr/>
        </p:nvSpPr>
        <p:spPr>
          <a:xfrm rot="900000">
            <a:off x="4826812" y="743500"/>
            <a:ext cx="500000" cy="4400000"/>
          </a:xfrm>
          <a:prstGeom prst="rect">
            <a:avLst/>
          </a:prstGeom>
          <a:gradFill rotWithShape="1">
            <a:gsLst>
              <a:gs pos="0">
                <a:srgbClr val="E8A020">
                  <a:alpha val="4000"/>
                </a:srgbClr>
              </a:gs>
              <a:gs pos="100000">
                <a:srgbClr val="000000">
                  <a:alpha val="0"/>
                </a:srgbClr>
              </a:gs>
            </a:gsLst>
            <a:lin ang="16200000" scaled="1"/>
          </a:gradFill>
          <a:ln/>
        </p:spPr>
        <p:txBody>
          <a:bodyPr wrap="square" rtlCol="0" anchor="t"/>
          <a:lstStyle/>
          <a:p>
            <a:pPr marL="0" indent="0">
              <a:buNone/>
            </a:pPr>
            <a:endParaRPr lang="en-US" dirty="0"/>
          </a:p>
        </p:txBody>
      </p:sp>
      <p:sp>
        <p:nvSpPr>
          <p:cNvPr id="9" name="Shape 9"/>
          <p:cNvSpPr/>
          <p:nvPr/>
        </p:nvSpPr>
        <p:spPr>
          <a:xfrm rot="2000000">
            <a:off x="5350000" y="1343500"/>
            <a:ext cx="650000" cy="3800000"/>
          </a:xfrm>
          <a:prstGeom prst="rect">
            <a:avLst/>
          </a:prstGeom>
          <a:gradFill rotWithShape="1">
            <a:gsLst>
              <a:gs pos="0">
                <a:srgbClr val="E8A020">
                  <a:alpha val="5000"/>
                </a:srgbClr>
              </a:gs>
              <a:gs pos="100000">
                <a:srgbClr val="000000">
                  <a:alpha val="0"/>
                </a:srgbClr>
              </a:gs>
            </a:gsLst>
            <a:lin ang="16200000" scaled="1"/>
          </a:gradFill>
          <a:ln/>
        </p:spPr>
        <p:txBody>
          <a:bodyPr wrap="square" rtlCol="0" anchor="t"/>
          <a:lstStyle/>
          <a:p>
            <a:pPr marL="0" indent="0">
              <a:buNone/>
            </a:pPr>
            <a:endParaRPr lang="en-US" dirty="0"/>
          </a:p>
        </p:txBody>
      </p:sp>
      <p:sp>
        <p:nvSpPr>
          <p:cNvPr id="11" name="Shape 11"/>
          <p:cNvSpPr/>
          <p:nvPr/>
        </p:nvSpPr>
        <p:spPr>
          <a:xfrm>
            <a:off x="4071640" y="700000"/>
            <a:ext cx="228600" cy="21580"/>
          </a:xfrm>
          <a:prstGeom prst="roundRect">
            <a:avLst>
              <a:gd name="adj" fmla="val 64736"/>
            </a:avLst>
          </a:prstGeom>
          <a:solidFill>
            <a:srgbClr val="E8A020">
              <a:alpha val="35000"/>
            </a:srgbClr>
          </a:solidFill>
          <a:ln/>
        </p:spPr>
        <p:txBody>
          <a:bodyPr wrap="square" rtlCol="0" anchor="t"/>
          <a:lstStyle/>
          <a:p>
            <a:pPr marL="0" indent="0">
              <a:buNone/>
            </a:pPr>
            <a:endParaRPr lang="en-US" dirty="0"/>
          </a:p>
        </p:txBody>
      </p:sp>
      <p:sp>
        <p:nvSpPr>
          <p:cNvPr id="12" name="Shape 12"/>
          <p:cNvSpPr/>
          <p:nvPr/>
        </p:nvSpPr>
        <p:spPr>
          <a:xfrm>
            <a:off x="4357390" y="700000"/>
            <a:ext cx="429220" cy="21580"/>
          </a:xfrm>
          <a:prstGeom prst="roundRect">
            <a:avLst>
              <a:gd name="adj" fmla="val 64736"/>
            </a:avLst>
          </a:prstGeom>
          <a:solidFill>
            <a:srgbClr val="E8A020"/>
          </a:solidFill>
          <a:ln/>
        </p:spPr>
        <p:txBody>
          <a:bodyPr wrap="square" rtlCol="0" anchor="t"/>
          <a:lstStyle/>
          <a:p>
            <a:pPr marL="0" indent="0">
              <a:buNone/>
            </a:pPr>
            <a:endParaRPr lang="en-US" dirty="0"/>
          </a:p>
        </p:txBody>
      </p:sp>
      <p:sp>
        <p:nvSpPr>
          <p:cNvPr id="13" name="Shape 13"/>
          <p:cNvSpPr/>
          <p:nvPr/>
        </p:nvSpPr>
        <p:spPr>
          <a:xfrm>
            <a:off x="4843760" y="700000"/>
            <a:ext cx="228600" cy="21580"/>
          </a:xfrm>
          <a:prstGeom prst="roundRect">
            <a:avLst>
              <a:gd name="adj" fmla="val 64736"/>
            </a:avLst>
          </a:prstGeom>
          <a:solidFill>
            <a:srgbClr val="E8A020">
              <a:alpha val="35000"/>
            </a:srgbClr>
          </a:solidFill>
          <a:ln/>
        </p:spPr>
        <p:txBody>
          <a:bodyPr wrap="square" rtlCol="0" anchor="t"/>
          <a:lstStyle/>
          <a:p>
            <a:pPr marL="0" indent="0">
              <a:buNone/>
            </a:pPr>
            <a:endParaRPr lang="en-US" dirty="0"/>
          </a:p>
        </p:txBody>
      </p:sp>
      <p:sp>
        <p:nvSpPr>
          <p:cNvPr id="14" name="Text 14"/>
          <p:cNvSpPr/>
          <p:nvPr/>
        </p:nvSpPr>
        <p:spPr>
          <a:xfrm>
            <a:off x="2000000" y="780000"/>
            <a:ext cx="5144000" cy="450000"/>
          </a:xfrm>
          <a:prstGeom prst="rect">
            <a:avLst/>
          </a:prstGeom>
          <a:noFill/>
          <a:ln/>
        </p:spPr>
        <p:txBody>
          <a:bodyPr wrap="square" lIns="0" tIns="0" rIns="0" bIns="0" rtlCol="0" anchor="t"/>
          <a:lstStyle/>
          <a:p>
            <a:pPr marL="0" indent="0" algn="ctr">
              <a:buNone/>
            </a:pPr>
            <a:r>
              <a:rPr lang="en-US" sz="3600" kern="0" spc="126">
                <a:solidFill>
                  <a:srgbClr val="F0F4FF"/>
                </a:solidFill>
                <a:latin typeface="Calibri Light" pitchFamily="34" charset="0"/>
                <a:ea typeface="Calibri Light" pitchFamily="34" charset="-122"/>
                <a:cs typeface="Calibri Light" pitchFamily="34" charset="-120"/>
              </a:rPr>
              <a:t>The Work Ahead</a:t>
            </a:r>
            <a:endParaRPr lang="en-US" sz="3600"/>
          </a:p>
        </p:txBody>
      </p:sp>
      <p:sp>
        <p:nvSpPr>
          <p:cNvPr id="15" name="Shape 15"/>
          <p:cNvSpPr/>
          <p:nvPr/>
        </p:nvSpPr>
        <p:spPr>
          <a:xfrm>
            <a:off x="3242620" y="1400000"/>
            <a:ext cx="314920" cy="314920"/>
          </a:xfrm>
          <a:prstGeom prst="ellipse">
            <a:avLst/>
          </a:prstGeom>
          <a:solidFill>
            <a:srgbClr val="E8A020">
              <a:alpha val="12000"/>
            </a:srgbClr>
          </a:solidFill>
          <a:ln w="9525">
            <a:solidFill>
              <a:srgbClr val="E8A020">
                <a:alpha val="40000"/>
              </a:srgbClr>
            </a:solidFill>
          </a:ln>
        </p:spPr>
        <p:txBody>
          <a:bodyPr wrap="square" rtlCol="0" anchor="t"/>
          <a:lstStyle/>
          <a:p>
            <a:pPr marL="0" indent="0">
              <a:buNone/>
            </a:pPr>
            <a:endParaRPr lang="en-US" dirty="0"/>
          </a:p>
        </p:txBody>
      </p:sp>
      <p:sp>
        <p:nvSpPr>
          <p:cNvPr id="17" name="Shape 17"/>
          <p:cNvSpPr/>
          <p:nvPr/>
        </p:nvSpPr>
        <p:spPr>
          <a:xfrm>
            <a:off x="3607540" y="1550000"/>
            <a:ext cx="757000" cy="13841"/>
          </a:xfrm>
          <a:prstGeom prst="roundRect">
            <a:avLst>
              <a:gd name="adj" fmla="val 55054"/>
            </a:avLst>
          </a:prstGeom>
          <a:solidFill>
            <a:srgbClr val="E8A020">
              <a:alpha val="35000"/>
            </a:srgbClr>
          </a:solidFill>
          <a:ln/>
        </p:spPr>
        <p:txBody>
          <a:bodyPr wrap="square" rtlCol="0" anchor="t"/>
          <a:lstStyle/>
          <a:p>
            <a:pPr marL="0" indent="0">
              <a:buNone/>
            </a:pPr>
            <a:endParaRPr lang="en-US" dirty="0"/>
          </a:p>
        </p:txBody>
      </p:sp>
      <p:sp>
        <p:nvSpPr>
          <p:cNvPr id="18" name="Shape 18"/>
          <p:cNvSpPr/>
          <p:nvPr/>
        </p:nvSpPr>
        <p:spPr>
          <a:xfrm>
            <a:off x="4414540" y="1400000"/>
            <a:ext cx="314920" cy="314920"/>
          </a:xfrm>
          <a:prstGeom prst="ellipse">
            <a:avLst/>
          </a:prstGeom>
          <a:solidFill>
            <a:srgbClr val="E8A020">
              <a:alpha val="12000"/>
            </a:srgbClr>
          </a:solidFill>
          <a:ln w="9525">
            <a:solidFill>
              <a:srgbClr val="E8A020">
                <a:alpha val="40000"/>
              </a:srgbClr>
            </a:solidFill>
          </a:ln>
        </p:spPr>
        <p:txBody>
          <a:bodyPr wrap="square" rtlCol="0" anchor="t"/>
          <a:lstStyle/>
          <a:p>
            <a:pPr marL="0" indent="0">
              <a:buNone/>
            </a:pPr>
            <a:endParaRPr lang="en-US"/>
          </a:p>
        </p:txBody>
      </p:sp>
      <p:sp>
        <p:nvSpPr>
          <p:cNvPr id="20" name="Shape 20"/>
          <p:cNvSpPr/>
          <p:nvPr/>
        </p:nvSpPr>
        <p:spPr>
          <a:xfrm>
            <a:off x="4779460" y="1550000"/>
            <a:ext cx="757000" cy="13841"/>
          </a:xfrm>
          <a:prstGeom prst="roundRect">
            <a:avLst>
              <a:gd name="adj" fmla="val 55054"/>
            </a:avLst>
          </a:prstGeom>
          <a:solidFill>
            <a:srgbClr val="E8A020">
              <a:alpha val="35000"/>
            </a:srgbClr>
          </a:solidFill>
          <a:ln/>
        </p:spPr>
        <p:txBody>
          <a:bodyPr wrap="square" rtlCol="0" anchor="t"/>
          <a:lstStyle/>
          <a:p>
            <a:pPr marL="0" indent="0">
              <a:buNone/>
            </a:pPr>
            <a:endParaRPr lang="en-US"/>
          </a:p>
        </p:txBody>
      </p:sp>
      <p:sp>
        <p:nvSpPr>
          <p:cNvPr id="21" name="Shape 21"/>
          <p:cNvSpPr/>
          <p:nvPr/>
        </p:nvSpPr>
        <p:spPr>
          <a:xfrm>
            <a:off x="5586460" y="1400000"/>
            <a:ext cx="314920" cy="314920"/>
          </a:xfrm>
          <a:prstGeom prst="ellipse">
            <a:avLst/>
          </a:prstGeom>
          <a:solidFill>
            <a:srgbClr val="E8A020">
              <a:alpha val="12000"/>
            </a:srgbClr>
          </a:solidFill>
          <a:ln w="9525">
            <a:solidFill>
              <a:srgbClr val="E8A020">
                <a:alpha val="40000"/>
              </a:srgbClr>
            </a:solidFill>
          </a:ln>
        </p:spPr>
        <p:txBody>
          <a:bodyPr wrap="square" rtlCol="0" anchor="t"/>
          <a:lstStyle/>
          <a:p>
            <a:pPr marL="0" indent="0">
              <a:buNone/>
            </a:pPr>
            <a:endParaRPr lang="en-US" dirty="0"/>
          </a:p>
        </p:txBody>
      </p:sp>
      <p:sp>
        <p:nvSpPr>
          <p:cNvPr id="23" name="Shape 23"/>
          <p:cNvSpPr/>
          <p:nvPr/>
        </p:nvSpPr>
        <p:spPr>
          <a:xfrm>
            <a:off x="1423838" y="1613429"/>
            <a:ext cx="6324898" cy="1350000"/>
          </a:xfrm>
          <a:prstGeom prst="roundRect">
            <a:avLst>
              <a:gd name="adj" fmla="val 1122"/>
            </a:avLst>
          </a:prstGeom>
          <a:solidFill>
            <a:srgbClr val="1A2D5A">
              <a:alpha val="65000"/>
            </a:srgbClr>
          </a:solidFill>
          <a:ln/>
        </p:spPr>
        <p:txBody>
          <a:bodyPr wrap="square" rtlCol="0" anchor="t"/>
          <a:lstStyle/>
          <a:p>
            <a:pPr marL="0" indent="0">
              <a:buNone/>
            </a:pPr>
            <a:endParaRPr lang="en-US"/>
          </a:p>
        </p:txBody>
      </p:sp>
      <p:sp>
        <p:nvSpPr>
          <p:cNvPr id="24" name="Shape 24"/>
          <p:cNvSpPr/>
          <p:nvPr/>
        </p:nvSpPr>
        <p:spPr>
          <a:xfrm>
            <a:off x="1409551" y="1815826"/>
            <a:ext cx="28575" cy="1350000"/>
          </a:xfrm>
          <a:prstGeom prst="roundRect">
            <a:avLst>
              <a:gd name="adj" fmla="val 100932"/>
            </a:avLst>
          </a:prstGeom>
          <a:solidFill>
            <a:srgbClr val="E8A020"/>
          </a:solidFill>
          <a:ln/>
        </p:spPr>
        <p:txBody>
          <a:bodyPr wrap="square" rtlCol="0" anchor="t"/>
          <a:lstStyle/>
          <a:p>
            <a:pPr marL="0" indent="0">
              <a:buNone/>
            </a:pPr>
            <a:endParaRPr lang="en-US" dirty="0"/>
          </a:p>
        </p:txBody>
      </p:sp>
      <p:sp>
        <p:nvSpPr>
          <p:cNvPr id="25" name="Text 25"/>
          <p:cNvSpPr/>
          <p:nvPr/>
        </p:nvSpPr>
        <p:spPr>
          <a:xfrm>
            <a:off x="1409551" y="1760068"/>
            <a:ext cx="6324898" cy="1350000"/>
          </a:xfrm>
          <a:prstGeom prst="rect">
            <a:avLst/>
          </a:prstGeom>
          <a:noFill/>
          <a:ln/>
        </p:spPr>
        <p:txBody>
          <a:bodyPr wrap="square" lIns="365760" tIns="137160" rIns="365760" bIns="137160" rtlCol="0" anchor="t"/>
          <a:lstStyle/>
          <a:p>
            <a:pPr marL="285750" indent="-285750">
              <a:lnSpc>
                <a:spcPts val="2000"/>
              </a:lnSpc>
              <a:buFont typeface="Courier New" panose="02070309020205020404" pitchFamily="49" charset="0"/>
              <a:buChar char="o"/>
            </a:pPr>
            <a:r>
              <a:rPr lang="en-US" sz="1250" i="1" dirty="0">
                <a:solidFill>
                  <a:srgbClr val="F0F4FF"/>
                </a:solidFill>
                <a:latin typeface="Calibri Light" pitchFamily="34" charset="0"/>
                <a:ea typeface="Calibri Light" pitchFamily="34" charset="-122"/>
                <a:cs typeface="Calibri Light" pitchFamily="34" charset="-120"/>
              </a:rPr>
              <a:t>Responsible fathers deserve programs that are </a:t>
            </a:r>
            <a:r>
              <a:rPr lang="en-US" sz="1250" i="1" dirty="0">
                <a:solidFill>
                  <a:srgbClr val="E8A020"/>
                </a:solidFill>
                <a:latin typeface="Calibri Light" pitchFamily="34" charset="0"/>
                <a:ea typeface="Calibri Light" pitchFamily="34" charset="-122"/>
                <a:cs typeface="Calibri Light" pitchFamily="34" charset="-120"/>
              </a:rPr>
              <a:t>fully funded</a:t>
            </a:r>
            <a:r>
              <a:rPr lang="en-US" sz="1250" i="1" dirty="0">
                <a:solidFill>
                  <a:srgbClr val="F0F4FF"/>
                </a:solidFill>
                <a:latin typeface="Calibri Light" pitchFamily="34" charset="0"/>
                <a:ea typeface="Calibri Light" pitchFamily="34" charset="-122"/>
                <a:cs typeface="Calibri Light" pitchFamily="34" charset="-120"/>
              </a:rPr>
              <a:t>, </a:t>
            </a:r>
            <a:r>
              <a:rPr lang="en-US" sz="1250" i="1" dirty="0">
                <a:solidFill>
                  <a:srgbClr val="E8A020"/>
                </a:solidFill>
                <a:latin typeface="Calibri Light" pitchFamily="34" charset="0"/>
                <a:ea typeface="Calibri Light" pitchFamily="34" charset="-122"/>
                <a:cs typeface="Calibri Light" pitchFamily="34" charset="-120"/>
              </a:rPr>
              <a:t>deeply supported</a:t>
            </a:r>
            <a:r>
              <a:rPr lang="en-US" sz="1250" i="1" dirty="0">
                <a:solidFill>
                  <a:srgbClr val="F0F4FF"/>
                </a:solidFill>
                <a:latin typeface="Calibri Light" pitchFamily="34" charset="0"/>
                <a:ea typeface="Calibri Light" pitchFamily="34" charset="-122"/>
                <a:cs typeface="Calibri Light" pitchFamily="34" charset="-120"/>
              </a:rPr>
              <a:t>, and </a:t>
            </a:r>
            <a:r>
              <a:rPr lang="en-US" sz="1250" i="1" dirty="0">
                <a:solidFill>
                  <a:srgbClr val="E8A020"/>
                </a:solidFill>
                <a:latin typeface="Calibri Light" pitchFamily="34" charset="0"/>
                <a:ea typeface="Calibri Light" pitchFamily="34" charset="-122"/>
                <a:cs typeface="Calibri Light" pitchFamily="34" charset="-120"/>
              </a:rPr>
              <a:t>strategically positioned</a:t>
            </a:r>
            <a:r>
              <a:rPr lang="en-US" sz="1250" i="1" dirty="0">
                <a:solidFill>
                  <a:srgbClr val="F0F4FF"/>
                </a:solidFill>
                <a:latin typeface="Calibri Light" pitchFamily="34" charset="0"/>
                <a:ea typeface="Calibri Light" pitchFamily="34" charset="-122"/>
                <a:cs typeface="Calibri Light" pitchFamily="34" charset="-120"/>
              </a:rPr>
              <a:t> to serve them well.</a:t>
            </a:r>
            <a:endParaRPr lang="en-US" dirty="0"/>
          </a:p>
          <a:p>
            <a:pPr marL="285750" indent="-285750" algn="ctr">
              <a:lnSpc>
                <a:spcPts val="800"/>
              </a:lnSpc>
              <a:buFont typeface="Courier New" panose="02070309020205020404" pitchFamily="49" charset="0"/>
              <a:buChar char="o"/>
            </a:pPr>
            <a:endParaRPr lang="en-US" dirty="0"/>
          </a:p>
          <a:p>
            <a:pPr marL="285750" indent="-285750">
              <a:lnSpc>
                <a:spcPts val="2000"/>
              </a:lnSpc>
              <a:buFont typeface="Courier New" panose="02070309020205020404" pitchFamily="49" charset="0"/>
              <a:buChar char="o"/>
            </a:pPr>
            <a:r>
              <a:rPr lang="en-US" sz="1250" i="1" dirty="0">
                <a:solidFill>
                  <a:srgbClr val="F0F4FF"/>
                </a:solidFill>
                <a:latin typeface="Calibri Light" pitchFamily="34" charset="0"/>
                <a:ea typeface="Calibri Light" pitchFamily="34" charset="-122"/>
                <a:cs typeface="Calibri Light" pitchFamily="34" charset="-120"/>
              </a:rPr>
              <a:t>That work starts with you — and it starts today. Funders: invest in infrastructure, not just programs.</a:t>
            </a:r>
            <a:endParaRPr lang="en-US" dirty="0"/>
          </a:p>
        </p:txBody>
      </p:sp>
      <p:sp>
        <p:nvSpPr>
          <p:cNvPr id="28" name="Shape 28"/>
          <p:cNvSpPr/>
          <p:nvPr/>
        </p:nvSpPr>
        <p:spPr>
          <a:xfrm>
            <a:off x="2977000" y="3670000"/>
            <a:ext cx="29170" cy="29170"/>
          </a:xfrm>
          <a:prstGeom prst="ellipse">
            <a:avLst/>
          </a:prstGeom>
          <a:solidFill>
            <a:srgbClr val="E8A020">
              <a:alpha val="70000"/>
            </a:srgbClr>
          </a:solidFill>
          <a:ln/>
        </p:spPr>
        <p:txBody>
          <a:bodyPr wrap="square" rtlCol="0" anchor="t"/>
          <a:lstStyle/>
          <a:p>
            <a:pPr marL="0" indent="0">
              <a:buNone/>
            </a:pPr>
            <a:endParaRPr lang="en-US" dirty="0"/>
          </a:p>
        </p:txBody>
      </p:sp>
      <p:sp>
        <p:nvSpPr>
          <p:cNvPr id="31" name="Shape 31"/>
          <p:cNvSpPr/>
          <p:nvPr/>
        </p:nvSpPr>
        <p:spPr>
          <a:xfrm>
            <a:off x="4977000" y="3670000"/>
            <a:ext cx="29170" cy="29170"/>
          </a:xfrm>
          <a:prstGeom prst="ellipse">
            <a:avLst/>
          </a:prstGeom>
          <a:solidFill>
            <a:srgbClr val="E8A020">
              <a:alpha val="70000"/>
            </a:srgbClr>
          </a:solidFill>
          <a:ln/>
        </p:spPr>
        <p:txBody>
          <a:bodyPr wrap="square" rtlCol="0" anchor="t"/>
          <a:lstStyle/>
          <a:p>
            <a:pPr marL="0" indent="0">
              <a:buNone/>
            </a:pPr>
            <a:endParaRPr lang="en-US" dirty="0"/>
          </a:p>
        </p:txBody>
      </p:sp>
      <p:pic>
        <p:nvPicPr>
          <p:cNvPr id="34" name="Icon 34" descr="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62065" y="3463368"/>
            <a:ext cx="502393" cy="502393"/>
          </a:xfrm>
          <a:prstGeom prst="rect">
            <a:avLst/>
          </a:prstGeom>
        </p:spPr>
      </p:pic>
      <p:sp>
        <p:nvSpPr>
          <p:cNvPr id="35" name="Text 35"/>
          <p:cNvSpPr/>
          <p:nvPr/>
        </p:nvSpPr>
        <p:spPr>
          <a:xfrm>
            <a:off x="2839933" y="3494043"/>
            <a:ext cx="3895402" cy="377801"/>
          </a:xfrm>
          <a:prstGeom prst="rect">
            <a:avLst/>
          </a:prstGeom>
          <a:noFill/>
          <a:ln/>
        </p:spPr>
        <p:txBody>
          <a:bodyPr wrap="square" lIns="0" tIns="0" rIns="0" bIns="0" rtlCol="0" anchor="ctr"/>
          <a:lstStyle/>
          <a:p>
            <a:pPr marL="0" indent="0">
              <a:buNone/>
            </a:pPr>
            <a:r>
              <a:rPr lang="en-US" sz="1400" dirty="0">
                <a:solidFill>
                  <a:srgbClr val="8FA3C8"/>
                </a:solidFill>
                <a:latin typeface="Calibri" pitchFamily="34" charset="0"/>
                <a:ea typeface="Calibri" pitchFamily="34" charset="-122"/>
                <a:cs typeface="Calibri" pitchFamily="34" charset="-120"/>
              </a:rPr>
              <a:t>Connect with your facilitator through the IFC 2026 session portal or herb@analytica-inc.com</a:t>
            </a:r>
            <a:endParaRPr lang="en-US" sz="1400" dirty="0"/>
          </a:p>
        </p:txBody>
      </p:sp>
      <p:sp>
        <p:nvSpPr>
          <p:cNvPr id="36" name="Text 36"/>
          <p:cNvSpPr/>
          <p:nvPr/>
        </p:nvSpPr>
        <p:spPr>
          <a:xfrm>
            <a:off x="2500000" y="4600348"/>
            <a:ext cx="4144000" cy="377801"/>
          </a:xfrm>
          <a:prstGeom prst="rect">
            <a:avLst/>
          </a:prstGeom>
          <a:noFill/>
          <a:ln/>
        </p:spPr>
        <p:txBody>
          <a:bodyPr wrap="square" lIns="0" tIns="0" rIns="0" bIns="0" rtlCol="0" anchor="t"/>
          <a:lstStyle/>
          <a:p>
            <a:pPr marL="0" indent="0" algn="ctr">
              <a:buNone/>
            </a:pPr>
            <a:r>
              <a:rPr lang="en-US" sz="1200" kern="0" spc="8" dirty="0">
                <a:solidFill>
                  <a:srgbClr val="8FA3C8"/>
                </a:solidFill>
                <a:latin typeface="Calibri" pitchFamily="34" charset="0"/>
                <a:ea typeface="Calibri" pitchFamily="34" charset="-122"/>
                <a:cs typeface="Calibri" pitchFamily="34" charset="-120"/>
              </a:rPr>
              <a:t>© 2026  |  Navigating the Funding Landscape — Funding What Works</a:t>
            </a:r>
            <a:endParaRPr lang="en-US" sz="1200" dirty="0"/>
          </a:p>
        </p:txBody>
      </p:sp>
      <p:sp>
        <p:nvSpPr>
          <p:cNvPr id="37" name="Shape 37"/>
          <p:cNvSpPr/>
          <p:nvPr/>
        </p:nvSpPr>
        <p:spPr>
          <a:xfrm>
            <a:off x="257770" y="4700000"/>
            <a:ext cx="0" cy="0"/>
          </a:xfrm>
          <a:prstGeom prst="rect">
            <a:avLst/>
          </a:prstGeom>
          <a:solidFill>
            <a:srgbClr val="E8A020">
              <a:alpha val="40000"/>
            </a:srgbClr>
          </a:solidFill>
          <a:ln/>
        </p:spPr>
        <p:txBody>
          <a:bodyPr wrap="square" rtlCol="0" anchor="t"/>
          <a:lstStyle/>
          <a:p>
            <a:pPr marL="0" indent="0">
              <a:buNone/>
            </a:pPr>
            <a:endParaRPr lang="en-US"/>
          </a:p>
        </p:txBody>
      </p:sp>
      <p:sp>
        <p:nvSpPr>
          <p:cNvPr id="38" name="Shape 38"/>
          <p:cNvSpPr/>
          <p:nvPr/>
        </p:nvSpPr>
        <p:spPr>
          <a:xfrm>
            <a:off x="8876705" y="4700000"/>
            <a:ext cx="0" cy="0"/>
          </a:xfrm>
          <a:prstGeom prst="rect">
            <a:avLst/>
          </a:prstGeom>
          <a:solidFill>
            <a:srgbClr val="E8A020">
              <a:alpha val="40000"/>
            </a:srgbClr>
          </a:solidFill>
          <a:ln/>
        </p:spPr>
        <p:txBody>
          <a:bodyPr wrap="square" rtlCol="0" anchor="t"/>
          <a:lstStyle/>
          <a:p>
            <a:pPr marL="0" indent="0">
              <a:buNone/>
            </a:pPr>
            <a:endParaRPr lang="en-US" dirty="0"/>
          </a:p>
        </p:txBody>
      </p:sp>
      <p:sp>
        <p:nvSpPr>
          <p:cNvPr id="39" name="Shape 39"/>
          <p:cNvSpPr/>
          <p:nvPr/>
        </p:nvSpPr>
        <p:spPr>
          <a:xfrm>
            <a:off x="0" y="5086350"/>
            <a:ext cx="9144000" cy="57150"/>
          </a:xfrm>
          <a:prstGeom prst="rect">
            <a:avLst/>
          </a:prstGeom>
          <a:gradFill rotWithShape="1">
            <a:gsLst>
              <a:gs pos="0">
                <a:srgbClr val="B87010"/>
              </a:gs>
              <a:gs pos="25000">
                <a:srgbClr val="E8A020"/>
              </a:gs>
              <a:gs pos="50000">
                <a:srgbClr val="F0C060"/>
              </a:gs>
              <a:gs pos="75000">
                <a:srgbClr val="E8A020"/>
              </a:gs>
              <a:gs pos="100000">
                <a:srgbClr val="B87010"/>
              </a:gs>
            </a:gsLst>
            <a:lin ang="0" scaled="1"/>
          </a:gradFill>
          <a:ln/>
        </p:spPr>
        <p:txBody>
          <a:bodyPr wrap="square" rtlCol="0" anchor="t"/>
          <a:lstStyle/>
          <a:p>
            <a:pPr marL="0" indent="0">
              <a:buNone/>
            </a:pP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1107</TotalTime>
  <Words>18505</Words>
  <Application>Microsoft Office PowerPoint</Application>
  <PresentationFormat>On-screen Show (16:9)</PresentationFormat>
  <Paragraphs>1200</Paragraphs>
  <Slides>51</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Calibri Light</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docgen</dc:creator>
  <cp:lastModifiedBy>RPR</cp:lastModifiedBy>
  <cp:revision>9</cp:revision>
  <dcterms:created xsi:type="dcterms:W3CDTF">2026-05-31T19:21:07Z</dcterms:created>
  <dcterms:modified xsi:type="dcterms:W3CDTF">2026-06-03T20:29:28Z</dcterms:modified>
</cp:coreProperties>
</file>